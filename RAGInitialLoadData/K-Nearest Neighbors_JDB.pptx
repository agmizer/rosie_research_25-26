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0"/>
  </p:notesMasterIdLst>
  <p:sldIdLst>
    <p:sldId id="256" r:id="rId2"/>
    <p:sldId id="716" r:id="rId3"/>
    <p:sldId id="748" r:id="rId4"/>
    <p:sldId id="749" r:id="rId5"/>
    <p:sldId id="750" r:id="rId6"/>
    <p:sldId id="752" r:id="rId7"/>
    <p:sldId id="753" r:id="rId8"/>
    <p:sldId id="754" r:id="rId9"/>
    <p:sldId id="755" r:id="rId10"/>
    <p:sldId id="756" r:id="rId11"/>
    <p:sldId id="759" r:id="rId12"/>
    <p:sldId id="760" r:id="rId13"/>
    <p:sldId id="761" r:id="rId14"/>
    <p:sldId id="762" r:id="rId15"/>
    <p:sldId id="764" r:id="rId16"/>
    <p:sldId id="765" r:id="rId17"/>
    <p:sldId id="340" r:id="rId18"/>
    <p:sldId id="766" r:id="rId19"/>
    <p:sldId id="718" r:id="rId20"/>
    <p:sldId id="767" r:id="rId21"/>
    <p:sldId id="768" r:id="rId22"/>
    <p:sldId id="769" r:id="rId23"/>
    <p:sldId id="770" r:id="rId24"/>
    <p:sldId id="771" r:id="rId25"/>
    <p:sldId id="772" r:id="rId26"/>
    <p:sldId id="689" r:id="rId27"/>
    <p:sldId id="691" r:id="rId28"/>
    <p:sldId id="693" r:id="rId29"/>
    <p:sldId id="625" r:id="rId30"/>
    <p:sldId id="624" r:id="rId31"/>
    <p:sldId id="703" r:id="rId32"/>
    <p:sldId id="702" r:id="rId33"/>
    <p:sldId id="705" r:id="rId34"/>
    <p:sldId id="696" r:id="rId35"/>
    <p:sldId id="706" r:id="rId36"/>
    <p:sldId id="650" r:id="rId37"/>
    <p:sldId id="629" r:id="rId38"/>
    <p:sldId id="683" r:id="rId39"/>
    <p:sldId id="626" r:id="rId40"/>
    <p:sldId id="666" r:id="rId41"/>
    <p:sldId id="659" r:id="rId42"/>
    <p:sldId id="665" r:id="rId43"/>
    <p:sldId id="681" r:id="rId44"/>
    <p:sldId id="667" r:id="rId45"/>
    <p:sldId id="682" r:id="rId46"/>
    <p:sldId id="668" r:id="rId47"/>
    <p:sldId id="669" r:id="rId48"/>
    <p:sldId id="678" r:id="rId49"/>
    <p:sldId id="676" r:id="rId50"/>
    <p:sldId id="677" r:id="rId51"/>
    <p:sldId id="679" r:id="rId52"/>
    <p:sldId id="671" r:id="rId53"/>
    <p:sldId id="680" r:id="rId54"/>
    <p:sldId id="672" r:id="rId55"/>
    <p:sldId id="698" r:id="rId56"/>
    <p:sldId id="697" r:id="rId57"/>
    <p:sldId id="642" r:id="rId58"/>
    <p:sldId id="674" r:id="rId59"/>
    <p:sldId id="700" r:id="rId60"/>
    <p:sldId id="707" r:id="rId61"/>
    <p:sldId id="708" r:id="rId62"/>
    <p:sldId id="709" r:id="rId63"/>
    <p:sldId id="699" r:id="rId64"/>
    <p:sldId id="618" r:id="rId65"/>
    <p:sldId id="710" r:id="rId66"/>
    <p:sldId id="701" r:id="rId67"/>
    <p:sldId id="712" r:id="rId68"/>
    <p:sldId id="714" r:id="rId6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470496D-F21B-49B2-B6DE-290D136B1693}" v="19" dt="2022-09-21T04:43:33.78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106" autoAdjust="0"/>
    <p:restoredTop sz="94660"/>
  </p:normalViewPr>
  <p:slideViewPr>
    <p:cSldViewPr snapToGrid="0">
      <p:cViewPr varScale="1">
        <p:scale>
          <a:sx n="128" d="100"/>
          <a:sy n="128" d="100"/>
        </p:scale>
        <p:origin x="184" y="2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75"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71CACB-5971-45D4-9C67-FB657E8DB397}" type="datetimeFigureOut">
              <a:rPr lang="en-US" smtClean="0"/>
              <a:t>2/4/24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9EE3EA-2FAB-47B0-973D-F2F6D641B754}" type="slidenum">
              <a:rPr lang="en-US" smtClean="0"/>
              <a:t>‹#›</a:t>
            </a:fld>
            <a:endParaRPr lang="en-US"/>
          </a:p>
        </p:txBody>
      </p:sp>
    </p:spTree>
    <p:extLst>
      <p:ext uri="{BB962C8B-B14F-4D97-AF65-F5344CB8AC3E}">
        <p14:creationId xmlns:p14="http://schemas.microsoft.com/office/powerpoint/2010/main" val="8589762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622BE-D8B2-4F97-A3D1-FE7DFE35C98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1B5642A-E4AB-4CF5-9AB6-6A4BC016BFE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8F720D7-F72E-4BD6-859F-9172BDC6A340}"/>
              </a:ext>
            </a:extLst>
          </p:cNvPr>
          <p:cNvSpPr>
            <a:spLocks noGrp="1"/>
          </p:cNvSpPr>
          <p:nvPr>
            <p:ph type="dt" sz="half" idx="10"/>
          </p:nvPr>
        </p:nvSpPr>
        <p:spPr/>
        <p:txBody>
          <a:bodyPr/>
          <a:lstStyle/>
          <a:p>
            <a:fld id="{3EE86882-1CF3-4E21-89BE-C5CEB3924659}" type="datetimeFigureOut">
              <a:rPr lang="en-US" smtClean="0"/>
              <a:t>2/4/24</a:t>
            </a:fld>
            <a:endParaRPr lang="en-US"/>
          </a:p>
        </p:txBody>
      </p:sp>
      <p:sp>
        <p:nvSpPr>
          <p:cNvPr id="5" name="Footer Placeholder 4">
            <a:extLst>
              <a:ext uri="{FF2B5EF4-FFF2-40B4-BE49-F238E27FC236}">
                <a16:creationId xmlns:a16="http://schemas.microsoft.com/office/drawing/2014/main" id="{BC7AAFE3-326B-434C-8868-85AE4FFA3E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F31746-7841-4C25-A242-3ECCD98406AB}"/>
              </a:ext>
            </a:extLst>
          </p:cNvPr>
          <p:cNvSpPr>
            <a:spLocks noGrp="1"/>
          </p:cNvSpPr>
          <p:nvPr>
            <p:ph type="sldNum" sz="quarter" idx="12"/>
          </p:nvPr>
        </p:nvSpPr>
        <p:spPr/>
        <p:txBody>
          <a:bodyPr/>
          <a:lstStyle/>
          <a:p>
            <a:fld id="{595983F6-BBDA-4E85-87CF-33C01B4242B3}" type="slidenum">
              <a:rPr lang="en-US" smtClean="0"/>
              <a:t>‹#›</a:t>
            </a:fld>
            <a:endParaRPr lang="en-US"/>
          </a:p>
        </p:txBody>
      </p:sp>
    </p:spTree>
    <p:extLst>
      <p:ext uri="{BB962C8B-B14F-4D97-AF65-F5344CB8AC3E}">
        <p14:creationId xmlns:p14="http://schemas.microsoft.com/office/powerpoint/2010/main" val="31863320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5BB3D-6C5E-44E6-AA4B-5A6B8E84BF5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3ADB805-8BE6-4E29-9C78-3D8B73E09534}"/>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162477-D5B5-4DDD-A5D9-50198EEF5EFD}"/>
              </a:ext>
            </a:extLst>
          </p:cNvPr>
          <p:cNvSpPr>
            <a:spLocks noGrp="1"/>
          </p:cNvSpPr>
          <p:nvPr>
            <p:ph type="dt" sz="half" idx="10"/>
          </p:nvPr>
        </p:nvSpPr>
        <p:spPr/>
        <p:txBody>
          <a:bodyPr/>
          <a:lstStyle/>
          <a:p>
            <a:fld id="{3EE86882-1CF3-4E21-89BE-C5CEB3924659}" type="datetimeFigureOut">
              <a:rPr lang="en-US" smtClean="0"/>
              <a:t>2/4/24</a:t>
            </a:fld>
            <a:endParaRPr lang="en-US"/>
          </a:p>
        </p:txBody>
      </p:sp>
      <p:sp>
        <p:nvSpPr>
          <p:cNvPr id="5" name="Footer Placeholder 4">
            <a:extLst>
              <a:ext uri="{FF2B5EF4-FFF2-40B4-BE49-F238E27FC236}">
                <a16:creationId xmlns:a16="http://schemas.microsoft.com/office/drawing/2014/main" id="{BC5F9E22-7F5C-4AC5-81DE-D70CB1A29F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527337-FA8A-4FC9-98C8-16D02D9AAF8C}"/>
              </a:ext>
            </a:extLst>
          </p:cNvPr>
          <p:cNvSpPr>
            <a:spLocks noGrp="1"/>
          </p:cNvSpPr>
          <p:nvPr>
            <p:ph type="sldNum" sz="quarter" idx="12"/>
          </p:nvPr>
        </p:nvSpPr>
        <p:spPr/>
        <p:txBody>
          <a:bodyPr/>
          <a:lstStyle/>
          <a:p>
            <a:fld id="{595983F6-BBDA-4E85-87CF-33C01B4242B3}" type="slidenum">
              <a:rPr lang="en-US" smtClean="0"/>
              <a:t>‹#›</a:t>
            </a:fld>
            <a:endParaRPr lang="en-US"/>
          </a:p>
        </p:txBody>
      </p:sp>
    </p:spTree>
    <p:extLst>
      <p:ext uri="{BB962C8B-B14F-4D97-AF65-F5344CB8AC3E}">
        <p14:creationId xmlns:p14="http://schemas.microsoft.com/office/powerpoint/2010/main" val="41312945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BBF0DA-C526-440C-9E25-118EE569555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966A23D-1BCE-46E9-BDE5-038B070DFDA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CC14AE8-A89F-4AF0-A124-627C96C50574}"/>
              </a:ext>
            </a:extLst>
          </p:cNvPr>
          <p:cNvSpPr>
            <a:spLocks noGrp="1"/>
          </p:cNvSpPr>
          <p:nvPr>
            <p:ph type="dt" sz="half" idx="10"/>
          </p:nvPr>
        </p:nvSpPr>
        <p:spPr/>
        <p:txBody>
          <a:bodyPr/>
          <a:lstStyle/>
          <a:p>
            <a:fld id="{3EE86882-1CF3-4E21-89BE-C5CEB3924659}" type="datetimeFigureOut">
              <a:rPr lang="en-US" smtClean="0"/>
              <a:t>2/4/24</a:t>
            </a:fld>
            <a:endParaRPr lang="en-US"/>
          </a:p>
        </p:txBody>
      </p:sp>
      <p:sp>
        <p:nvSpPr>
          <p:cNvPr id="5" name="Footer Placeholder 4">
            <a:extLst>
              <a:ext uri="{FF2B5EF4-FFF2-40B4-BE49-F238E27FC236}">
                <a16:creationId xmlns:a16="http://schemas.microsoft.com/office/drawing/2014/main" id="{857E007E-3A0E-4314-BE35-65A00B25BC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107654-312A-49F9-A8A7-E041AEF0E302}"/>
              </a:ext>
            </a:extLst>
          </p:cNvPr>
          <p:cNvSpPr>
            <a:spLocks noGrp="1"/>
          </p:cNvSpPr>
          <p:nvPr>
            <p:ph type="sldNum" sz="quarter" idx="12"/>
          </p:nvPr>
        </p:nvSpPr>
        <p:spPr/>
        <p:txBody>
          <a:bodyPr/>
          <a:lstStyle/>
          <a:p>
            <a:fld id="{595983F6-BBDA-4E85-87CF-33C01B4242B3}" type="slidenum">
              <a:rPr lang="en-US" smtClean="0"/>
              <a:t>‹#›</a:t>
            </a:fld>
            <a:endParaRPr lang="en-US"/>
          </a:p>
        </p:txBody>
      </p:sp>
    </p:spTree>
    <p:extLst>
      <p:ext uri="{BB962C8B-B14F-4D97-AF65-F5344CB8AC3E}">
        <p14:creationId xmlns:p14="http://schemas.microsoft.com/office/powerpoint/2010/main" val="28791216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C8EA80-9157-46B9-9B6C-866ECB4F0E8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A55512-1E79-417B-AF52-B967554888B7}"/>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A0F5347-824F-45BB-94BB-795BE001F0F0}"/>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17BD165-3FD6-4EDC-B038-27B6FAB54995}"/>
              </a:ext>
            </a:extLst>
          </p:cNvPr>
          <p:cNvSpPr>
            <a:spLocks noGrp="1"/>
          </p:cNvSpPr>
          <p:nvPr>
            <p:ph type="dt" sz="half" idx="10"/>
          </p:nvPr>
        </p:nvSpPr>
        <p:spPr/>
        <p:txBody>
          <a:bodyPr/>
          <a:lstStyle/>
          <a:p>
            <a:fld id="{3EE86882-1CF3-4E21-89BE-C5CEB3924659}" type="datetimeFigureOut">
              <a:rPr lang="en-US" smtClean="0"/>
              <a:t>2/4/24</a:t>
            </a:fld>
            <a:endParaRPr lang="en-US"/>
          </a:p>
        </p:txBody>
      </p:sp>
      <p:sp>
        <p:nvSpPr>
          <p:cNvPr id="6" name="Footer Placeholder 5">
            <a:extLst>
              <a:ext uri="{FF2B5EF4-FFF2-40B4-BE49-F238E27FC236}">
                <a16:creationId xmlns:a16="http://schemas.microsoft.com/office/drawing/2014/main" id="{B0F670DF-7097-4D69-8812-83D8CD27A71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B293A0B-7540-4059-9843-355929D040C1}"/>
              </a:ext>
            </a:extLst>
          </p:cNvPr>
          <p:cNvSpPr>
            <a:spLocks noGrp="1"/>
          </p:cNvSpPr>
          <p:nvPr>
            <p:ph type="sldNum" sz="quarter" idx="12"/>
          </p:nvPr>
        </p:nvSpPr>
        <p:spPr/>
        <p:txBody>
          <a:bodyPr/>
          <a:lstStyle/>
          <a:p>
            <a:fld id="{595983F6-BBDA-4E85-87CF-33C01B4242B3}" type="slidenum">
              <a:rPr lang="en-US" smtClean="0"/>
              <a:t>‹#›</a:t>
            </a:fld>
            <a:endParaRPr lang="en-US"/>
          </a:p>
        </p:txBody>
      </p:sp>
    </p:spTree>
    <p:extLst>
      <p:ext uri="{BB962C8B-B14F-4D97-AF65-F5344CB8AC3E}">
        <p14:creationId xmlns:p14="http://schemas.microsoft.com/office/powerpoint/2010/main" val="26756711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FD613-E280-44CA-A770-834C432C707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E027B75-DC09-433C-9F55-300EC8F8BC3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8BBA939-CA30-4F17-87B7-760951DEAF83}"/>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F56A096-3BC1-45BF-BC50-E43A20C2808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8239EAD1-F304-43E7-9440-3CD09AEE5782}"/>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0D91FD4-5E10-4382-843A-45EC2E7A377E}"/>
              </a:ext>
            </a:extLst>
          </p:cNvPr>
          <p:cNvSpPr>
            <a:spLocks noGrp="1"/>
          </p:cNvSpPr>
          <p:nvPr>
            <p:ph type="dt" sz="half" idx="10"/>
          </p:nvPr>
        </p:nvSpPr>
        <p:spPr/>
        <p:txBody>
          <a:bodyPr/>
          <a:lstStyle/>
          <a:p>
            <a:fld id="{3EE86882-1CF3-4E21-89BE-C5CEB3924659}" type="datetimeFigureOut">
              <a:rPr lang="en-US" smtClean="0"/>
              <a:t>2/4/24</a:t>
            </a:fld>
            <a:endParaRPr lang="en-US"/>
          </a:p>
        </p:txBody>
      </p:sp>
      <p:sp>
        <p:nvSpPr>
          <p:cNvPr id="8" name="Footer Placeholder 7">
            <a:extLst>
              <a:ext uri="{FF2B5EF4-FFF2-40B4-BE49-F238E27FC236}">
                <a16:creationId xmlns:a16="http://schemas.microsoft.com/office/drawing/2014/main" id="{EF3C9640-D6E4-47BC-95C6-821D6A3FF33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9657401-4351-40E8-A5AE-99EC9008D1C7}"/>
              </a:ext>
            </a:extLst>
          </p:cNvPr>
          <p:cNvSpPr>
            <a:spLocks noGrp="1"/>
          </p:cNvSpPr>
          <p:nvPr>
            <p:ph type="sldNum" sz="quarter" idx="12"/>
          </p:nvPr>
        </p:nvSpPr>
        <p:spPr/>
        <p:txBody>
          <a:bodyPr/>
          <a:lstStyle/>
          <a:p>
            <a:fld id="{595983F6-BBDA-4E85-87CF-33C01B4242B3}" type="slidenum">
              <a:rPr lang="en-US" smtClean="0"/>
              <a:t>‹#›</a:t>
            </a:fld>
            <a:endParaRPr lang="en-US"/>
          </a:p>
        </p:txBody>
      </p:sp>
    </p:spTree>
    <p:extLst>
      <p:ext uri="{BB962C8B-B14F-4D97-AF65-F5344CB8AC3E}">
        <p14:creationId xmlns:p14="http://schemas.microsoft.com/office/powerpoint/2010/main" val="40475953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FB5DB-477C-48A9-82E4-9F106960FD0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814A002-3405-414C-BD0D-4E02A8A18C0D}"/>
              </a:ext>
            </a:extLst>
          </p:cNvPr>
          <p:cNvSpPr>
            <a:spLocks noGrp="1"/>
          </p:cNvSpPr>
          <p:nvPr>
            <p:ph type="dt" sz="half" idx="10"/>
          </p:nvPr>
        </p:nvSpPr>
        <p:spPr/>
        <p:txBody>
          <a:bodyPr/>
          <a:lstStyle/>
          <a:p>
            <a:fld id="{3EE86882-1CF3-4E21-89BE-C5CEB3924659}" type="datetimeFigureOut">
              <a:rPr lang="en-US" smtClean="0"/>
              <a:t>2/4/24</a:t>
            </a:fld>
            <a:endParaRPr lang="en-US"/>
          </a:p>
        </p:txBody>
      </p:sp>
      <p:sp>
        <p:nvSpPr>
          <p:cNvPr id="4" name="Footer Placeholder 3">
            <a:extLst>
              <a:ext uri="{FF2B5EF4-FFF2-40B4-BE49-F238E27FC236}">
                <a16:creationId xmlns:a16="http://schemas.microsoft.com/office/drawing/2014/main" id="{8F594212-8BB5-49D0-AB4B-36DC204BAB6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70984A2-C0C8-4E8D-87D6-271599DD506C}"/>
              </a:ext>
            </a:extLst>
          </p:cNvPr>
          <p:cNvSpPr>
            <a:spLocks noGrp="1"/>
          </p:cNvSpPr>
          <p:nvPr>
            <p:ph type="sldNum" sz="quarter" idx="12"/>
          </p:nvPr>
        </p:nvSpPr>
        <p:spPr/>
        <p:txBody>
          <a:bodyPr/>
          <a:lstStyle/>
          <a:p>
            <a:fld id="{595983F6-BBDA-4E85-87CF-33C01B4242B3}" type="slidenum">
              <a:rPr lang="en-US" smtClean="0"/>
              <a:t>‹#›</a:t>
            </a:fld>
            <a:endParaRPr lang="en-US"/>
          </a:p>
        </p:txBody>
      </p:sp>
    </p:spTree>
    <p:extLst>
      <p:ext uri="{BB962C8B-B14F-4D97-AF65-F5344CB8AC3E}">
        <p14:creationId xmlns:p14="http://schemas.microsoft.com/office/powerpoint/2010/main" val="12404050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6BCF15-D505-48CD-8264-FE5C9795F06E}"/>
              </a:ext>
            </a:extLst>
          </p:cNvPr>
          <p:cNvSpPr>
            <a:spLocks noGrp="1"/>
          </p:cNvSpPr>
          <p:nvPr>
            <p:ph type="dt" sz="half" idx="10"/>
          </p:nvPr>
        </p:nvSpPr>
        <p:spPr/>
        <p:txBody>
          <a:bodyPr/>
          <a:lstStyle/>
          <a:p>
            <a:fld id="{3EE86882-1CF3-4E21-89BE-C5CEB3924659}" type="datetimeFigureOut">
              <a:rPr lang="en-US" smtClean="0"/>
              <a:t>2/4/24</a:t>
            </a:fld>
            <a:endParaRPr lang="en-US"/>
          </a:p>
        </p:txBody>
      </p:sp>
      <p:sp>
        <p:nvSpPr>
          <p:cNvPr id="3" name="Footer Placeholder 2">
            <a:extLst>
              <a:ext uri="{FF2B5EF4-FFF2-40B4-BE49-F238E27FC236}">
                <a16:creationId xmlns:a16="http://schemas.microsoft.com/office/drawing/2014/main" id="{2F01F9DB-CAA2-4020-9012-9F1EF528EED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8F059D5-D7B0-4AB1-9375-2C4F77616844}"/>
              </a:ext>
            </a:extLst>
          </p:cNvPr>
          <p:cNvSpPr>
            <a:spLocks noGrp="1"/>
          </p:cNvSpPr>
          <p:nvPr>
            <p:ph type="sldNum" sz="quarter" idx="12"/>
          </p:nvPr>
        </p:nvSpPr>
        <p:spPr/>
        <p:txBody>
          <a:bodyPr/>
          <a:lstStyle/>
          <a:p>
            <a:fld id="{595983F6-BBDA-4E85-87CF-33C01B4242B3}" type="slidenum">
              <a:rPr lang="en-US" smtClean="0"/>
              <a:t>‹#›</a:t>
            </a:fld>
            <a:endParaRPr lang="en-US"/>
          </a:p>
        </p:txBody>
      </p:sp>
    </p:spTree>
    <p:extLst>
      <p:ext uri="{BB962C8B-B14F-4D97-AF65-F5344CB8AC3E}">
        <p14:creationId xmlns:p14="http://schemas.microsoft.com/office/powerpoint/2010/main" val="38940140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D2E85-C239-4C22-AD11-10405385F3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145B297-510E-493F-8C06-041D0A6621B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72C91D9-41B8-4112-9C50-627E91714F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889FF5DB-1613-4DC5-87A3-86E6BE1BFDBB}"/>
              </a:ext>
            </a:extLst>
          </p:cNvPr>
          <p:cNvSpPr>
            <a:spLocks noGrp="1"/>
          </p:cNvSpPr>
          <p:nvPr>
            <p:ph type="dt" sz="half" idx="10"/>
          </p:nvPr>
        </p:nvSpPr>
        <p:spPr/>
        <p:txBody>
          <a:bodyPr/>
          <a:lstStyle/>
          <a:p>
            <a:fld id="{3EE86882-1CF3-4E21-89BE-C5CEB3924659}" type="datetimeFigureOut">
              <a:rPr lang="en-US" smtClean="0"/>
              <a:t>2/4/24</a:t>
            </a:fld>
            <a:endParaRPr lang="en-US"/>
          </a:p>
        </p:txBody>
      </p:sp>
      <p:sp>
        <p:nvSpPr>
          <p:cNvPr id="6" name="Footer Placeholder 5">
            <a:extLst>
              <a:ext uri="{FF2B5EF4-FFF2-40B4-BE49-F238E27FC236}">
                <a16:creationId xmlns:a16="http://schemas.microsoft.com/office/drawing/2014/main" id="{639C033E-2E39-4F20-B20C-5C24BC11198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9D31C63-D410-40AA-9340-9A3122208A7E}"/>
              </a:ext>
            </a:extLst>
          </p:cNvPr>
          <p:cNvSpPr>
            <a:spLocks noGrp="1"/>
          </p:cNvSpPr>
          <p:nvPr>
            <p:ph type="sldNum" sz="quarter" idx="12"/>
          </p:nvPr>
        </p:nvSpPr>
        <p:spPr/>
        <p:txBody>
          <a:bodyPr/>
          <a:lstStyle/>
          <a:p>
            <a:fld id="{595983F6-BBDA-4E85-87CF-33C01B4242B3}" type="slidenum">
              <a:rPr lang="en-US" smtClean="0"/>
              <a:t>‹#›</a:t>
            </a:fld>
            <a:endParaRPr lang="en-US"/>
          </a:p>
        </p:txBody>
      </p:sp>
    </p:spTree>
    <p:extLst>
      <p:ext uri="{BB962C8B-B14F-4D97-AF65-F5344CB8AC3E}">
        <p14:creationId xmlns:p14="http://schemas.microsoft.com/office/powerpoint/2010/main" val="27633602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C796E-E2C7-4318-8EF7-93A7D84F57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9B41617-2F37-4AC2-B419-EAA8C0AD4F9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248A429-F83D-4DB8-8195-20270AE288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A18AEFC-C38F-4B3B-AA22-980F0C1CE294}"/>
              </a:ext>
            </a:extLst>
          </p:cNvPr>
          <p:cNvSpPr>
            <a:spLocks noGrp="1"/>
          </p:cNvSpPr>
          <p:nvPr>
            <p:ph type="dt" sz="half" idx="10"/>
          </p:nvPr>
        </p:nvSpPr>
        <p:spPr/>
        <p:txBody>
          <a:bodyPr/>
          <a:lstStyle/>
          <a:p>
            <a:fld id="{3EE86882-1CF3-4E21-89BE-C5CEB3924659}" type="datetimeFigureOut">
              <a:rPr lang="en-US" smtClean="0"/>
              <a:t>2/4/24</a:t>
            </a:fld>
            <a:endParaRPr lang="en-US"/>
          </a:p>
        </p:txBody>
      </p:sp>
      <p:sp>
        <p:nvSpPr>
          <p:cNvPr id="6" name="Footer Placeholder 5">
            <a:extLst>
              <a:ext uri="{FF2B5EF4-FFF2-40B4-BE49-F238E27FC236}">
                <a16:creationId xmlns:a16="http://schemas.microsoft.com/office/drawing/2014/main" id="{4BBD791E-3787-4F78-872B-58723CBBD0A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9202F8-480F-486B-BD94-412196ACBBF8}"/>
              </a:ext>
            </a:extLst>
          </p:cNvPr>
          <p:cNvSpPr>
            <a:spLocks noGrp="1"/>
          </p:cNvSpPr>
          <p:nvPr>
            <p:ph type="sldNum" sz="quarter" idx="12"/>
          </p:nvPr>
        </p:nvSpPr>
        <p:spPr/>
        <p:txBody>
          <a:bodyPr/>
          <a:lstStyle/>
          <a:p>
            <a:fld id="{595983F6-BBDA-4E85-87CF-33C01B4242B3}" type="slidenum">
              <a:rPr lang="en-US" smtClean="0"/>
              <a:t>‹#›</a:t>
            </a:fld>
            <a:endParaRPr lang="en-US"/>
          </a:p>
        </p:txBody>
      </p:sp>
    </p:spTree>
    <p:extLst>
      <p:ext uri="{BB962C8B-B14F-4D97-AF65-F5344CB8AC3E}">
        <p14:creationId xmlns:p14="http://schemas.microsoft.com/office/powerpoint/2010/main" val="24173243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0179B-500A-496D-B4D9-F977820B221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377EB8F-B4BA-44E5-88AC-88224F298B19}"/>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044613-DC20-4985-BA9F-FD9160A7D3FD}"/>
              </a:ext>
            </a:extLst>
          </p:cNvPr>
          <p:cNvSpPr>
            <a:spLocks noGrp="1"/>
          </p:cNvSpPr>
          <p:nvPr>
            <p:ph type="dt" sz="half" idx="10"/>
          </p:nvPr>
        </p:nvSpPr>
        <p:spPr/>
        <p:txBody>
          <a:bodyPr/>
          <a:lstStyle/>
          <a:p>
            <a:fld id="{3EE86882-1CF3-4E21-89BE-C5CEB3924659}" type="datetimeFigureOut">
              <a:rPr lang="en-US" smtClean="0"/>
              <a:t>2/4/24</a:t>
            </a:fld>
            <a:endParaRPr lang="en-US"/>
          </a:p>
        </p:txBody>
      </p:sp>
      <p:sp>
        <p:nvSpPr>
          <p:cNvPr id="5" name="Footer Placeholder 4">
            <a:extLst>
              <a:ext uri="{FF2B5EF4-FFF2-40B4-BE49-F238E27FC236}">
                <a16:creationId xmlns:a16="http://schemas.microsoft.com/office/drawing/2014/main" id="{FFE41043-1250-4111-B31D-F06A98BF59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4098D8-E6A2-4106-AC9E-C128165DD40C}"/>
              </a:ext>
            </a:extLst>
          </p:cNvPr>
          <p:cNvSpPr>
            <a:spLocks noGrp="1"/>
          </p:cNvSpPr>
          <p:nvPr>
            <p:ph type="sldNum" sz="quarter" idx="12"/>
          </p:nvPr>
        </p:nvSpPr>
        <p:spPr/>
        <p:txBody>
          <a:bodyPr/>
          <a:lstStyle/>
          <a:p>
            <a:fld id="{595983F6-BBDA-4E85-87CF-33C01B4242B3}" type="slidenum">
              <a:rPr lang="en-US" smtClean="0"/>
              <a:t>‹#›</a:t>
            </a:fld>
            <a:endParaRPr lang="en-US"/>
          </a:p>
        </p:txBody>
      </p:sp>
    </p:spTree>
    <p:extLst>
      <p:ext uri="{BB962C8B-B14F-4D97-AF65-F5344CB8AC3E}">
        <p14:creationId xmlns:p14="http://schemas.microsoft.com/office/powerpoint/2010/main" val="31205393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19BD81D-1246-4B00-A010-388321FE02E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F2597C9-E1FA-4D61-92BB-630BE2C9832C}"/>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36A213-7C75-4546-8719-20901677804A}"/>
              </a:ext>
            </a:extLst>
          </p:cNvPr>
          <p:cNvSpPr>
            <a:spLocks noGrp="1"/>
          </p:cNvSpPr>
          <p:nvPr>
            <p:ph type="dt" sz="half" idx="10"/>
          </p:nvPr>
        </p:nvSpPr>
        <p:spPr/>
        <p:txBody>
          <a:bodyPr/>
          <a:lstStyle/>
          <a:p>
            <a:fld id="{3EE86882-1CF3-4E21-89BE-C5CEB3924659}" type="datetimeFigureOut">
              <a:rPr lang="en-US" smtClean="0"/>
              <a:t>2/4/24</a:t>
            </a:fld>
            <a:endParaRPr lang="en-US"/>
          </a:p>
        </p:txBody>
      </p:sp>
      <p:sp>
        <p:nvSpPr>
          <p:cNvPr id="5" name="Footer Placeholder 4">
            <a:extLst>
              <a:ext uri="{FF2B5EF4-FFF2-40B4-BE49-F238E27FC236}">
                <a16:creationId xmlns:a16="http://schemas.microsoft.com/office/drawing/2014/main" id="{E20AC16E-47A1-48CF-BC45-6C8B323169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3F7EC8-FCC5-49F8-95FE-501140C2561D}"/>
              </a:ext>
            </a:extLst>
          </p:cNvPr>
          <p:cNvSpPr>
            <a:spLocks noGrp="1"/>
          </p:cNvSpPr>
          <p:nvPr>
            <p:ph type="sldNum" sz="quarter" idx="12"/>
          </p:nvPr>
        </p:nvSpPr>
        <p:spPr/>
        <p:txBody>
          <a:bodyPr/>
          <a:lstStyle/>
          <a:p>
            <a:fld id="{595983F6-BBDA-4E85-87CF-33C01B4242B3}" type="slidenum">
              <a:rPr lang="en-US" smtClean="0"/>
              <a:t>‹#›</a:t>
            </a:fld>
            <a:endParaRPr lang="en-US"/>
          </a:p>
        </p:txBody>
      </p:sp>
    </p:spTree>
    <p:extLst>
      <p:ext uri="{BB962C8B-B14F-4D97-AF65-F5344CB8AC3E}">
        <p14:creationId xmlns:p14="http://schemas.microsoft.com/office/powerpoint/2010/main" val="41965250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96B2CB8-2FD9-4E31-B363-89615416A9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D2799CE-A21C-4684-93F1-A267B39C4AE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B58A116-D6CC-4CC6-9E36-248C5BB1D83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EE86882-1CF3-4E21-89BE-C5CEB3924659}" type="datetimeFigureOut">
              <a:rPr lang="en-US" smtClean="0"/>
              <a:t>2/4/24</a:t>
            </a:fld>
            <a:endParaRPr lang="en-US"/>
          </a:p>
        </p:txBody>
      </p:sp>
      <p:sp>
        <p:nvSpPr>
          <p:cNvPr id="5" name="Footer Placeholder 4">
            <a:extLst>
              <a:ext uri="{FF2B5EF4-FFF2-40B4-BE49-F238E27FC236}">
                <a16:creationId xmlns:a16="http://schemas.microsoft.com/office/drawing/2014/main" id="{603686ED-4DCF-44D7-AC26-E894F4A17C0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4B59EE5-4619-4AE1-8C4A-7E25B4066B2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5983F6-BBDA-4E85-87CF-33C01B4242B3}" type="slidenum">
              <a:rPr lang="en-US" smtClean="0"/>
              <a:t>‹#›</a:t>
            </a:fld>
            <a:endParaRPr lang="en-US"/>
          </a:p>
        </p:txBody>
      </p:sp>
    </p:spTree>
    <p:extLst>
      <p:ext uri="{BB962C8B-B14F-4D97-AF65-F5344CB8AC3E}">
        <p14:creationId xmlns:p14="http://schemas.microsoft.com/office/powerpoint/2010/main" val="17836563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s://www.ibm.com/topics/knn#:~:text=The%20k%2Dnearest%20neighbors%20algorithm%2C%20also%20known%20as%20KNN%20or,of%20an%20individual%20data%20point."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0.png"/><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9.png"/><Relationship Id="rId1" Type="http://schemas.openxmlformats.org/officeDocument/2006/relationships/slideLayout" Target="../slideLayouts/slideLayout4.xml"/><Relationship Id="rId4" Type="http://schemas.openxmlformats.org/officeDocument/2006/relationships/hyperlink" Target="http://rosalind.info/glossary/euclidean-distance/" TargetMode="External"/></Relationships>
</file>

<file path=ppt/slides/_rels/slide4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DB932-E397-4929-95D5-E688161E314F}"/>
              </a:ext>
            </a:extLst>
          </p:cNvPr>
          <p:cNvSpPr>
            <a:spLocks noGrp="1"/>
          </p:cNvSpPr>
          <p:nvPr>
            <p:ph type="ctrTitle"/>
          </p:nvPr>
        </p:nvSpPr>
        <p:spPr/>
        <p:txBody>
          <a:bodyPr/>
          <a:lstStyle/>
          <a:p>
            <a:r>
              <a:rPr lang="en-US" b="1" dirty="0"/>
              <a:t>Bias, Variance, and K-Nearest Neighbors</a:t>
            </a:r>
          </a:p>
        </p:txBody>
      </p:sp>
      <p:sp>
        <p:nvSpPr>
          <p:cNvPr id="3" name="Subtitle 2">
            <a:extLst>
              <a:ext uri="{FF2B5EF4-FFF2-40B4-BE49-F238E27FC236}">
                <a16:creationId xmlns:a16="http://schemas.microsoft.com/office/drawing/2014/main" id="{F8DE6D2B-55C7-4A2B-B516-E6D8FFBE9A9B}"/>
              </a:ext>
            </a:extLst>
          </p:cNvPr>
          <p:cNvSpPr>
            <a:spLocks noGrp="1"/>
          </p:cNvSpPr>
          <p:nvPr>
            <p:ph type="subTitle" idx="1"/>
          </p:nvPr>
        </p:nvSpPr>
        <p:spPr/>
        <p:txBody>
          <a:bodyPr>
            <a:normAutofit/>
          </a:bodyPr>
          <a:lstStyle/>
          <a:p>
            <a:r>
              <a:rPr lang="en-US" sz="2800" dirty="0"/>
              <a:t>CSC4601 Theory of Machine Learning</a:t>
            </a:r>
          </a:p>
        </p:txBody>
      </p:sp>
    </p:spTree>
    <p:extLst>
      <p:ext uri="{BB962C8B-B14F-4D97-AF65-F5344CB8AC3E}">
        <p14:creationId xmlns:p14="http://schemas.microsoft.com/office/powerpoint/2010/main" val="953135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C1A6C-D2C6-4D4B-BAF6-FA49A180E3CA}"/>
              </a:ext>
            </a:extLst>
          </p:cNvPr>
          <p:cNvSpPr>
            <a:spLocks noGrp="1"/>
          </p:cNvSpPr>
          <p:nvPr>
            <p:ph type="title"/>
          </p:nvPr>
        </p:nvSpPr>
        <p:spPr/>
        <p:txBody>
          <a:bodyPr/>
          <a:lstStyle/>
          <a:p>
            <a:r>
              <a:rPr lang="en-US" b="1" dirty="0"/>
              <a:t>Overview</a:t>
            </a:r>
          </a:p>
        </p:txBody>
      </p:sp>
      <p:sp>
        <p:nvSpPr>
          <p:cNvPr id="3" name="Content Placeholder 2">
            <a:extLst>
              <a:ext uri="{FF2B5EF4-FFF2-40B4-BE49-F238E27FC236}">
                <a16:creationId xmlns:a16="http://schemas.microsoft.com/office/drawing/2014/main" id="{29E9EEC1-AAF2-49DD-9A71-F20971F405B7}"/>
              </a:ext>
            </a:extLst>
          </p:cNvPr>
          <p:cNvSpPr>
            <a:spLocks noGrp="1"/>
          </p:cNvSpPr>
          <p:nvPr>
            <p:ph idx="1"/>
          </p:nvPr>
        </p:nvSpPr>
        <p:spPr/>
        <p:txBody>
          <a:bodyPr>
            <a:normAutofit/>
          </a:bodyPr>
          <a:lstStyle/>
          <a:p>
            <a:pPr>
              <a:lnSpc>
                <a:spcPct val="100000"/>
              </a:lnSpc>
            </a:pPr>
            <a:r>
              <a:rPr lang="en-US" dirty="0"/>
              <a:t>Last week, we discussed linear vs non-linear models, and we motivated graphically what we mean by complex vs simple models.</a:t>
            </a:r>
          </a:p>
          <a:p>
            <a:pPr marL="0" indent="0">
              <a:lnSpc>
                <a:spcPct val="100000"/>
              </a:lnSpc>
              <a:buNone/>
            </a:pPr>
            <a:endParaRPr lang="en-US" dirty="0"/>
          </a:p>
          <a:p>
            <a:pPr>
              <a:lnSpc>
                <a:spcPct val="100000"/>
              </a:lnSpc>
            </a:pPr>
            <a:r>
              <a:rPr lang="en-US" dirty="0"/>
              <a:t>Each model has its own advantages and disadvantages, and each model makes certain assumptions.</a:t>
            </a:r>
          </a:p>
          <a:p>
            <a:pPr>
              <a:lnSpc>
                <a:spcPct val="100000"/>
              </a:lnSpc>
            </a:pPr>
            <a:endParaRPr lang="en-US" dirty="0"/>
          </a:p>
          <a:p>
            <a:pPr>
              <a:lnSpc>
                <a:spcPct val="100000"/>
              </a:lnSpc>
            </a:pPr>
            <a:r>
              <a:rPr lang="en-US" dirty="0"/>
              <a:t>Which model to choose? Where to start?</a:t>
            </a:r>
          </a:p>
          <a:p>
            <a:pPr marL="0" indent="0">
              <a:lnSpc>
                <a:spcPct val="100000"/>
              </a:lnSpc>
              <a:buNone/>
            </a:pPr>
            <a:endParaRPr lang="en-US" dirty="0"/>
          </a:p>
        </p:txBody>
      </p:sp>
    </p:spTree>
    <p:extLst>
      <p:ext uri="{BB962C8B-B14F-4D97-AF65-F5344CB8AC3E}">
        <p14:creationId xmlns:p14="http://schemas.microsoft.com/office/powerpoint/2010/main" val="40443514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776E8-2EE8-4C63-A9F4-E508DA87107C}"/>
              </a:ext>
            </a:extLst>
          </p:cNvPr>
          <p:cNvSpPr>
            <a:spLocks noGrp="1"/>
          </p:cNvSpPr>
          <p:nvPr>
            <p:ph type="title"/>
          </p:nvPr>
        </p:nvSpPr>
        <p:spPr/>
        <p:txBody>
          <a:bodyPr/>
          <a:lstStyle/>
          <a:p>
            <a:r>
              <a:rPr lang="en-US" b="1" dirty="0"/>
              <a:t>No-Free-Lunch theorem</a:t>
            </a:r>
          </a:p>
        </p:txBody>
      </p:sp>
      <p:sp>
        <p:nvSpPr>
          <p:cNvPr id="3" name="Content Placeholder 2">
            <a:extLst>
              <a:ext uri="{FF2B5EF4-FFF2-40B4-BE49-F238E27FC236}">
                <a16:creationId xmlns:a16="http://schemas.microsoft.com/office/drawing/2014/main" id="{4657C4C0-826B-411D-8509-A24BC5296817}"/>
              </a:ext>
            </a:extLst>
          </p:cNvPr>
          <p:cNvSpPr>
            <a:spLocks noGrp="1"/>
          </p:cNvSpPr>
          <p:nvPr>
            <p:ph idx="1"/>
          </p:nvPr>
        </p:nvSpPr>
        <p:spPr/>
        <p:txBody>
          <a:bodyPr>
            <a:normAutofit/>
          </a:bodyPr>
          <a:lstStyle/>
          <a:p>
            <a:pPr fontAlgn="base">
              <a:lnSpc>
                <a:spcPct val="100000"/>
              </a:lnSpc>
            </a:pPr>
            <a:r>
              <a:rPr lang="en-US" sz="2200" b="0" dirty="0">
                <a:effectLst/>
              </a:rPr>
              <a:t>The “</a:t>
            </a:r>
            <a:r>
              <a:rPr lang="en-US" sz="2200" b="0" i="1" dirty="0">
                <a:effectLst/>
              </a:rPr>
              <a:t>No Free Lunch</a:t>
            </a:r>
            <a:r>
              <a:rPr lang="en-US" sz="2200" b="0" dirty="0">
                <a:effectLst/>
              </a:rPr>
              <a:t>” Theorem argues that, without having prior knowledge, there is no single model that will always do better than any other model. </a:t>
            </a:r>
          </a:p>
          <a:p>
            <a:pPr marL="0" indent="0" fontAlgn="base">
              <a:lnSpc>
                <a:spcPct val="100000"/>
              </a:lnSpc>
              <a:buNone/>
            </a:pPr>
            <a:endParaRPr lang="en-US" sz="2200" b="0" dirty="0">
              <a:effectLst/>
            </a:endParaRPr>
          </a:p>
          <a:p>
            <a:pPr fontAlgn="base">
              <a:lnSpc>
                <a:spcPct val="100000"/>
              </a:lnSpc>
            </a:pPr>
            <a:r>
              <a:rPr lang="en-US" sz="2200" dirty="0"/>
              <a:t>Hence it is important to evaluate different approaches or techniques and select the best performing approach</a:t>
            </a:r>
            <a:r>
              <a:rPr lang="en-US" sz="2200" b="0" dirty="0">
                <a:effectLst/>
              </a:rPr>
              <a:t>.</a:t>
            </a:r>
          </a:p>
          <a:p>
            <a:pPr fontAlgn="base">
              <a:lnSpc>
                <a:spcPct val="100000"/>
              </a:lnSpc>
            </a:pPr>
            <a:endParaRPr lang="en-US" sz="2200" dirty="0"/>
          </a:p>
          <a:p>
            <a:pPr fontAlgn="base">
              <a:lnSpc>
                <a:spcPct val="100000"/>
              </a:lnSpc>
            </a:pPr>
            <a:r>
              <a:rPr lang="en-US" sz="2200" b="0" dirty="0">
                <a:effectLst/>
              </a:rPr>
              <a:t>In this lecture, we will discuss:</a:t>
            </a:r>
          </a:p>
          <a:p>
            <a:pPr lvl="1" fontAlgn="base">
              <a:lnSpc>
                <a:spcPct val="100000"/>
              </a:lnSpc>
            </a:pPr>
            <a:r>
              <a:rPr lang="en-US" sz="2200" dirty="0"/>
              <a:t>Best practices on model evaluation</a:t>
            </a:r>
          </a:p>
          <a:p>
            <a:pPr lvl="1" fontAlgn="base">
              <a:lnSpc>
                <a:spcPct val="100000"/>
              </a:lnSpc>
            </a:pPr>
            <a:r>
              <a:rPr lang="en-US" sz="2200" b="0" dirty="0">
                <a:effectLst/>
              </a:rPr>
              <a:t>Overfitting vs Underfitting</a:t>
            </a:r>
            <a:endParaRPr lang="en-US" sz="2200" dirty="0"/>
          </a:p>
          <a:p>
            <a:pPr lvl="1" fontAlgn="base">
              <a:lnSpc>
                <a:spcPct val="100000"/>
              </a:lnSpc>
            </a:pPr>
            <a:r>
              <a:rPr lang="en-US" sz="2200" b="0" dirty="0">
                <a:effectLst/>
              </a:rPr>
              <a:t>Evaluation metrics (classification)</a:t>
            </a:r>
          </a:p>
          <a:p>
            <a:pPr fontAlgn="base">
              <a:lnSpc>
                <a:spcPct val="100000"/>
              </a:lnSpc>
            </a:pPr>
            <a:endParaRPr lang="en-US" sz="2200" dirty="0"/>
          </a:p>
          <a:p>
            <a:pPr fontAlgn="base">
              <a:lnSpc>
                <a:spcPct val="100000"/>
              </a:lnSpc>
            </a:pPr>
            <a:endParaRPr lang="en-US" sz="2200" b="0" dirty="0">
              <a:effectLst/>
            </a:endParaRPr>
          </a:p>
          <a:p>
            <a:pPr marL="0" indent="0">
              <a:lnSpc>
                <a:spcPct val="100000"/>
              </a:lnSpc>
              <a:buNone/>
            </a:pPr>
            <a:endParaRPr lang="en-US" sz="2200" dirty="0"/>
          </a:p>
        </p:txBody>
      </p:sp>
    </p:spTree>
    <p:extLst>
      <p:ext uri="{BB962C8B-B14F-4D97-AF65-F5344CB8AC3E}">
        <p14:creationId xmlns:p14="http://schemas.microsoft.com/office/powerpoint/2010/main" val="9502695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0A012BD-8276-48E5-805B-F845E364BEDF}"/>
              </a:ext>
            </a:extLst>
          </p:cNvPr>
          <p:cNvSpPr>
            <a:spLocks noGrp="1"/>
          </p:cNvSpPr>
          <p:nvPr>
            <p:ph type="title"/>
          </p:nvPr>
        </p:nvSpPr>
        <p:spPr/>
        <p:txBody>
          <a:bodyPr/>
          <a:lstStyle/>
          <a:p>
            <a:r>
              <a:rPr lang="en-US" b="1" dirty="0"/>
              <a:t>Model Evaluation</a:t>
            </a:r>
          </a:p>
        </p:txBody>
      </p:sp>
    </p:spTree>
    <p:extLst>
      <p:ext uri="{BB962C8B-B14F-4D97-AF65-F5344CB8AC3E}">
        <p14:creationId xmlns:p14="http://schemas.microsoft.com/office/powerpoint/2010/main" val="2469517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F420944-3EF8-4DF6-A4C2-05B0AF3838DF}"/>
              </a:ext>
            </a:extLst>
          </p:cNvPr>
          <p:cNvSpPr>
            <a:spLocks noGrp="1"/>
          </p:cNvSpPr>
          <p:nvPr>
            <p:ph type="title"/>
          </p:nvPr>
        </p:nvSpPr>
        <p:spPr/>
        <p:txBody>
          <a:bodyPr/>
          <a:lstStyle/>
          <a:p>
            <a:r>
              <a:rPr lang="en-US" b="1" dirty="0"/>
              <a:t>Model Evaluation</a:t>
            </a:r>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FCAA75B8-9BCA-430B-8893-0DE53F454B96}"/>
                  </a:ext>
                </a:extLst>
              </p:cNvPr>
              <p:cNvSpPr/>
              <p:nvPr/>
            </p:nvSpPr>
            <p:spPr>
              <a:xfrm>
                <a:off x="4537365" y="2699634"/>
                <a:ext cx="1981200" cy="7452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dirty="0"/>
                  <a:t>Learned Model</a:t>
                </a:r>
              </a:p>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r>
                        <a:rPr lang="en-US" b="0" i="1" smtClean="0">
                          <a:latin typeface="Cambria Math" panose="02040503050406030204" pitchFamily="18" charset="0"/>
                        </a:rPr>
                        <m:t>(.)</m:t>
                      </m:r>
                    </m:oMath>
                  </m:oMathPara>
                </a14:m>
                <a:endParaRPr lang="en-US" b="1" dirty="0"/>
              </a:p>
            </p:txBody>
          </p:sp>
        </mc:Choice>
        <mc:Fallback xmlns="">
          <p:sp>
            <p:nvSpPr>
              <p:cNvPr id="6" name="Rectangle 5">
                <a:extLst>
                  <a:ext uri="{FF2B5EF4-FFF2-40B4-BE49-F238E27FC236}">
                    <a16:creationId xmlns:a16="http://schemas.microsoft.com/office/drawing/2014/main" id="{FCAA75B8-9BCA-430B-8893-0DE53F454B96}"/>
                  </a:ext>
                </a:extLst>
              </p:cNvPr>
              <p:cNvSpPr>
                <a:spLocks noRot="1" noChangeAspect="1" noMove="1" noResize="1" noEditPoints="1" noAdjustHandles="1" noChangeArrowheads="1" noChangeShapeType="1" noTextEdit="1"/>
              </p:cNvSpPr>
              <p:nvPr/>
            </p:nvSpPr>
            <p:spPr>
              <a:xfrm>
                <a:off x="4537365" y="2699634"/>
                <a:ext cx="1981200" cy="745271"/>
              </a:xfrm>
              <a:prstGeom prst="rect">
                <a:avLst/>
              </a:prstGeom>
              <a:blipFill>
                <a:blip r:embed="rId2"/>
                <a:stretch>
                  <a:fillRect/>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C41037F0-E927-47E3-B8CC-6D67AFDAC737}"/>
              </a:ext>
            </a:extLst>
          </p:cNvPr>
          <p:cNvCxnSpPr>
            <a:cxnSpLocks/>
          </p:cNvCxnSpPr>
          <p:nvPr/>
        </p:nvCxnSpPr>
        <p:spPr>
          <a:xfrm rot="16200000">
            <a:off x="4099751" y="2669455"/>
            <a:ext cx="0" cy="8752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 name="Straight Arrow Connector 7">
            <a:extLst>
              <a:ext uri="{FF2B5EF4-FFF2-40B4-BE49-F238E27FC236}">
                <a16:creationId xmlns:a16="http://schemas.microsoft.com/office/drawing/2014/main" id="{C1A0265D-4F5A-4261-8AFC-69402976ADCE}"/>
              </a:ext>
            </a:extLst>
          </p:cNvPr>
          <p:cNvCxnSpPr>
            <a:cxnSpLocks/>
          </p:cNvCxnSpPr>
          <p:nvPr/>
        </p:nvCxnSpPr>
        <p:spPr>
          <a:xfrm rot="16200000">
            <a:off x="6956180" y="2669454"/>
            <a:ext cx="0" cy="8752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3C7FE3C-ACE3-499E-B93D-E2DD344B5CD5}"/>
                  </a:ext>
                </a:extLst>
              </p:cNvPr>
              <p:cNvSpPr txBox="1"/>
              <p:nvPr/>
            </p:nvSpPr>
            <p:spPr>
              <a:xfrm>
                <a:off x="1914290" y="3726099"/>
                <a:ext cx="1889163" cy="923330"/>
              </a:xfrm>
              <a:prstGeom prst="rect">
                <a:avLst/>
              </a:prstGeom>
              <a:noFill/>
            </p:spPr>
            <p:txBody>
              <a:bodyPr wrap="square" rtlCol="0">
                <a:spAutoFit/>
              </a:bodyPr>
              <a:lstStyle/>
              <a:p>
                <a:pPr algn="ctr"/>
                <a:r>
                  <a:rPr lang="en-US" dirty="0"/>
                  <a:t>Feature vector, with known label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𝑡𝑟𝑢𝑒</m:t>
                        </m:r>
                      </m:sub>
                    </m:sSub>
                  </m:oMath>
                </a14:m>
                <a:r>
                  <a:rPr lang="en-US" dirty="0"/>
                  <a:t>)</a:t>
                </a:r>
              </a:p>
            </p:txBody>
          </p:sp>
        </mc:Choice>
        <mc:Fallback xmlns="">
          <p:sp>
            <p:nvSpPr>
              <p:cNvPr id="9" name="TextBox 8">
                <a:extLst>
                  <a:ext uri="{FF2B5EF4-FFF2-40B4-BE49-F238E27FC236}">
                    <a16:creationId xmlns:a16="http://schemas.microsoft.com/office/drawing/2014/main" id="{03C7FE3C-ACE3-499E-B93D-E2DD344B5CD5}"/>
                  </a:ext>
                </a:extLst>
              </p:cNvPr>
              <p:cNvSpPr txBox="1">
                <a:spLocks noRot="1" noChangeAspect="1" noMove="1" noResize="1" noEditPoints="1" noAdjustHandles="1" noChangeArrowheads="1" noChangeShapeType="1" noTextEdit="1"/>
              </p:cNvSpPr>
              <p:nvPr/>
            </p:nvSpPr>
            <p:spPr>
              <a:xfrm>
                <a:off x="1914290" y="3726099"/>
                <a:ext cx="1889163" cy="923330"/>
              </a:xfrm>
              <a:prstGeom prst="rect">
                <a:avLst/>
              </a:prstGeom>
              <a:blipFill>
                <a:blip r:embed="rId3"/>
                <a:stretch>
                  <a:fillRect t="-3289" r="-2258" b="-9211"/>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F16F627F-A2BD-46DD-AF57-D0545D831D0C}"/>
              </a:ext>
            </a:extLst>
          </p:cNvPr>
          <p:cNvSpPr txBox="1"/>
          <p:nvPr/>
        </p:nvSpPr>
        <p:spPr>
          <a:xfrm>
            <a:off x="7640911" y="2798574"/>
            <a:ext cx="1981199" cy="646331"/>
          </a:xfrm>
          <a:prstGeom prst="rect">
            <a:avLst/>
          </a:prstGeom>
          <a:noFill/>
        </p:spPr>
        <p:txBody>
          <a:bodyPr wrap="square" rtlCol="0">
            <a:spAutoFit/>
          </a:bodyPr>
          <a:lstStyle/>
          <a:p>
            <a:pPr algn="ctr"/>
            <a:r>
              <a:rPr lang="en-US" dirty="0"/>
              <a:t>Predicted Label (Output)</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0D2C227-F55C-4BB9-BD42-88D9D176CC40}"/>
                  </a:ext>
                </a:extLst>
              </p:cNvPr>
              <p:cNvSpPr txBox="1"/>
              <p:nvPr/>
            </p:nvSpPr>
            <p:spPr>
              <a:xfrm>
                <a:off x="2201103" y="2507081"/>
                <a:ext cx="970329" cy="102047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𝒙</m:t>
                      </m:r>
                      <m:r>
                        <a:rPr lang="en-US" b="0" i="1" smtClean="0">
                          <a:latin typeface="Cambria Math" panose="02040503050406030204" pitchFamily="18" charset="0"/>
                        </a:rPr>
                        <m:t>=</m:t>
                      </m:r>
                      <m:d>
                        <m:dPr>
                          <m:begChr m:val="["/>
                          <m:endChr m:val="]"/>
                          <m:ctrlPr>
                            <a:rPr lang="en-US" i="1" smtClean="0">
                              <a:latin typeface="Cambria Math" panose="02040503050406030204" pitchFamily="18" charset="0"/>
                            </a:rPr>
                          </m:ctrlPr>
                        </m:dPr>
                        <m:e>
                          <m:eqArr>
                            <m:eqArrPr>
                              <m:ctrlPr>
                                <a:rPr lang="en-US" i="1" smtClean="0">
                                  <a:latin typeface="Cambria Math" panose="02040503050406030204" pitchFamily="18" charset="0"/>
                                </a:rPr>
                              </m:ctrlPr>
                            </m:eqArrPr>
                            <m:e>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e>
                            <m:e>
                              <m:eqArr>
                                <m:eqArrPr>
                                  <m:ctrlPr>
                                    <a:rPr lang="en-US" i="1">
                                      <a:latin typeface="Cambria Math" panose="02040503050406030204" pitchFamily="18" charset="0"/>
                                    </a:rPr>
                                  </m:ctrlPr>
                                </m:eqArrPr>
                                <m:e>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e>
                                <m:e>
                                  <m:eqArr>
                                    <m:eqArrPr>
                                      <m:ctrlPr>
                                        <a:rPr lang="en-US" i="1">
                                          <a:latin typeface="Cambria Math" panose="02040503050406030204" pitchFamily="18" charset="0"/>
                                        </a:rPr>
                                      </m:ctrlPr>
                                    </m:eqArrPr>
                                    <m:e>
                                      <m:r>
                                        <a:rPr lang="en-US" i="1" smtClean="0">
                                          <a:latin typeface="Cambria Math" panose="02040503050406030204" pitchFamily="18" charset="0"/>
                                        </a:rPr>
                                        <m:t>⋮</m:t>
                                      </m:r>
                                    </m:e>
                                    <m:e>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𝑚</m:t>
                                          </m:r>
                                        </m:sub>
                                      </m:sSub>
                                    </m:e>
                                  </m:eqArr>
                                </m:e>
                              </m:eqArr>
                            </m:e>
                          </m:eqArr>
                        </m:e>
                      </m:d>
                    </m:oMath>
                  </m:oMathPara>
                </a14:m>
                <a:endParaRPr lang="en-US" dirty="0"/>
              </a:p>
            </p:txBody>
          </p:sp>
        </mc:Choice>
        <mc:Fallback xmlns="">
          <p:sp>
            <p:nvSpPr>
              <p:cNvPr id="11" name="TextBox 10">
                <a:extLst>
                  <a:ext uri="{FF2B5EF4-FFF2-40B4-BE49-F238E27FC236}">
                    <a16:creationId xmlns:a16="http://schemas.microsoft.com/office/drawing/2014/main" id="{50D2C227-F55C-4BB9-BD42-88D9D176CC40}"/>
                  </a:ext>
                </a:extLst>
              </p:cNvPr>
              <p:cNvSpPr txBox="1">
                <a:spLocks noRot="1" noChangeAspect="1" noMove="1" noResize="1" noEditPoints="1" noAdjustHandles="1" noChangeArrowheads="1" noChangeShapeType="1" noTextEdit="1"/>
              </p:cNvSpPr>
              <p:nvPr/>
            </p:nvSpPr>
            <p:spPr>
              <a:xfrm>
                <a:off x="2201103" y="2507081"/>
                <a:ext cx="970329" cy="102047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8F89F4AB-883B-4310-B336-B9EFE86AC8D2}"/>
                  </a:ext>
                </a:extLst>
              </p:cNvPr>
              <p:cNvSpPr txBox="1"/>
              <p:nvPr/>
            </p:nvSpPr>
            <p:spPr>
              <a:xfrm>
                <a:off x="8224442" y="3821819"/>
                <a:ext cx="1345112" cy="29841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𝑝𝑟𝑒𝑑</m:t>
                          </m:r>
                        </m:sub>
                      </m:sSub>
                      <m:r>
                        <a:rPr lang="en-US" b="0" i="1" smtClean="0">
                          <a:latin typeface="Cambria Math" panose="02040503050406030204" pitchFamily="18" charset="0"/>
                        </a:rPr>
                        <m:t>=</m:t>
                      </m:r>
                      <m:r>
                        <a:rPr lang="en-US" b="0" i="1" smtClean="0">
                          <a:latin typeface="Cambria Math" panose="02040503050406030204" pitchFamily="18" charset="0"/>
                        </a:rPr>
                        <m:t>𝑓</m:t>
                      </m:r>
                      <m:r>
                        <a:rPr lang="en-US" b="0" i="1" smtClean="0">
                          <a:latin typeface="Cambria Math" panose="02040503050406030204" pitchFamily="18" charset="0"/>
                        </a:rPr>
                        <m:t>(</m:t>
                      </m:r>
                      <m:r>
                        <a:rPr lang="en-US" b="1" i="1" smtClean="0">
                          <a:latin typeface="Cambria Math" panose="02040503050406030204" pitchFamily="18" charset="0"/>
                        </a:rPr>
                        <m:t>𝒙</m:t>
                      </m:r>
                      <m:r>
                        <a:rPr lang="en-US" b="0" i="1" smtClean="0">
                          <a:latin typeface="Cambria Math" panose="02040503050406030204" pitchFamily="18" charset="0"/>
                        </a:rPr>
                        <m:t>)</m:t>
                      </m:r>
                    </m:oMath>
                  </m:oMathPara>
                </a14:m>
                <a:endParaRPr lang="en-US" dirty="0"/>
              </a:p>
            </p:txBody>
          </p:sp>
        </mc:Choice>
        <mc:Fallback xmlns="">
          <p:sp>
            <p:nvSpPr>
              <p:cNvPr id="12" name="TextBox 11">
                <a:extLst>
                  <a:ext uri="{FF2B5EF4-FFF2-40B4-BE49-F238E27FC236}">
                    <a16:creationId xmlns:a16="http://schemas.microsoft.com/office/drawing/2014/main" id="{8F89F4AB-883B-4310-B336-B9EFE86AC8D2}"/>
                  </a:ext>
                </a:extLst>
              </p:cNvPr>
              <p:cNvSpPr txBox="1">
                <a:spLocks noRot="1" noChangeAspect="1" noMove="1" noResize="1" noEditPoints="1" noAdjustHandles="1" noChangeArrowheads="1" noChangeShapeType="1" noTextEdit="1"/>
              </p:cNvSpPr>
              <p:nvPr/>
            </p:nvSpPr>
            <p:spPr>
              <a:xfrm>
                <a:off x="8224442" y="3821819"/>
                <a:ext cx="1345112" cy="298415"/>
              </a:xfrm>
              <a:prstGeom prst="rect">
                <a:avLst/>
              </a:prstGeom>
              <a:blipFill>
                <a:blip r:embed="rId5"/>
                <a:stretch>
                  <a:fillRect l="-4072" r="-5882" b="-26531"/>
                </a:stretch>
              </a:blipFill>
            </p:spPr>
            <p:txBody>
              <a:bodyPr/>
              <a:lstStyle/>
              <a:p>
                <a:r>
                  <a:rPr lang="en-US">
                    <a:noFill/>
                  </a:rPr>
                  <a:t> </a:t>
                </a:r>
              </a:p>
            </p:txBody>
          </p:sp>
        </mc:Fallback>
      </mc:AlternateContent>
      <p:sp>
        <p:nvSpPr>
          <p:cNvPr id="13" name="Rectangle: Rounded Corners 12">
            <a:extLst>
              <a:ext uri="{FF2B5EF4-FFF2-40B4-BE49-F238E27FC236}">
                <a16:creationId xmlns:a16="http://schemas.microsoft.com/office/drawing/2014/main" id="{68B0C595-A34E-4404-A29E-02473065992D}"/>
              </a:ext>
            </a:extLst>
          </p:cNvPr>
          <p:cNvSpPr/>
          <p:nvPr/>
        </p:nvSpPr>
        <p:spPr>
          <a:xfrm>
            <a:off x="1641764" y="2303751"/>
            <a:ext cx="8210550" cy="2638425"/>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90483F1A-5A4C-4406-AE4D-E7A311A8C347}"/>
              </a:ext>
            </a:extLst>
          </p:cNvPr>
          <p:cNvSpPr txBox="1"/>
          <p:nvPr/>
        </p:nvSpPr>
        <p:spPr>
          <a:xfrm>
            <a:off x="2059132" y="5259090"/>
            <a:ext cx="7581207" cy="923330"/>
          </a:xfrm>
          <a:prstGeom prst="rect">
            <a:avLst/>
          </a:prstGeom>
          <a:noFill/>
        </p:spPr>
        <p:txBody>
          <a:bodyPr wrap="square" rtlCol="0">
            <a:spAutoFit/>
          </a:bodyPr>
          <a:lstStyle/>
          <a:p>
            <a:r>
              <a:rPr lang="en-US" dirty="0"/>
              <a:t>To evaluate the performance of a machine learning model on a dataset (consisting of feature vectors and known labels), we need quantify how close the model’s predictions are to the true labels of the given dataset.</a:t>
            </a:r>
          </a:p>
        </p:txBody>
      </p:sp>
    </p:spTree>
    <p:extLst>
      <p:ext uri="{BB962C8B-B14F-4D97-AF65-F5344CB8AC3E}">
        <p14:creationId xmlns:p14="http://schemas.microsoft.com/office/powerpoint/2010/main" val="14609284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86C60-F796-476A-AEE0-F913A63C2AEE}"/>
              </a:ext>
            </a:extLst>
          </p:cNvPr>
          <p:cNvSpPr>
            <a:spLocks noGrp="1"/>
          </p:cNvSpPr>
          <p:nvPr>
            <p:ph type="title"/>
          </p:nvPr>
        </p:nvSpPr>
        <p:spPr/>
        <p:txBody>
          <a:bodyPr/>
          <a:lstStyle/>
          <a:p>
            <a:r>
              <a:rPr lang="en-US" b="1" dirty="0"/>
              <a:t>Evaluation Metrics </a:t>
            </a:r>
            <a:r>
              <a:rPr lang="en-US" sz="2800" i="1" dirty="0"/>
              <a:t>(you may have used)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E37C6ED-8C8D-411B-B54B-A366193EDD3F}"/>
                  </a:ext>
                </a:extLst>
              </p:cNvPr>
              <p:cNvSpPr>
                <a:spLocks noGrp="1"/>
              </p:cNvSpPr>
              <p:nvPr>
                <p:ph idx="1"/>
              </p:nvPr>
            </p:nvSpPr>
            <p:spPr>
              <a:xfrm>
                <a:off x="838200" y="1825625"/>
                <a:ext cx="5013960" cy="4351338"/>
              </a:xfrm>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en-US" sz="2000" b="1" dirty="0"/>
                  <a:t>Regression:</a:t>
                </a:r>
              </a:p>
              <a:p>
                <a:r>
                  <a:rPr lang="en-US" sz="2000" dirty="0"/>
                  <a:t>MSE (Mean Squared Error):</a:t>
                </a:r>
              </a:p>
              <a:p>
                <a:pPr marL="0" indent="0">
                  <a:buNone/>
                </a:pPr>
                <a:endParaRPr lang="en-US" sz="2000" dirty="0"/>
              </a:p>
              <a:p>
                <a:pPr marL="0" indent="0">
                  <a:buNone/>
                </a:pPr>
                <a14:m>
                  <m:oMathPara xmlns:m="http://schemas.openxmlformats.org/officeDocument/2006/math">
                    <m:oMathParaPr>
                      <m:jc m:val="centerGroup"/>
                    </m:oMathParaPr>
                    <m:oMath xmlns:m="http://schemas.openxmlformats.org/officeDocument/2006/math">
                      <m:f>
                        <m:fPr>
                          <m:ctrlPr>
                            <a:rPr lang="en-US" sz="2000" i="1" smtClean="0">
                              <a:latin typeface="Cambria Math" panose="02040503050406030204" pitchFamily="18" charset="0"/>
                            </a:rPr>
                          </m:ctrlPr>
                        </m:fPr>
                        <m:num>
                          <m:r>
                            <a:rPr lang="en-US" sz="2000" b="0" i="1" smtClean="0">
                              <a:latin typeface="Cambria Math" panose="02040503050406030204" pitchFamily="18" charset="0"/>
                            </a:rPr>
                            <m:t>1</m:t>
                          </m:r>
                        </m:num>
                        <m:den>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𝑛</m:t>
                              </m:r>
                            </m:e>
                            <m:sub>
                              <m:r>
                                <a:rPr lang="en-US" sz="2000" b="0" i="1" smtClean="0">
                                  <a:latin typeface="Cambria Math" panose="02040503050406030204" pitchFamily="18" charset="0"/>
                                </a:rPr>
                                <m:t>𝑠𝑎𝑚𝑝𝑙𝑒𝑠</m:t>
                              </m:r>
                            </m:sub>
                          </m:sSub>
                        </m:den>
                      </m:f>
                      <m:nary>
                        <m:naryPr>
                          <m:chr m:val="∑"/>
                          <m:ctrlPr>
                            <a:rPr lang="en-US" sz="2000" i="1" smtClean="0">
                              <a:latin typeface="Cambria Math" panose="02040503050406030204" pitchFamily="18" charset="0"/>
                            </a:rPr>
                          </m:ctrlPr>
                        </m:naryPr>
                        <m:sub>
                          <m:r>
                            <m:rPr>
                              <m:brk m:alnAt="23"/>
                            </m:rPr>
                            <a:rPr lang="en-US" sz="2000" b="0" i="1" smtClean="0">
                              <a:latin typeface="Cambria Math" panose="02040503050406030204" pitchFamily="18" charset="0"/>
                            </a:rPr>
                            <m:t>𝑖</m:t>
                          </m:r>
                          <m:r>
                            <a:rPr lang="en-US" sz="2000" b="0" i="1" smtClean="0">
                              <a:latin typeface="Cambria Math" panose="02040503050406030204" pitchFamily="18" charset="0"/>
                            </a:rPr>
                            <m:t>=1</m:t>
                          </m:r>
                        </m:sub>
                        <m:sup>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𝑛</m:t>
                              </m:r>
                            </m:e>
                            <m:sub>
                              <m:r>
                                <a:rPr lang="en-US" sz="2000" b="0" i="1" smtClean="0">
                                  <a:latin typeface="Cambria Math" panose="02040503050406030204" pitchFamily="18" charset="0"/>
                                </a:rPr>
                                <m:t>𝑠𝑎𝑚𝑝𝑙𝑒𝑠</m:t>
                              </m:r>
                            </m:sub>
                          </m:sSub>
                        </m:sup>
                        <m:e>
                          <m:sSup>
                            <m:sSupPr>
                              <m:ctrlPr>
                                <a:rPr lang="en-US" sz="2000" i="1" smtClean="0">
                                  <a:latin typeface="Cambria Math" panose="02040503050406030204" pitchFamily="18" charset="0"/>
                                </a:rPr>
                              </m:ctrlPr>
                            </m:sSupPr>
                            <m:e>
                              <m:d>
                                <m:dPr>
                                  <m:ctrlPr>
                                    <a:rPr lang="en-US" sz="2000" i="1" smtClean="0">
                                      <a:latin typeface="Cambria Math" panose="02040503050406030204" pitchFamily="18" charset="0"/>
                                    </a:rPr>
                                  </m:ctrlPr>
                                </m:dPr>
                                <m:e>
                                  <m:sSubSup>
                                    <m:sSubSupPr>
                                      <m:ctrlPr>
                                        <a:rPr lang="en-US" sz="2000" i="1" smtClean="0">
                                          <a:latin typeface="Cambria Math" panose="02040503050406030204" pitchFamily="18" charset="0"/>
                                        </a:rPr>
                                      </m:ctrlPr>
                                    </m:sSubSupPr>
                                    <m:e>
                                      <m:r>
                                        <a:rPr lang="en-US" sz="2000" b="0" i="1" smtClean="0">
                                          <a:latin typeface="Cambria Math" panose="02040503050406030204" pitchFamily="18" charset="0"/>
                                        </a:rPr>
                                        <m:t>𝑦</m:t>
                                      </m:r>
                                    </m:e>
                                    <m:sub>
                                      <m:r>
                                        <a:rPr lang="en-US" sz="2000" b="0" i="1" smtClean="0">
                                          <a:latin typeface="Cambria Math" panose="02040503050406030204" pitchFamily="18" charset="0"/>
                                        </a:rPr>
                                        <m:t>𝑡𝑟𝑢𝑒</m:t>
                                      </m:r>
                                    </m:sub>
                                    <m:sup>
                                      <m:r>
                                        <a:rPr lang="en-US" sz="2000" b="0" i="1" smtClean="0">
                                          <a:latin typeface="Cambria Math" panose="02040503050406030204" pitchFamily="18" charset="0"/>
                                        </a:rPr>
                                        <m:t>(</m:t>
                                      </m:r>
                                      <m:r>
                                        <a:rPr lang="en-US" sz="2000" b="0" i="1" smtClean="0">
                                          <a:latin typeface="Cambria Math" panose="02040503050406030204" pitchFamily="18" charset="0"/>
                                        </a:rPr>
                                        <m:t>𝑖</m:t>
                                      </m:r>
                                      <m:r>
                                        <a:rPr lang="en-US" sz="2000" b="0" i="1" smtClean="0">
                                          <a:latin typeface="Cambria Math" panose="02040503050406030204" pitchFamily="18" charset="0"/>
                                        </a:rPr>
                                        <m:t>)</m:t>
                                      </m:r>
                                    </m:sup>
                                  </m:sSubSup>
                                  <m:r>
                                    <a:rPr lang="en-US" sz="2000" b="0" i="1" smtClean="0">
                                      <a:latin typeface="Cambria Math" panose="02040503050406030204" pitchFamily="18" charset="0"/>
                                    </a:rPr>
                                    <m:t>−</m:t>
                                  </m:r>
                                  <m:sSubSup>
                                    <m:sSubSupPr>
                                      <m:ctrlPr>
                                        <a:rPr lang="en-US" sz="2000" i="1">
                                          <a:latin typeface="Cambria Math" panose="02040503050406030204" pitchFamily="18" charset="0"/>
                                        </a:rPr>
                                      </m:ctrlPr>
                                    </m:sSubSupPr>
                                    <m:e>
                                      <m:r>
                                        <a:rPr lang="en-US" sz="2000" i="1">
                                          <a:latin typeface="Cambria Math" panose="02040503050406030204" pitchFamily="18" charset="0"/>
                                        </a:rPr>
                                        <m:t>𝑦</m:t>
                                      </m:r>
                                    </m:e>
                                    <m:sub>
                                      <m:r>
                                        <a:rPr lang="en-US" sz="2000" b="0" i="1" smtClean="0">
                                          <a:latin typeface="Cambria Math" panose="02040503050406030204" pitchFamily="18" charset="0"/>
                                        </a:rPr>
                                        <m:t>𝑝𝑟𝑒𝑑</m:t>
                                      </m:r>
                                    </m:sub>
                                    <m:sup>
                                      <m:r>
                                        <a:rPr lang="en-US" sz="2000" i="1">
                                          <a:latin typeface="Cambria Math" panose="02040503050406030204" pitchFamily="18" charset="0"/>
                                        </a:rPr>
                                        <m:t>(</m:t>
                                      </m:r>
                                      <m:r>
                                        <a:rPr lang="en-US" sz="2000" i="1">
                                          <a:latin typeface="Cambria Math" panose="02040503050406030204" pitchFamily="18" charset="0"/>
                                        </a:rPr>
                                        <m:t>𝑖</m:t>
                                      </m:r>
                                      <m:r>
                                        <a:rPr lang="en-US" sz="2000" i="1">
                                          <a:latin typeface="Cambria Math" panose="02040503050406030204" pitchFamily="18" charset="0"/>
                                        </a:rPr>
                                        <m:t>)</m:t>
                                      </m:r>
                                    </m:sup>
                                  </m:sSubSup>
                                </m:e>
                              </m:d>
                            </m:e>
                            <m:sup>
                              <m:r>
                                <a:rPr lang="en-US" sz="2000" b="0" i="1" smtClean="0">
                                  <a:latin typeface="Cambria Math" panose="02040503050406030204" pitchFamily="18" charset="0"/>
                                </a:rPr>
                                <m:t>2</m:t>
                              </m:r>
                            </m:sup>
                          </m:sSup>
                        </m:e>
                      </m:nary>
                    </m:oMath>
                  </m:oMathPara>
                </a14:m>
                <a:endParaRPr lang="en-US" sz="2000" dirty="0"/>
              </a:p>
              <a:p>
                <a:pPr marL="0" indent="0">
                  <a:buNone/>
                </a:pPr>
                <a:endParaRPr lang="en-US" sz="2000" dirty="0"/>
              </a:p>
              <a:p>
                <a:r>
                  <a:rPr lang="en-US" sz="2000" dirty="0"/>
                  <a:t>MAE (Mean Absolute Error):</a:t>
                </a:r>
              </a:p>
              <a:p>
                <a:pPr marL="0" indent="0">
                  <a:buNone/>
                </a:pPr>
                <a:endParaRPr lang="en-US" sz="2000" dirty="0"/>
              </a:p>
              <a:p>
                <a:pPr marL="0" indent="0">
                  <a:buNone/>
                </a:pPr>
                <a14:m>
                  <m:oMathPara xmlns:m="http://schemas.openxmlformats.org/officeDocument/2006/math">
                    <m:oMathParaPr>
                      <m:jc m:val="centerGroup"/>
                    </m:oMathParaPr>
                    <m:oMath xmlns:m="http://schemas.openxmlformats.org/officeDocument/2006/math">
                      <m:f>
                        <m:fPr>
                          <m:ctrlPr>
                            <a:rPr lang="en-US" sz="2000" i="1" smtClean="0">
                              <a:latin typeface="Cambria Math" panose="02040503050406030204" pitchFamily="18" charset="0"/>
                            </a:rPr>
                          </m:ctrlPr>
                        </m:fPr>
                        <m:num>
                          <m:r>
                            <a:rPr lang="en-US" sz="2000" b="0" i="1" smtClean="0">
                              <a:latin typeface="Cambria Math" panose="02040503050406030204" pitchFamily="18" charset="0"/>
                            </a:rPr>
                            <m:t>1</m:t>
                          </m:r>
                        </m:num>
                        <m:den>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𝑛</m:t>
                              </m:r>
                            </m:e>
                            <m:sub>
                              <m:r>
                                <a:rPr lang="en-US" sz="2000" b="0" i="1" smtClean="0">
                                  <a:latin typeface="Cambria Math" panose="02040503050406030204" pitchFamily="18" charset="0"/>
                                </a:rPr>
                                <m:t>𝑠𝑎𝑚𝑝𝑙𝑒𝑠</m:t>
                              </m:r>
                            </m:sub>
                          </m:sSub>
                        </m:den>
                      </m:f>
                      <m:nary>
                        <m:naryPr>
                          <m:chr m:val="∑"/>
                          <m:ctrlPr>
                            <a:rPr lang="en-US" sz="2000" i="1" smtClean="0">
                              <a:latin typeface="Cambria Math" panose="02040503050406030204" pitchFamily="18" charset="0"/>
                            </a:rPr>
                          </m:ctrlPr>
                        </m:naryPr>
                        <m:sub>
                          <m:r>
                            <m:rPr>
                              <m:brk m:alnAt="23"/>
                            </m:rPr>
                            <a:rPr lang="en-US" sz="2000" b="0" i="1" smtClean="0">
                              <a:latin typeface="Cambria Math" panose="02040503050406030204" pitchFamily="18" charset="0"/>
                            </a:rPr>
                            <m:t>𝑖</m:t>
                          </m:r>
                          <m:r>
                            <a:rPr lang="en-US" sz="2000" b="0" i="1" smtClean="0">
                              <a:latin typeface="Cambria Math" panose="02040503050406030204" pitchFamily="18" charset="0"/>
                            </a:rPr>
                            <m:t>=1</m:t>
                          </m:r>
                        </m:sub>
                        <m:sup>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𝑛</m:t>
                              </m:r>
                            </m:e>
                            <m:sub>
                              <m:r>
                                <a:rPr lang="en-US" sz="2000" b="0" i="1" smtClean="0">
                                  <a:latin typeface="Cambria Math" panose="02040503050406030204" pitchFamily="18" charset="0"/>
                                </a:rPr>
                                <m:t>𝑠𝑎𝑚𝑝𝑙𝑒𝑠</m:t>
                              </m:r>
                            </m:sub>
                          </m:sSub>
                        </m:sup>
                        <m:e>
                          <m:d>
                            <m:dPr>
                              <m:begChr m:val="|"/>
                              <m:endChr m:val="|"/>
                              <m:ctrlPr>
                                <a:rPr lang="en-US" sz="2000" b="0" i="1" smtClean="0">
                                  <a:latin typeface="Cambria Math" panose="02040503050406030204" pitchFamily="18" charset="0"/>
                                </a:rPr>
                              </m:ctrlPr>
                            </m:dPr>
                            <m:e>
                              <m:sSubSup>
                                <m:sSubSupPr>
                                  <m:ctrlPr>
                                    <a:rPr lang="en-US" sz="2000" i="1">
                                      <a:latin typeface="Cambria Math" panose="02040503050406030204" pitchFamily="18" charset="0"/>
                                    </a:rPr>
                                  </m:ctrlPr>
                                </m:sSubSupPr>
                                <m:e>
                                  <m:r>
                                    <a:rPr lang="en-US" sz="2000" i="1">
                                      <a:latin typeface="Cambria Math" panose="02040503050406030204" pitchFamily="18" charset="0"/>
                                    </a:rPr>
                                    <m:t>𝑦</m:t>
                                  </m:r>
                                </m:e>
                                <m:sub>
                                  <m:r>
                                    <a:rPr lang="en-US" sz="2000" i="1">
                                      <a:latin typeface="Cambria Math" panose="02040503050406030204" pitchFamily="18" charset="0"/>
                                    </a:rPr>
                                    <m:t>𝑡𝑟𝑢𝑒</m:t>
                                  </m:r>
                                </m:sub>
                                <m:sup>
                                  <m:r>
                                    <a:rPr lang="en-US" sz="2000" i="1">
                                      <a:latin typeface="Cambria Math" panose="02040503050406030204" pitchFamily="18" charset="0"/>
                                    </a:rPr>
                                    <m:t>(</m:t>
                                  </m:r>
                                  <m:r>
                                    <a:rPr lang="en-US" sz="2000" i="1">
                                      <a:latin typeface="Cambria Math" panose="02040503050406030204" pitchFamily="18" charset="0"/>
                                    </a:rPr>
                                    <m:t>𝑖</m:t>
                                  </m:r>
                                  <m:r>
                                    <a:rPr lang="en-US" sz="2000" i="1">
                                      <a:latin typeface="Cambria Math" panose="02040503050406030204" pitchFamily="18" charset="0"/>
                                    </a:rPr>
                                    <m:t>)</m:t>
                                  </m:r>
                                </m:sup>
                              </m:sSubSup>
                              <m:r>
                                <a:rPr lang="en-US" sz="2000" i="1">
                                  <a:latin typeface="Cambria Math" panose="02040503050406030204" pitchFamily="18" charset="0"/>
                                </a:rPr>
                                <m:t>−</m:t>
                              </m:r>
                              <m:sSubSup>
                                <m:sSubSupPr>
                                  <m:ctrlPr>
                                    <a:rPr lang="en-US" sz="2000" i="1">
                                      <a:latin typeface="Cambria Math" panose="02040503050406030204" pitchFamily="18" charset="0"/>
                                    </a:rPr>
                                  </m:ctrlPr>
                                </m:sSubSupPr>
                                <m:e>
                                  <m:r>
                                    <a:rPr lang="en-US" sz="2000" i="1">
                                      <a:latin typeface="Cambria Math" panose="02040503050406030204" pitchFamily="18" charset="0"/>
                                    </a:rPr>
                                    <m:t>𝑦</m:t>
                                  </m:r>
                                </m:e>
                                <m:sub>
                                  <m:r>
                                    <a:rPr lang="en-US" sz="2000" i="1">
                                      <a:latin typeface="Cambria Math" panose="02040503050406030204" pitchFamily="18" charset="0"/>
                                    </a:rPr>
                                    <m:t>𝑝𝑟𝑒𝑑</m:t>
                                  </m:r>
                                </m:sub>
                                <m:sup>
                                  <m:r>
                                    <a:rPr lang="en-US" sz="2000" i="1">
                                      <a:latin typeface="Cambria Math" panose="02040503050406030204" pitchFamily="18" charset="0"/>
                                    </a:rPr>
                                    <m:t>(</m:t>
                                  </m:r>
                                  <m:r>
                                    <a:rPr lang="en-US" sz="2000" i="1">
                                      <a:latin typeface="Cambria Math" panose="02040503050406030204" pitchFamily="18" charset="0"/>
                                    </a:rPr>
                                    <m:t>𝑖</m:t>
                                  </m:r>
                                  <m:r>
                                    <a:rPr lang="en-US" sz="2000" i="1">
                                      <a:latin typeface="Cambria Math" panose="02040503050406030204" pitchFamily="18" charset="0"/>
                                    </a:rPr>
                                    <m:t>)</m:t>
                                  </m:r>
                                </m:sup>
                              </m:sSubSup>
                            </m:e>
                          </m:d>
                        </m:e>
                      </m:nary>
                    </m:oMath>
                  </m:oMathPara>
                </a14:m>
                <a:endParaRPr lang="en-US" sz="2000" dirty="0"/>
              </a:p>
              <a:p>
                <a:pPr marL="0" indent="0">
                  <a:buNone/>
                </a:pPr>
                <a:endParaRPr lang="en-US" sz="2000" b="1" dirty="0"/>
              </a:p>
              <a:p>
                <a:pPr marL="0" indent="0">
                  <a:buNone/>
                </a:pPr>
                <a:endParaRPr lang="en-US" sz="2000" b="1" dirty="0"/>
              </a:p>
            </p:txBody>
          </p:sp>
        </mc:Choice>
        <mc:Fallback xmlns="">
          <p:sp>
            <p:nvSpPr>
              <p:cNvPr id="3" name="Content Placeholder 2">
                <a:extLst>
                  <a:ext uri="{FF2B5EF4-FFF2-40B4-BE49-F238E27FC236}">
                    <a16:creationId xmlns:a16="http://schemas.microsoft.com/office/drawing/2014/main" id="{2E37C6ED-8C8D-411B-B54B-A366193EDD3F}"/>
                  </a:ext>
                </a:extLst>
              </p:cNvPr>
              <p:cNvSpPr>
                <a:spLocks noGrp="1" noRot="1" noChangeAspect="1" noMove="1" noResize="1" noEditPoints="1" noAdjustHandles="1" noChangeArrowheads="1" noChangeShapeType="1" noTextEdit="1"/>
              </p:cNvSpPr>
              <p:nvPr>
                <p:ph idx="1"/>
              </p:nvPr>
            </p:nvSpPr>
            <p:spPr>
              <a:xfrm>
                <a:off x="838200" y="1825625"/>
                <a:ext cx="5013960" cy="4351338"/>
              </a:xfrm>
              <a:blipFill>
                <a:blip r:embed="rId2"/>
                <a:stretch>
                  <a:fillRect l="-1214" t="-1257"/>
                </a:stretch>
              </a:blipFill>
            </p:spPr>
            <p:txBody>
              <a:bodyPr/>
              <a:lstStyle/>
              <a:p>
                <a:r>
                  <a:rPr lang="en-US">
                    <a:noFill/>
                  </a:rPr>
                  <a:t> </a:t>
                </a:r>
              </a:p>
            </p:txBody>
          </p:sp>
        </mc:Fallback>
      </mc:AlternateContent>
      <p:sp>
        <p:nvSpPr>
          <p:cNvPr id="4" name="Content Placeholder 2">
            <a:extLst>
              <a:ext uri="{FF2B5EF4-FFF2-40B4-BE49-F238E27FC236}">
                <a16:creationId xmlns:a16="http://schemas.microsoft.com/office/drawing/2014/main" id="{C39234BC-67E3-404A-8E1E-9D569A8AF77A}"/>
              </a:ext>
            </a:extLst>
          </p:cNvPr>
          <p:cNvSpPr txBox="1">
            <a:spLocks/>
          </p:cNvSpPr>
          <p:nvPr/>
        </p:nvSpPr>
        <p:spPr>
          <a:xfrm>
            <a:off x="6227617" y="1825625"/>
            <a:ext cx="5013960" cy="2147859"/>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buFont typeface="Arial" panose="020B0604020202020204" pitchFamily="34" charset="0"/>
              <a:buNone/>
            </a:pPr>
            <a:r>
              <a:rPr lang="en-US" sz="2000" b="1" dirty="0"/>
              <a:t>Classification:</a:t>
            </a:r>
          </a:p>
          <a:p>
            <a:r>
              <a:rPr lang="en-US" sz="2000" b="1" dirty="0"/>
              <a:t>Accuracy</a:t>
            </a:r>
            <a:r>
              <a:rPr lang="en-US" sz="2000" dirty="0"/>
              <a:t>: proportion of correctly predicted labels</a:t>
            </a:r>
          </a:p>
          <a:p>
            <a:endParaRPr lang="en-US" sz="2000" dirty="0"/>
          </a:p>
          <a:p>
            <a:r>
              <a:rPr lang="en-US" sz="2000" dirty="0"/>
              <a:t>Other metrics?</a:t>
            </a:r>
          </a:p>
          <a:p>
            <a:pPr marL="0" indent="0">
              <a:buFont typeface="Arial" panose="020B0604020202020204" pitchFamily="34" charset="0"/>
              <a:buNone/>
            </a:pPr>
            <a:endParaRPr lang="en-US" sz="2000" b="1" dirty="0"/>
          </a:p>
          <a:p>
            <a:pPr marL="0" indent="0">
              <a:buFont typeface="Arial" panose="020B0604020202020204" pitchFamily="34" charset="0"/>
              <a:buNone/>
            </a:pPr>
            <a:endParaRPr lang="en-US" sz="2000" b="1" dirty="0"/>
          </a:p>
        </p:txBody>
      </p:sp>
    </p:spTree>
    <p:extLst>
      <p:ext uri="{BB962C8B-B14F-4D97-AF65-F5344CB8AC3E}">
        <p14:creationId xmlns:p14="http://schemas.microsoft.com/office/powerpoint/2010/main" val="34339281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A4F12-30AC-4DE9-94FF-AB7E176C0BE4}"/>
              </a:ext>
            </a:extLst>
          </p:cNvPr>
          <p:cNvSpPr>
            <a:spLocks noGrp="1"/>
          </p:cNvSpPr>
          <p:nvPr>
            <p:ph type="title"/>
          </p:nvPr>
        </p:nvSpPr>
        <p:spPr/>
        <p:txBody>
          <a:bodyPr/>
          <a:lstStyle/>
          <a:p>
            <a:r>
              <a:rPr lang="en-US" b="1" dirty="0"/>
              <a:t>Model Evaluation</a:t>
            </a:r>
          </a:p>
        </p:txBody>
      </p:sp>
      <p:sp>
        <p:nvSpPr>
          <p:cNvPr id="3" name="Content Placeholder 2">
            <a:extLst>
              <a:ext uri="{FF2B5EF4-FFF2-40B4-BE49-F238E27FC236}">
                <a16:creationId xmlns:a16="http://schemas.microsoft.com/office/drawing/2014/main" id="{30109ED7-6C0B-4315-A33B-EE504DE2421A}"/>
              </a:ext>
            </a:extLst>
          </p:cNvPr>
          <p:cNvSpPr>
            <a:spLocks noGrp="1"/>
          </p:cNvSpPr>
          <p:nvPr>
            <p:ph idx="1"/>
          </p:nvPr>
        </p:nvSpPr>
        <p:spPr/>
        <p:txBody>
          <a:bodyPr/>
          <a:lstStyle/>
          <a:p>
            <a:endParaRPr lang="en-US" dirty="0"/>
          </a:p>
          <a:p>
            <a:r>
              <a:rPr lang="en-US" dirty="0"/>
              <a:t>When do we need to evaluate a model? </a:t>
            </a:r>
          </a:p>
          <a:p>
            <a:endParaRPr lang="en-US" dirty="0"/>
          </a:p>
          <a:p>
            <a:r>
              <a:rPr lang="en-US" dirty="0"/>
              <a:t>And on which data set?</a:t>
            </a:r>
          </a:p>
        </p:txBody>
      </p:sp>
    </p:spTree>
    <p:extLst>
      <p:ext uri="{BB962C8B-B14F-4D97-AF65-F5344CB8AC3E}">
        <p14:creationId xmlns:p14="http://schemas.microsoft.com/office/powerpoint/2010/main" val="16658458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61A47-282C-4DCA-B7E5-5DB367CF19DD}"/>
              </a:ext>
            </a:extLst>
          </p:cNvPr>
          <p:cNvSpPr>
            <a:spLocks noGrp="1"/>
          </p:cNvSpPr>
          <p:nvPr>
            <p:ph type="title"/>
          </p:nvPr>
        </p:nvSpPr>
        <p:spPr/>
        <p:txBody>
          <a:bodyPr/>
          <a:lstStyle/>
          <a:p>
            <a:r>
              <a:rPr lang="en-US" b="1" dirty="0"/>
              <a:t>Model Evaluation – Final Model</a:t>
            </a:r>
          </a:p>
        </p:txBody>
      </p:sp>
      <p:sp>
        <p:nvSpPr>
          <p:cNvPr id="3" name="Content Placeholder 2">
            <a:extLst>
              <a:ext uri="{FF2B5EF4-FFF2-40B4-BE49-F238E27FC236}">
                <a16:creationId xmlns:a16="http://schemas.microsoft.com/office/drawing/2014/main" id="{7624DF72-2CF6-4D10-BB25-D9194E56EE25}"/>
              </a:ext>
            </a:extLst>
          </p:cNvPr>
          <p:cNvSpPr>
            <a:spLocks noGrp="1"/>
          </p:cNvSpPr>
          <p:nvPr>
            <p:ph idx="1"/>
          </p:nvPr>
        </p:nvSpPr>
        <p:spPr>
          <a:xfrm>
            <a:off x="838200" y="4588713"/>
            <a:ext cx="10515600" cy="1904162"/>
          </a:xfrm>
        </p:spPr>
        <p:txBody>
          <a:bodyPr>
            <a:noAutofit/>
          </a:bodyPr>
          <a:lstStyle/>
          <a:p>
            <a:pPr>
              <a:lnSpc>
                <a:spcPct val="120000"/>
              </a:lnSpc>
            </a:pPr>
            <a:r>
              <a:rPr lang="en-US" sz="2000" dirty="0"/>
              <a:t>Data needs to be split into training and testing sets: </a:t>
            </a:r>
          </a:p>
          <a:p>
            <a:pPr lvl="1">
              <a:lnSpc>
                <a:spcPct val="120000"/>
              </a:lnSpc>
              <a:buFont typeface="Courier New" panose="02070309020205020404" pitchFamily="49" charset="0"/>
              <a:buChar char="o"/>
            </a:pPr>
            <a:r>
              <a:rPr lang="en-US" sz="2000" dirty="0"/>
              <a:t>the training set should be used in the training phase to select the most promising model;</a:t>
            </a:r>
          </a:p>
          <a:p>
            <a:pPr lvl="1">
              <a:lnSpc>
                <a:spcPct val="120000"/>
              </a:lnSpc>
              <a:buFont typeface="Courier New" panose="02070309020205020404" pitchFamily="49" charset="0"/>
              <a:buChar char="o"/>
            </a:pPr>
            <a:r>
              <a:rPr lang="en-US" sz="2000" dirty="0"/>
              <a:t>the testing set should be used in the evaluation phase to evaluate the final model.</a:t>
            </a:r>
          </a:p>
          <a:p>
            <a:r>
              <a:rPr lang="en-US" sz="2000" dirty="0"/>
              <a:t>No observations are present in both sets.</a:t>
            </a:r>
          </a:p>
          <a:p>
            <a:endParaRPr lang="en-US" sz="2000" dirty="0"/>
          </a:p>
          <a:p>
            <a:pPr lvl="1">
              <a:lnSpc>
                <a:spcPct val="120000"/>
              </a:lnSpc>
              <a:buFont typeface="Courier New" panose="02070309020205020404" pitchFamily="49" charset="0"/>
              <a:buChar char="o"/>
            </a:pPr>
            <a:endParaRPr lang="en-US" sz="2000" dirty="0"/>
          </a:p>
        </p:txBody>
      </p:sp>
      <p:sp>
        <p:nvSpPr>
          <p:cNvPr id="4" name="Rectangle 3">
            <a:extLst>
              <a:ext uri="{FF2B5EF4-FFF2-40B4-BE49-F238E27FC236}">
                <a16:creationId xmlns:a16="http://schemas.microsoft.com/office/drawing/2014/main" id="{4AA54C99-9CD5-4C97-B46E-EBDB54B074C9}"/>
              </a:ext>
            </a:extLst>
          </p:cNvPr>
          <p:cNvSpPr/>
          <p:nvPr/>
        </p:nvSpPr>
        <p:spPr>
          <a:xfrm>
            <a:off x="739833" y="1812175"/>
            <a:ext cx="2436557" cy="248915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US" sz="1600" b="1" dirty="0">
                <a:solidFill>
                  <a:schemeClr val="accent1"/>
                </a:solidFill>
              </a:rPr>
              <a:t>Data Pre-processing</a:t>
            </a:r>
          </a:p>
          <a:p>
            <a:pPr marL="285750" indent="-285750">
              <a:buFontTx/>
              <a:buChar char="-"/>
            </a:pPr>
            <a:r>
              <a:rPr lang="en-US" sz="1600" dirty="0"/>
              <a:t>Feature Engineering</a:t>
            </a:r>
          </a:p>
          <a:p>
            <a:pPr marL="285750" indent="-285750">
              <a:buFontTx/>
              <a:buChar char="-"/>
            </a:pPr>
            <a:r>
              <a:rPr lang="en-US" sz="1600" dirty="0"/>
              <a:t>Feature Scaling</a:t>
            </a:r>
          </a:p>
          <a:p>
            <a:pPr marL="285750" indent="-285750">
              <a:buFontTx/>
              <a:buChar char="-"/>
            </a:pPr>
            <a:r>
              <a:rPr lang="en-US" sz="1600" dirty="0"/>
              <a:t>Data Splitting into training and testing sets</a:t>
            </a:r>
          </a:p>
          <a:p>
            <a:endParaRPr lang="en-US" dirty="0"/>
          </a:p>
          <a:p>
            <a:endParaRPr lang="en-US" dirty="0"/>
          </a:p>
        </p:txBody>
      </p:sp>
      <p:sp>
        <p:nvSpPr>
          <p:cNvPr id="5" name="Rectangle 4">
            <a:extLst>
              <a:ext uri="{FF2B5EF4-FFF2-40B4-BE49-F238E27FC236}">
                <a16:creationId xmlns:a16="http://schemas.microsoft.com/office/drawing/2014/main" id="{5F60696C-6C10-4738-855C-A05E002390D1}"/>
              </a:ext>
            </a:extLst>
          </p:cNvPr>
          <p:cNvSpPr/>
          <p:nvPr/>
        </p:nvSpPr>
        <p:spPr>
          <a:xfrm>
            <a:off x="3447543" y="1812175"/>
            <a:ext cx="2436557" cy="248915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US" sz="1600" b="1" dirty="0">
                <a:solidFill>
                  <a:schemeClr val="accent1"/>
                </a:solidFill>
              </a:rPr>
              <a:t>Training</a:t>
            </a:r>
          </a:p>
          <a:p>
            <a:r>
              <a:rPr lang="en-US" sz="1600" dirty="0"/>
              <a:t>Use the training set to perform:</a:t>
            </a:r>
          </a:p>
          <a:p>
            <a:pPr marL="285750" indent="-285750">
              <a:buFontTx/>
              <a:buChar char="-"/>
            </a:pPr>
            <a:r>
              <a:rPr lang="en-US" sz="1600" dirty="0"/>
              <a:t>Model Fitting</a:t>
            </a:r>
          </a:p>
          <a:p>
            <a:pPr marL="285750" indent="-285750">
              <a:buFontTx/>
              <a:buChar char="-"/>
            </a:pPr>
            <a:r>
              <a:rPr lang="en-US" sz="1600" dirty="0"/>
              <a:t>Model selection: cross-validation, model tuning</a:t>
            </a:r>
          </a:p>
          <a:p>
            <a:endParaRPr lang="en-US" sz="1600" dirty="0"/>
          </a:p>
        </p:txBody>
      </p:sp>
      <p:sp>
        <p:nvSpPr>
          <p:cNvPr id="6" name="Rectangle 5">
            <a:extLst>
              <a:ext uri="{FF2B5EF4-FFF2-40B4-BE49-F238E27FC236}">
                <a16:creationId xmlns:a16="http://schemas.microsoft.com/office/drawing/2014/main" id="{2FB4D1BC-CE30-4640-A84D-E24BB5D8B45E}"/>
              </a:ext>
            </a:extLst>
          </p:cNvPr>
          <p:cNvSpPr/>
          <p:nvPr/>
        </p:nvSpPr>
        <p:spPr>
          <a:xfrm>
            <a:off x="6182393" y="1812175"/>
            <a:ext cx="2436557" cy="248915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US" sz="1600" b="1" dirty="0">
                <a:solidFill>
                  <a:schemeClr val="accent1"/>
                </a:solidFill>
              </a:rPr>
              <a:t>Evaluation</a:t>
            </a:r>
          </a:p>
          <a:p>
            <a:r>
              <a:rPr lang="en-US" sz="1600" dirty="0"/>
              <a:t>Evaluation of final model on testing set</a:t>
            </a:r>
          </a:p>
          <a:p>
            <a:pPr marL="285750" indent="-285750">
              <a:buFontTx/>
              <a:buChar char="-"/>
            </a:pPr>
            <a:endParaRPr lang="en-US" sz="1600" dirty="0"/>
          </a:p>
          <a:p>
            <a:pPr marL="285750" indent="-285750">
              <a:buFontTx/>
              <a:buChar char="-"/>
            </a:pPr>
            <a:endParaRPr lang="en-US" sz="1600" dirty="0"/>
          </a:p>
          <a:p>
            <a:pPr marL="285750" indent="-285750">
              <a:buFontTx/>
              <a:buChar char="-"/>
            </a:pPr>
            <a:endParaRPr lang="en-US" sz="1600" dirty="0"/>
          </a:p>
          <a:p>
            <a:pPr marL="285750" indent="-285750">
              <a:buFontTx/>
              <a:buChar char="-"/>
            </a:pPr>
            <a:endParaRPr lang="en-US" sz="1600" dirty="0"/>
          </a:p>
          <a:p>
            <a:pPr marL="285750" indent="-285750">
              <a:buFontTx/>
              <a:buChar char="-"/>
            </a:pPr>
            <a:endParaRPr lang="en-US" sz="1600" dirty="0"/>
          </a:p>
        </p:txBody>
      </p:sp>
      <p:sp>
        <p:nvSpPr>
          <p:cNvPr id="7" name="Rectangle 6">
            <a:extLst>
              <a:ext uri="{FF2B5EF4-FFF2-40B4-BE49-F238E27FC236}">
                <a16:creationId xmlns:a16="http://schemas.microsoft.com/office/drawing/2014/main" id="{E70F5F16-47F9-458B-B0A9-18969C531499}"/>
              </a:ext>
            </a:extLst>
          </p:cNvPr>
          <p:cNvSpPr/>
          <p:nvPr/>
        </p:nvSpPr>
        <p:spPr>
          <a:xfrm>
            <a:off x="8917243" y="1812175"/>
            <a:ext cx="2436557" cy="248915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endParaRPr lang="en-US" sz="1600" b="1" dirty="0">
              <a:solidFill>
                <a:schemeClr val="accent1"/>
              </a:solidFill>
            </a:endParaRPr>
          </a:p>
          <a:p>
            <a:r>
              <a:rPr lang="en-US" sz="1600" b="1" dirty="0">
                <a:solidFill>
                  <a:schemeClr val="accent1"/>
                </a:solidFill>
              </a:rPr>
              <a:t>Prediction</a:t>
            </a:r>
          </a:p>
          <a:p>
            <a:r>
              <a:rPr lang="en-US" sz="1600" dirty="0"/>
              <a:t>Use the final model to predict the labels for new unlabeled data</a:t>
            </a:r>
          </a:p>
          <a:p>
            <a:endParaRPr lang="en-US" dirty="0"/>
          </a:p>
          <a:p>
            <a:endParaRPr lang="en-US" dirty="0"/>
          </a:p>
          <a:p>
            <a:endParaRPr lang="en-US" dirty="0"/>
          </a:p>
          <a:p>
            <a:endParaRPr lang="en-US" dirty="0"/>
          </a:p>
          <a:p>
            <a:pPr algn="ctr"/>
            <a:endParaRPr lang="en-US" dirty="0"/>
          </a:p>
        </p:txBody>
      </p:sp>
      <p:sp>
        <p:nvSpPr>
          <p:cNvPr id="8" name="Arrow: Down 7">
            <a:extLst>
              <a:ext uri="{FF2B5EF4-FFF2-40B4-BE49-F238E27FC236}">
                <a16:creationId xmlns:a16="http://schemas.microsoft.com/office/drawing/2014/main" id="{C417E5EF-D6F7-42C5-9CE9-EC3B98C87562}"/>
              </a:ext>
            </a:extLst>
          </p:cNvPr>
          <p:cNvSpPr/>
          <p:nvPr/>
        </p:nvSpPr>
        <p:spPr>
          <a:xfrm rot="16200000">
            <a:off x="3037146" y="2802081"/>
            <a:ext cx="479344" cy="50933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rrow: Down 8">
            <a:extLst>
              <a:ext uri="{FF2B5EF4-FFF2-40B4-BE49-F238E27FC236}">
                <a16:creationId xmlns:a16="http://schemas.microsoft.com/office/drawing/2014/main" id="{8A13C115-F753-4B28-8046-3E9833974DDF}"/>
              </a:ext>
            </a:extLst>
          </p:cNvPr>
          <p:cNvSpPr/>
          <p:nvPr/>
        </p:nvSpPr>
        <p:spPr>
          <a:xfrm rot="16200000">
            <a:off x="5847225" y="2795506"/>
            <a:ext cx="479344" cy="50933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rrow: Down 9">
            <a:extLst>
              <a:ext uri="{FF2B5EF4-FFF2-40B4-BE49-F238E27FC236}">
                <a16:creationId xmlns:a16="http://schemas.microsoft.com/office/drawing/2014/main" id="{4C6A7461-FB7B-45D7-9750-C09F909678FE}"/>
              </a:ext>
            </a:extLst>
          </p:cNvPr>
          <p:cNvSpPr/>
          <p:nvPr/>
        </p:nvSpPr>
        <p:spPr>
          <a:xfrm rot="16200000">
            <a:off x="8642353" y="2795506"/>
            <a:ext cx="479344" cy="50933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108A4B6C-671D-46B5-8E09-6EA7E8A7D482}"/>
              </a:ext>
            </a:extLst>
          </p:cNvPr>
          <p:cNvSpPr/>
          <p:nvPr/>
        </p:nvSpPr>
        <p:spPr>
          <a:xfrm>
            <a:off x="5983524" y="1593016"/>
            <a:ext cx="2841149" cy="2793076"/>
          </a:xfrm>
          <a:prstGeom prst="roundRect">
            <a:avLst/>
          </a:prstGeom>
          <a:solidFill>
            <a:schemeClr val="accent4">
              <a:alpha val="25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080295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051C1-E5D2-47A5-A13E-358221D757FD}"/>
              </a:ext>
            </a:extLst>
          </p:cNvPr>
          <p:cNvSpPr>
            <a:spLocks noGrp="1"/>
          </p:cNvSpPr>
          <p:nvPr>
            <p:ph type="title"/>
          </p:nvPr>
        </p:nvSpPr>
        <p:spPr/>
        <p:txBody>
          <a:bodyPr/>
          <a:lstStyle/>
          <a:p>
            <a:r>
              <a:rPr lang="en-US" b="1" dirty="0"/>
              <a:t>Train-Test Data Splitting</a:t>
            </a:r>
          </a:p>
        </p:txBody>
      </p:sp>
      <p:sp>
        <p:nvSpPr>
          <p:cNvPr id="3" name="Content Placeholder 2">
            <a:extLst>
              <a:ext uri="{FF2B5EF4-FFF2-40B4-BE49-F238E27FC236}">
                <a16:creationId xmlns:a16="http://schemas.microsoft.com/office/drawing/2014/main" id="{63EB0ACC-CD45-41E1-9AC3-D17E702FD42B}"/>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endParaRPr lang="en-US" dirty="0"/>
          </a:p>
          <a:p>
            <a:pPr marL="0" indent="0" algn="ctr">
              <a:buNone/>
            </a:pPr>
            <a:r>
              <a:rPr lang="en-US" dirty="0"/>
              <a:t>Why can’t we evaluate the final model on the training set?</a:t>
            </a:r>
          </a:p>
        </p:txBody>
      </p:sp>
    </p:spTree>
    <p:extLst>
      <p:ext uri="{BB962C8B-B14F-4D97-AF65-F5344CB8AC3E}">
        <p14:creationId xmlns:p14="http://schemas.microsoft.com/office/powerpoint/2010/main" val="2936957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051C1-E5D2-47A5-A13E-358221D757FD}"/>
              </a:ext>
            </a:extLst>
          </p:cNvPr>
          <p:cNvSpPr>
            <a:spLocks noGrp="1"/>
          </p:cNvSpPr>
          <p:nvPr>
            <p:ph type="title"/>
          </p:nvPr>
        </p:nvSpPr>
        <p:spPr/>
        <p:txBody>
          <a:bodyPr/>
          <a:lstStyle/>
          <a:p>
            <a:r>
              <a:rPr lang="en-US" b="1" dirty="0"/>
              <a:t>Train-Test Data Splitting</a:t>
            </a:r>
          </a:p>
        </p:txBody>
      </p:sp>
      <p:sp>
        <p:nvSpPr>
          <p:cNvPr id="3" name="Content Placeholder 2">
            <a:extLst>
              <a:ext uri="{FF2B5EF4-FFF2-40B4-BE49-F238E27FC236}">
                <a16:creationId xmlns:a16="http://schemas.microsoft.com/office/drawing/2014/main" id="{63EB0ACC-CD45-41E1-9AC3-D17E702FD42B}"/>
              </a:ext>
            </a:extLst>
          </p:cNvPr>
          <p:cNvSpPr>
            <a:spLocks noGrp="1"/>
          </p:cNvSpPr>
          <p:nvPr>
            <p:ph idx="1"/>
          </p:nvPr>
        </p:nvSpPr>
        <p:spPr/>
        <p:txBody>
          <a:bodyPr>
            <a:normAutofit/>
          </a:bodyPr>
          <a:lstStyle/>
          <a:p>
            <a:pPr>
              <a:lnSpc>
                <a:spcPct val="100000"/>
              </a:lnSpc>
            </a:pPr>
            <a:r>
              <a:rPr lang="en-US" sz="2400" dirty="0"/>
              <a:t>Evaluating the final model on the training set may result in an optimistic performance: the final model might have picked up on some patterns that only exist in the training data.</a:t>
            </a:r>
          </a:p>
          <a:p>
            <a:pPr>
              <a:lnSpc>
                <a:spcPct val="100000"/>
              </a:lnSpc>
            </a:pPr>
            <a:endParaRPr lang="en-US" sz="2400" dirty="0"/>
          </a:p>
          <a:p>
            <a:pPr>
              <a:lnSpc>
                <a:spcPct val="100000"/>
              </a:lnSpc>
            </a:pPr>
            <a:r>
              <a:rPr lang="en-US" sz="2400" dirty="0"/>
              <a:t>We’re interested in evaluating the performance of the model on </a:t>
            </a:r>
            <a:r>
              <a:rPr lang="en-US" sz="2400" b="1" dirty="0"/>
              <a:t>unseen data: </a:t>
            </a:r>
            <a:r>
              <a:rPr lang="en-US" sz="2400" dirty="0"/>
              <a:t>estimating the generalization error. How well will the model generalize to unseen data?</a:t>
            </a:r>
          </a:p>
          <a:p>
            <a:pPr>
              <a:lnSpc>
                <a:spcPct val="100000"/>
              </a:lnSpc>
            </a:pPr>
            <a:endParaRPr lang="en-US" sz="2400" dirty="0"/>
          </a:p>
          <a:p>
            <a:pPr>
              <a:lnSpc>
                <a:spcPct val="100000"/>
              </a:lnSpc>
            </a:pPr>
            <a:r>
              <a:rPr lang="en-US" sz="2400" dirty="0"/>
              <a:t>Our experimental setup needs to match (simulate) how we intend to use the model.</a:t>
            </a:r>
          </a:p>
        </p:txBody>
      </p:sp>
    </p:spTree>
    <p:extLst>
      <p:ext uri="{BB962C8B-B14F-4D97-AF65-F5344CB8AC3E}">
        <p14:creationId xmlns:p14="http://schemas.microsoft.com/office/powerpoint/2010/main" val="30916483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61A47-282C-4DCA-B7E5-5DB367CF19DD}"/>
              </a:ext>
            </a:extLst>
          </p:cNvPr>
          <p:cNvSpPr>
            <a:spLocks noGrp="1"/>
          </p:cNvSpPr>
          <p:nvPr>
            <p:ph type="title"/>
          </p:nvPr>
        </p:nvSpPr>
        <p:spPr/>
        <p:txBody>
          <a:bodyPr>
            <a:normAutofit/>
          </a:bodyPr>
          <a:lstStyle/>
          <a:p>
            <a:r>
              <a:rPr lang="en-US" b="1" dirty="0"/>
              <a:t>Model Evaluation – </a:t>
            </a:r>
            <a:r>
              <a:rPr lang="en-US" sz="4400" b="1" dirty="0"/>
              <a:t>Is train-test splitting enough?</a:t>
            </a:r>
            <a:endParaRPr lang="en-US" b="1" dirty="0"/>
          </a:p>
        </p:txBody>
      </p:sp>
      <p:sp>
        <p:nvSpPr>
          <p:cNvPr id="3" name="Content Placeholder 2">
            <a:extLst>
              <a:ext uri="{FF2B5EF4-FFF2-40B4-BE49-F238E27FC236}">
                <a16:creationId xmlns:a16="http://schemas.microsoft.com/office/drawing/2014/main" id="{7624DF72-2CF6-4D10-BB25-D9194E56EE25}"/>
              </a:ext>
            </a:extLst>
          </p:cNvPr>
          <p:cNvSpPr>
            <a:spLocks noGrp="1"/>
          </p:cNvSpPr>
          <p:nvPr>
            <p:ph idx="1"/>
          </p:nvPr>
        </p:nvSpPr>
        <p:spPr>
          <a:xfrm>
            <a:off x="838200" y="4588713"/>
            <a:ext cx="10515600" cy="1904162"/>
          </a:xfrm>
        </p:spPr>
        <p:txBody>
          <a:bodyPr>
            <a:noAutofit/>
          </a:bodyPr>
          <a:lstStyle/>
          <a:p>
            <a:r>
              <a:rPr lang="en-US" sz="2000" dirty="0"/>
              <a:t>During the training phase, we might need to try different approaches: train different models, fine-tune some of them (Model Selection).</a:t>
            </a:r>
          </a:p>
          <a:p>
            <a:endParaRPr lang="en-US" sz="2000" dirty="0"/>
          </a:p>
          <a:p>
            <a:r>
              <a:rPr lang="en-US" sz="2000" dirty="0"/>
              <a:t>To select the best model, can we rely on the performance of each model on the entire training set? </a:t>
            </a:r>
          </a:p>
        </p:txBody>
      </p:sp>
      <p:sp>
        <p:nvSpPr>
          <p:cNvPr id="4" name="Rectangle 3">
            <a:extLst>
              <a:ext uri="{FF2B5EF4-FFF2-40B4-BE49-F238E27FC236}">
                <a16:creationId xmlns:a16="http://schemas.microsoft.com/office/drawing/2014/main" id="{4AA54C99-9CD5-4C97-B46E-EBDB54B074C9}"/>
              </a:ext>
            </a:extLst>
          </p:cNvPr>
          <p:cNvSpPr/>
          <p:nvPr/>
        </p:nvSpPr>
        <p:spPr>
          <a:xfrm>
            <a:off x="739833" y="1812175"/>
            <a:ext cx="2436557" cy="248915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US" sz="1600" b="1" dirty="0">
                <a:solidFill>
                  <a:schemeClr val="accent1"/>
                </a:solidFill>
              </a:rPr>
              <a:t>Data Pre-processing</a:t>
            </a:r>
          </a:p>
          <a:p>
            <a:pPr marL="285750" indent="-285750">
              <a:buFontTx/>
              <a:buChar char="-"/>
            </a:pPr>
            <a:r>
              <a:rPr lang="en-US" sz="1600" dirty="0"/>
              <a:t>Feature Engineering</a:t>
            </a:r>
          </a:p>
          <a:p>
            <a:pPr marL="285750" indent="-285750">
              <a:buFontTx/>
              <a:buChar char="-"/>
            </a:pPr>
            <a:r>
              <a:rPr lang="en-US" sz="1600" dirty="0"/>
              <a:t>Feature Scaling</a:t>
            </a:r>
          </a:p>
          <a:p>
            <a:pPr marL="285750" indent="-285750">
              <a:buFontTx/>
              <a:buChar char="-"/>
            </a:pPr>
            <a:r>
              <a:rPr lang="en-US" sz="1600" dirty="0"/>
              <a:t>Data Splitting into training and testing sets</a:t>
            </a:r>
          </a:p>
          <a:p>
            <a:endParaRPr lang="en-US" dirty="0"/>
          </a:p>
          <a:p>
            <a:endParaRPr lang="en-US" dirty="0"/>
          </a:p>
        </p:txBody>
      </p:sp>
      <p:sp>
        <p:nvSpPr>
          <p:cNvPr id="5" name="Rectangle 4">
            <a:extLst>
              <a:ext uri="{FF2B5EF4-FFF2-40B4-BE49-F238E27FC236}">
                <a16:creationId xmlns:a16="http://schemas.microsoft.com/office/drawing/2014/main" id="{5F60696C-6C10-4738-855C-A05E002390D1}"/>
              </a:ext>
            </a:extLst>
          </p:cNvPr>
          <p:cNvSpPr/>
          <p:nvPr/>
        </p:nvSpPr>
        <p:spPr>
          <a:xfrm>
            <a:off x="3447543" y="1812175"/>
            <a:ext cx="2436557" cy="248915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US" sz="1600" b="1" dirty="0">
                <a:solidFill>
                  <a:schemeClr val="accent1"/>
                </a:solidFill>
              </a:rPr>
              <a:t>Training</a:t>
            </a:r>
          </a:p>
          <a:p>
            <a:r>
              <a:rPr lang="en-US" sz="1600" dirty="0"/>
              <a:t>Use the training set to perform:</a:t>
            </a:r>
          </a:p>
          <a:p>
            <a:pPr marL="285750" indent="-285750">
              <a:buFontTx/>
              <a:buChar char="-"/>
            </a:pPr>
            <a:r>
              <a:rPr lang="en-US" sz="1600" dirty="0"/>
              <a:t>Model Fitting</a:t>
            </a:r>
          </a:p>
          <a:p>
            <a:pPr marL="285750" indent="-285750">
              <a:buFontTx/>
              <a:buChar char="-"/>
            </a:pPr>
            <a:r>
              <a:rPr lang="en-US" sz="1600" dirty="0"/>
              <a:t>Model selection: cross-validation, model tuning</a:t>
            </a:r>
          </a:p>
          <a:p>
            <a:endParaRPr lang="en-US" sz="1600" dirty="0"/>
          </a:p>
        </p:txBody>
      </p:sp>
      <p:sp>
        <p:nvSpPr>
          <p:cNvPr id="6" name="Rectangle 5">
            <a:extLst>
              <a:ext uri="{FF2B5EF4-FFF2-40B4-BE49-F238E27FC236}">
                <a16:creationId xmlns:a16="http://schemas.microsoft.com/office/drawing/2014/main" id="{2FB4D1BC-CE30-4640-A84D-E24BB5D8B45E}"/>
              </a:ext>
            </a:extLst>
          </p:cNvPr>
          <p:cNvSpPr/>
          <p:nvPr/>
        </p:nvSpPr>
        <p:spPr>
          <a:xfrm>
            <a:off x="6182393" y="1812175"/>
            <a:ext cx="2436557" cy="248915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US" sz="1600" b="1" dirty="0">
                <a:solidFill>
                  <a:schemeClr val="accent1"/>
                </a:solidFill>
              </a:rPr>
              <a:t>Evaluation</a:t>
            </a:r>
          </a:p>
          <a:p>
            <a:r>
              <a:rPr lang="en-US" sz="1600" dirty="0"/>
              <a:t>Evaluation of final model on testing set</a:t>
            </a:r>
          </a:p>
          <a:p>
            <a:pPr marL="285750" indent="-285750">
              <a:buFontTx/>
              <a:buChar char="-"/>
            </a:pPr>
            <a:endParaRPr lang="en-US" sz="1600" dirty="0"/>
          </a:p>
          <a:p>
            <a:pPr marL="285750" indent="-285750">
              <a:buFontTx/>
              <a:buChar char="-"/>
            </a:pPr>
            <a:endParaRPr lang="en-US" sz="1600" dirty="0"/>
          </a:p>
          <a:p>
            <a:pPr marL="285750" indent="-285750">
              <a:buFontTx/>
              <a:buChar char="-"/>
            </a:pPr>
            <a:endParaRPr lang="en-US" sz="1600" dirty="0"/>
          </a:p>
          <a:p>
            <a:pPr marL="285750" indent="-285750">
              <a:buFontTx/>
              <a:buChar char="-"/>
            </a:pPr>
            <a:endParaRPr lang="en-US" sz="1600" dirty="0"/>
          </a:p>
          <a:p>
            <a:pPr marL="285750" indent="-285750">
              <a:buFontTx/>
              <a:buChar char="-"/>
            </a:pPr>
            <a:endParaRPr lang="en-US" sz="1600" dirty="0"/>
          </a:p>
        </p:txBody>
      </p:sp>
      <p:sp>
        <p:nvSpPr>
          <p:cNvPr id="7" name="Rectangle 6">
            <a:extLst>
              <a:ext uri="{FF2B5EF4-FFF2-40B4-BE49-F238E27FC236}">
                <a16:creationId xmlns:a16="http://schemas.microsoft.com/office/drawing/2014/main" id="{E70F5F16-47F9-458B-B0A9-18969C531499}"/>
              </a:ext>
            </a:extLst>
          </p:cNvPr>
          <p:cNvSpPr/>
          <p:nvPr/>
        </p:nvSpPr>
        <p:spPr>
          <a:xfrm>
            <a:off x="8917243" y="1812175"/>
            <a:ext cx="2436557" cy="248915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endParaRPr lang="en-US" sz="1600" b="1" dirty="0">
              <a:solidFill>
                <a:schemeClr val="accent1"/>
              </a:solidFill>
            </a:endParaRPr>
          </a:p>
          <a:p>
            <a:r>
              <a:rPr lang="en-US" sz="1600" b="1" dirty="0">
                <a:solidFill>
                  <a:schemeClr val="accent1"/>
                </a:solidFill>
              </a:rPr>
              <a:t>Prediction</a:t>
            </a:r>
          </a:p>
          <a:p>
            <a:r>
              <a:rPr lang="en-US" sz="1600" dirty="0"/>
              <a:t>Use the final model to predict the labels for new unlabeled data</a:t>
            </a:r>
          </a:p>
          <a:p>
            <a:endParaRPr lang="en-US" dirty="0"/>
          </a:p>
          <a:p>
            <a:endParaRPr lang="en-US" dirty="0"/>
          </a:p>
          <a:p>
            <a:endParaRPr lang="en-US" dirty="0"/>
          </a:p>
          <a:p>
            <a:endParaRPr lang="en-US" dirty="0"/>
          </a:p>
          <a:p>
            <a:pPr algn="ctr"/>
            <a:endParaRPr lang="en-US" dirty="0"/>
          </a:p>
        </p:txBody>
      </p:sp>
      <p:sp>
        <p:nvSpPr>
          <p:cNvPr id="8" name="Arrow: Down 7">
            <a:extLst>
              <a:ext uri="{FF2B5EF4-FFF2-40B4-BE49-F238E27FC236}">
                <a16:creationId xmlns:a16="http://schemas.microsoft.com/office/drawing/2014/main" id="{C417E5EF-D6F7-42C5-9CE9-EC3B98C87562}"/>
              </a:ext>
            </a:extLst>
          </p:cNvPr>
          <p:cNvSpPr/>
          <p:nvPr/>
        </p:nvSpPr>
        <p:spPr>
          <a:xfrm rot="16200000">
            <a:off x="3037146" y="2802081"/>
            <a:ext cx="479344" cy="50933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rrow: Down 8">
            <a:extLst>
              <a:ext uri="{FF2B5EF4-FFF2-40B4-BE49-F238E27FC236}">
                <a16:creationId xmlns:a16="http://schemas.microsoft.com/office/drawing/2014/main" id="{8A13C115-F753-4B28-8046-3E9833974DDF}"/>
              </a:ext>
            </a:extLst>
          </p:cNvPr>
          <p:cNvSpPr/>
          <p:nvPr/>
        </p:nvSpPr>
        <p:spPr>
          <a:xfrm rot="16200000">
            <a:off x="5847225" y="2795506"/>
            <a:ext cx="479344" cy="50933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rrow: Down 9">
            <a:extLst>
              <a:ext uri="{FF2B5EF4-FFF2-40B4-BE49-F238E27FC236}">
                <a16:creationId xmlns:a16="http://schemas.microsoft.com/office/drawing/2014/main" id="{4C6A7461-FB7B-45D7-9750-C09F909678FE}"/>
              </a:ext>
            </a:extLst>
          </p:cNvPr>
          <p:cNvSpPr/>
          <p:nvPr/>
        </p:nvSpPr>
        <p:spPr>
          <a:xfrm rot="16200000">
            <a:off x="8642353" y="2795506"/>
            <a:ext cx="479344" cy="50933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108A4B6C-671D-46B5-8E09-6EA7E8A7D482}"/>
              </a:ext>
            </a:extLst>
          </p:cNvPr>
          <p:cNvSpPr/>
          <p:nvPr/>
        </p:nvSpPr>
        <p:spPr>
          <a:xfrm>
            <a:off x="3261283" y="1508249"/>
            <a:ext cx="2841149" cy="2793076"/>
          </a:xfrm>
          <a:prstGeom prst="roundRect">
            <a:avLst/>
          </a:prstGeom>
          <a:solidFill>
            <a:schemeClr val="accent4">
              <a:alpha val="25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053035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C2446-A4B4-4269-8E00-BFB7878D2F99}"/>
              </a:ext>
            </a:extLst>
          </p:cNvPr>
          <p:cNvSpPr>
            <a:spLocks noGrp="1"/>
          </p:cNvSpPr>
          <p:nvPr>
            <p:ph type="title"/>
          </p:nvPr>
        </p:nvSpPr>
        <p:spPr/>
        <p:txBody>
          <a:bodyPr/>
          <a:lstStyle/>
          <a:p>
            <a:r>
              <a:rPr lang="en-US" b="1" dirty="0"/>
              <a:t>Validation Set</a:t>
            </a:r>
          </a:p>
        </p:txBody>
      </p:sp>
      <p:sp>
        <p:nvSpPr>
          <p:cNvPr id="3" name="Content Placeholder 2">
            <a:extLst>
              <a:ext uri="{FF2B5EF4-FFF2-40B4-BE49-F238E27FC236}">
                <a16:creationId xmlns:a16="http://schemas.microsoft.com/office/drawing/2014/main" id="{F92E67DE-2DE9-4629-96F3-19CD605DD7AB}"/>
              </a:ext>
            </a:extLst>
          </p:cNvPr>
          <p:cNvSpPr>
            <a:spLocks noGrp="1"/>
          </p:cNvSpPr>
          <p:nvPr>
            <p:ph idx="1"/>
          </p:nvPr>
        </p:nvSpPr>
        <p:spPr/>
        <p:txBody>
          <a:bodyPr/>
          <a:lstStyle/>
          <a:p>
            <a:r>
              <a:rPr lang="en-US" dirty="0"/>
              <a:t>Training set needs to be further split into sub-training and validation sets:</a:t>
            </a:r>
          </a:p>
          <a:p>
            <a:pPr marL="0" indent="0">
              <a:buNone/>
            </a:pPr>
            <a:endParaRPr lang="en-US" dirty="0"/>
          </a:p>
        </p:txBody>
      </p:sp>
      <p:sp>
        <p:nvSpPr>
          <p:cNvPr id="4" name="Rectangle: Rounded Corners 3">
            <a:extLst>
              <a:ext uri="{FF2B5EF4-FFF2-40B4-BE49-F238E27FC236}">
                <a16:creationId xmlns:a16="http://schemas.microsoft.com/office/drawing/2014/main" id="{F59D2131-C4B1-4D9F-9DBC-17B2CF9487A4}"/>
              </a:ext>
            </a:extLst>
          </p:cNvPr>
          <p:cNvSpPr/>
          <p:nvPr/>
        </p:nvSpPr>
        <p:spPr>
          <a:xfrm>
            <a:off x="2567940" y="3108325"/>
            <a:ext cx="6448425" cy="400050"/>
          </a:xfrm>
          <a:prstGeom prst="roundRect">
            <a:avLst/>
          </a:prstGeom>
          <a:ln w="22225"/>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t>Initial Dataset</a:t>
            </a:r>
          </a:p>
        </p:txBody>
      </p:sp>
      <p:sp>
        <p:nvSpPr>
          <p:cNvPr id="5" name="Rectangle: Rounded Corners 4">
            <a:extLst>
              <a:ext uri="{FF2B5EF4-FFF2-40B4-BE49-F238E27FC236}">
                <a16:creationId xmlns:a16="http://schemas.microsoft.com/office/drawing/2014/main" id="{AF921F72-E4F4-4EE0-9CEE-EFE257477152}"/>
              </a:ext>
            </a:extLst>
          </p:cNvPr>
          <p:cNvSpPr/>
          <p:nvPr/>
        </p:nvSpPr>
        <p:spPr>
          <a:xfrm>
            <a:off x="2567940" y="3879850"/>
            <a:ext cx="5038725" cy="400050"/>
          </a:xfrm>
          <a:prstGeom prst="round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Training Set</a:t>
            </a:r>
          </a:p>
        </p:txBody>
      </p:sp>
      <p:sp>
        <p:nvSpPr>
          <p:cNvPr id="6" name="Rectangle: Rounded Corners 5">
            <a:extLst>
              <a:ext uri="{FF2B5EF4-FFF2-40B4-BE49-F238E27FC236}">
                <a16:creationId xmlns:a16="http://schemas.microsoft.com/office/drawing/2014/main" id="{5BBA2112-B5BB-453F-9958-FB1C17808872}"/>
              </a:ext>
            </a:extLst>
          </p:cNvPr>
          <p:cNvSpPr/>
          <p:nvPr/>
        </p:nvSpPr>
        <p:spPr>
          <a:xfrm>
            <a:off x="7606666" y="3879850"/>
            <a:ext cx="1409700" cy="400050"/>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Testing Set</a:t>
            </a:r>
          </a:p>
        </p:txBody>
      </p:sp>
      <p:sp>
        <p:nvSpPr>
          <p:cNvPr id="7" name="Rectangle: Rounded Corners 6">
            <a:extLst>
              <a:ext uri="{FF2B5EF4-FFF2-40B4-BE49-F238E27FC236}">
                <a16:creationId xmlns:a16="http://schemas.microsoft.com/office/drawing/2014/main" id="{F789A9AE-5088-450D-810B-E4BA7989D0C7}"/>
              </a:ext>
            </a:extLst>
          </p:cNvPr>
          <p:cNvSpPr/>
          <p:nvPr/>
        </p:nvSpPr>
        <p:spPr>
          <a:xfrm>
            <a:off x="2567940" y="4565650"/>
            <a:ext cx="3629025" cy="400050"/>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600" dirty="0"/>
              <a:t>Sub-training Set</a:t>
            </a:r>
          </a:p>
        </p:txBody>
      </p:sp>
      <p:sp>
        <p:nvSpPr>
          <p:cNvPr id="8" name="Rectangle: Rounded Corners 7">
            <a:extLst>
              <a:ext uri="{FF2B5EF4-FFF2-40B4-BE49-F238E27FC236}">
                <a16:creationId xmlns:a16="http://schemas.microsoft.com/office/drawing/2014/main" id="{54127610-39D3-4A3B-9516-0664F93DC4A9}"/>
              </a:ext>
            </a:extLst>
          </p:cNvPr>
          <p:cNvSpPr/>
          <p:nvPr/>
        </p:nvSpPr>
        <p:spPr>
          <a:xfrm>
            <a:off x="7606665" y="4565650"/>
            <a:ext cx="1409700" cy="400050"/>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Testing Set</a:t>
            </a:r>
          </a:p>
        </p:txBody>
      </p:sp>
      <p:sp>
        <p:nvSpPr>
          <p:cNvPr id="9" name="Rectangle: Rounded Corners 8">
            <a:extLst>
              <a:ext uri="{FF2B5EF4-FFF2-40B4-BE49-F238E27FC236}">
                <a16:creationId xmlns:a16="http://schemas.microsoft.com/office/drawing/2014/main" id="{5A615B91-83F3-4FA9-9CFD-F9609E9D5301}"/>
              </a:ext>
            </a:extLst>
          </p:cNvPr>
          <p:cNvSpPr/>
          <p:nvPr/>
        </p:nvSpPr>
        <p:spPr>
          <a:xfrm>
            <a:off x="6196965" y="4565650"/>
            <a:ext cx="1409700" cy="400050"/>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600" dirty="0"/>
              <a:t>Validation Set</a:t>
            </a:r>
          </a:p>
        </p:txBody>
      </p:sp>
      <p:cxnSp>
        <p:nvCxnSpPr>
          <p:cNvPr id="10" name="Straight Arrow Connector 9">
            <a:extLst>
              <a:ext uri="{FF2B5EF4-FFF2-40B4-BE49-F238E27FC236}">
                <a16:creationId xmlns:a16="http://schemas.microsoft.com/office/drawing/2014/main" id="{3F30D9D9-A8B2-484B-A5C8-4128A062D751}"/>
              </a:ext>
            </a:extLst>
          </p:cNvPr>
          <p:cNvCxnSpPr>
            <a:cxnSpLocks/>
            <a:stCxn id="4" idx="2"/>
            <a:endCxn id="6" idx="0"/>
          </p:cNvCxnSpPr>
          <p:nvPr/>
        </p:nvCxnSpPr>
        <p:spPr>
          <a:xfrm>
            <a:off x="5792153" y="3508375"/>
            <a:ext cx="2519363" cy="371475"/>
          </a:xfrm>
          <a:prstGeom prst="straightConnector1">
            <a:avLst/>
          </a:prstGeom>
          <a:ln>
            <a:tailEnd type="stealth" w="lg" len="lg"/>
          </a:ln>
        </p:spPr>
        <p:style>
          <a:lnRef idx="3">
            <a:schemeClr val="accent6"/>
          </a:lnRef>
          <a:fillRef idx="0">
            <a:schemeClr val="accent6"/>
          </a:fillRef>
          <a:effectRef idx="2">
            <a:schemeClr val="accent6"/>
          </a:effectRef>
          <a:fontRef idx="minor">
            <a:schemeClr val="tx1"/>
          </a:fontRef>
        </p:style>
      </p:cxnSp>
      <p:cxnSp>
        <p:nvCxnSpPr>
          <p:cNvPr id="11" name="Straight Arrow Connector 10">
            <a:extLst>
              <a:ext uri="{FF2B5EF4-FFF2-40B4-BE49-F238E27FC236}">
                <a16:creationId xmlns:a16="http://schemas.microsoft.com/office/drawing/2014/main" id="{72EE9CA4-FB3D-4A47-A802-0B5F22376BBD}"/>
              </a:ext>
            </a:extLst>
          </p:cNvPr>
          <p:cNvCxnSpPr>
            <a:cxnSpLocks/>
            <a:stCxn id="4" idx="2"/>
            <a:endCxn id="5" idx="0"/>
          </p:cNvCxnSpPr>
          <p:nvPr/>
        </p:nvCxnSpPr>
        <p:spPr>
          <a:xfrm flipH="1">
            <a:off x="5087303" y="3508375"/>
            <a:ext cx="704850" cy="371475"/>
          </a:xfrm>
          <a:prstGeom prst="straightConnector1">
            <a:avLst/>
          </a:prstGeom>
          <a:ln>
            <a:solidFill>
              <a:srgbClr val="C00000"/>
            </a:solidFill>
            <a:tailEnd type="stealth" w="lg" len="lg"/>
          </a:ln>
        </p:spPr>
        <p:style>
          <a:lnRef idx="3">
            <a:schemeClr val="dk1"/>
          </a:lnRef>
          <a:fillRef idx="0">
            <a:schemeClr val="dk1"/>
          </a:fillRef>
          <a:effectRef idx="2">
            <a:schemeClr val="dk1"/>
          </a:effectRef>
          <a:fontRef idx="minor">
            <a:schemeClr val="tx1"/>
          </a:fontRef>
        </p:style>
      </p:cxnSp>
      <p:cxnSp>
        <p:nvCxnSpPr>
          <p:cNvPr id="12" name="Straight Arrow Connector 11">
            <a:extLst>
              <a:ext uri="{FF2B5EF4-FFF2-40B4-BE49-F238E27FC236}">
                <a16:creationId xmlns:a16="http://schemas.microsoft.com/office/drawing/2014/main" id="{A309D03A-2C36-4F33-8BEB-01DA45B93533}"/>
              </a:ext>
            </a:extLst>
          </p:cNvPr>
          <p:cNvCxnSpPr>
            <a:cxnSpLocks/>
            <a:stCxn id="6" idx="2"/>
            <a:endCxn id="8" idx="0"/>
          </p:cNvCxnSpPr>
          <p:nvPr/>
        </p:nvCxnSpPr>
        <p:spPr>
          <a:xfrm flipH="1">
            <a:off x="8311515" y="4279900"/>
            <a:ext cx="1" cy="285750"/>
          </a:xfrm>
          <a:prstGeom prst="straightConnector1">
            <a:avLst/>
          </a:prstGeom>
          <a:ln>
            <a:tailEnd type="stealth" w="lg" len="lg"/>
          </a:ln>
        </p:spPr>
        <p:style>
          <a:lnRef idx="3">
            <a:schemeClr val="accent6"/>
          </a:lnRef>
          <a:fillRef idx="0">
            <a:schemeClr val="accent6"/>
          </a:fillRef>
          <a:effectRef idx="2">
            <a:schemeClr val="accent6"/>
          </a:effectRef>
          <a:fontRef idx="minor">
            <a:schemeClr val="tx1"/>
          </a:fontRef>
        </p:style>
      </p:cxnSp>
      <p:cxnSp>
        <p:nvCxnSpPr>
          <p:cNvPr id="13" name="Straight Arrow Connector 12">
            <a:extLst>
              <a:ext uri="{FF2B5EF4-FFF2-40B4-BE49-F238E27FC236}">
                <a16:creationId xmlns:a16="http://schemas.microsoft.com/office/drawing/2014/main" id="{D8FB5D62-49C9-45F7-A306-7468B79FF364}"/>
              </a:ext>
            </a:extLst>
          </p:cNvPr>
          <p:cNvCxnSpPr>
            <a:cxnSpLocks/>
            <a:endCxn id="7" idx="0"/>
          </p:cNvCxnSpPr>
          <p:nvPr/>
        </p:nvCxnSpPr>
        <p:spPr>
          <a:xfrm flipH="1">
            <a:off x="4382453" y="4298950"/>
            <a:ext cx="1252538" cy="266700"/>
          </a:xfrm>
          <a:prstGeom prst="straightConnector1">
            <a:avLst/>
          </a:prstGeom>
          <a:ln>
            <a:tailEnd type="stealth" w="lg" len="lg"/>
          </a:ln>
        </p:spPr>
        <p:style>
          <a:lnRef idx="3">
            <a:schemeClr val="accent2"/>
          </a:lnRef>
          <a:fillRef idx="0">
            <a:schemeClr val="accent2"/>
          </a:fillRef>
          <a:effectRef idx="2">
            <a:schemeClr val="accent2"/>
          </a:effectRef>
          <a:fontRef idx="minor">
            <a:schemeClr val="tx1"/>
          </a:fontRef>
        </p:style>
      </p:cxnSp>
      <p:cxnSp>
        <p:nvCxnSpPr>
          <p:cNvPr id="14" name="Straight Arrow Connector 13">
            <a:extLst>
              <a:ext uri="{FF2B5EF4-FFF2-40B4-BE49-F238E27FC236}">
                <a16:creationId xmlns:a16="http://schemas.microsoft.com/office/drawing/2014/main" id="{4668B6A1-E53D-44C9-897D-D1D1DC865927}"/>
              </a:ext>
            </a:extLst>
          </p:cNvPr>
          <p:cNvCxnSpPr>
            <a:cxnSpLocks/>
            <a:endCxn id="9" idx="0"/>
          </p:cNvCxnSpPr>
          <p:nvPr/>
        </p:nvCxnSpPr>
        <p:spPr>
          <a:xfrm>
            <a:off x="5634991" y="4298950"/>
            <a:ext cx="1266824" cy="266700"/>
          </a:xfrm>
          <a:prstGeom prst="straightConnector1">
            <a:avLst/>
          </a:prstGeom>
          <a:ln>
            <a:tailEnd type="stealth" w="lg" len="lg"/>
          </a:ln>
        </p:spPr>
        <p:style>
          <a:lnRef idx="3">
            <a:schemeClr val="accent5"/>
          </a:lnRef>
          <a:fillRef idx="0">
            <a:schemeClr val="accent5"/>
          </a:fillRef>
          <a:effectRef idx="2">
            <a:schemeClr val="accent5"/>
          </a:effectRef>
          <a:fontRef idx="minor">
            <a:schemeClr val="tx1"/>
          </a:fontRef>
        </p:style>
      </p:cxnSp>
      <p:sp>
        <p:nvSpPr>
          <p:cNvPr id="15" name="TextBox 14">
            <a:extLst>
              <a:ext uri="{FF2B5EF4-FFF2-40B4-BE49-F238E27FC236}">
                <a16:creationId xmlns:a16="http://schemas.microsoft.com/office/drawing/2014/main" id="{1DA72674-13D5-4828-92CD-AEDF43AF051F}"/>
              </a:ext>
            </a:extLst>
          </p:cNvPr>
          <p:cNvSpPr txBox="1"/>
          <p:nvPr/>
        </p:nvSpPr>
        <p:spPr>
          <a:xfrm>
            <a:off x="1880871" y="5376684"/>
            <a:ext cx="9113520" cy="1200329"/>
          </a:xfrm>
          <a:prstGeom prst="rect">
            <a:avLst/>
          </a:prstGeom>
          <a:noFill/>
        </p:spPr>
        <p:txBody>
          <a:bodyPr wrap="square" rtlCol="0">
            <a:spAutoFit/>
          </a:bodyPr>
          <a:lstStyle/>
          <a:p>
            <a:pPr marL="285750" indent="-285750">
              <a:buFont typeface="Arial" panose="020B0604020202020204" pitchFamily="34" charset="0"/>
              <a:buChar char="•"/>
            </a:pPr>
            <a:r>
              <a:rPr lang="en-US" dirty="0"/>
              <a:t>The different models are trained using the sub-training set and then evaluated on the validation set. </a:t>
            </a:r>
          </a:p>
          <a:p>
            <a:pPr marL="285750" indent="-285750">
              <a:buFont typeface="Arial" panose="020B0604020202020204" pitchFamily="34" charset="0"/>
              <a:buChar char="•"/>
            </a:pPr>
            <a:r>
              <a:rPr lang="en-US" dirty="0"/>
              <a:t>The final model with the best performance on the validation set is the one that is chosen and finally evaluated on the test set.</a:t>
            </a:r>
          </a:p>
        </p:txBody>
      </p:sp>
    </p:spTree>
    <p:extLst>
      <p:ext uri="{BB962C8B-B14F-4D97-AF65-F5344CB8AC3E}">
        <p14:creationId xmlns:p14="http://schemas.microsoft.com/office/powerpoint/2010/main" val="40635087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C2446-A4B4-4269-8E00-BFB7878D2F99}"/>
              </a:ext>
            </a:extLst>
          </p:cNvPr>
          <p:cNvSpPr>
            <a:spLocks noGrp="1"/>
          </p:cNvSpPr>
          <p:nvPr>
            <p:ph type="title"/>
          </p:nvPr>
        </p:nvSpPr>
        <p:spPr/>
        <p:txBody>
          <a:bodyPr/>
          <a:lstStyle/>
          <a:p>
            <a:r>
              <a:rPr lang="en-US" b="1" dirty="0"/>
              <a:t>Validation Set</a:t>
            </a:r>
          </a:p>
        </p:txBody>
      </p:sp>
      <p:sp>
        <p:nvSpPr>
          <p:cNvPr id="3" name="Content Placeholder 2">
            <a:extLst>
              <a:ext uri="{FF2B5EF4-FFF2-40B4-BE49-F238E27FC236}">
                <a16:creationId xmlns:a16="http://schemas.microsoft.com/office/drawing/2014/main" id="{F92E67DE-2DE9-4629-96F3-19CD605DD7AB}"/>
              </a:ext>
            </a:extLst>
          </p:cNvPr>
          <p:cNvSpPr>
            <a:spLocks noGrp="1"/>
          </p:cNvSpPr>
          <p:nvPr>
            <p:ph idx="1"/>
          </p:nvPr>
        </p:nvSpPr>
        <p:spPr/>
        <p:txBody>
          <a:bodyPr>
            <a:normAutofit/>
          </a:bodyPr>
          <a:lstStyle/>
          <a:p>
            <a:pPr>
              <a:lnSpc>
                <a:spcPct val="100000"/>
              </a:lnSpc>
            </a:pPr>
            <a:r>
              <a:rPr lang="en-US" sz="2400" dirty="0"/>
              <a:t>If the size of the data is very large, partitioning the training set into sub-training and validation sets once is enough. </a:t>
            </a:r>
          </a:p>
          <a:p>
            <a:pPr>
              <a:lnSpc>
                <a:spcPct val="100000"/>
              </a:lnSpc>
            </a:pPr>
            <a:r>
              <a:rPr lang="en-US" sz="2400" dirty="0"/>
              <a:t>Otherwise, the performance of any model might be sensitive to how we partition the data into sub-training and validation sets.</a:t>
            </a:r>
          </a:p>
          <a:p>
            <a:pPr>
              <a:lnSpc>
                <a:spcPct val="100000"/>
              </a:lnSpc>
            </a:pPr>
            <a:endParaRPr lang="en-US" sz="2400" dirty="0"/>
          </a:p>
          <a:p>
            <a:pPr>
              <a:lnSpc>
                <a:spcPct val="100000"/>
              </a:lnSpc>
            </a:pPr>
            <a:r>
              <a:rPr lang="en-US" sz="2400" b="1" dirty="0"/>
              <a:t>Solution: K-fold cross-validation</a:t>
            </a:r>
          </a:p>
        </p:txBody>
      </p:sp>
    </p:spTree>
    <p:extLst>
      <p:ext uri="{BB962C8B-B14F-4D97-AF65-F5344CB8AC3E}">
        <p14:creationId xmlns:p14="http://schemas.microsoft.com/office/powerpoint/2010/main" val="30160851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C2446-A4B4-4269-8E00-BFB7878D2F99}"/>
              </a:ext>
            </a:extLst>
          </p:cNvPr>
          <p:cNvSpPr>
            <a:spLocks noGrp="1"/>
          </p:cNvSpPr>
          <p:nvPr>
            <p:ph type="title"/>
          </p:nvPr>
        </p:nvSpPr>
        <p:spPr/>
        <p:txBody>
          <a:bodyPr/>
          <a:lstStyle/>
          <a:p>
            <a:r>
              <a:rPr lang="en-US" b="1" dirty="0"/>
              <a:t>Validation Set – K-fold cross-validation</a:t>
            </a:r>
          </a:p>
        </p:txBody>
      </p:sp>
      <p:sp>
        <p:nvSpPr>
          <p:cNvPr id="76" name="Rectangle: Rounded Corners 75">
            <a:extLst>
              <a:ext uri="{FF2B5EF4-FFF2-40B4-BE49-F238E27FC236}">
                <a16:creationId xmlns:a16="http://schemas.microsoft.com/office/drawing/2014/main" id="{07A9CD4D-7F74-4896-B8DE-5565AFDAF2C7}"/>
              </a:ext>
            </a:extLst>
          </p:cNvPr>
          <p:cNvSpPr/>
          <p:nvPr/>
        </p:nvSpPr>
        <p:spPr>
          <a:xfrm>
            <a:off x="2912427" y="1702390"/>
            <a:ext cx="6448425" cy="400050"/>
          </a:xfrm>
          <a:prstGeom prst="roundRect">
            <a:avLst/>
          </a:prstGeom>
          <a:ln w="22225"/>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t>Initial Dataset</a:t>
            </a:r>
          </a:p>
        </p:txBody>
      </p:sp>
      <p:sp>
        <p:nvSpPr>
          <p:cNvPr id="77" name="Rectangle: Rounded Corners 76">
            <a:extLst>
              <a:ext uri="{FF2B5EF4-FFF2-40B4-BE49-F238E27FC236}">
                <a16:creationId xmlns:a16="http://schemas.microsoft.com/office/drawing/2014/main" id="{541B7FBC-47F4-4B77-A911-9C99C6530A41}"/>
              </a:ext>
            </a:extLst>
          </p:cNvPr>
          <p:cNvSpPr/>
          <p:nvPr/>
        </p:nvSpPr>
        <p:spPr>
          <a:xfrm>
            <a:off x="2912427" y="2473915"/>
            <a:ext cx="5038725" cy="400050"/>
          </a:xfrm>
          <a:prstGeom prst="round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Training Set</a:t>
            </a:r>
          </a:p>
        </p:txBody>
      </p:sp>
      <p:sp>
        <p:nvSpPr>
          <p:cNvPr id="78" name="Rectangle: Rounded Corners 77">
            <a:extLst>
              <a:ext uri="{FF2B5EF4-FFF2-40B4-BE49-F238E27FC236}">
                <a16:creationId xmlns:a16="http://schemas.microsoft.com/office/drawing/2014/main" id="{E9A9DC90-1FF5-4162-844C-C42A396A705E}"/>
              </a:ext>
            </a:extLst>
          </p:cNvPr>
          <p:cNvSpPr/>
          <p:nvPr/>
        </p:nvSpPr>
        <p:spPr>
          <a:xfrm>
            <a:off x="7951153" y="2473915"/>
            <a:ext cx="1409700" cy="400050"/>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Testing Set</a:t>
            </a:r>
          </a:p>
        </p:txBody>
      </p:sp>
      <p:sp>
        <p:nvSpPr>
          <p:cNvPr id="79" name="Rectangle: Rounded Corners 78">
            <a:extLst>
              <a:ext uri="{FF2B5EF4-FFF2-40B4-BE49-F238E27FC236}">
                <a16:creationId xmlns:a16="http://schemas.microsoft.com/office/drawing/2014/main" id="{E2F8322D-80EA-4662-9D5B-6BB91396951C}"/>
              </a:ext>
            </a:extLst>
          </p:cNvPr>
          <p:cNvSpPr/>
          <p:nvPr/>
        </p:nvSpPr>
        <p:spPr>
          <a:xfrm>
            <a:off x="2912427" y="3874090"/>
            <a:ext cx="4028114" cy="400050"/>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1600" dirty="0"/>
          </a:p>
        </p:txBody>
      </p:sp>
      <p:sp>
        <p:nvSpPr>
          <p:cNvPr id="80" name="Rectangle: Rounded Corners 79">
            <a:extLst>
              <a:ext uri="{FF2B5EF4-FFF2-40B4-BE49-F238E27FC236}">
                <a16:creationId xmlns:a16="http://schemas.microsoft.com/office/drawing/2014/main" id="{B203E800-FEA5-4CFF-852C-BF3395FD2540}"/>
              </a:ext>
            </a:extLst>
          </p:cNvPr>
          <p:cNvSpPr/>
          <p:nvPr/>
        </p:nvSpPr>
        <p:spPr>
          <a:xfrm>
            <a:off x="6940548" y="3868329"/>
            <a:ext cx="1010604" cy="400050"/>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1600" dirty="0"/>
          </a:p>
        </p:txBody>
      </p:sp>
      <p:cxnSp>
        <p:nvCxnSpPr>
          <p:cNvPr id="81" name="Straight Arrow Connector 80">
            <a:extLst>
              <a:ext uri="{FF2B5EF4-FFF2-40B4-BE49-F238E27FC236}">
                <a16:creationId xmlns:a16="http://schemas.microsoft.com/office/drawing/2014/main" id="{9C6C8296-94AD-4554-868C-9AF817869D74}"/>
              </a:ext>
            </a:extLst>
          </p:cNvPr>
          <p:cNvCxnSpPr>
            <a:cxnSpLocks/>
            <a:stCxn id="76" idx="2"/>
            <a:endCxn id="78" idx="0"/>
          </p:cNvCxnSpPr>
          <p:nvPr/>
        </p:nvCxnSpPr>
        <p:spPr>
          <a:xfrm>
            <a:off x="6136640" y="2102440"/>
            <a:ext cx="2519363" cy="371475"/>
          </a:xfrm>
          <a:prstGeom prst="straightConnector1">
            <a:avLst/>
          </a:prstGeom>
          <a:ln>
            <a:tailEnd type="stealth" w="lg" len="lg"/>
          </a:ln>
        </p:spPr>
        <p:style>
          <a:lnRef idx="3">
            <a:schemeClr val="accent6"/>
          </a:lnRef>
          <a:fillRef idx="0">
            <a:schemeClr val="accent6"/>
          </a:fillRef>
          <a:effectRef idx="2">
            <a:schemeClr val="accent6"/>
          </a:effectRef>
          <a:fontRef idx="minor">
            <a:schemeClr val="tx1"/>
          </a:fontRef>
        </p:style>
      </p:cxnSp>
      <p:cxnSp>
        <p:nvCxnSpPr>
          <p:cNvPr id="82" name="Straight Arrow Connector 81">
            <a:extLst>
              <a:ext uri="{FF2B5EF4-FFF2-40B4-BE49-F238E27FC236}">
                <a16:creationId xmlns:a16="http://schemas.microsoft.com/office/drawing/2014/main" id="{0D7E744E-DB6C-4468-80EE-CA6D63776466}"/>
              </a:ext>
            </a:extLst>
          </p:cNvPr>
          <p:cNvCxnSpPr>
            <a:cxnSpLocks/>
            <a:stCxn id="76" idx="2"/>
            <a:endCxn id="77" idx="0"/>
          </p:cNvCxnSpPr>
          <p:nvPr/>
        </p:nvCxnSpPr>
        <p:spPr>
          <a:xfrm flipH="1">
            <a:off x="5431790" y="2102440"/>
            <a:ext cx="704850" cy="371475"/>
          </a:xfrm>
          <a:prstGeom prst="straightConnector1">
            <a:avLst/>
          </a:prstGeom>
          <a:ln>
            <a:solidFill>
              <a:srgbClr val="C00000"/>
            </a:solidFill>
            <a:tailEnd type="stealth" w="lg" len="lg"/>
          </a:ln>
        </p:spPr>
        <p:style>
          <a:lnRef idx="3">
            <a:schemeClr val="dk1"/>
          </a:lnRef>
          <a:fillRef idx="0">
            <a:schemeClr val="dk1"/>
          </a:fillRef>
          <a:effectRef idx="2">
            <a:schemeClr val="dk1"/>
          </a:effectRef>
          <a:fontRef idx="minor">
            <a:schemeClr val="tx1"/>
          </a:fontRef>
        </p:style>
      </p:cxnSp>
      <p:sp>
        <p:nvSpPr>
          <p:cNvPr id="83" name="Rectangle: Rounded Corners 82">
            <a:extLst>
              <a:ext uri="{FF2B5EF4-FFF2-40B4-BE49-F238E27FC236}">
                <a16:creationId xmlns:a16="http://schemas.microsoft.com/office/drawing/2014/main" id="{C81ACB65-A1FA-479C-94D6-1AD517B8B2DC}"/>
              </a:ext>
            </a:extLst>
          </p:cNvPr>
          <p:cNvSpPr/>
          <p:nvPr/>
        </p:nvSpPr>
        <p:spPr>
          <a:xfrm>
            <a:off x="2912426" y="3073990"/>
            <a:ext cx="5038725" cy="400050"/>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4" name="Straight Connector 83">
            <a:extLst>
              <a:ext uri="{FF2B5EF4-FFF2-40B4-BE49-F238E27FC236}">
                <a16:creationId xmlns:a16="http://schemas.microsoft.com/office/drawing/2014/main" id="{E69E4584-9C98-44A9-BA11-B4587EB9EB71}"/>
              </a:ext>
            </a:extLst>
          </p:cNvPr>
          <p:cNvCxnSpPr/>
          <p:nvPr/>
        </p:nvCxnSpPr>
        <p:spPr>
          <a:xfrm>
            <a:off x="3918266" y="3073990"/>
            <a:ext cx="0" cy="40005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7EE3DFC1-0229-4D4A-963C-A52889A9DBE3}"/>
              </a:ext>
            </a:extLst>
          </p:cNvPr>
          <p:cNvCxnSpPr/>
          <p:nvPr/>
        </p:nvCxnSpPr>
        <p:spPr>
          <a:xfrm>
            <a:off x="4927749" y="3073990"/>
            <a:ext cx="0" cy="40005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86E929E3-7535-407B-B383-BF0E016004D5}"/>
              </a:ext>
            </a:extLst>
          </p:cNvPr>
          <p:cNvCxnSpPr/>
          <p:nvPr/>
        </p:nvCxnSpPr>
        <p:spPr>
          <a:xfrm>
            <a:off x="5934708" y="3073990"/>
            <a:ext cx="0" cy="40005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E8D274BA-FC8D-4E31-B6C0-934471F43DE6}"/>
              </a:ext>
            </a:extLst>
          </p:cNvPr>
          <p:cNvCxnSpPr/>
          <p:nvPr/>
        </p:nvCxnSpPr>
        <p:spPr>
          <a:xfrm>
            <a:off x="6940548" y="3073990"/>
            <a:ext cx="0" cy="40005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88" name="TextBox 87">
            <a:extLst>
              <a:ext uri="{FF2B5EF4-FFF2-40B4-BE49-F238E27FC236}">
                <a16:creationId xmlns:a16="http://schemas.microsoft.com/office/drawing/2014/main" id="{EB0B901A-E30F-473B-99FF-771E740665B7}"/>
              </a:ext>
            </a:extLst>
          </p:cNvPr>
          <p:cNvSpPr txBox="1"/>
          <p:nvPr/>
        </p:nvSpPr>
        <p:spPr>
          <a:xfrm>
            <a:off x="3219713" y="3104708"/>
            <a:ext cx="387624" cy="369332"/>
          </a:xfrm>
          <a:prstGeom prst="rect">
            <a:avLst/>
          </a:prstGeom>
          <a:noFill/>
        </p:spPr>
        <p:txBody>
          <a:bodyPr wrap="square" rtlCol="0">
            <a:spAutoFit/>
          </a:bodyPr>
          <a:lstStyle/>
          <a:p>
            <a:r>
              <a:rPr lang="en-US" dirty="0"/>
              <a:t>1</a:t>
            </a:r>
          </a:p>
        </p:txBody>
      </p:sp>
      <p:sp>
        <p:nvSpPr>
          <p:cNvPr id="89" name="TextBox 88">
            <a:extLst>
              <a:ext uri="{FF2B5EF4-FFF2-40B4-BE49-F238E27FC236}">
                <a16:creationId xmlns:a16="http://schemas.microsoft.com/office/drawing/2014/main" id="{E71AAF29-685E-45D2-AF41-A87EC20BD11D}"/>
              </a:ext>
            </a:extLst>
          </p:cNvPr>
          <p:cNvSpPr txBox="1"/>
          <p:nvPr/>
        </p:nvSpPr>
        <p:spPr>
          <a:xfrm>
            <a:off x="4225552" y="3100530"/>
            <a:ext cx="387624" cy="369332"/>
          </a:xfrm>
          <a:prstGeom prst="rect">
            <a:avLst/>
          </a:prstGeom>
          <a:noFill/>
        </p:spPr>
        <p:txBody>
          <a:bodyPr wrap="square" rtlCol="0">
            <a:spAutoFit/>
          </a:bodyPr>
          <a:lstStyle/>
          <a:p>
            <a:r>
              <a:rPr lang="en-US" dirty="0"/>
              <a:t>2</a:t>
            </a:r>
          </a:p>
        </p:txBody>
      </p:sp>
      <p:sp>
        <p:nvSpPr>
          <p:cNvPr id="90" name="TextBox 89">
            <a:extLst>
              <a:ext uri="{FF2B5EF4-FFF2-40B4-BE49-F238E27FC236}">
                <a16:creationId xmlns:a16="http://schemas.microsoft.com/office/drawing/2014/main" id="{33C633CD-4626-4960-9A11-2A1033384BF6}"/>
              </a:ext>
            </a:extLst>
          </p:cNvPr>
          <p:cNvSpPr txBox="1"/>
          <p:nvPr/>
        </p:nvSpPr>
        <p:spPr>
          <a:xfrm>
            <a:off x="5273880" y="3105049"/>
            <a:ext cx="387624" cy="369332"/>
          </a:xfrm>
          <a:prstGeom prst="rect">
            <a:avLst/>
          </a:prstGeom>
          <a:noFill/>
        </p:spPr>
        <p:txBody>
          <a:bodyPr wrap="square" rtlCol="0">
            <a:spAutoFit/>
          </a:bodyPr>
          <a:lstStyle/>
          <a:p>
            <a:r>
              <a:rPr lang="en-US" dirty="0"/>
              <a:t>3</a:t>
            </a:r>
          </a:p>
        </p:txBody>
      </p:sp>
      <p:sp>
        <p:nvSpPr>
          <p:cNvPr id="91" name="TextBox 90">
            <a:extLst>
              <a:ext uri="{FF2B5EF4-FFF2-40B4-BE49-F238E27FC236}">
                <a16:creationId xmlns:a16="http://schemas.microsoft.com/office/drawing/2014/main" id="{ECB5DAF6-B561-4CF3-B35E-B0E18C8811D4}"/>
              </a:ext>
            </a:extLst>
          </p:cNvPr>
          <p:cNvSpPr txBox="1"/>
          <p:nvPr/>
        </p:nvSpPr>
        <p:spPr>
          <a:xfrm>
            <a:off x="6210889" y="3099288"/>
            <a:ext cx="387624" cy="369332"/>
          </a:xfrm>
          <a:prstGeom prst="rect">
            <a:avLst/>
          </a:prstGeom>
          <a:noFill/>
        </p:spPr>
        <p:txBody>
          <a:bodyPr wrap="square" rtlCol="0">
            <a:spAutoFit/>
          </a:bodyPr>
          <a:lstStyle/>
          <a:p>
            <a:r>
              <a:rPr lang="en-US" dirty="0"/>
              <a:t>4</a:t>
            </a:r>
          </a:p>
        </p:txBody>
      </p:sp>
      <p:sp>
        <p:nvSpPr>
          <p:cNvPr id="92" name="TextBox 91">
            <a:extLst>
              <a:ext uri="{FF2B5EF4-FFF2-40B4-BE49-F238E27FC236}">
                <a16:creationId xmlns:a16="http://schemas.microsoft.com/office/drawing/2014/main" id="{1D3157B5-DE3C-4257-920C-D259AC67AA65}"/>
              </a:ext>
            </a:extLst>
          </p:cNvPr>
          <p:cNvSpPr txBox="1"/>
          <p:nvPr/>
        </p:nvSpPr>
        <p:spPr>
          <a:xfrm>
            <a:off x="7272645" y="3099288"/>
            <a:ext cx="387624" cy="369332"/>
          </a:xfrm>
          <a:prstGeom prst="rect">
            <a:avLst/>
          </a:prstGeom>
          <a:noFill/>
        </p:spPr>
        <p:txBody>
          <a:bodyPr wrap="square" rtlCol="0">
            <a:spAutoFit/>
          </a:bodyPr>
          <a:lstStyle/>
          <a:p>
            <a:r>
              <a:rPr lang="en-US" dirty="0"/>
              <a:t>5</a:t>
            </a:r>
          </a:p>
        </p:txBody>
      </p:sp>
      <p:sp>
        <p:nvSpPr>
          <p:cNvPr id="93" name="Rectangle: Rounded Corners 92">
            <a:extLst>
              <a:ext uri="{FF2B5EF4-FFF2-40B4-BE49-F238E27FC236}">
                <a16:creationId xmlns:a16="http://schemas.microsoft.com/office/drawing/2014/main" id="{5562D07B-765E-4BE1-8A5F-DE025049F6BE}"/>
              </a:ext>
            </a:extLst>
          </p:cNvPr>
          <p:cNvSpPr/>
          <p:nvPr/>
        </p:nvSpPr>
        <p:spPr>
          <a:xfrm>
            <a:off x="2913692" y="4445590"/>
            <a:ext cx="4028114" cy="400050"/>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1600" dirty="0"/>
          </a:p>
        </p:txBody>
      </p:sp>
      <p:sp>
        <p:nvSpPr>
          <p:cNvPr id="94" name="Rectangle: Rounded Corners 93">
            <a:extLst>
              <a:ext uri="{FF2B5EF4-FFF2-40B4-BE49-F238E27FC236}">
                <a16:creationId xmlns:a16="http://schemas.microsoft.com/office/drawing/2014/main" id="{E9924A93-A2E1-40BB-B57F-4F967C1FB12C}"/>
              </a:ext>
            </a:extLst>
          </p:cNvPr>
          <p:cNvSpPr/>
          <p:nvPr/>
        </p:nvSpPr>
        <p:spPr>
          <a:xfrm>
            <a:off x="6941813" y="4439829"/>
            <a:ext cx="1010604" cy="40005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1600" dirty="0"/>
          </a:p>
        </p:txBody>
      </p:sp>
      <p:sp>
        <p:nvSpPr>
          <p:cNvPr id="95" name="Rectangle: Rounded Corners 94">
            <a:extLst>
              <a:ext uri="{FF2B5EF4-FFF2-40B4-BE49-F238E27FC236}">
                <a16:creationId xmlns:a16="http://schemas.microsoft.com/office/drawing/2014/main" id="{6F228CA1-9D2D-4FDC-8D7F-FD5E2210E50D}"/>
              </a:ext>
            </a:extLst>
          </p:cNvPr>
          <p:cNvSpPr/>
          <p:nvPr/>
        </p:nvSpPr>
        <p:spPr>
          <a:xfrm>
            <a:off x="2912425" y="5062718"/>
            <a:ext cx="5038725" cy="400050"/>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1600" dirty="0"/>
          </a:p>
        </p:txBody>
      </p:sp>
      <p:sp>
        <p:nvSpPr>
          <p:cNvPr id="96" name="Rectangle: Rounded Corners 95">
            <a:extLst>
              <a:ext uri="{FF2B5EF4-FFF2-40B4-BE49-F238E27FC236}">
                <a16:creationId xmlns:a16="http://schemas.microsoft.com/office/drawing/2014/main" id="{04862F77-5DB6-44D0-B309-68192A254F79}"/>
              </a:ext>
            </a:extLst>
          </p:cNvPr>
          <p:cNvSpPr/>
          <p:nvPr/>
        </p:nvSpPr>
        <p:spPr>
          <a:xfrm>
            <a:off x="2912426" y="5674085"/>
            <a:ext cx="5038724" cy="400050"/>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1600" dirty="0"/>
          </a:p>
        </p:txBody>
      </p:sp>
      <p:sp>
        <p:nvSpPr>
          <p:cNvPr id="97" name="Rectangle: Rounded Corners 96">
            <a:extLst>
              <a:ext uri="{FF2B5EF4-FFF2-40B4-BE49-F238E27FC236}">
                <a16:creationId xmlns:a16="http://schemas.microsoft.com/office/drawing/2014/main" id="{B67FF345-0B78-456A-AE6F-E7A0E5C42A9B}"/>
              </a:ext>
            </a:extLst>
          </p:cNvPr>
          <p:cNvSpPr/>
          <p:nvPr/>
        </p:nvSpPr>
        <p:spPr>
          <a:xfrm>
            <a:off x="2913692" y="6222771"/>
            <a:ext cx="5037458" cy="400050"/>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1600" dirty="0"/>
          </a:p>
        </p:txBody>
      </p:sp>
      <p:sp>
        <p:nvSpPr>
          <p:cNvPr id="98" name="Rectangle: Rounded Corners 97">
            <a:extLst>
              <a:ext uri="{FF2B5EF4-FFF2-40B4-BE49-F238E27FC236}">
                <a16:creationId xmlns:a16="http://schemas.microsoft.com/office/drawing/2014/main" id="{E48507A7-6524-42AC-BAB9-D57B29176AE4}"/>
              </a:ext>
            </a:extLst>
          </p:cNvPr>
          <p:cNvSpPr/>
          <p:nvPr/>
        </p:nvSpPr>
        <p:spPr>
          <a:xfrm>
            <a:off x="5934708" y="4442710"/>
            <a:ext cx="1010604" cy="400050"/>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1600" dirty="0"/>
          </a:p>
        </p:txBody>
      </p:sp>
      <p:sp>
        <p:nvSpPr>
          <p:cNvPr id="99" name="Rectangle: Rounded Corners 98">
            <a:extLst>
              <a:ext uri="{FF2B5EF4-FFF2-40B4-BE49-F238E27FC236}">
                <a16:creationId xmlns:a16="http://schemas.microsoft.com/office/drawing/2014/main" id="{11CBC99D-26C6-4565-AF14-8D965E384668}"/>
              </a:ext>
            </a:extLst>
          </p:cNvPr>
          <p:cNvSpPr/>
          <p:nvPr/>
        </p:nvSpPr>
        <p:spPr>
          <a:xfrm>
            <a:off x="4964168" y="5062585"/>
            <a:ext cx="1010604" cy="400050"/>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1600" dirty="0"/>
          </a:p>
        </p:txBody>
      </p:sp>
      <p:sp>
        <p:nvSpPr>
          <p:cNvPr id="100" name="Rectangle: Rounded Corners 99">
            <a:extLst>
              <a:ext uri="{FF2B5EF4-FFF2-40B4-BE49-F238E27FC236}">
                <a16:creationId xmlns:a16="http://schemas.microsoft.com/office/drawing/2014/main" id="{A6374ADF-0B95-4912-8AAC-39027B635AE4}"/>
              </a:ext>
            </a:extLst>
          </p:cNvPr>
          <p:cNvSpPr/>
          <p:nvPr/>
        </p:nvSpPr>
        <p:spPr>
          <a:xfrm>
            <a:off x="3953564" y="5679846"/>
            <a:ext cx="1010604" cy="400050"/>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1600" dirty="0"/>
          </a:p>
        </p:txBody>
      </p:sp>
      <p:sp>
        <p:nvSpPr>
          <p:cNvPr id="101" name="Rectangle: Rounded Corners 100">
            <a:extLst>
              <a:ext uri="{FF2B5EF4-FFF2-40B4-BE49-F238E27FC236}">
                <a16:creationId xmlns:a16="http://schemas.microsoft.com/office/drawing/2014/main" id="{E94D15BC-DC7D-423D-A36F-1466D92006CF}"/>
              </a:ext>
            </a:extLst>
          </p:cNvPr>
          <p:cNvSpPr/>
          <p:nvPr/>
        </p:nvSpPr>
        <p:spPr>
          <a:xfrm>
            <a:off x="2907662" y="6226949"/>
            <a:ext cx="1010604" cy="400050"/>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1600" dirty="0"/>
          </a:p>
        </p:txBody>
      </p:sp>
      <p:sp>
        <p:nvSpPr>
          <p:cNvPr id="102" name="TextBox 101">
            <a:extLst>
              <a:ext uri="{FF2B5EF4-FFF2-40B4-BE49-F238E27FC236}">
                <a16:creationId xmlns:a16="http://schemas.microsoft.com/office/drawing/2014/main" id="{9BC8C230-805E-4CDA-8419-AA0CD3EC86E2}"/>
              </a:ext>
            </a:extLst>
          </p:cNvPr>
          <p:cNvSpPr txBox="1"/>
          <p:nvPr/>
        </p:nvSpPr>
        <p:spPr>
          <a:xfrm>
            <a:off x="897184" y="2830249"/>
            <a:ext cx="2142002" cy="646331"/>
          </a:xfrm>
          <a:prstGeom prst="rect">
            <a:avLst/>
          </a:prstGeom>
          <a:noFill/>
        </p:spPr>
        <p:txBody>
          <a:bodyPr wrap="square" rtlCol="0">
            <a:spAutoFit/>
          </a:bodyPr>
          <a:lstStyle/>
          <a:p>
            <a:pPr algn="ctr"/>
            <a:r>
              <a:rPr lang="en-US" b="1" dirty="0"/>
              <a:t>Divide the training set into 5 folds</a:t>
            </a:r>
          </a:p>
        </p:txBody>
      </p:sp>
      <p:sp>
        <p:nvSpPr>
          <p:cNvPr id="103" name="TextBox 102">
            <a:extLst>
              <a:ext uri="{FF2B5EF4-FFF2-40B4-BE49-F238E27FC236}">
                <a16:creationId xmlns:a16="http://schemas.microsoft.com/office/drawing/2014/main" id="{8CA88267-9817-4D5A-8077-E5A029683ABD}"/>
              </a:ext>
            </a:extLst>
          </p:cNvPr>
          <p:cNvSpPr txBox="1"/>
          <p:nvPr/>
        </p:nvSpPr>
        <p:spPr>
          <a:xfrm>
            <a:off x="897184" y="4179112"/>
            <a:ext cx="2142002" cy="2031325"/>
          </a:xfrm>
          <a:prstGeom prst="rect">
            <a:avLst/>
          </a:prstGeom>
          <a:noFill/>
        </p:spPr>
        <p:txBody>
          <a:bodyPr wrap="square" rtlCol="0">
            <a:spAutoFit/>
          </a:bodyPr>
          <a:lstStyle/>
          <a:p>
            <a:pPr algn="ctr"/>
            <a:r>
              <a:rPr lang="en-US" b="1" dirty="0"/>
              <a:t>Train the model 5 times. In each time, use one fold as the validation set and the remaining folds as the sub-training set.</a:t>
            </a:r>
          </a:p>
        </p:txBody>
      </p:sp>
      <p:cxnSp>
        <p:nvCxnSpPr>
          <p:cNvPr id="104" name="Straight Arrow Connector 103">
            <a:extLst>
              <a:ext uri="{FF2B5EF4-FFF2-40B4-BE49-F238E27FC236}">
                <a16:creationId xmlns:a16="http://schemas.microsoft.com/office/drawing/2014/main" id="{AEB4DC7C-FC49-4064-B95E-E93774D51BC3}"/>
              </a:ext>
            </a:extLst>
          </p:cNvPr>
          <p:cNvCxnSpPr>
            <a:cxnSpLocks/>
          </p:cNvCxnSpPr>
          <p:nvPr/>
        </p:nvCxnSpPr>
        <p:spPr>
          <a:xfrm>
            <a:off x="8077200" y="4068354"/>
            <a:ext cx="1758863" cy="9125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5" name="Straight Arrow Connector 104">
            <a:extLst>
              <a:ext uri="{FF2B5EF4-FFF2-40B4-BE49-F238E27FC236}">
                <a16:creationId xmlns:a16="http://schemas.microsoft.com/office/drawing/2014/main" id="{B3D252BC-355C-4433-A306-C63115C142F1}"/>
              </a:ext>
            </a:extLst>
          </p:cNvPr>
          <p:cNvCxnSpPr>
            <a:cxnSpLocks/>
          </p:cNvCxnSpPr>
          <p:nvPr/>
        </p:nvCxnSpPr>
        <p:spPr>
          <a:xfrm>
            <a:off x="8080706" y="4565469"/>
            <a:ext cx="1733854" cy="5513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6" name="Straight Arrow Connector 105">
            <a:extLst>
              <a:ext uri="{FF2B5EF4-FFF2-40B4-BE49-F238E27FC236}">
                <a16:creationId xmlns:a16="http://schemas.microsoft.com/office/drawing/2014/main" id="{A1D28F47-C170-40F3-88EA-E95C8277EC3A}"/>
              </a:ext>
            </a:extLst>
          </p:cNvPr>
          <p:cNvCxnSpPr>
            <a:cxnSpLocks/>
          </p:cNvCxnSpPr>
          <p:nvPr/>
        </p:nvCxnSpPr>
        <p:spPr>
          <a:xfrm>
            <a:off x="8103254" y="5216834"/>
            <a:ext cx="173280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7" name="Straight Arrow Connector 106">
            <a:extLst>
              <a:ext uri="{FF2B5EF4-FFF2-40B4-BE49-F238E27FC236}">
                <a16:creationId xmlns:a16="http://schemas.microsoft.com/office/drawing/2014/main" id="{CBC2BBD7-1998-4260-B6A5-2D8FB3DCBB17}"/>
              </a:ext>
            </a:extLst>
          </p:cNvPr>
          <p:cNvCxnSpPr>
            <a:cxnSpLocks/>
          </p:cNvCxnSpPr>
          <p:nvPr/>
        </p:nvCxnSpPr>
        <p:spPr>
          <a:xfrm flipV="1">
            <a:off x="8077200" y="5370785"/>
            <a:ext cx="1737360" cy="5033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a16="http://schemas.microsoft.com/office/drawing/2014/main" id="{6E48A6AD-30A3-4D3D-9EF8-9021A99909BC}"/>
              </a:ext>
            </a:extLst>
          </p:cNvPr>
          <p:cNvCxnSpPr>
            <a:cxnSpLocks/>
          </p:cNvCxnSpPr>
          <p:nvPr/>
        </p:nvCxnSpPr>
        <p:spPr>
          <a:xfrm flipV="1">
            <a:off x="8103254" y="5506675"/>
            <a:ext cx="1732809" cy="9217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9" name="TextBox 108">
            <a:extLst>
              <a:ext uri="{FF2B5EF4-FFF2-40B4-BE49-F238E27FC236}">
                <a16:creationId xmlns:a16="http://schemas.microsoft.com/office/drawing/2014/main" id="{5CB386D6-C10B-4B26-BE22-B6766DA84FDF}"/>
              </a:ext>
            </a:extLst>
          </p:cNvPr>
          <p:cNvSpPr txBox="1"/>
          <p:nvPr/>
        </p:nvSpPr>
        <p:spPr>
          <a:xfrm>
            <a:off x="10007601" y="4839879"/>
            <a:ext cx="1513840" cy="1477328"/>
          </a:xfrm>
          <a:prstGeom prst="rect">
            <a:avLst/>
          </a:prstGeom>
          <a:noFill/>
        </p:spPr>
        <p:txBody>
          <a:bodyPr wrap="square" rtlCol="0">
            <a:spAutoFit/>
          </a:bodyPr>
          <a:lstStyle/>
          <a:p>
            <a:r>
              <a:rPr lang="en-US" b="1" dirty="0">
                <a:solidFill>
                  <a:schemeClr val="accent5">
                    <a:lumMod val="75000"/>
                  </a:schemeClr>
                </a:solidFill>
              </a:rPr>
              <a:t>Average performance on all validation folds</a:t>
            </a:r>
          </a:p>
        </p:txBody>
      </p:sp>
      <p:sp>
        <p:nvSpPr>
          <p:cNvPr id="110" name="Rectangle: Rounded Corners 109">
            <a:extLst>
              <a:ext uri="{FF2B5EF4-FFF2-40B4-BE49-F238E27FC236}">
                <a16:creationId xmlns:a16="http://schemas.microsoft.com/office/drawing/2014/main" id="{B1A42E6B-127F-4F0B-A43E-D09F169B1E26}"/>
              </a:ext>
            </a:extLst>
          </p:cNvPr>
          <p:cNvSpPr/>
          <p:nvPr/>
        </p:nvSpPr>
        <p:spPr>
          <a:xfrm>
            <a:off x="58790" y="1582849"/>
            <a:ext cx="1010604" cy="400050"/>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1600" dirty="0"/>
          </a:p>
        </p:txBody>
      </p:sp>
      <p:sp>
        <p:nvSpPr>
          <p:cNvPr id="111" name="Rectangle: Rounded Corners 110">
            <a:extLst>
              <a:ext uri="{FF2B5EF4-FFF2-40B4-BE49-F238E27FC236}">
                <a16:creationId xmlns:a16="http://schemas.microsoft.com/office/drawing/2014/main" id="{508A51A9-0163-4F2E-B3C1-1E476CB1E0DA}"/>
              </a:ext>
            </a:extLst>
          </p:cNvPr>
          <p:cNvSpPr/>
          <p:nvPr/>
        </p:nvSpPr>
        <p:spPr>
          <a:xfrm>
            <a:off x="58790" y="2101009"/>
            <a:ext cx="1010604" cy="40005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1600" dirty="0"/>
          </a:p>
        </p:txBody>
      </p:sp>
      <p:sp>
        <p:nvSpPr>
          <p:cNvPr id="112" name="TextBox 111">
            <a:extLst>
              <a:ext uri="{FF2B5EF4-FFF2-40B4-BE49-F238E27FC236}">
                <a16:creationId xmlns:a16="http://schemas.microsoft.com/office/drawing/2014/main" id="{42283AA1-AB55-4B78-8E07-D5435B2DB7CB}"/>
              </a:ext>
            </a:extLst>
          </p:cNvPr>
          <p:cNvSpPr txBox="1"/>
          <p:nvPr/>
        </p:nvSpPr>
        <p:spPr>
          <a:xfrm>
            <a:off x="1110356" y="1644345"/>
            <a:ext cx="1546222" cy="338554"/>
          </a:xfrm>
          <a:prstGeom prst="rect">
            <a:avLst/>
          </a:prstGeom>
          <a:noFill/>
        </p:spPr>
        <p:txBody>
          <a:bodyPr wrap="square" rtlCol="0">
            <a:spAutoFit/>
          </a:bodyPr>
          <a:lstStyle/>
          <a:p>
            <a:r>
              <a:rPr lang="en-US" sz="1600" dirty="0"/>
              <a:t>Validation fold</a:t>
            </a:r>
          </a:p>
        </p:txBody>
      </p:sp>
      <p:sp>
        <p:nvSpPr>
          <p:cNvPr id="113" name="TextBox 112">
            <a:extLst>
              <a:ext uri="{FF2B5EF4-FFF2-40B4-BE49-F238E27FC236}">
                <a16:creationId xmlns:a16="http://schemas.microsoft.com/office/drawing/2014/main" id="{90EEAA1B-9F41-4449-A4A0-0BB949551514}"/>
              </a:ext>
            </a:extLst>
          </p:cNvPr>
          <p:cNvSpPr txBox="1"/>
          <p:nvPr/>
        </p:nvSpPr>
        <p:spPr>
          <a:xfrm>
            <a:off x="1110356" y="2162505"/>
            <a:ext cx="1546222" cy="338554"/>
          </a:xfrm>
          <a:prstGeom prst="rect">
            <a:avLst/>
          </a:prstGeom>
          <a:noFill/>
        </p:spPr>
        <p:txBody>
          <a:bodyPr wrap="square" rtlCol="0">
            <a:spAutoFit/>
          </a:bodyPr>
          <a:lstStyle/>
          <a:p>
            <a:r>
              <a:rPr lang="en-US" sz="1600" dirty="0"/>
              <a:t>Training fold</a:t>
            </a:r>
          </a:p>
        </p:txBody>
      </p:sp>
    </p:spTree>
    <p:extLst>
      <p:ext uri="{BB962C8B-B14F-4D97-AF65-F5344CB8AC3E}">
        <p14:creationId xmlns:p14="http://schemas.microsoft.com/office/powerpoint/2010/main" val="24763341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1F6D70F-724B-406D-8B44-290294C273E4}"/>
              </a:ext>
            </a:extLst>
          </p:cNvPr>
          <p:cNvSpPr>
            <a:spLocks noGrp="1"/>
          </p:cNvSpPr>
          <p:nvPr>
            <p:ph type="title"/>
          </p:nvPr>
        </p:nvSpPr>
        <p:spPr/>
        <p:txBody>
          <a:bodyPr/>
          <a:lstStyle/>
          <a:p>
            <a:r>
              <a:rPr lang="en-US" b="1" dirty="0"/>
              <a:t>Underfitting, Overfitting</a:t>
            </a:r>
          </a:p>
        </p:txBody>
      </p:sp>
      <p:sp>
        <p:nvSpPr>
          <p:cNvPr id="5" name="Text Placeholder 4">
            <a:extLst>
              <a:ext uri="{FF2B5EF4-FFF2-40B4-BE49-F238E27FC236}">
                <a16:creationId xmlns:a16="http://schemas.microsoft.com/office/drawing/2014/main" id="{4756C924-EE95-4E52-BC24-4C1DC14531D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325500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8EF2CB-41B6-4718-85C0-9D55BD2B36D5}"/>
              </a:ext>
            </a:extLst>
          </p:cNvPr>
          <p:cNvSpPr>
            <a:spLocks noGrp="1"/>
          </p:cNvSpPr>
          <p:nvPr>
            <p:ph type="title"/>
          </p:nvPr>
        </p:nvSpPr>
        <p:spPr/>
        <p:txBody>
          <a:bodyPr/>
          <a:lstStyle/>
          <a:p>
            <a:r>
              <a:rPr lang="en-US" b="1" dirty="0"/>
              <a:t>Model Evaluation</a:t>
            </a:r>
          </a:p>
        </p:txBody>
      </p:sp>
      <p:sp>
        <p:nvSpPr>
          <p:cNvPr id="3" name="Content Placeholder 2">
            <a:extLst>
              <a:ext uri="{FF2B5EF4-FFF2-40B4-BE49-F238E27FC236}">
                <a16:creationId xmlns:a16="http://schemas.microsoft.com/office/drawing/2014/main" id="{81AE1A41-2F68-47DC-982E-18C3DC6ABFDD}"/>
              </a:ext>
            </a:extLst>
          </p:cNvPr>
          <p:cNvSpPr>
            <a:spLocks noGrp="1"/>
          </p:cNvSpPr>
          <p:nvPr>
            <p:ph idx="1"/>
          </p:nvPr>
        </p:nvSpPr>
        <p:spPr/>
        <p:txBody>
          <a:bodyPr>
            <a:normAutofit/>
          </a:bodyPr>
          <a:lstStyle/>
          <a:p>
            <a:pPr>
              <a:lnSpc>
                <a:spcPct val="100000"/>
              </a:lnSpc>
            </a:pPr>
            <a:r>
              <a:rPr lang="en-US" dirty="0"/>
              <a:t>Splitting the data into training and testing sets and performing cross-validation on the training test help us:</a:t>
            </a:r>
          </a:p>
          <a:p>
            <a:pPr marL="0" indent="0">
              <a:lnSpc>
                <a:spcPct val="100000"/>
              </a:lnSpc>
              <a:buNone/>
            </a:pPr>
            <a:endParaRPr lang="en-US" dirty="0"/>
          </a:p>
          <a:p>
            <a:pPr lvl="1">
              <a:lnSpc>
                <a:spcPct val="100000"/>
              </a:lnSpc>
            </a:pPr>
            <a:r>
              <a:rPr lang="en-US" sz="2800" dirty="0"/>
              <a:t>not choose an overfit or underfit model.</a:t>
            </a:r>
          </a:p>
          <a:p>
            <a:pPr lvl="1">
              <a:lnSpc>
                <a:spcPct val="100000"/>
              </a:lnSpc>
              <a:buFont typeface="Courier New" panose="02070309020205020404" pitchFamily="49" charset="0"/>
              <a:buChar char="o"/>
            </a:pPr>
            <a:endParaRPr lang="en-US" sz="2800" dirty="0"/>
          </a:p>
          <a:p>
            <a:pPr>
              <a:lnSpc>
                <a:spcPct val="100000"/>
              </a:lnSpc>
            </a:pPr>
            <a:r>
              <a:rPr lang="en-US" dirty="0"/>
              <a:t>What is overfitting and underfitting?</a:t>
            </a:r>
          </a:p>
          <a:p>
            <a:pPr marL="0" indent="0">
              <a:lnSpc>
                <a:spcPct val="100000"/>
              </a:lnSpc>
              <a:buNone/>
            </a:pPr>
            <a:endParaRPr lang="en-US" dirty="0"/>
          </a:p>
        </p:txBody>
      </p:sp>
    </p:spTree>
    <p:extLst>
      <p:ext uri="{BB962C8B-B14F-4D97-AF65-F5344CB8AC3E}">
        <p14:creationId xmlns:p14="http://schemas.microsoft.com/office/powerpoint/2010/main" val="42464500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1C2E3-6B2B-FB4B-8245-85B86A90B84E}"/>
              </a:ext>
            </a:extLst>
          </p:cNvPr>
          <p:cNvSpPr>
            <a:spLocks noGrp="1"/>
          </p:cNvSpPr>
          <p:nvPr>
            <p:ph type="title"/>
          </p:nvPr>
        </p:nvSpPr>
        <p:spPr/>
        <p:txBody>
          <a:bodyPr/>
          <a:lstStyle/>
          <a:p>
            <a:r>
              <a:rPr lang="en-US" b="1" dirty="0"/>
              <a:t>Possible Scenarios</a:t>
            </a:r>
          </a:p>
        </p:txBody>
      </p:sp>
      <p:sp>
        <p:nvSpPr>
          <p:cNvPr id="3" name="Content Placeholder 2">
            <a:extLst>
              <a:ext uri="{FF2B5EF4-FFF2-40B4-BE49-F238E27FC236}">
                <a16:creationId xmlns:a16="http://schemas.microsoft.com/office/drawing/2014/main" id="{24518658-7ED9-BD4B-8220-6A1A5963A4AC}"/>
              </a:ext>
            </a:extLst>
          </p:cNvPr>
          <p:cNvSpPr>
            <a:spLocks noGrp="1"/>
          </p:cNvSpPr>
          <p:nvPr>
            <p:ph sz="half" idx="1"/>
          </p:nvPr>
        </p:nvSpPr>
        <p:spPr/>
        <p:txBody>
          <a:bodyPr>
            <a:normAutofit/>
          </a:bodyPr>
          <a:lstStyle/>
          <a:p>
            <a:pPr>
              <a:lnSpc>
                <a:spcPct val="120000"/>
              </a:lnSpc>
            </a:pPr>
            <a:endParaRPr lang="en-US" b="1" dirty="0"/>
          </a:p>
        </p:txBody>
      </p:sp>
      <p:sp>
        <p:nvSpPr>
          <p:cNvPr id="4" name="Content Placeholder 3">
            <a:extLst>
              <a:ext uri="{FF2B5EF4-FFF2-40B4-BE49-F238E27FC236}">
                <a16:creationId xmlns:a16="http://schemas.microsoft.com/office/drawing/2014/main" id="{A2289616-B350-2748-8329-3E2DE801378D}"/>
              </a:ext>
            </a:extLst>
          </p:cNvPr>
          <p:cNvSpPr>
            <a:spLocks noGrp="1"/>
          </p:cNvSpPr>
          <p:nvPr>
            <p:ph sz="half" idx="2"/>
          </p:nvPr>
        </p:nvSpPr>
        <p:spPr/>
        <p:txBody>
          <a:bodyPr>
            <a:normAutofit/>
          </a:bodyPr>
          <a:lstStyle/>
          <a:p>
            <a:endParaRPr lang="en-US"/>
          </a:p>
        </p:txBody>
      </p:sp>
      <p:pic>
        <p:nvPicPr>
          <p:cNvPr id="6" name="Picture 5">
            <a:extLst>
              <a:ext uri="{FF2B5EF4-FFF2-40B4-BE49-F238E27FC236}">
                <a16:creationId xmlns:a16="http://schemas.microsoft.com/office/drawing/2014/main" id="{9F6E8D9E-23CD-FC4C-8E6F-81C0FA89EF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1006475"/>
            <a:ext cx="5486400" cy="5486400"/>
          </a:xfrm>
          <a:prstGeom prst="rect">
            <a:avLst/>
          </a:prstGeom>
        </p:spPr>
      </p:pic>
      <p:cxnSp>
        <p:nvCxnSpPr>
          <p:cNvPr id="7" name="Straight Connector 6">
            <a:extLst>
              <a:ext uri="{FF2B5EF4-FFF2-40B4-BE49-F238E27FC236}">
                <a16:creationId xmlns:a16="http://schemas.microsoft.com/office/drawing/2014/main" id="{E63AA05F-6175-464E-9C4F-623FF33935BC}"/>
              </a:ext>
            </a:extLst>
          </p:cNvPr>
          <p:cNvCxnSpPr>
            <a:cxnSpLocks/>
          </p:cNvCxnSpPr>
          <p:nvPr/>
        </p:nvCxnSpPr>
        <p:spPr>
          <a:xfrm>
            <a:off x="7553325" y="3314700"/>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46EDEE2-0609-42C9-AE3B-E1029C43BD86}"/>
              </a:ext>
            </a:extLst>
          </p:cNvPr>
          <p:cNvCxnSpPr>
            <a:cxnSpLocks/>
          </p:cNvCxnSpPr>
          <p:nvPr/>
        </p:nvCxnSpPr>
        <p:spPr>
          <a:xfrm>
            <a:off x="5943600" y="1651000"/>
            <a:ext cx="4314825" cy="4841875"/>
          </a:xfrm>
          <a:prstGeom prst="line">
            <a:avLst/>
          </a:prstGeom>
          <a:ln w="38100">
            <a:solidFill>
              <a:schemeClr val="accent2">
                <a:lumMod val="75000"/>
              </a:schemeClr>
            </a:solidFill>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3046964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1C2E3-6B2B-FB4B-8245-85B86A90B84E}"/>
              </a:ext>
            </a:extLst>
          </p:cNvPr>
          <p:cNvSpPr>
            <a:spLocks noGrp="1"/>
          </p:cNvSpPr>
          <p:nvPr>
            <p:ph type="title"/>
          </p:nvPr>
        </p:nvSpPr>
        <p:spPr/>
        <p:txBody>
          <a:bodyPr/>
          <a:lstStyle/>
          <a:p>
            <a:r>
              <a:rPr lang="en-US" b="1" dirty="0"/>
              <a:t>Possible Scenarios</a:t>
            </a:r>
          </a:p>
        </p:txBody>
      </p:sp>
      <p:sp>
        <p:nvSpPr>
          <p:cNvPr id="3" name="Content Placeholder 2">
            <a:extLst>
              <a:ext uri="{FF2B5EF4-FFF2-40B4-BE49-F238E27FC236}">
                <a16:creationId xmlns:a16="http://schemas.microsoft.com/office/drawing/2014/main" id="{24518658-7ED9-BD4B-8220-6A1A5963A4AC}"/>
              </a:ext>
            </a:extLst>
          </p:cNvPr>
          <p:cNvSpPr>
            <a:spLocks noGrp="1"/>
          </p:cNvSpPr>
          <p:nvPr>
            <p:ph sz="half" idx="1"/>
          </p:nvPr>
        </p:nvSpPr>
        <p:spPr/>
        <p:txBody>
          <a:bodyPr>
            <a:normAutofit fontScale="77500" lnSpcReduction="20000"/>
          </a:bodyPr>
          <a:lstStyle/>
          <a:p>
            <a:pPr marL="0" indent="0">
              <a:lnSpc>
                <a:spcPct val="120000"/>
              </a:lnSpc>
              <a:buNone/>
            </a:pPr>
            <a:r>
              <a:rPr lang="en-US" dirty="0"/>
              <a:t>A model, can be bad for two different reasons:</a:t>
            </a:r>
            <a:endParaRPr lang="en-US" b="1" dirty="0">
              <a:solidFill>
                <a:schemeClr val="accent2">
                  <a:lumMod val="75000"/>
                </a:schemeClr>
              </a:solidFill>
            </a:endParaRPr>
          </a:p>
          <a:p>
            <a:pPr>
              <a:lnSpc>
                <a:spcPct val="120000"/>
              </a:lnSpc>
            </a:pPr>
            <a:r>
              <a:rPr lang="en-US" b="1" dirty="0">
                <a:solidFill>
                  <a:schemeClr val="accent2">
                    <a:lumMod val="75000"/>
                  </a:schemeClr>
                </a:solidFill>
              </a:rPr>
              <a:t>Model that poorly fits the data, </a:t>
            </a:r>
            <a:r>
              <a:rPr lang="en-US" dirty="0"/>
              <a:t>is too simple and doesn’t match the data well: it is said to </a:t>
            </a:r>
            <a:r>
              <a:rPr lang="en-US" dirty="0">
                <a:solidFill>
                  <a:schemeClr val="accent2">
                    <a:lumMod val="75000"/>
                  </a:schemeClr>
                </a:solidFill>
              </a:rPr>
              <a:t>have high bias (underfit model).</a:t>
            </a:r>
            <a:endParaRPr lang="en-US" b="1" dirty="0">
              <a:solidFill>
                <a:schemeClr val="accent2">
                  <a:lumMod val="75000"/>
                </a:schemeClr>
              </a:solidFill>
            </a:endParaRPr>
          </a:p>
          <a:p>
            <a:pPr>
              <a:lnSpc>
                <a:spcPct val="120000"/>
              </a:lnSpc>
            </a:pPr>
            <a:r>
              <a:rPr lang="en-US" b="1" dirty="0">
                <a:solidFill>
                  <a:srgbClr val="00B050"/>
                </a:solidFill>
              </a:rPr>
              <a:t>Model that overly fits the data, </a:t>
            </a:r>
            <a:r>
              <a:rPr lang="en-US" dirty="0"/>
              <a:t>is too complex and too specific for the data: is said to </a:t>
            </a:r>
            <a:r>
              <a:rPr lang="en-US" dirty="0">
                <a:solidFill>
                  <a:srgbClr val="00B050"/>
                </a:solidFill>
              </a:rPr>
              <a:t>have high variance (overfit model). </a:t>
            </a:r>
            <a:endParaRPr lang="en-US" b="1" dirty="0">
              <a:solidFill>
                <a:srgbClr val="00B050"/>
              </a:solidFill>
            </a:endParaRPr>
          </a:p>
          <a:p>
            <a:pPr>
              <a:lnSpc>
                <a:spcPct val="120000"/>
              </a:lnSpc>
            </a:pPr>
            <a:r>
              <a:rPr lang="en-US" b="1" dirty="0"/>
              <a:t>The Goldilocks model!</a:t>
            </a:r>
          </a:p>
          <a:p>
            <a:pPr>
              <a:lnSpc>
                <a:spcPct val="120000"/>
              </a:lnSpc>
            </a:pPr>
            <a:endParaRPr lang="en-US" b="1" dirty="0"/>
          </a:p>
        </p:txBody>
      </p:sp>
      <p:sp>
        <p:nvSpPr>
          <p:cNvPr id="4" name="Content Placeholder 3">
            <a:extLst>
              <a:ext uri="{FF2B5EF4-FFF2-40B4-BE49-F238E27FC236}">
                <a16:creationId xmlns:a16="http://schemas.microsoft.com/office/drawing/2014/main" id="{A2289616-B350-2748-8329-3E2DE801378D}"/>
              </a:ext>
            </a:extLst>
          </p:cNvPr>
          <p:cNvSpPr>
            <a:spLocks noGrp="1"/>
          </p:cNvSpPr>
          <p:nvPr>
            <p:ph sz="half" idx="2"/>
          </p:nvPr>
        </p:nvSpPr>
        <p:spPr/>
        <p:txBody>
          <a:bodyPr>
            <a:normAutofit fontScale="77500" lnSpcReduction="20000"/>
          </a:bodyPr>
          <a:lstStyle/>
          <a:p>
            <a:endParaRPr lang="en-US"/>
          </a:p>
        </p:txBody>
      </p:sp>
      <p:pic>
        <p:nvPicPr>
          <p:cNvPr id="6" name="Picture 5">
            <a:extLst>
              <a:ext uri="{FF2B5EF4-FFF2-40B4-BE49-F238E27FC236}">
                <a16:creationId xmlns:a16="http://schemas.microsoft.com/office/drawing/2014/main" id="{9F6E8D9E-23CD-FC4C-8E6F-81C0FA89EF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1006475"/>
            <a:ext cx="5486400" cy="5486400"/>
          </a:xfrm>
          <a:prstGeom prst="rect">
            <a:avLst/>
          </a:prstGeom>
        </p:spPr>
      </p:pic>
      <p:cxnSp>
        <p:nvCxnSpPr>
          <p:cNvPr id="7" name="Straight Connector 6">
            <a:extLst>
              <a:ext uri="{FF2B5EF4-FFF2-40B4-BE49-F238E27FC236}">
                <a16:creationId xmlns:a16="http://schemas.microsoft.com/office/drawing/2014/main" id="{E63AA05F-6175-464E-9C4F-623FF33935BC}"/>
              </a:ext>
            </a:extLst>
          </p:cNvPr>
          <p:cNvCxnSpPr>
            <a:cxnSpLocks/>
          </p:cNvCxnSpPr>
          <p:nvPr/>
        </p:nvCxnSpPr>
        <p:spPr>
          <a:xfrm>
            <a:off x="7553325" y="3314700"/>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46EDEE2-0609-42C9-AE3B-E1029C43BD86}"/>
              </a:ext>
            </a:extLst>
          </p:cNvPr>
          <p:cNvCxnSpPr>
            <a:cxnSpLocks/>
          </p:cNvCxnSpPr>
          <p:nvPr/>
        </p:nvCxnSpPr>
        <p:spPr>
          <a:xfrm>
            <a:off x="5943600" y="1651000"/>
            <a:ext cx="4314825" cy="4841875"/>
          </a:xfrm>
          <a:prstGeom prst="line">
            <a:avLst/>
          </a:prstGeom>
          <a:ln w="38100">
            <a:solidFill>
              <a:schemeClr val="accent2">
                <a:lumMod val="75000"/>
              </a:schemeClr>
            </a:solidFill>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6880378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1C2E3-6B2B-FB4B-8245-85B86A90B84E}"/>
              </a:ext>
            </a:extLst>
          </p:cNvPr>
          <p:cNvSpPr>
            <a:spLocks noGrp="1"/>
          </p:cNvSpPr>
          <p:nvPr>
            <p:ph type="title"/>
          </p:nvPr>
        </p:nvSpPr>
        <p:spPr/>
        <p:txBody>
          <a:bodyPr/>
          <a:lstStyle/>
          <a:p>
            <a:r>
              <a:rPr lang="en-US" b="1" dirty="0"/>
              <a:t>Possible Scenarios</a:t>
            </a:r>
          </a:p>
        </p:txBody>
      </p:sp>
      <p:sp>
        <p:nvSpPr>
          <p:cNvPr id="3" name="Content Placeholder 2">
            <a:extLst>
              <a:ext uri="{FF2B5EF4-FFF2-40B4-BE49-F238E27FC236}">
                <a16:creationId xmlns:a16="http://schemas.microsoft.com/office/drawing/2014/main" id="{24518658-7ED9-BD4B-8220-6A1A5963A4AC}"/>
              </a:ext>
            </a:extLst>
          </p:cNvPr>
          <p:cNvSpPr>
            <a:spLocks noGrp="1"/>
          </p:cNvSpPr>
          <p:nvPr>
            <p:ph idx="1"/>
          </p:nvPr>
        </p:nvSpPr>
        <p:spPr/>
        <p:txBody>
          <a:bodyPr>
            <a:normAutofit/>
          </a:bodyPr>
          <a:lstStyle/>
          <a:p>
            <a:pPr marL="0" indent="0">
              <a:lnSpc>
                <a:spcPct val="110000"/>
              </a:lnSpc>
              <a:buNone/>
            </a:pPr>
            <a:r>
              <a:rPr lang="en-US" dirty="0"/>
              <a:t>A model’s error can be expressed as the sum of three different errors:</a:t>
            </a:r>
          </a:p>
          <a:p>
            <a:pPr>
              <a:lnSpc>
                <a:spcPct val="110000"/>
              </a:lnSpc>
            </a:pPr>
            <a:r>
              <a:rPr lang="en-US" dirty="0"/>
              <a:t>Bias</a:t>
            </a:r>
          </a:p>
          <a:p>
            <a:pPr>
              <a:lnSpc>
                <a:spcPct val="110000"/>
              </a:lnSpc>
            </a:pPr>
            <a:r>
              <a:rPr lang="en-US" dirty="0"/>
              <a:t>Variance</a:t>
            </a:r>
          </a:p>
          <a:p>
            <a:pPr>
              <a:lnSpc>
                <a:spcPct val="110000"/>
              </a:lnSpc>
            </a:pPr>
            <a:r>
              <a:rPr lang="en-US" dirty="0"/>
              <a:t>Irreducible error: Irreducible error refers to the noise that exists in the data itself. It is an aspect of the data, and we cannot beat it.</a:t>
            </a:r>
          </a:p>
          <a:p>
            <a:pPr marL="0" indent="0">
              <a:lnSpc>
                <a:spcPct val="110000"/>
              </a:lnSpc>
              <a:buNone/>
            </a:pPr>
            <a:endParaRPr lang="en-US" dirty="0"/>
          </a:p>
        </p:txBody>
      </p:sp>
    </p:spTree>
    <p:extLst>
      <p:ext uri="{BB962C8B-B14F-4D97-AF65-F5344CB8AC3E}">
        <p14:creationId xmlns:p14="http://schemas.microsoft.com/office/powerpoint/2010/main" val="18900866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1C2E3-6B2B-FB4B-8245-85B86A90B84E}"/>
              </a:ext>
            </a:extLst>
          </p:cNvPr>
          <p:cNvSpPr>
            <a:spLocks noGrp="1"/>
          </p:cNvSpPr>
          <p:nvPr>
            <p:ph type="title"/>
          </p:nvPr>
        </p:nvSpPr>
        <p:spPr/>
        <p:txBody>
          <a:bodyPr/>
          <a:lstStyle/>
          <a:p>
            <a:r>
              <a:rPr lang="en-US" b="1" dirty="0"/>
              <a:t>Bias</a:t>
            </a:r>
          </a:p>
        </p:txBody>
      </p:sp>
      <p:sp>
        <p:nvSpPr>
          <p:cNvPr id="3" name="Content Placeholder 2">
            <a:extLst>
              <a:ext uri="{FF2B5EF4-FFF2-40B4-BE49-F238E27FC236}">
                <a16:creationId xmlns:a16="http://schemas.microsoft.com/office/drawing/2014/main" id="{24518658-7ED9-BD4B-8220-6A1A5963A4AC}"/>
              </a:ext>
            </a:extLst>
          </p:cNvPr>
          <p:cNvSpPr>
            <a:spLocks noGrp="1"/>
          </p:cNvSpPr>
          <p:nvPr>
            <p:ph idx="1"/>
          </p:nvPr>
        </p:nvSpPr>
        <p:spPr/>
        <p:txBody>
          <a:bodyPr>
            <a:normAutofit fontScale="92500" lnSpcReduction="10000"/>
          </a:bodyPr>
          <a:lstStyle/>
          <a:p>
            <a:pPr marL="0" indent="0">
              <a:lnSpc>
                <a:spcPct val="110000"/>
              </a:lnSpc>
              <a:buNone/>
            </a:pPr>
            <a:r>
              <a:rPr lang="en-US" b="1" dirty="0"/>
              <a:t>Bias:</a:t>
            </a:r>
          </a:p>
          <a:p>
            <a:pPr>
              <a:lnSpc>
                <a:spcPct val="110000"/>
              </a:lnSpc>
            </a:pPr>
            <a:r>
              <a:rPr lang="en-US" dirty="0"/>
              <a:t>Bias refers to the error that is introduced due to wrong assumptions such as approximating a complicated pattern in data with a simpler model.</a:t>
            </a:r>
          </a:p>
          <a:p>
            <a:pPr>
              <a:lnSpc>
                <a:spcPct val="110000"/>
              </a:lnSpc>
            </a:pPr>
            <a:r>
              <a:rPr lang="en-US" dirty="0"/>
              <a:t>A </a:t>
            </a:r>
            <a:r>
              <a:rPr lang="en-US" b="1" dirty="0"/>
              <a:t>high-bias or underfit </a:t>
            </a:r>
            <a:r>
              <a:rPr lang="en-US" dirty="0"/>
              <a:t>model is a model that fails to capture the complex patterns in the training data.</a:t>
            </a:r>
          </a:p>
          <a:p>
            <a:pPr>
              <a:lnSpc>
                <a:spcPct val="110000"/>
              </a:lnSpc>
            </a:pPr>
            <a:r>
              <a:rPr lang="en-US" dirty="0"/>
              <a:t>An example is when we use a linear classification model on data that is not linearly separable.</a:t>
            </a:r>
          </a:p>
          <a:p>
            <a:pPr>
              <a:lnSpc>
                <a:spcPct val="110000"/>
              </a:lnSpc>
            </a:pPr>
            <a:r>
              <a:rPr lang="en-US" dirty="0"/>
              <a:t>In this case, both the training error and the validation/test error will be high.</a:t>
            </a:r>
          </a:p>
        </p:txBody>
      </p:sp>
    </p:spTree>
    <p:extLst>
      <p:ext uri="{BB962C8B-B14F-4D97-AF65-F5344CB8AC3E}">
        <p14:creationId xmlns:p14="http://schemas.microsoft.com/office/powerpoint/2010/main" val="29084688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1C2E3-6B2B-FB4B-8245-85B86A90B84E}"/>
              </a:ext>
            </a:extLst>
          </p:cNvPr>
          <p:cNvSpPr>
            <a:spLocks noGrp="1"/>
          </p:cNvSpPr>
          <p:nvPr>
            <p:ph type="title"/>
          </p:nvPr>
        </p:nvSpPr>
        <p:spPr/>
        <p:txBody>
          <a:bodyPr/>
          <a:lstStyle/>
          <a:p>
            <a:r>
              <a:rPr lang="en-US" b="1" dirty="0"/>
              <a:t>Variance</a:t>
            </a:r>
          </a:p>
        </p:txBody>
      </p:sp>
      <p:sp>
        <p:nvSpPr>
          <p:cNvPr id="3" name="Content Placeholder 2">
            <a:extLst>
              <a:ext uri="{FF2B5EF4-FFF2-40B4-BE49-F238E27FC236}">
                <a16:creationId xmlns:a16="http://schemas.microsoft.com/office/drawing/2014/main" id="{24518658-7ED9-BD4B-8220-6A1A5963A4AC}"/>
              </a:ext>
            </a:extLst>
          </p:cNvPr>
          <p:cNvSpPr>
            <a:spLocks noGrp="1"/>
          </p:cNvSpPr>
          <p:nvPr>
            <p:ph idx="1"/>
          </p:nvPr>
        </p:nvSpPr>
        <p:spPr/>
        <p:txBody>
          <a:bodyPr>
            <a:normAutofit fontScale="85000" lnSpcReduction="10000"/>
          </a:bodyPr>
          <a:lstStyle/>
          <a:p>
            <a:pPr marL="0" indent="0">
              <a:lnSpc>
                <a:spcPct val="110000"/>
              </a:lnSpc>
              <a:buNone/>
            </a:pPr>
            <a:r>
              <a:rPr lang="en-US" b="1" dirty="0"/>
              <a:t>Variance:</a:t>
            </a:r>
          </a:p>
          <a:p>
            <a:pPr>
              <a:lnSpc>
                <a:spcPct val="110000"/>
              </a:lnSpc>
            </a:pPr>
            <a:r>
              <a:rPr lang="en-US" dirty="0"/>
              <a:t>Variance captures how much a model is over-specialized to a particular training dataset.</a:t>
            </a:r>
          </a:p>
          <a:p>
            <a:pPr>
              <a:lnSpc>
                <a:spcPct val="110000"/>
              </a:lnSpc>
            </a:pPr>
            <a:r>
              <a:rPr lang="en-US" dirty="0"/>
              <a:t>Variance measures the consistency or variability of the model predictions if we retrain the model on a different training set, i.e., how much the model’s predictions change if it is trained on a different training set.</a:t>
            </a:r>
          </a:p>
          <a:p>
            <a:pPr>
              <a:lnSpc>
                <a:spcPct val="110000"/>
              </a:lnSpc>
            </a:pPr>
            <a:r>
              <a:rPr lang="en-US" dirty="0"/>
              <a:t>A </a:t>
            </a:r>
            <a:r>
              <a:rPr lang="en-US" b="1" dirty="0"/>
              <a:t>high-variance or overfit </a:t>
            </a:r>
            <a:r>
              <a:rPr lang="en-US" dirty="0"/>
              <a:t>model is a model that performs well on the training set by memorizing its specific patterns but fails to generalize to unseen data (validation/testing errors).</a:t>
            </a:r>
          </a:p>
          <a:p>
            <a:pPr>
              <a:lnSpc>
                <a:spcPct val="110000"/>
              </a:lnSpc>
            </a:pPr>
            <a:r>
              <a:rPr lang="en-US" dirty="0"/>
              <a:t>In this case, both the training error and the validation/test error will be high.</a:t>
            </a:r>
          </a:p>
        </p:txBody>
      </p:sp>
    </p:spTree>
    <p:extLst>
      <p:ext uri="{BB962C8B-B14F-4D97-AF65-F5344CB8AC3E}">
        <p14:creationId xmlns:p14="http://schemas.microsoft.com/office/powerpoint/2010/main" val="3921926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01064-3362-4D9D-B20B-C12FA6BA5C54}"/>
              </a:ext>
            </a:extLst>
          </p:cNvPr>
          <p:cNvSpPr>
            <a:spLocks noGrp="1"/>
          </p:cNvSpPr>
          <p:nvPr>
            <p:ph type="title"/>
          </p:nvPr>
        </p:nvSpPr>
        <p:spPr/>
        <p:txBody>
          <a:bodyPr/>
          <a:lstStyle/>
          <a:p>
            <a:r>
              <a:rPr lang="en-US" b="1" dirty="0"/>
              <a:t>How do we know if a given trained model is underfit or overfit?</a:t>
            </a:r>
          </a:p>
        </p:txBody>
      </p:sp>
      <p:sp>
        <p:nvSpPr>
          <p:cNvPr id="3" name="Content Placeholder 2">
            <a:extLst>
              <a:ext uri="{FF2B5EF4-FFF2-40B4-BE49-F238E27FC236}">
                <a16:creationId xmlns:a16="http://schemas.microsoft.com/office/drawing/2014/main" id="{ADB705AC-0F02-4D74-8DDE-05B12BC97706}"/>
              </a:ext>
            </a:extLst>
          </p:cNvPr>
          <p:cNvSpPr>
            <a:spLocks noGrp="1"/>
          </p:cNvSpPr>
          <p:nvPr>
            <p:ph idx="1"/>
          </p:nvPr>
        </p:nvSpPr>
        <p:spPr/>
        <p:txBody>
          <a:bodyPr/>
          <a:lstStyle/>
          <a:p>
            <a:pPr>
              <a:lnSpc>
                <a:spcPct val="100000"/>
              </a:lnSpc>
            </a:pPr>
            <a:endParaRPr lang="en-US" dirty="0"/>
          </a:p>
          <a:p>
            <a:pPr>
              <a:lnSpc>
                <a:spcPct val="100000"/>
              </a:lnSpc>
            </a:pPr>
            <a:r>
              <a:rPr lang="en-US" dirty="0"/>
              <a:t>When a model does not perform well on the training set, we know that the model underfits the training set. Both the training error and the validation error of an underfit model will be high. </a:t>
            </a:r>
          </a:p>
          <a:p>
            <a:pPr>
              <a:lnSpc>
                <a:spcPct val="100000"/>
              </a:lnSpc>
            </a:pPr>
            <a:endParaRPr lang="en-US" dirty="0"/>
          </a:p>
          <a:p>
            <a:pPr>
              <a:lnSpc>
                <a:spcPct val="100000"/>
              </a:lnSpc>
            </a:pPr>
            <a:r>
              <a:rPr lang="en-US" dirty="0"/>
              <a:t>When a model performs very well on the training set, but fails to show similar performance on the validation set, we conclude that the model overfits the training set. </a:t>
            </a:r>
          </a:p>
        </p:txBody>
      </p:sp>
    </p:spTree>
    <p:extLst>
      <p:ext uri="{BB962C8B-B14F-4D97-AF65-F5344CB8AC3E}">
        <p14:creationId xmlns:p14="http://schemas.microsoft.com/office/powerpoint/2010/main" val="35495739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6448D-912B-49C9-92DE-122E04C3ABDE}"/>
              </a:ext>
            </a:extLst>
          </p:cNvPr>
          <p:cNvSpPr>
            <a:spLocks noGrp="1"/>
          </p:cNvSpPr>
          <p:nvPr>
            <p:ph type="title"/>
          </p:nvPr>
        </p:nvSpPr>
        <p:spPr/>
        <p:txBody>
          <a:bodyPr/>
          <a:lstStyle/>
          <a:p>
            <a:r>
              <a:rPr lang="en-US" b="1" dirty="0"/>
              <a:t>Bias-Variance Tradeoff</a:t>
            </a:r>
          </a:p>
        </p:txBody>
      </p:sp>
      <p:cxnSp>
        <p:nvCxnSpPr>
          <p:cNvPr id="4" name="Straight Arrow Connector 3">
            <a:extLst>
              <a:ext uri="{FF2B5EF4-FFF2-40B4-BE49-F238E27FC236}">
                <a16:creationId xmlns:a16="http://schemas.microsoft.com/office/drawing/2014/main" id="{5E9A89C1-B18D-4E00-89F5-9EFCAD8B7CF3}"/>
              </a:ext>
            </a:extLst>
          </p:cNvPr>
          <p:cNvCxnSpPr>
            <a:cxnSpLocks/>
          </p:cNvCxnSpPr>
          <p:nvPr/>
        </p:nvCxnSpPr>
        <p:spPr>
          <a:xfrm>
            <a:off x="3432628" y="5928676"/>
            <a:ext cx="493776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 name="Straight Arrow Connector 4">
            <a:extLst>
              <a:ext uri="{FF2B5EF4-FFF2-40B4-BE49-F238E27FC236}">
                <a16:creationId xmlns:a16="http://schemas.microsoft.com/office/drawing/2014/main" id="{AA36D895-6B1A-4817-909F-C86E2B8184F3}"/>
              </a:ext>
            </a:extLst>
          </p:cNvPr>
          <p:cNvCxnSpPr>
            <a:cxnSpLocks/>
          </p:cNvCxnSpPr>
          <p:nvPr/>
        </p:nvCxnSpPr>
        <p:spPr>
          <a:xfrm rot="16200000">
            <a:off x="1504674" y="4008056"/>
            <a:ext cx="386080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6" name="Rectangle 5">
            <a:extLst>
              <a:ext uri="{FF2B5EF4-FFF2-40B4-BE49-F238E27FC236}">
                <a16:creationId xmlns:a16="http://schemas.microsoft.com/office/drawing/2014/main" id="{78A6F358-0C82-4274-A681-9A0A52549EB1}"/>
              </a:ext>
            </a:extLst>
          </p:cNvPr>
          <p:cNvSpPr/>
          <p:nvPr/>
        </p:nvSpPr>
        <p:spPr>
          <a:xfrm>
            <a:off x="5345774" y="5361244"/>
            <a:ext cx="110938" cy="2878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15442459-CD80-4414-8B17-AEF941B1F65A}"/>
              </a:ext>
            </a:extLst>
          </p:cNvPr>
          <p:cNvSpPr txBox="1"/>
          <p:nvPr/>
        </p:nvSpPr>
        <p:spPr>
          <a:xfrm>
            <a:off x="4564667" y="5994151"/>
            <a:ext cx="2752825" cy="369332"/>
          </a:xfrm>
          <a:prstGeom prst="rect">
            <a:avLst/>
          </a:prstGeom>
          <a:noFill/>
        </p:spPr>
        <p:txBody>
          <a:bodyPr wrap="square" rtlCol="0">
            <a:spAutoFit/>
          </a:bodyPr>
          <a:lstStyle/>
          <a:p>
            <a:r>
              <a:rPr lang="en-US" b="1" dirty="0"/>
              <a:t>Model Complexity</a:t>
            </a:r>
          </a:p>
        </p:txBody>
      </p:sp>
      <p:sp>
        <p:nvSpPr>
          <p:cNvPr id="10" name="TextBox 9">
            <a:extLst>
              <a:ext uri="{FF2B5EF4-FFF2-40B4-BE49-F238E27FC236}">
                <a16:creationId xmlns:a16="http://schemas.microsoft.com/office/drawing/2014/main" id="{55AD678D-8852-4FC7-9DF3-2CFCC935FAE2}"/>
              </a:ext>
            </a:extLst>
          </p:cNvPr>
          <p:cNvSpPr txBox="1"/>
          <p:nvPr/>
        </p:nvSpPr>
        <p:spPr>
          <a:xfrm>
            <a:off x="2588071" y="1934989"/>
            <a:ext cx="2752825" cy="369332"/>
          </a:xfrm>
          <a:prstGeom prst="rect">
            <a:avLst/>
          </a:prstGeom>
          <a:noFill/>
        </p:spPr>
        <p:txBody>
          <a:bodyPr wrap="square" rtlCol="0">
            <a:spAutoFit/>
          </a:bodyPr>
          <a:lstStyle/>
          <a:p>
            <a:r>
              <a:rPr lang="en-US" b="1" dirty="0"/>
              <a:t>Error</a:t>
            </a:r>
          </a:p>
        </p:txBody>
      </p:sp>
      <p:sp>
        <p:nvSpPr>
          <p:cNvPr id="11" name="TextBox 10">
            <a:extLst>
              <a:ext uri="{FF2B5EF4-FFF2-40B4-BE49-F238E27FC236}">
                <a16:creationId xmlns:a16="http://schemas.microsoft.com/office/drawing/2014/main" id="{34A751D5-EA2C-4A7A-9309-6A9076C628B9}"/>
              </a:ext>
            </a:extLst>
          </p:cNvPr>
          <p:cNvSpPr txBox="1"/>
          <p:nvPr/>
        </p:nvSpPr>
        <p:spPr>
          <a:xfrm>
            <a:off x="258748" y="3106025"/>
            <a:ext cx="2752825" cy="369332"/>
          </a:xfrm>
          <a:prstGeom prst="rect">
            <a:avLst/>
          </a:prstGeom>
          <a:noFill/>
        </p:spPr>
        <p:txBody>
          <a:bodyPr wrap="square" rtlCol="0">
            <a:spAutoFit/>
          </a:bodyPr>
          <a:lstStyle/>
          <a:p>
            <a:r>
              <a:rPr lang="en-US" b="1" dirty="0">
                <a:solidFill>
                  <a:schemeClr val="accent1"/>
                </a:solidFill>
              </a:rPr>
              <a:t>Training Error</a:t>
            </a:r>
          </a:p>
        </p:txBody>
      </p:sp>
      <p:sp>
        <p:nvSpPr>
          <p:cNvPr id="12" name="TextBox 11">
            <a:extLst>
              <a:ext uri="{FF2B5EF4-FFF2-40B4-BE49-F238E27FC236}">
                <a16:creationId xmlns:a16="http://schemas.microsoft.com/office/drawing/2014/main" id="{068C38DE-91FE-4D83-B22F-AE634D56DC06}"/>
              </a:ext>
            </a:extLst>
          </p:cNvPr>
          <p:cNvSpPr txBox="1"/>
          <p:nvPr/>
        </p:nvSpPr>
        <p:spPr>
          <a:xfrm>
            <a:off x="258748" y="2665151"/>
            <a:ext cx="2752825" cy="369332"/>
          </a:xfrm>
          <a:prstGeom prst="rect">
            <a:avLst/>
          </a:prstGeom>
          <a:noFill/>
        </p:spPr>
        <p:txBody>
          <a:bodyPr wrap="square" rtlCol="0">
            <a:spAutoFit/>
          </a:bodyPr>
          <a:lstStyle/>
          <a:p>
            <a:r>
              <a:rPr lang="en-US" b="1" dirty="0">
                <a:solidFill>
                  <a:schemeClr val="accent6"/>
                </a:solidFill>
              </a:rPr>
              <a:t>Validation Error</a:t>
            </a:r>
          </a:p>
        </p:txBody>
      </p:sp>
    </p:spTree>
    <p:extLst>
      <p:ext uri="{BB962C8B-B14F-4D97-AF65-F5344CB8AC3E}">
        <p14:creationId xmlns:p14="http://schemas.microsoft.com/office/powerpoint/2010/main" val="12690943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6448D-912B-49C9-92DE-122E04C3ABDE}"/>
              </a:ext>
            </a:extLst>
          </p:cNvPr>
          <p:cNvSpPr>
            <a:spLocks noGrp="1"/>
          </p:cNvSpPr>
          <p:nvPr>
            <p:ph type="title"/>
          </p:nvPr>
        </p:nvSpPr>
        <p:spPr/>
        <p:txBody>
          <a:bodyPr/>
          <a:lstStyle/>
          <a:p>
            <a:r>
              <a:rPr lang="en-US" b="1" dirty="0"/>
              <a:t>Bias-Variance Tradeoff</a:t>
            </a:r>
          </a:p>
        </p:txBody>
      </p:sp>
      <p:cxnSp>
        <p:nvCxnSpPr>
          <p:cNvPr id="4" name="Straight Arrow Connector 3">
            <a:extLst>
              <a:ext uri="{FF2B5EF4-FFF2-40B4-BE49-F238E27FC236}">
                <a16:creationId xmlns:a16="http://schemas.microsoft.com/office/drawing/2014/main" id="{5E9A89C1-B18D-4E00-89F5-9EFCAD8B7CF3}"/>
              </a:ext>
            </a:extLst>
          </p:cNvPr>
          <p:cNvCxnSpPr>
            <a:cxnSpLocks/>
          </p:cNvCxnSpPr>
          <p:nvPr/>
        </p:nvCxnSpPr>
        <p:spPr>
          <a:xfrm>
            <a:off x="3432628" y="5928676"/>
            <a:ext cx="493776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 name="Straight Arrow Connector 4">
            <a:extLst>
              <a:ext uri="{FF2B5EF4-FFF2-40B4-BE49-F238E27FC236}">
                <a16:creationId xmlns:a16="http://schemas.microsoft.com/office/drawing/2014/main" id="{AA36D895-6B1A-4817-909F-C86E2B8184F3}"/>
              </a:ext>
            </a:extLst>
          </p:cNvPr>
          <p:cNvCxnSpPr>
            <a:cxnSpLocks/>
          </p:cNvCxnSpPr>
          <p:nvPr/>
        </p:nvCxnSpPr>
        <p:spPr>
          <a:xfrm rot="16200000">
            <a:off x="1504674" y="4008056"/>
            <a:ext cx="386080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6" name="Rectangle 5">
            <a:extLst>
              <a:ext uri="{FF2B5EF4-FFF2-40B4-BE49-F238E27FC236}">
                <a16:creationId xmlns:a16="http://schemas.microsoft.com/office/drawing/2014/main" id="{78A6F358-0C82-4274-A681-9A0A52549EB1}"/>
              </a:ext>
            </a:extLst>
          </p:cNvPr>
          <p:cNvSpPr/>
          <p:nvPr/>
        </p:nvSpPr>
        <p:spPr>
          <a:xfrm>
            <a:off x="5345774" y="5361244"/>
            <a:ext cx="110938" cy="2878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6">
            <a:extLst>
              <a:ext uri="{FF2B5EF4-FFF2-40B4-BE49-F238E27FC236}">
                <a16:creationId xmlns:a16="http://schemas.microsoft.com/office/drawing/2014/main" id="{2579238A-0D5A-4E6B-AF9D-E9326D2EF558}"/>
              </a:ext>
            </a:extLst>
          </p:cNvPr>
          <p:cNvSpPr/>
          <p:nvPr/>
        </p:nvSpPr>
        <p:spPr>
          <a:xfrm>
            <a:off x="3640717" y="2427767"/>
            <a:ext cx="4191722" cy="3250769"/>
          </a:xfrm>
          <a:custGeom>
            <a:avLst/>
            <a:gdLst>
              <a:gd name="connsiteX0" fmla="*/ 20325 w 3542000"/>
              <a:gd name="connsiteY0" fmla="*/ 0 h 2730843"/>
              <a:gd name="connsiteX1" fmla="*/ 526952 w 3542000"/>
              <a:gd name="connsiteY1" fmla="*/ 2261287 h 2730843"/>
              <a:gd name="connsiteX2" fmla="*/ 3542000 w 3542000"/>
              <a:gd name="connsiteY2" fmla="*/ 2730843 h 2730843"/>
              <a:gd name="connsiteX3" fmla="*/ 3542000 w 3542000"/>
              <a:gd name="connsiteY3" fmla="*/ 2730843 h 2730843"/>
            </a:gdLst>
            <a:ahLst/>
            <a:cxnLst>
              <a:cxn ang="0">
                <a:pos x="connsiteX0" y="connsiteY0"/>
              </a:cxn>
              <a:cxn ang="0">
                <a:pos x="connsiteX1" y="connsiteY1"/>
              </a:cxn>
              <a:cxn ang="0">
                <a:pos x="connsiteX2" y="connsiteY2"/>
              </a:cxn>
              <a:cxn ang="0">
                <a:pos x="connsiteX3" y="connsiteY3"/>
              </a:cxn>
            </a:cxnLst>
            <a:rect l="l" t="t" r="r" b="b"/>
            <a:pathLst>
              <a:path w="3542000" h="2730843">
                <a:moveTo>
                  <a:pt x="20325" y="0"/>
                </a:moveTo>
                <a:cubicBezTo>
                  <a:pt x="-19835" y="903073"/>
                  <a:pt x="-59994" y="1806147"/>
                  <a:pt x="526952" y="2261287"/>
                </a:cubicBezTo>
                <a:cubicBezTo>
                  <a:pt x="1113898" y="2716427"/>
                  <a:pt x="3542000" y="2730843"/>
                  <a:pt x="3542000" y="2730843"/>
                </a:cubicBezTo>
                <a:lnTo>
                  <a:pt x="3542000" y="2730843"/>
                </a:lnTo>
              </a:path>
            </a:pathLst>
          </a:cu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a:p>
        </p:txBody>
      </p:sp>
      <p:sp>
        <p:nvSpPr>
          <p:cNvPr id="8" name="Freeform: Shape 7">
            <a:extLst>
              <a:ext uri="{FF2B5EF4-FFF2-40B4-BE49-F238E27FC236}">
                <a16:creationId xmlns:a16="http://schemas.microsoft.com/office/drawing/2014/main" id="{C197B437-1CBF-442A-A8BD-2A5D4CEC09CE}"/>
              </a:ext>
            </a:extLst>
          </p:cNvPr>
          <p:cNvSpPr/>
          <p:nvPr/>
        </p:nvSpPr>
        <p:spPr>
          <a:xfrm rot="21447286">
            <a:off x="3755540" y="2336714"/>
            <a:ext cx="4137290" cy="2885295"/>
          </a:xfrm>
          <a:custGeom>
            <a:avLst/>
            <a:gdLst>
              <a:gd name="connsiteX0" fmla="*/ 0 w 4287795"/>
              <a:gd name="connsiteY0" fmla="*/ 0 h 2888131"/>
              <a:gd name="connsiteX1" fmla="*/ 605481 w 4287795"/>
              <a:gd name="connsiteY1" fmla="*/ 2409567 h 2888131"/>
              <a:gd name="connsiteX2" fmla="*/ 2533135 w 4287795"/>
              <a:gd name="connsiteY2" fmla="*/ 2681416 h 2888131"/>
              <a:gd name="connsiteX3" fmla="*/ 4287795 w 4287795"/>
              <a:gd name="connsiteY3" fmla="*/ 24713 h 2888131"/>
            </a:gdLst>
            <a:ahLst/>
            <a:cxnLst>
              <a:cxn ang="0">
                <a:pos x="connsiteX0" y="connsiteY0"/>
              </a:cxn>
              <a:cxn ang="0">
                <a:pos x="connsiteX1" y="connsiteY1"/>
              </a:cxn>
              <a:cxn ang="0">
                <a:pos x="connsiteX2" y="connsiteY2"/>
              </a:cxn>
              <a:cxn ang="0">
                <a:pos x="connsiteX3" y="connsiteY3"/>
              </a:cxn>
            </a:cxnLst>
            <a:rect l="l" t="t" r="r" b="b"/>
            <a:pathLst>
              <a:path w="4287795" h="2888131">
                <a:moveTo>
                  <a:pt x="0" y="0"/>
                </a:moveTo>
                <a:cubicBezTo>
                  <a:pt x="91646" y="981332"/>
                  <a:pt x="183292" y="1962664"/>
                  <a:pt x="605481" y="2409567"/>
                </a:cubicBezTo>
                <a:cubicBezTo>
                  <a:pt x="1027670" y="2856470"/>
                  <a:pt x="1919416" y="3078892"/>
                  <a:pt x="2533135" y="2681416"/>
                </a:cubicBezTo>
                <a:cubicBezTo>
                  <a:pt x="3146854" y="2283940"/>
                  <a:pt x="3717324" y="1154326"/>
                  <a:pt x="4287795" y="24713"/>
                </a:cubicBezTo>
              </a:path>
            </a:pathLst>
          </a:custGeom>
        </p:spPr>
        <p:style>
          <a:lnRef idx="3">
            <a:schemeClr val="accent6"/>
          </a:lnRef>
          <a:fillRef idx="0">
            <a:schemeClr val="accent6"/>
          </a:fillRef>
          <a:effectRef idx="2">
            <a:schemeClr val="accent6"/>
          </a:effectRef>
          <a:fontRef idx="minor">
            <a:schemeClr val="tx1"/>
          </a:fontRef>
        </p:style>
        <p:txBody>
          <a:bodyPr rtlCol="0" anchor="ctr"/>
          <a:lstStyle/>
          <a:p>
            <a:pPr algn="ctr"/>
            <a:endParaRPr lang="en-US"/>
          </a:p>
        </p:txBody>
      </p:sp>
      <p:sp>
        <p:nvSpPr>
          <p:cNvPr id="9" name="TextBox 8">
            <a:extLst>
              <a:ext uri="{FF2B5EF4-FFF2-40B4-BE49-F238E27FC236}">
                <a16:creationId xmlns:a16="http://schemas.microsoft.com/office/drawing/2014/main" id="{15442459-CD80-4414-8B17-AEF941B1F65A}"/>
              </a:ext>
            </a:extLst>
          </p:cNvPr>
          <p:cNvSpPr txBox="1"/>
          <p:nvPr/>
        </p:nvSpPr>
        <p:spPr>
          <a:xfrm>
            <a:off x="4564667" y="5994151"/>
            <a:ext cx="2752825" cy="369332"/>
          </a:xfrm>
          <a:prstGeom prst="rect">
            <a:avLst/>
          </a:prstGeom>
          <a:noFill/>
        </p:spPr>
        <p:txBody>
          <a:bodyPr wrap="square" rtlCol="0">
            <a:spAutoFit/>
          </a:bodyPr>
          <a:lstStyle/>
          <a:p>
            <a:r>
              <a:rPr lang="en-US" b="1" dirty="0"/>
              <a:t>Model Complexity</a:t>
            </a:r>
          </a:p>
        </p:txBody>
      </p:sp>
      <p:sp>
        <p:nvSpPr>
          <p:cNvPr id="10" name="TextBox 9">
            <a:extLst>
              <a:ext uri="{FF2B5EF4-FFF2-40B4-BE49-F238E27FC236}">
                <a16:creationId xmlns:a16="http://schemas.microsoft.com/office/drawing/2014/main" id="{55AD678D-8852-4FC7-9DF3-2CFCC935FAE2}"/>
              </a:ext>
            </a:extLst>
          </p:cNvPr>
          <p:cNvSpPr txBox="1"/>
          <p:nvPr/>
        </p:nvSpPr>
        <p:spPr>
          <a:xfrm>
            <a:off x="2588071" y="1934989"/>
            <a:ext cx="2752825" cy="369332"/>
          </a:xfrm>
          <a:prstGeom prst="rect">
            <a:avLst/>
          </a:prstGeom>
          <a:noFill/>
        </p:spPr>
        <p:txBody>
          <a:bodyPr wrap="square" rtlCol="0">
            <a:spAutoFit/>
          </a:bodyPr>
          <a:lstStyle/>
          <a:p>
            <a:r>
              <a:rPr lang="en-US" b="1" dirty="0"/>
              <a:t>Error</a:t>
            </a:r>
          </a:p>
        </p:txBody>
      </p:sp>
      <p:sp>
        <p:nvSpPr>
          <p:cNvPr id="11" name="TextBox 10">
            <a:extLst>
              <a:ext uri="{FF2B5EF4-FFF2-40B4-BE49-F238E27FC236}">
                <a16:creationId xmlns:a16="http://schemas.microsoft.com/office/drawing/2014/main" id="{34A751D5-EA2C-4A7A-9309-6A9076C628B9}"/>
              </a:ext>
            </a:extLst>
          </p:cNvPr>
          <p:cNvSpPr txBox="1"/>
          <p:nvPr/>
        </p:nvSpPr>
        <p:spPr>
          <a:xfrm>
            <a:off x="6714466" y="5243357"/>
            <a:ext cx="2752825" cy="369332"/>
          </a:xfrm>
          <a:prstGeom prst="rect">
            <a:avLst/>
          </a:prstGeom>
          <a:noFill/>
        </p:spPr>
        <p:txBody>
          <a:bodyPr wrap="square" rtlCol="0">
            <a:spAutoFit/>
          </a:bodyPr>
          <a:lstStyle/>
          <a:p>
            <a:r>
              <a:rPr lang="en-US" b="1" dirty="0">
                <a:solidFill>
                  <a:schemeClr val="accent1"/>
                </a:solidFill>
              </a:rPr>
              <a:t>Training Error</a:t>
            </a:r>
          </a:p>
        </p:txBody>
      </p:sp>
      <p:sp>
        <p:nvSpPr>
          <p:cNvPr id="12" name="TextBox 11">
            <a:extLst>
              <a:ext uri="{FF2B5EF4-FFF2-40B4-BE49-F238E27FC236}">
                <a16:creationId xmlns:a16="http://schemas.microsoft.com/office/drawing/2014/main" id="{068C38DE-91FE-4D83-B22F-AE634D56DC06}"/>
              </a:ext>
            </a:extLst>
          </p:cNvPr>
          <p:cNvSpPr txBox="1"/>
          <p:nvPr/>
        </p:nvSpPr>
        <p:spPr>
          <a:xfrm>
            <a:off x="6723946" y="4315440"/>
            <a:ext cx="2752825" cy="369332"/>
          </a:xfrm>
          <a:prstGeom prst="rect">
            <a:avLst/>
          </a:prstGeom>
          <a:noFill/>
        </p:spPr>
        <p:txBody>
          <a:bodyPr wrap="square" rtlCol="0">
            <a:spAutoFit/>
          </a:bodyPr>
          <a:lstStyle/>
          <a:p>
            <a:r>
              <a:rPr lang="en-US" b="1" dirty="0">
                <a:solidFill>
                  <a:schemeClr val="accent6"/>
                </a:solidFill>
              </a:rPr>
              <a:t>Validation Error</a:t>
            </a:r>
          </a:p>
        </p:txBody>
      </p:sp>
      <p:sp>
        <p:nvSpPr>
          <p:cNvPr id="13" name="TextBox 12">
            <a:extLst>
              <a:ext uri="{FF2B5EF4-FFF2-40B4-BE49-F238E27FC236}">
                <a16:creationId xmlns:a16="http://schemas.microsoft.com/office/drawing/2014/main" id="{1615C827-5FC0-4168-9E14-C983A555561E}"/>
              </a:ext>
            </a:extLst>
          </p:cNvPr>
          <p:cNvSpPr txBox="1"/>
          <p:nvPr/>
        </p:nvSpPr>
        <p:spPr>
          <a:xfrm>
            <a:off x="3640717" y="1717587"/>
            <a:ext cx="2051624" cy="646331"/>
          </a:xfrm>
          <a:prstGeom prst="rect">
            <a:avLst/>
          </a:prstGeom>
          <a:noFill/>
        </p:spPr>
        <p:txBody>
          <a:bodyPr wrap="square" rtlCol="0">
            <a:spAutoFit/>
          </a:bodyPr>
          <a:lstStyle/>
          <a:p>
            <a:r>
              <a:rPr lang="en-US" dirty="0"/>
              <a:t>High Bias (Underfitting)</a:t>
            </a:r>
          </a:p>
        </p:txBody>
      </p:sp>
      <p:sp>
        <p:nvSpPr>
          <p:cNvPr id="14" name="TextBox 13">
            <a:extLst>
              <a:ext uri="{FF2B5EF4-FFF2-40B4-BE49-F238E27FC236}">
                <a16:creationId xmlns:a16="http://schemas.microsoft.com/office/drawing/2014/main" id="{0CD780F1-8AED-4B36-B734-28E0D28AE839}"/>
              </a:ext>
            </a:extLst>
          </p:cNvPr>
          <p:cNvSpPr txBox="1"/>
          <p:nvPr/>
        </p:nvSpPr>
        <p:spPr>
          <a:xfrm>
            <a:off x="7832605" y="1690688"/>
            <a:ext cx="2051624" cy="646331"/>
          </a:xfrm>
          <a:prstGeom prst="rect">
            <a:avLst/>
          </a:prstGeom>
          <a:noFill/>
        </p:spPr>
        <p:txBody>
          <a:bodyPr wrap="square" rtlCol="0">
            <a:spAutoFit/>
          </a:bodyPr>
          <a:lstStyle/>
          <a:p>
            <a:r>
              <a:rPr lang="en-US" dirty="0"/>
              <a:t>High Variance (Overfitting)</a:t>
            </a:r>
          </a:p>
        </p:txBody>
      </p:sp>
      <p:sp>
        <p:nvSpPr>
          <p:cNvPr id="3" name="TextBox 2">
            <a:extLst>
              <a:ext uri="{FF2B5EF4-FFF2-40B4-BE49-F238E27FC236}">
                <a16:creationId xmlns:a16="http://schemas.microsoft.com/office/drawing/2014/main" id="{AACA8227-8D19-6978-2BD9-2FBFA787076D}"/>
              </a:ext>
            </a:extLst>
          </p:cNvPr>
          <p:cNvSpPr txBox="1"/>
          <p:nvPr/>
        </p:nvSpPr>
        <p:spPr>
          <a:xfrm>
            <a:off x="258748" y="3106025"/>
            <a:ext cx="2752825" cy="369332"/>
          </a:xfrm>
          <a:prstGeom prst="rect">
            <a:avLst/>
          </a:prstGeom>
          <a:noFill/>
        </p:spPr>
        <p:txBody>
          <a:bodyPr wrap="square" rtlCol="0">
            <a:spAutoFit/>
          </a:bodyPr>
          <a:lstStyle/>
          <a:p>
            <a:r>
              <a:rPr lang="en-US" b="1" dirty="0">
                <a:solidFill>
                  <a:schemeClr val="accent1"/>
                </a:solidFill>
              </a:rPr>
              <a:t>Training Error</a:t>
            </a:r>
          </a:p>
        </p:txBody>
      </p:sp>
      <p:sp>
        <p:nvSpPr>
          <p:cNvPr id="15" name="TextBox 14">
            <a:extLst>
              <a:ext uri="{FF2B5EF4-FFF2-40B4-BE49-F238E27FC236}">
                <a16:creationId xmlns:a16="http://schemas.microsoft.com/office/drawing/2014/main" id="{FA218F24-0F77-B3BB-3370-02594DEC86D7}"/>
              </a:ext>
            </a:extLst>
          </p:cNvPr>
          <p:cNvSpPr txBox="1"/>
          <p:nvPr/>
        </p:nvSpPr>
        <p:spPr>
          <a:xfrm>
            <a:off x="258748" y="2665151"/>
            <a:ext cx="2752825" cy="369332"/>
          </a:xfrm>
          <a:prstGeom prst="rect">
            <a:avLst/>
          </a:prstGeom>
          <a:noFill/>
        </p:spPr>
        <p:txBody>
          <a:bodyPr wrap="square" rtlCol="0">
            <a:spAutoFit/>
          </a:bodyPr>
          <a:lstStyle/>
          <a:p>
            <a:r>
              <a:rPr lang="en-US" b="1" dirty="0">
                <a:solidFill>
                  <a:schemeClr val="accent6"/>
                </a:solidFill>
              </a:rPr>
              <a:t>Validation Error</a:t>
            </a:r>
          </a:p>
        </p:txBody>
      </p:sp>
    </p:spTree>
    <p:extLst>
      <p:ext uri="{BB962C8B-B14F-4D97-AF65-F5344CB8AC3E}">
        <p14:creationId xmlns:p14="http://schemas.microsoft.com/office/powerpoint/2010/main" val="15573354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0FDC991-CD9F-45A8-B41F-03DCD31D8752}"/>
              </a:ext>
            </a:extLst>
          </p:cNvPr>
          <p:cNvSpPr>
            <a:spLocks noGrp="1"/>
          </p:cNvSpPr>
          <p:nvPr>
            <p:ph type="title"/>
          </p:nvPr>
        </p:nvSpPr>
        <p:spPr/>
        <p:txBody>
          <a:bodyPr/>
          <a:lstStyle/>
          <a:p>
            <a:r>
              <a:rPr lang="en-US" b="1" dirty="0"/>
              <a:t>What is KNN? </a:t>
            </a:r>
            <a:br>
              <a:rPr lang="en-US" b="1" dirty="0"/>
            </a:br>
            <a:r>
              <a:rPr lang="en-US" b="1" dirty="0"/>
              <a:t>Who is KNN? </a:t>
            </a:r>
            <a:br>
              <a:rPr lang="en-US" b="1" dirty="0"/>
            </a:br>
            <a:r>
              <a:rPr lang="en-US" b="1" dirty="0"/>
              <a:t>Where is KNN?</a:t>
            </a:r>
          </a:p>
        </p:txBody>
      </p:sp>
      <p:sp>
        <p:nvSpPr>
          <p:cNvPr id="5" name="Text Placeholder 4">
            <a:extLst>
              <a:ext uri="{FF2B5EF4-FFF2-40B4-BE49-F238E27FC236}">
                <a16:creationId xmlns:a16="http://schemas.microsoft.com/office/drawing/2014/main" id="{0FDC22C7-9655-43BF-85F7-71A9434BEDE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352682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DD58DA-F1C5-4F7F-968A-E1614D8E2818}"/>
              </a:ext>
            </a:extLst>
          </p:cNvPr>
          <p:cNvSpPr>
            <a:spLocks noGrp="1"/>
          </p:cNvSpPr>
          <p:nvPr>
            <p:ph type="title"/>
          </p:nvPr>
        </p:nvSpPr>
        <p:spPr/>
        <p:txBody>
          <a:bodyPr/>
          <a:lstStyle/>
          <a:p>
            <a:r>
              <a:rPr lang="en-US" b="1" dirty="0"/>
              <a:t>K-Nearest Neighbors (KNN)</a:t>
            </a:r>
          </a:p>
        </p:txBody>
      </p:sp>
      <p:sp>
        <p:nvSpPr>
          <p:cNvPr id="3" name="Content Placeholder 2">
            <a:extLst>
              <a:ext uri="{FF2B5EF4-FFF2-40B4-BE49-F238E27FC236}">
                <a16:creationId xmlns:a16="http://schemas.microsoft.com/office/drawing/2014/main" id="{8F75FC7E-95AA-44E3-8394-9C3F73D58683}"/>
              </a:ext>
            </a:extLst>
          </p:cNvPr>
          <p:cNvSpPr>
            <a:spLocks noGrp="1"/>
          </p:cNvSpPr>
          <p:nvPr>
            <p:ph idx="1"/>
          </p:nvPr>
        </p:nvSpPr>
        <p:spPr/>
        <p:txBody>
          <a:bodyPr/>
          <a:lstStyle/>
          <a:p>
            <a:pPr marL="514350" indent="-514350">
              <a:buAutoNum type="arabicPeriod"/>
            </a:pPr>
            <a:r>
              <a:rPr lang="en-US" dirty="0"/>
              <a:t>Overview</a:t>
            </a:r>
          </a:p>
          <a:p>
            <a:pPr marL="514350" indent="-514350">
              <a:buAutoNum type="arabicPeriod"/>
            </a:pPr>
            <a:endParaRPr lang="en-US" dirty="0"/>
          </a:p>
          <a:p>
            <a:pPr marL="514350" indent="-514350">
              <a:buAutoNum type="arabicPeriod"/>
            </a:pPr>
            <a:r>
              <a:rPr lang="en-US" dirty="0"/>
              <a:t>KNN Training and Prediction Phase</a:t>
            </a:r>
          </a:p>
          <a:p>
            <a:pPr marL="514350" indent="-514350">
              <a:buAutoNum type="arabicPeriod"/>
            </a:pPr>
            <a:endParaRPr lang="en-US" dirty="0"/>
          </a:p>
          <a:p>
            <a:pPr marL="514350" indent="-514350">
              <a:buAutoNum type="arabicPeriod"/>
            </a:pPr>
            <a:r>
              <a:rPr lang="en-US" dirty="0"/>
              <a:t>What does affect KNN’s predictive power? </a:t>
            </a:r>
          </a:p>
          <a:p>
            <a:pPr marL="457200" lvl="1" indent="0">
              <a:buNone/>
            </a:pPr>
            <a:r>
              <a:rPr lang="en-US" dirty="0"/>
              <a:t>     Choice of k, Feature Scaling</a:t>
            </a:r>
          </a:p>
          <a:p>
            <a:pPr marL="514350" indent="-514350">
              <a:buAutoNum type="arabicPeriod"/>
            </a:pPr>
            <a:endParaRPr lang="en-US" dirty="0"/>
          </a:p>
          <a:p>
            <a:pPr marL="514350" indent="-514350">
              <a:buAutoNum type="arabicPeriod"/>
            </a:pPr>
            <a:r>
              <a:rPr lang="en-US" dirty="0"/>
              <a:t>Advantages and Disadvantages</a:t>
            </a:r>
          </a:p>
          <a:p>
            <a:pPr marL="514350" indent="-514350">
              <a:buAutoNum type="arabicPeriod"/>
            </a:pPr>
            <a:endParaRPr lang="en-US" dirty="0"/>
          </a:p>
          <a:p>
            <a:pPr marL="514350" indent="-514350">
              <a:buAutoNum type="arabicPeriod"/>
            </a:pPr>
            <a:endParaRPr lang="en-US" dirty="0"/>
          </a:p>
          <a:p>
            <a:pPr marL="514350" indent="-514350">
              <a:buAutoNum type="arabicPeriod"/>
            </a:pPr>
            <a:endParaRPr lang="en-US" dirty="0"/>
          </a:p>
          <a:p>
            <a:pPr marL="514350" indent="-514350">
              <a:buAutoNum type="arabicPeriod"/>
            </a:pPr>
            <a:endParaRPr lang="en-US" dirty="0"/>
          </a:p>
        </p:txBody>
      </p:sp>
    </p:spTree>
    <p:extLst>
      <p:ext uri="{BB962C8B-B14F-4D97-AF65-F5344CB8AC3E}">
        <p14:creationId xmlns:p14="http://schemas.microsoft.com/office/powerpoint/2010/main" val="23668921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199168-AD1E-4777-95F9-C77060F3E998}"/>
              </a:ext>
            </a:extLst>
          </p:cNvPr>
          <p:cNvSpPr>
            <a:spLocks noGrp="1"/>
          </p:cNvSpPr>
          <p:nvPr>
            <p:ph type="title"/>
          </p:nvPr>
        </p:nvSpPr>
        <p:spPr/>
        <p:txBody>
          <a:bodyPr/>
          <a:lstStyle/>
          <a:p>
            <a:r>
              <a:rPr lang="en-US" b="1" dirty="0"/>
              <a:t>KNN</a:t>
            </a:r>
          </a:p>
        </p:txBody>
      </p:sp>
      <p:pic>
        <p:nvPicPr>
          <p:cNvPr id="6" name="Content Placeholder 5">
            <a:extLst>
              <a:ext uri="{FF2B5EF4-FFF2-40B4-BE49-F238E27FC236}">
                <a16:creationId xmlns:a16="http://schemas.microsoft.com/office/drawing/2014/main" id="{80E749DD-95B3-4C2C-B9EF-A732CAE1BE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05100" y="1825625"/>
            <a:ext cx="6309360" cy="4206240"/>
          </a:xfrm>
          <a:prstGeom prst="rect">
            <a:avLst/>
          </a:prstGeom>
        </p:spPr>
      </p:pic>
      <p:sp>
        <p:nvSpPr>
          <p:cNvPr id="8" name="Oval 7">
            <a:extLst>
              <a:ext uri="{FF2B5EF4-FFF2-40B4-BE49-F238E27FC236}">
                <a16:creationId xmlns:a16="http://schemas.microsoft.com/office/drawing/2014/main" id="{7D327875-294E-4179-8A7E-7FFA0E18A2FA}"/>
              </a:ext>
            </a:extLst>
          </p:cNvPr>
          <p:cNvSpPr/>
          <p:nvPr/>
        </p:nvSpPr>
        <p:spPr>
          <a:xfrm>
            <a:off x="3857625" y="3512582"/>
            <a:ext cx="100584" cy="100584"/>
          </a:xfrm>
          <a:prstGeom prst="ellipse">
            <a:avLst/>
          </a:prstGeom>
          <a:solidFill>
            <a:schemeClr val="tx1"/>
          </a:solidFill>
          <a:ln w="38100">
            <a:solidFill>
              <a:schemeClr val="tx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solidFill>
                <a:srgbClr val="FF0000"/>
              </a:solidFill>
            </a:endParaRPr>
          </a:p>
        </p:txBody>
      </p:sp>
      <p:sp>
        <p:nvSpPr>
          <p:cNvPr id="10" name="TextBox 9">
            <a:extLst>
              <a:ext uri="{FF2B5EF4-FFF2-40B4-BE49-F238E27FC236}">
                <a16:creationId xmlns:a16="http://schemas.microsoft.com/office/drawing/2014/main" id="{56235195-1B82-4E8E-A16C-C6517883EBAE}"/>
              </a:ext>
            </a:extLst>
          </p:cNvPr>
          <p:cNvSpPr txBox="1"/>
          <p:nvPr/>
        </p:nvSpPr>
        <p:spPr>
          <a:xfrm>
            <a:off x="8875310" y="2639544"/>
            <a:ext cx="1962149" cy="923330"/>
          </a:xfrm>
          <a:prstGeom prst="rect">
            <a:avLst/>
          </a:prstGeom>
          <a:noFill/>
        </p:spPr>
        <p:txBody>
          <a:bodyPr wrap="square" rtlCol="0">
            <a:spAutoFit/>
          </a:bodyPr>
          <a:lstStyle/>
          <a:p>
            <a:r>
              <a:rPr lang="en-US" dirty="0"/>
              <a:t>What label would you choose for the new data?</a:t>
            </a:r>
          </a:p>
        </p:txBody>
      </p:sp>
    </p:spTree>
    <p:extLst>
      <p:ext uri="{BB962C8B-B14F-4D97-AF65-F5344CB8AC3E}">
        <p14:creationId xmlns:p14="http://schemas.microsoft.com/office/powerpoint/2010/main" val="29904964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199168-AD1E-4777-95F9-C77060F3E998}"/>
              </a:ext>
            </a:extLst>
          </p:cNvPr>
          <p:cNvSpPr>
            <a:spLocks noGrp="1"/>
          </p:cNvSpPr>
          <p:nvPr>
            <p:ph type="title"/>
          </p:nvPr>
        </p:nvSpPr>
        <p:spPr/>
        <p:txBody>
          <a:bodyPr/>
          <a:lstStyle/>
          <a:p>
            <a:r>
              <a:rPr lang="en-US" b="1" dirty="0"/>
              <a:t>KNN</a:t>
            </a:r>
          </a:p>
        </p:txBody>
      </p:sp>
      <p:pic>
        <p:nvPicPr>
          <p:cNvPr id="6" name="Content Placeholder 5">
            <a:extLst>
              <a:ext uri="{FF2B5EF4-FFF2-40B4-BE49-F238E27FC236}">
                <a16:creationId xmlns:a16="http://schemas.microsoft.com/office/drawing/2014/main" id="{80E749DD-95B3-4C2C-B9EF-A732CAE1BE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05100" y="1825625"/>
            <a:ext cx="6309360" cy="4206240"/>
          </a:xfrm>
          <a:prstGeom prst="rect">
            <a:avLst/>
          </a:prstGeom>
        </p:spPr>
      </p:pic>
      <p:sp>
        <p:nvSpPr>
          <p:cNvPr id="8" name="Oval 7">
            <a:extLst>
              <a:ext uri="{FF2B5EF4-FFF2-40B4-BE49-F238E27FC236}">
                <a16:creationId xmlns:a16="http://schemas.microsoft.com/office/drawing/2014/main" id="{7D327875-294E-4179-8A7E-7FFA0E18A2FA}"/>
              </a:ext>
            </a:extLst>
          </p:cNvPr>
          <p:cNvSpPr/>
          <p:nvPr/>
        </p:nvSpPr>
        <p:spPr>
          <a:xfrm>
            <a:off x="3857625" y="3512582"/>
            <a:ext cx="100584" cy="100584"/>
          </a:xfrm>
          <a:prstGeom prst="ellipse">
            <a:avLst/>
          </a:prstGeom>
          <a:solidFill>
            <a:schemeClr val="tx1"/>
          </a:solidFill>
          <a:ln w="38100">
            <a:solidFill>
              <a:schemeClr val="tx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solidFill>
                <a:srgbClr val="FF0000"/>
              </a:solidFill>
            </a:endParaRPr>
          </a:p>
        </p:txBody>
      </p:sp>
      <p:sp>
        <p:nvSpPr>
          <p:cNvPr id="10" name="TextBox 9">
            <a:extLst>
              <a:ext uri="{FF2B5EF4-FFF2-40B4-BE49-F238E27FC236}">
                <a16:creationId xmlns:a16="http://schemas.microsoft.com/office/drawing/2014/main" id="{56235195-1B82-4E8E-A16C-C6517883EBAE}"/>
              </a:ext>
            </a:extLst>
          </p:cNvPr>
          <p:cNvSpPr txBox="1"/>
          <p:nvPr/>
        </p:nvSpPr>
        <p:spPr>
          <a:xfrm>
            <a:off x="9014460" y="2432454"/>
            <a:ext cx="1962149" cy="923330"/>
          </a:xfrm>
          <a:prstGeom prst="rect">
            <a:avLst/>
          </a:prstGeom>
          <a:noFill/>
        </p:spPr>
        <p:txBody>
          <a:bodyPr wrap="square" rtlCol="0">
            <a:spAutoFit/>
          </a:bodyPr>
          <a:lstStyle/>
          <a:p>
            <a:r>
              <a:rPr lang="en-US" dirty="0"/>
              <a:t>What label would you choose for the new data?</a:t>
            </a:r>
          </a:p>
        </p:txBody>
      </p:sp>
      <p:sp>
        <p:nvSpPr>
          <p:cNvPr id="2" name="TextBox 1">
            <a:extLst>
              <a:ext uri="{FF2B5EF4-FFF2-40B4-BE49-F238E27FC236}">
                <a16:creationId xmlns:a16="http://schemas.microsoft.com/office/drawing/2014/main" id="{9E419B9F-D840-469D-BE01-0F01D975A1DA}"/>
              </a:ext>
            </a:extLst>
          </p:cNvPr>
          <p:cNvSpPr txBox="1"/>
          <p:nvPr/>
        </p:nvSpPr>
        <p:spPr>
          <a:xfrm>
            <a:off x="8585834" y="4320612"/>
            <a:ext cx="3392805" cy="1754326"/>
          </a:xfrm>
          <a:prstGeom prst="rect">
            <a:avLst/>
          </a:prstGeom>
          <a:noFill/>
        </p:spPr>
        <p:txBody>
          <a:bodyPr wrap="square" rtlCol="0">
            <a:spAutoFit/>
          </a:bodyPr>
          <a:lstStyle/>
          <a:p>
            <a:pPr marL="0" indent="0">
              <a:buNone/>
            </a:pPr>
            <a:r>
              <a:rPr lang="en-US" sz="1800" b="1" dirty="0"/>
              <a:t>Key KNN – Assumptions:</a:t>
            </a:r>
            <a:endParaRPr lang="en-US" sz="1800" b="1" dirty="0">
              <a:ea typeface="Calibri" panose="020F0502020204030204" pitchFamily="34" charset="0"/>
              <a:cs typeface="Times New Roman" panose="02020603050405020304" pitchFamily="18" charset="0"/>
            </a:endParaRPr>
          </a:p>
          <a:p>
            <a:pPr marL="0" indent="0">
              <a:buNone/>
            </a:pPr>
            <a:r>
              <a:rPr lang="en-US" dirty="0"/>
              <a:t>Data samples that are close together (in some appropriate distance metric) are similar and will therefore have the same label.</a:t>
            </a:r>
          </a:p>
        </p:txBody>
      </p:sp>
    </p:spTree>
    <p:extLst>
      <p:ext uri="{BB962C8B-B14F-4D97-AF65-F5344CB8AC3E}">
        <p14:creationId xmlns:p14="http://schemas.microsoft.com/office/powerpoint/2010/main" val="19491667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C4E6E-247D-1B4D-8F92-AC01D0C332C8}"/>
              </a:ext>
            </a:extLst>
          </p:cNvPr>
          <p:cNvSpPr>
            <a:spLocks noGrp="1"/>
          </p:cNvSpPr>
          <p:nvPr>
            <p:ph type="title"/>
          </p:nvPr>
        </p:nvSpPr>
        <p:spPr/>
        <p:txBody>
          <a:bodyPr/>
          <a:lstStyle/>
          <a:p>
            <a:r>
              <a:rPr lang="en-US" b="1" dirty="0"/>
              <a:t>KNN</a:t>
            </a:r>
          </a:p>
        </p:txBody>
      </p:sp>
      <p:sp>
        <p:nvSpPr>
          <p:cNvPr id="5" name="Content Placeholder 4">
            <a:extLst>
              <a:ext uri="{FF2B5EF4-FFF2-40B4-BE49-F238E27FC236}">
                <a16:creationId xmlns:a16="http://schemas.microsoft.com/office/drawing/2014/main" id="{AEECB283-63B9-634F-AF8B-517F9851BDF1}"/>
              </a:ext>
            </a:extLst>
          </p:cNvPr>
          <p:cNvSpPr>
            <a:spLocks noGrp="1"/>
          </p:cNvSpPr>
          <p:nvPr>
            <p:ph idx="1"/>
          </p:nvPr>
        </p:nvSpPr>
        <p:spPr/>
        <p:txBody>
          <a:bodyPr>
            <a:normAutofit/>
          </a:bodyPr>
          <a:lstStyle/>
          <a:p>
            <a:pPr>
              <a:lnSpc>
                <a:spcPct val="100000"/>
              </a:lnSpc>
            </a:pPr>
            <a:r>
              <a:rPr lang="en-US" dirty="0"/>
              <a:t>Fundamental assumptions of KNN: Points similar to each other in feature space are likely belong to the same class</a:t>
            </a:r>
          </a:p>
          <a:p>
            <a:pPr>
              <a:lnSpc>
                <a:spcPct val="100000"/>
              </a:lnSpc>
            </a:pPr>
            <a:r>
              <a:rPr lang="en-US" dirty="0"/>
              <a:t>It uses a distance metric to reflect similarity between the data points</a:t>
            </a:r>
          </a:p>
          <a:p>
            <a:pPr>
              <a:lnSpc>
                <a:spcPct val="100000"/>
              </a:lnSpc>
            </a:pPr>
            <a:r>
              <a:rPr lang="en-US" dirty="0"/>
              <a:t>Distances are calculated between points to find the nearest neighbors</a:t>
            </a:r>
          </a:p>
          <a:p>
            <a:pPr>
              <a:lnSpc>
                <a:spcPct val="100000"/>
              </a:lnSpc>
            </a:pPr>
            <a:endParaRPr lang="en-US" dirty="0"/>
          </a:p>
        </p:txBody>
      </p:sp>
    </p:spTree>
    <p:extLst>
      <p:ext uri="{BB962C8B-B14F-4D97-AF65-F5344CB8AC3E}">
        <p14:creationId xmlns:p14="http://schemas.microsoft.com/office/powerpoint/2010/main" val="17451384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931F7-FFC2-BC41-A4E4-E57B0A53DD14}"/>
              </a:ext>
            </a:extLst>
          </p:cNvPr>
          <p:cNvSpPr>
            <a:spLocks noGrp="1"/>
          </p:cNvSpPr>
          <p:nvPr>
            <p:ph type="title"/>
          </p:nvPr>
        </p:nvSpPr>
        <p:spPr/>
        <p:txBody>
          <a:bodyPr/>
          <a:lstStyle/>
          <a:p>
            <a:r>
              <a:rPr lang="en-US" b="1" dirty="0"/>
              <a:t>KNN</a:t>
            </a:r>
          </a:p>
        </p:txBody>
      </p:sp>
      <p:sp>
        <p:nvSpPr>
          <p:cNvPr id="3" name="Content Placeholder 2">
            <a:extLst>
              <a:ext uri="{FF2B5EF4-FFF2-40B4-BE49-F238E27FC236}">
                <a16:creationId xmlns:a16="http://schemas.microsoft.com/office/drawing/2014/main" id="{80CECFB9-B6E1-FA46-A93F-E4C5EFA32538}"/>
              </a:ext>
            </a:extLst>
          </p:cNvPr>
          <p:cNvSpPr>
            <a:spLocks noGrp="1"/>
          </p:cNvSpPr>
          <p:nvPr>
            <p:ph idx="1"/>
          </p:nvPr>
        </p:nvSpPr>
        <p:spPr/>
        <p:txBody>
          <a:bodyPr/>
          <a:lstStyle/>
          <a:p>
            <a:pPr>
              <a:lnSpc>
                <a:spcPct val="100000"/>
              </a:lnSpc>
            </a:pPr>
            <a:r>
              <a:rPr lang="en-US" dirty="0"/>
              <a:t>KNN is a simple machine learning algorithm for classification and regression.</a:t>
            </a:r>
          </a:p>
          <a:p>
            <a:pPr>
              <a:lnSpc>
                <a:spcPct val="100000"/>
              </a:lnSpc>
            </a:pPr>
            <a:r>
              <a:rPr lang="en-US" dirty="0"/>
              <a:t>The algorithm was first proposed in 1951 by Fix and </a:t>
            </a:r>
            <a:r>
              <a:rPr lang="en-US" dirty="0" err="1"/>
              <a:t>Hodger</a:t>
            </a:r>
            <a:r>
              <a:rPr lang="en-US" dirty="0"/>
              <a:t>. Then in 1967, Thomas cover provided further analytical results for the algorithm.</a:t>
            </a:r>
          </a:p>
          <a:p>
            <a:pPr>
              <a:lnSpc>
                <a:spcPct val="100000"/>
              </a:lnSpc>
            </a:pPr>
            <a:r>
              <a:rPr lang="en-US" dirty="0"/>
              <a:t>KNN has been suggested for a variety of applications: recommendation systems, missing data imputation, </a:t>
            </a:r>
            <a:r>
              <a:rPr lang="en-US" dirty="0">
                <a:hlinkClick r:id="rId2"/>
              </a:rPr>
              <a:t>other applications</a:t>
            </a:r>
            <a:r>
              <a:rPr lang="en-US" dirty="0"/>
              <a:t>.</a:t>
            </a:r>
          </a:p>
          <a:p>
            <a:pPr marL="0" indent="0">
              <a:lnSpc>
                <a:spcPct val="100000"/>
              </a:lnSpc>
              <a:buNone/>
            </a:pPr>
            <a:endParaRPr lang="en-US" dirty="0"/>
          </a:p>
        </p:txBody>
      </p:sp>
    </p:spTree>
    <p:extLst>
      <p:ext uri="{BB962C8B-B14F-4D97-AF65-F5344CB8AC3E}">
        <p14:creationId xmlns:p14="http://schemas.microsoft.com/office/powerpoint/2010/main" val="7036771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7E725-7744-41BB-BC86-8DA57B3885C4}"/>
              </a:ext>
            </a:extLst>
          </p:cNvPr>
          <p:cNvSpPr>
            <a:spLocks noGrp="1"/>
          </p:cNvSpPr>
          <p:nvPr>
            <p:ph type="title"/>
          </p:nvPr>
        </p:nvSpPr>
        <p:spPr/>
        <p:txBody>
          <a:bodyPr/>
          <a:lstStyle/>
          <a:p>
            <a:r>
              <a:rPr lang="en-US" b="1" dirty="0"/>
              <a:t>KNN Overview</a:t>
            </a:r>
          </a:p>
        </p:txBody>
      </p:sp>
      <p:sp>
        <p:nvSpPr>
          <p:cNvPr id="40" name="Oval 39">
            <a:extLst>
              <a:ext uri="{FF2B5EF4-FFF2-40B4-BE49-F238E27FC236}">
                <a16:creationId xmlns:a16="http://schemas.microsoft.com/office/drawing/2014/main" id="{A2B1DF07-EBB9-40DF-8589-FB2A48FC8594}"/>
              </a:ext>
            </a:extLst>
          </p:cNvPr>
          <p:cNvSpPr/>
          <p:nvPr/>
        </p:nvSpPr>
        <p:spPr>
          <a:xfrm rot="2604923" flipH="1">
            <a:off x="3030821" y="3545856"/>
            <a:ext cx="91440" cy="9144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solidFill>
                <a:prstClr val="black"/>
              </a:solidFill>
            </a:endParaRPr>
          </a:p>
        </p:txBody>
      </p:sp>
      <p:sp>
        <p:nvSpPr>
          <p:cNvPr id="41" name="Oval 40">
            <a:extLst>
              <a:ext uri="{FF2B5EF4-FFF2-40B4-BE49-F238E27FC236}">
                <a16:creationId xmlns:a16="http://schemas.microsoft.com/office/drawing/2014/main" id="{B03D9C8A-A147-4AEC-812B-E33A0DF690A0}"/>
              </a:ext>
            </a:extLst>
          </p:cNvPr>
          <p:cNvSpPr/>
          <p:nvPr/>
        </p:nvSpPr>
        <p:spPr>
          <a:xfrm rot="2604923" flipH="1">
            <a:off x="2986792" y="2998803"/>
            <a:ext cx="91440" cy="91440"/>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solidFill>
                <a:prstClr val="black"/>
              </a:solidFill>
            </a:endParaRPr>
          </a:p>
        </p:txBody>
      </p:sp>
      <p:sp>
        <p:nvSpPr>
          <p:cNvPr id="42" name="Oval 41">
            <a:extLst>
              <a:ext uri="{FF2B5EF4-FFF2-40B4-BE49-F238E27FC236}">
                <a16:creationId xmlns:a16="http://schemas.microsoft.com/office/drawing/2014/main" id="{87D06C76-A421-4D8C-8714-963E3C341F8C}"/>
              </a:ext>
            </a:extLst>
          </p:cNvPr>
          <p:cNvSpPr/>
          <p:nvPr/>
        </p:nvSpPr>
        <p:spPr>
          <a:xfrm rot="2604923" flipH="1">
            <a:off x="2622338" y="3288477"/>
            <a:ext cx="91440" cy="91440"/>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solidFill>
                <a:prstClr val="black"/>
              </a:solidFill>
            </a:endParaRPr>
          </a:p>
        </p:txBody>
      </p:sp>
      <p:sp>
        <p:nvSpPr>
          <p:cNvPr id="43" name="Oval 42">
            <a:extLst>
              <a:ext uri="{FF2B5EF4-FFF2-40B4-BE49-F238E27FC236}">
                <a16:creationId xmlns:a16="http://schemas.microsoft.com/office/drawing/2014/main" id="{74C1F293-7E0A-41C4-AD25-39333B7D053A}"/>
              </a:ext>
            </a:extLst>
          </p:cNvPr>
          <p:cNvSpPr/>
          <p:nvPr/>
        </p:nvSpPr>
        <p:spPr>
          <a:xfrm rot="2604923" flipH="1">
            <a:off x="2704541" y="4221609"/>
            <a:ext cx="91440" cy="9144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solidFill>
                <a:prstClr val="black"/>
              </a:solidFill>
            </a:endParaRPr>
          </a:p>
        </p:txBody>
      </p:sp>
      <p:sp>
        <p:nvSpPr>
          <p:cNvPr id="44" name="Oval 43">
            <a:extLst>
              <a:ext uri="{FF2B5EF4-FFF2-40B4-BE49-F238E27FC236}">
                <a16:creationId xmlns:a16="http://schemas.microsoft.com/office/drawing/2014/main" id="{585F1622-6C97-46EA-ABD7-40D8637AD798}"/>
              </a:ext>
            </a:extLst>
          </p:cNvPr>
          <p:cNvSpPr/>
          <p:nvPr/>
        </p:nvSpPr>
        <p:spPr>
          <a:xfrm rot="2604923" flipH="1">
            <a:off x="840651" y="3128071"/>
            <a:ext cx="91440" cy="9144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solidFill>
                <a:prstClr val="black"/>
              </a:solidFill>
            </a:endParaRPr>
          </a:p>
        </p:txBody>
      </p:sp>
      <p:sp>
        <p:nvSpPr>
          <p:cNvPr id="45" name="Oval 44">
            <a:extLst>
              <a:ext uri="{FF2B5EF4-FFF2-40B4-BE49-F238E27FC236}">
                <a16:creationId xmlns:a16="http://schemas.microsoft.com/office/drawing/2014/main" id="{34F155ED-1B3D-436D-947D-35FB5FACA8E1}"/>
              </a:ext>
            </a:extLst>
          </p:cNvPr>
          <p:cNvSpPr/>
          <p:nvPr/>
        </p:nvSpPr>
        <p:spPr>
          <a:xfrm rot="2604923" flipH="1">
            <a:off x="757110" y="3722292"/>
            <a:ext cx="91440" cy="9144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solidFill>
                <a:prstClr val="black"/>
              </a:solidFill>
            </a:endParaRPr>
          </a:p>
        </p:txBody>
      </p:sp>
      <p:sp>
        <p:nvSpPr>
          <p:cNvPr id="46" name="Oval 45">
            <a:extLst>
              <a:ext uri="{FF2B5EF4-FFF2-40B4-BE49-F238E27FC236}">
                <a16:creationId xmlns:a16="http://schemas.microsoft.com/office/drawing/2014/main" id="{C79E3536-76B8-4511-B2E8-71F8B0D88884}"/>
              </a:ext>
            </a:extLst>
          </p:cNvPr>
          <p:cNvSpPr/>
          <p:nvPr/>
        </p:nvSpPr>
        <p:spPr>
          <a:xfrm rot="2604923" flipH="1">
            <a:off x="1213334" y="3179951"/>
            <a:ext cx="91440" cy="9144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solidFill>
                <a:prstClr val="black"/>
              </a:solidFill>
            </a:endParaRPr>
          </a:p>
        </p:txBody>
      </p:sp>
      <p:sp>
        <p:nvSpPr>
          <p:cNvPr id="47" name="Oval 46">
            <a:extLst>
              <a:ext uri="{FF2B5EF4-FFF2-40B4-BE49-F238E27FC236}">
                <a16:creationId xmlns:a16="http://schemas.microsoft.com/office/drawing/2014/main" id="{F66C80B7-16C9-4E9B-9507-D9DF16098B32}"/>
              </a:ext>
            </a:extLst>
          </p:cNvPr>
          <p:cNvSpPr/>
          <p:nvPr/>
        </p:nvSpPr>
        <p:spPr>
          <a:xfrm rot="2604923" flipH="1">
            <a:off x="1849586" y="2573465"/>
            <a:ext cx="91440" cy="91440"/>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solidFill>
                <a:prstClr val="black"/>
              </a:solidFill>
            </a:endParaRPr>
          </a:p>
        </p:txBody>
      </p:sp>
      <p:sp>
        <p:nvSpPr>
          <p:cNvPr id="48" name="Oval 47">
            <a:extLst>
              <a:ext uri="{FF2B5EF4-FFF2-40B4-BE49-F238E27FC236}">
                <a16:creationId xmlns:a16="http://schemas.microsoft.com/office/drawing/2014/main" id="{B3F1F9A0-9ADA-4775-B4F4-A09A3C6E9A5C}"/>
              </a:ext>
            </a:extLst>
          </p:cNvPr>
          <p:cNvSpPr/>
          <p:nvPr/>
        </p:nvSpPr>
        <p:spPr>
          <a:xfrm rot="2604923" flipH="1">
            <a:off x="2450064" y="2576757"/>
            <a:ext cx="91440" cy="91440"/>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solidFill>
                <a:prstClr val="black"/>
              </a:solidFill>
            </a:endParaRPr>
          </a:p>
        </p:txBody>
      </p:sp>
      <p:sp>
        <p:nvSpPr>
          <p:cNvPr id="49" name="Oval 48">
            <a:extLst>
              <a:ext uri="{FF2B5EF4-FFF2-40B4-BE49-F238E27FC236}">
                <a16:creationId xmlns:a16="http://schemas.microsoft.com/office/drawing/2014/main" id="{7388F5D5-CAA4-4506-B064-A0B6A6AA9198}"/>
              </a:ext>
            </a:extLst>
          </p:cNvPr>
          <p:cNvSpPr/>
          <p:nvPr/>
        </p:nvSpPr>
        <p:spPr>
          <a:xfrm rot="2604923" flipH="1">
            <a:off x="1505028" y="3667673"/>
            <a:ext cx="91440" cy="9144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solidFill>
                <a:prstClr val="black"/>
              </a:solidFill>
            </a:endParaRPr>
          </a:p>
        </p:txBody>
      </p:sp>
      <p:sp>
        <p:nvSpPr>
          <p:cNvPr id="50" name="Oval 49">
            <a:extLst>
              <a:ext uri="{FF2B5EF4-FFF2-40B4-BE49-F238E27FC236}">
                <a16:creationId xmlns:a16="http://schemas.microsoft.com/office/drawing/2014/main" id="{B97D4C63-5F61-4323-B075-9ADE426A0394}"/>
              </a:ext>
            </a:extLst>
          </p:cNvPr>
          <p:cNvSpPr/>
          <p:nvPr/>
        </p:nvSpPr>
        <p:spPr>
          <a:xfrm rot="2604923" flipH="1">
            <a:off x="2097570" y="3024358"/>
            <a:ext cx="91440" cy="91440"/>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solidFill>
                <a:prstClr val="black"/>
              </a:solidFill>
            </a:endParaRPr>
          </a:p>
        </p:txBody>
      </p:sp>
      <p:sp>
        <p:nvSpPr>
          <p:cNvPr id="51" name="Oval 50">
            <a:extLst>
              <a:ext uri="{FF2B5EF4-FFF2-40B4-BE49-F238E27FC236}">
                <a16:creationId xmlns:a16="http://schemas.microsoft.com/office/drawing/2014/main" id="{113B9393-3036-43BB-BFB6-95FEF1A3D362}"/>
              </a:ext>
            </a:extLst>
          </p:cNvPr>
          <p:cNvSpPr/>
          <p:nvPr/>
        </p:nvSpPr>
        <p:spPr>
          <a:xfrm rot="2604923" flipH="1">
            <a:off x="2163684" y="4574911"/>
            <a:ext cx="91440" cy="9144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solidFill>
                <a:prstClr val="black"/>
              </a:solidFill>
            </a:endParaRPr>
          </a:p>
        </p:txBody>
      </p:sp>
      <p:sp>
        <p:nvSpPr>
          <p:cNvPr id="52" name="Oval 51">
            <a:extLst>
              <a:ext uri="{FF2B5EF4-FFF2-40B4-BE49-F238E27FC236}">
                <a16:creationId xmlns:a16="http://schemas.microsoft.com/office/drawing/2014/main" id="{CF61436D-3FEC-480D-A833-5E6D1D42E122}"/>
              </a:ext>
            </a:extLst>
          </p:cNvPr>
          <p:cNvSpPr/>
          <p:nvPr/>
        </p:nvSpPr>
        <p:spPr>
          <a:xfrm rot="2604923" flipH="1">
            <a:off x="2462172" y="3799111"/>
            <a:ext cx="91440" cy="9144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solidFill>
                <a:prstClr val="black"/>
              </a:solidFill>
            </a:endParaRPr>
          </a:p>
        </p:txBody>
      </p:sp>
      <p:cxnSp>
        <p:nvCxnSpPr>
          <p:cNvPr id="53" name="Straight Arrow Connector 52">
            <a:extLst>
              <a:ext uri="{FF2B5EF4-FFF2-40B4-BE49-F238E27FC236}">
                <a16:creationId xmlns:a16="http://schemas.microsoft.com/office/drawing/2014/main" id="{E69C1307-6F07-453C-BEDF-193658270637}"/>
              </a:ext>
            </a:extLst>
          </p:cNvPr>
          <p:cNvCxnSpPr/>
          <p:nvPr/>
        </p:nvCxnSpPr>
        <p:spPr>
          <a:xfrm>
            <a:off x="428815" y="4925329"/>
            <a:ext cx="313783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4" name="Straight Arrow Connector 53">
            <a:extLst>
              <a:ext uri="{FF2B5EF4-FFF2-40B4-BE49-F238E27FC236}">
                <a16:creationId xmlns:a16="http://schemas.microsoft.com/office/drawing/2014/main" id="{B7CCCCF0-2AEE-44E2-BCB8-827047D4A963}"/>
              </a:ext>
            </a:extLst>
          </p:cNvPr>
          <p:cNvCxnSpPr>
            <a:cxnSpLocks/>
          </p:cNvCxnSpPr>
          <p:nvPr/>
        </p:nvCxnSpPr>
        <p:spPr>
          <a:xfrm rot="16200000" flipV="1">
            <a:off x="-778317" y="3689699"/>
            <a:ext cx="26517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1525258D-45D2-4C4D-BB5E-349B29010F2A}"/>
                  </a:ext>
                </a:extLst>
              </p:cNvPr>
              <p:cNvSpPr txBox="1"/>
              <p:nvPr/>
            </p:nvSpPr>
            <p:spPr>
              <a:xfrm>
                <a:off x="-315218" y="2236762"/>
                <a:ext cx="1311636" cy="369332"/>
              </a:xfrm>
              <a:prstGeom prst="rect">
                <a:avLst/>
              </a:prstGeom>
              <a:noFill/>
            </p:spPr>
            <p:txBody>
              <a:bodyPr wrap="square" rtlCol="0">
                <a:spAutoFit/>
              </a:bodyPr>
              <a:lstStyle/>
              <a:p>
                <a:pPr algn="ct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oMath>
                </a14:m>
                <a:r>
                  <a:rPr lang="en-US" dirty="0"/>
                  <a:t> </a:t>
                </a:r>
              </a:p>
            </p:txBody>
          </p:sp>
        </mc:Choice>
        <mc:Fallback xmlns="">
          <p:sp>
            <p:nvSpPr>
              <p:cNvPr id="55" name="TextBox 54">
                <a:extLst>
                  <a:ext uri="{FF2B5EF4-FFF2-40B4-BE49-F238E27FC236}">
                    <a16:creationId xmlns:a16="http://schemas.microsoft.com/office/drawing/2014/main" id="{1525258D-45D2-4C4D-BB5E-349B29010F2A}"/>
                  </a:ext>
                </a:extLst>
              </p:cNvPr>
              <p:cNvSpPr txBox="1">
                <a:spLocks noRot="1" noChangeAspect="1" noMove="1" noResize="1" noEditPoints="1" noAdjustHandles="1" noChangeArrowheads="1" noChangeShapeType="1" noTextEdit="1"/>
              </p:cNvSpPr>
              <p:nvPr/>
            </p:nvSpPr>
            <p:spPr>
              <a:xfrm>
                <a:off x="-315218" y="2236762"/>
                <a:ext cx="1311636" cy="369332"/>
              </a:xfrm>
              <a:prstGeom prst="rect">
                <a:avLst/>
              </a:prstGeom>
              <a:blipFill>
                <a:blip r:embed="rId2"/>
                <a:stretch>
                  <a:fillRect/>
                </a:stretch>
              </a:blipFill>
            </p:spPr>
            <p:txBody>
              <a:bodyPr/>
              <a:lstStyle/>
              <a:p>
                <a:r>
                  <a:rPr lang="en-US">
                    <a:noFill/>
                  </a:rPr>
                  <a:t> </a:t>
                </a:r>
              </a:p>
            </p:txBody>
          </p:sp>
        </mc:Fallback>
      </mc:AlternateContent>
      <p:sp>
        <p:nvSpPr>
          <p:cNvPr id="56" name="TextBox 55">
            <a:extLst>
              <a:ext uri="{FF2B5EF4-FFF2-40B4-BE49-F238E27FC236}">
                <a16:creationId xmlns:a16="http://schemas.microsoft.com/office/drawing/2014/main" id="{93F660A0-0294-4423-B669-3F0423C7D294}"/>
              </a:ext>
            </a:extLst>
          </p:cNvPr>
          <p:cNvSpPr txBox="1"/>
          <p:nvPr/>
        </p:nvSpPr>
        <p:spPr>
          <a:xfrm>
            <a:off x="509605" y="4315933"/>
            <a:ext cx="914400" cy="369332"/>
          </a:xfrm>
          <a:prstGeom prst="rect">
            <a:avLst/>
          </a:prstGeom>
          <a:noFill/>
        </p:spPr>
        <p:txBody>
          <a:bodyPr wrap="square" rtlCol="0">
            <a:spAutoFit/>
          </a:bodyPr>
          <a:lstStyle/>
          <a:p>
            <a:r>
              <a:rPr lang="en-US" b="1" dirty="0">
                <a:solidFill>
                  <a:schemeClr val="accent1">
                    <a:lumMod val="60000"/>
                    <a:lumOff val="40000"/>
                  </a:schemeClr>
                </a:solidFill>
              </a:rPr>
              <a:t>Class 2</a:t>
            </a:r>
          </a:p>
        </p:txBody>
      </p:sp>
      <p:sp>
        <p:nvSpPr>
          <p:cNvPr id="57" name="TextBox 56">
            <a:extLst>
              <a:ext uri="{FF2B5EF4-FFF2-40B4-BE49-F238E27FC236}">
                <a16:creationId xmlns:a16="http://schemas.microsoft.com/office/drawing/2014/main" id="{99441593-2CD6-4C3F-AAC0-2A5361792F32}"/>
              </a:ext>
            </a:extLst>
          </p:cNvPr>
          <p:cNvSpPr txBox="1"/>
          <p:nvPr/>
        </p:nvSpPr>
        <p:spPr>
          <a:xfrm>
            <a:off x="2850032" y="4182787"/>
            <a:ext cx="914400" cy="369332"/>
          </a:xfrm>
          <a:prstGeom prst="rect">
            <a:avLst/>
          </a:prstGeom>
          <a:noFill/>
        </p:spPr>
        <p:txBody>
          <a:bodyPr wrap="square" rtlCol="0">
            <a:spAutoFit/>
          </a:bodyPr>
          <a:lstStyle/>
          <a:p>
            <a:r>
              <a:rPr lang="en-US" b="1" dirty="0">
                <a:solidFill>
                  <a:schemeClr val="accent2">
                    <a:lumMod val="60000"/>
                    <a:lumOff val="40000"/>
                  </a:schemeClr>
                </a:solidFill>
              </a:rPr>
              <a:t>Class 1</a:t>
            </a:r>
          </a:p>
        </p:txBody>
      </p: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78EDB2E6-CEED-4392-8335-2AF648B91CCD}"/>
                  </a:ext>
                </a:extLst>
              </p:cNvPr>
              <p:cNvSpPr txBox="1"/>
              <p:nvPr/>
            </p:nvSpPr>
            <p:spPr>
              <a:xfrm>
                <a:off x="2434099" y="4890679"/>
                <a:ext cx="1311636" cy="369332"/>
              </a:xfrm>
              <a:prstGeom prst="rect">
                <a:avLst/>
              </a:prstGeom>
              <a:noFill/>
            </p:spPr>
            <p:txBody>
              <a:bodyPr wrap="square" rtlCol="0">
                <a:spAutoFit/>
              </a:bodyPr>
              <a:lstStyle/>
              <a:p>
                <a:pPr algn="ct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oMath>
                </a14:m>
                <a:r>
                  <a:rPr lang="en-US" dirty="0"/>
                  <a:t> </a:t>
                </a:r>
              </a:p>
            </p:txBody>
          </p:sp>
        </mc:Choice>
        <mc:Fallback xmlns="">
          <p:sp>
            <p:nvSpPr>
              <p:cNvPr id="58" name="TextBox 57">
                <a:extLst>
                  <a:ext uri="{FF2B5EF4-FFF2-40B4-BE49-F238E27FC236}">
                    <a16:creationId xmlns:a16="http://schemas.microsoft.com/office/drawing/2014/main" id="{78EDB2E6-CEED-4392-8335-2AF648B91CCD}"/>
                  </a:ext>
                </a:extLst>
              </p:cNvPr>
              <p:cNvSpPr txBox="1">
                <a:spLocks noRot="1" noChangeAspect="1" noMove="1" noResize="1" noEditPoints="1" noAdjustHandles="1" noChangeArrowheads="1" noChangeShapeType="1" noTextEdit="1"/>
              </p:cNvSpPr>
              <p:nvPr/>
            </p:nvSpPr>
            <p:spPr>
              <a:xfrm>
                <a:off x="2434099" y="4890679"/>
                <a:ext cx="1311636" cy="369332"/>
              </a:xfrm>
              <a:prstGeom prst="rect">
                <a:avLst/>
              </a:prstGeom>
              <a:blipFill>
                <a:blip r:embed="rId3"/>
                <a:stretch>
                  <a:fillRect/>
                </a:stretch>
              </a:blipFill>
            </p:spPr>
            <p:txBody>
              <a:bodyPr/>
              <a:lstStyle/>
              <a:p>
                <a:r>
                  <a:rPr lang="en-US">
                    <a:noFill/>
                  </a:rPr>
                  <a:t> </a:t>
                </a:r>
              </a:p>
            </p:txBody>
          </p:sp>
        </mc:Fallback>
      </mc:AlternateContent>
      <p:sp>
        <p:nvSpPr>
          <p:cNvPr id="59" name="Oval 58">
            <a:extLst>
              <a:ext uri="{FF2B5EF4-FFF2-40B4-BE49-F238E27FC236}">
                <a16:creationId xmlns:a16="http://schemas.microsoft.com/office/drawing/2014/main" id="{2E444465-AD2F-4D5E-9CC4-EEF6BBF8B3B5}"/>
              </a:ext>
            </a:extLst>
          </p:cNvPr>
          <p:cNvSpPr/>
          <p:nvPr/>
        </p:nvSpPr>
        <p:spPr>
          <a:xfrm rot="2604923" flipH="1">
            <a:off x="1894175" y="3554546"/>
            <a:ext cx="91440" cy="9144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solidFill>
                <a:prstClr val="black"/>
              </a:solidFill>
            </a:endParaRPr>
          </a:p>
        </p:txBody>
      </p:sp>
      <p:sp>
        <p:nvSpPr>
          <p:cNvPr id="60" name="Oval 59">
            <a:extLst>
              <a:ext uri="{FF2B5EF4-FFF2-40B4-BE49-F238E27FC236}">
                <a16:creationId xmlns:a16="http://schemas.microsoft.com/office/drawing/2014/main" id="{7405F08B-99E4-4E84-9B48-5195F280D0D3}"/>
              </a:ext>
            </a:extLst>
          </p:cNvPr>
          <p:cNvSpPr/>
          <p:nvPr/>
        </p:nvSpPr>
        <p:spPr>
          <a:xfrm rot="2604923" flipH="1">
            <a:off x="2725397" y="2794962"/>
            <a:ext cx="91440" cy="91440"/>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solidFill>
                <a:prstClr val="black"/>
              </a:solidFill>
            </a:endParaRPr>
          </a:p>
        </p:txBody>
      </p:sp>
      <p:sp>
        <p:nvSpPr>
          <p:cNvPr id="61" name="Oval 60">
            <a:extLst>
              <a:ext uri="{FF2B5EF4-FFF2-40B4-BE49-F238E27FC236}">
                <a16:creationId xmlns:a16="http://schemas.microsoft.com/office/drawing/2014/main" id="{F928E797-C850-4841-8E7A-302737229C60}"/>
              </a:ext>
            </a:extLst>
          </p:cNvPr>
          <p:cNvSpPr/>
          <p:nvPr/>
        </p:nvSpPr>
        <p:spPr>
          <a:xfrm rot="2604923" flipH="1">
            <a:off x="1088191" y="3530525"/>
            <a:ext cx="91440" cy="9144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solidFill>
                <a:prstClr val="black"/>
              </a:solidFill>
            </a:endParaRPr>
          </a:p>
        </p:txBody>
      </p:sp>
      <p:sp>
        <p:nvSpPr>
          <p:cNvPr id="62" name="Oval 61">
            <a:extLst>
              <a:ext uri="{FF2B5EF4-FFF2-40B4-BE49-F238E27FC236}">
                <a16:creationId xmlns:a16="http://schemas.microsoft.com/office/drawing/2014/main" id="{B911A1AC-62CF-4963-B4EE-B17A8AD719F7}"/>
              </a:ext>
            </a:extLst>
          </p:cNvPr>
          <p:cNvSpPr/>
          <p:nvPr/>
        </p:nvSpPr>
        <p:spPr>
          <a:xfrm rot="2604923" flipH="1">
            <a:off x="1336175" y="3981418"/>
            <a:ext cx="91440" cy="9144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solidFill>
                <a:prstClr val="black"/>
              </a:solidFill>
            </a:endParaRPr>
          </a:p>
        </p:txBody>
      </p:sp>
      <p:sp>
        <p:nvSpPr>
          <p:cNvPr id="63" name="Oval 62">
            <a:extLst>
              <a:ext uri="{FF2B5EF4-FFF2-40B4-BE49-F238E27FC236}">
                <a16:creationId xmlns:a16="http://schemas.microsoft.com/office/drawing/2014/main" id="{611ABC75-B319-4F7A-A4C0-BEDACE8BDE43}"/>
              </a:ext>
            </a:extLst>
          </p:cNvPr>
          <p:cNvSpPr/>
          <p:nvPr/>
        </p:nvSpPr>
        <p:spPr>
          <a:xfrm rot="2604923" flipH="1">
            <a:off x="1849587" y="3928379"/>
            <a:ext cx="91440" cy="9144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solidFill>
                <a:prstClr val="black"/>
              </a:solidFill>
            </a:endParaRPr>
          </a:p>
        </p:txBody>
      </p:sp>
      <p:sp>
        <p:nvSpPr>
          <p:cNvPr id="64" name="Oval 63">
            <a:extLst>
              <a:ext uri="{FF2B5EF4-FFF2-40B4-BE49-F238E27FC236}">
                <a16:creationId xmlns:a16="http://schemas.microsoft.com/office/drawing/2014/main" id="{F2FD2518-996E-4E66-B49B-5C3B7C3FB39C}"/>
              </a:ext>
            </a:extLst>
          </p:cNvPr>
          <p:cNvSpPr/>
          <p:nvPr/>
        </p:nvSpPr>
        <p:spPr>
          <a:xfrm rot="2604923" flipH="1">
            <a:off x="2225132" y="4092342"/>
            <a:ext cx="91440" cy="9144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solidFill>
                <a:prstClr val="black"/>
              </a:solidFill>
            </a:endParaRPr>
          </a:p>
        </p:txBody>
      </p:sp>
      <p:sp>
        <p:nvSpPr>
          <p:cNvPr id="65" name="Oval 64">
            <a:extLst>
              <a:ext uri="{FF2B5EF4-FFF2-40B4-BE49-F238E27FC236}">
                <a16:creationId xmlns:a16="http://schemas.microsoft.com/office/drawing/2014/main" id="{8769AFBE-5BC6-437E-9DC5-AEE8A01AF6E9}"/>
              </a:ext>
            </a:extLst>
          </p:cNvPr>
          <p:cNvSpPr/>
          <p:nvPr/>
        </p:nvSpPr>
        <p:spPr>
          <a:xfrm rot="2604923" flipH="1">
            <a:off x="1375761" y="4404505"/>
            <a:ext cx="91440" cy="9144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solidFill>
                <a:prstClr val="black"/>
              </a:solidFill>
            </a:endParaRPr>
          </a:p>
        </p:txBody>
      </p:sp>
      <p:sp>
        <p:nvSpPr>
          <p:cNvPr id="66" name="Oval 65">
            <a:extLst>
              <a:ext uri="{FF2B5EF4-FFF2-40B4-BE49-F238E27FC236}">
                <a16:creationId xmlns:a16="http://schemas.microsoft.com/office/drawing/2014/main" id="{D375084C-2062-4545-AACC-432859E3B5A3}"/>
              </a:ext>
            </a:extLst>
          </p:cNvPr>
          <p:cNvSpPr/>
          <p:nvPr/>
        </p:nvSpPr>
        <p:spPr>
          <a:xfrm rot="2604923" flipH="1">
            <a:off x="1828867" y="3237225"/>
            <a:ext cx="91440" cy="91440"/>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solidFill>
                <a:prstClr val="black"/>
              </a:solidFill>
            </a:endParaRPr>
          </a:p>
        </p:txBody>
      </p:sp>
      <p:sp>
        <p:nvSpPr>
          <p:cNvPr id="67" name="Oval 66">
            <a:extLst>
              <a:ext uri="{FF2B5EF4-FFF2-40B4-BE49-F238E27FC236}">
                <a16:creationId xmlns:a16="http://schemas.microsoft.com/office/drawing/2014/main" id="{19CBEAD4-1811-4462-B4C4-D76D873DC3B2}"/>
              </a:ext>
            </a:extLst>
          </p:cNvPr>
          <p:cNvSpPr/>
          <p:nvPr/>
        </p:nvSpPr>
        <p:spPr>
          <a:xfrm rot="2604923" flipH="1">
            <a:off x="1699600" y="3619179"/>
            <a:ext cx="91440" cy="91440"/>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solidFill>
                <a:prstClr val="black"/>
              </a:solidFill>
            </a:endParaRPr>
          </a:p>
        </p:txBody>
      </p:sp>
      <p:sp>
        <p:nvSpPr>
          <p:cNvPr id="68" name="Oval 67">
            <a:extLst>
              <a:ext uri="{FF2B5EF4-FFF2-40B4-BE49-F238E27FC236}">
                <a16:creationId xmlns:a16="http://schemas.microsoft.com/office/drawing/2014/main" id="{DD30EA52-204F-482F-AA5C-7F0F3B27613E}"/>
              </a:ext>
            </a:extLst>
          </p:cNvPr>
          <p:cNvSpPr/>
          <p:nvPr/>
        </p:nvSpPr>
        <p:spPr>
          <a:xfrm rot="2604923" flipH="1">
            <a:off x="1519447" y="2930842"/>
            <a:ext cx="91440" cy="91440"/>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solidFill>
                <a:prstClr val="black"/>
              </a:solidFill>
            </a:endParaRPr>
          </a:p>
        </p:txBody>
      </p:sp>
      <p:sp>
        <p:nvSpPr>
          <p:cNvPr id="69" name="Oval 68">
            <a:extLst>
              <a:ext uri="{FF2B5EF4-FFF2-40B4-BE49-F238E27FC236}">
                <a16:creationId xmlns:a16="http://schemas.microsoft.com/office/drawing/2014/main" id="{84B83B89-7B90-4360-9335-59DCD8D3B20F}"/>
              </a:ext>
            </a:extLst>
          </p:cNvPr>
          <p:cNvSpPr/>
          <p:nvPr/>
        </p:nvSpPr>
        <p:spPr>
          <a:xfrm rot="2604923" flipH="1">
            <a:off x="1023557" y="3981418"/>
            <a:ext cx="91440" cy="9144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solidFill>
                <a:prstClr val="black"/>
              </a:solidFill>
            </a:endParaRPr>
          </a:p>
        </p:txBody>
      </p:sp>
      <p:sp>
        <p:nvSpPr>
          <p:cNvPr id="70" name="Oval 69">
            <a:extLst>
              <a:ext uri="{FF2B5EF4-FFF2-40B4-BE49-F238E27FC236}">
                <a16:creationId xmlns:a16="http://schemas.microsoft.com/office/drawing/2014/main" id="{C0D28758-9BC6-49C5-9661-950FDCEE797B}"/>
              </a:ext>
            </a:extLst>
          </p:cNvPr>
          <p:cNvSpPr/>
          <p:nvPr/>
        </p:nvSpPr>
        <p:spPr>
          <a:xfrm rot="2604923" flipH="1">
            <a:off x="2725397" y="3909582"/>
            <a:ext cx="91440" cy="9144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solidFill>
                <a:prstClr val="black"/>
              </a:solidFill>
            </a:endParaRPr>
          </a:p>
        </p:txBody>
      </p:sp>
      <p:sp>
        <p:nvSpPr>
          <p:cNvPr id="71" name="TextBox 70">
            <a:extLst>
              <a:ext uri="{FF2B5EF4-FFF2-40B4-BE49-F238E27FC236}">
                <a16:creationId xmlns:a16="http://schemas.microsoft.com/office/drawing/2014/main" id="{B0773FC1-0903-414A-A66A-0A846115DD4E}"/>
              </a:ext>
            </a:extLst>
          </p:cNvPr>
          <p:cNvSpPr txBox="1"/>
          <p:nvPr/>
        </p:nvSpPr>
        <p:spPr>
          <a:xfrm>
            <a:off x="2644016" y="2264305"/>
            <a:ext cx="914400" cy="369332"/>
          </a:xfrm>
          <a:prstGeom prst="rect">
            <a:avLst/>
          </a:prstGeom>
          <a:noFill/>
        </p:spPr>
        <p:txBody>
          <a:bodyPr wrap="square" rtlCol="0">
            <a:spAutoFit/>
          </a:bodyPr>
          <a:lstStyle/>
          <a:p>
            <a:r>
              <a:rPr lang="en-US" b="1" dirty="0">
                <a:solidFill>
                  <a:schemeClr val="accent6">
                    <a:lumMod val="60000"/>
                    <a:lumOff val="40000"/>
                  </a:schemeClr>
                </a:solidFill>
              </a:rPr>
              <a:t>Class 3</a:t>
            </a:r>
          </a:p>
        </p:txBody>
      </p:sp>
      <p:sp>
        <p:nvSpPr>
          <p:cNvPr id="72" name="TextBox 71">
            <a:extLst>
              <a:ext uri="{FF2B5EF4-FFF2-40B4-BE49-F238E27FC236}">
                <a16:creationId xmlns:a16="http://schemas.microsoft.com/office/drawing/2014/main" id="{90A26DE6-C479-4EA2-ADE4-4D14951F6EC8}"/>
              </a:ext>
            </a:extLst>
          </p:cNvPr>
          <p:cNvSpPr txBox="1"/>
          <p:nvPr/>
        </p:nvSpPr>
        <p:spPr>
          <a:xfrm>
            <a:off x="1597972" y="3382229"/>
            <a:ext cx="330139" cy="369332"/>
          </a:xfrm>
          <a:prstGeom prst="rect">
            <a:avLst/>
          </a:prstGeom>
          <a:noFill/>
        </p:spPr>
        <p:txBody>
          <a:bodyPr wrap="square" rtlCol="0">
            <a:spAutoFit/>
          </a:bodyPr>
          <a:lstStyle/>
          <a:p>
            <a:r>
              <a:rPr lang="en-US" b="1" dirty="0"/>
              <a:t>?</a:t>
            </a:r>
          </a:p>
        </p:txBody>
      </p:sp>
    </p:spTree>
    <p:extLst>
      <p:ext uri="{BB962C8B-B14F-4D97-AF65-F5344CB8AC3E}">
        <p14:creationId xmlns:p14="http://schemas.microsoft.com/office/powerpoint/2010/main" val="2418024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7E725-7744-41BB-BC86-8DA57B3885C4}"/>
              </a:ext>
            </a:extLst>
          </p:cNvPr>
          <p:cNvSpPr>
            <a:spLocks noGrp="1"/>
          </p:cNvSpPr>
          <p:nvPr>
            <p:ph type="title"/>
          </p:nvPr>
        </p:nvSpPr>
        <p:spPr/>
        <p:txBody>
          <a:bodyPr/>
          <a:lstStyle/>
          <a:p>
            <a:r>
              <a:rPr lang="en-US" b="1" dirty="0"/>
              <a:t>KNN Overview</a:t>
            </a:r>
          </a:p>
        </p:txBody>
      </p:sp>
      <p:sp>
        <p:nvSpPr>
          <p:cNvPr id="4" name="Oval 3">
            <a:extLst>
              <a:ext uri="{FF2B5EF4-FFF2-40B4-BE49-F238E27FC236}">
                <a16:creationId xmlns:a16="http://schemas.microsoft.com/office/drawing/2014/main" id="{4A0C0CEE-3B88-4E5F-8C5D-EA65A77B9BE9}"/>
              </a:ext>
            </a:extLst>
          </p:cNvPr>
          <p:cNvSpPr/>
          <p:nvPr/>
        </p:nvSpPr>
        <p:spPr>
          <a:xfrm rot="2604923" flipH="1">
            <a:off x="7912571" y="3481222"/>
            <a:ext cx="91440" cy="9144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solidFill>
                <a:prstClr val="black"/>
              </a:solidFill>
            </a:endParaRPr>
          </a:p>
        </p:txBody>
      </p:sp>
      <p:sp>
        <p:nvSpPr>
          <p:cNvPr id="5" name="Oval 4">
            <a:extLst>
              <a:ext uri="{FF2B5EF4-FFF2-40B4-BE49-F238E27FC236}">
                <a16:creationId xmlns:a16="http://schemas.microsoft.com/office/drawing/2014/main" id="{D2A2F50E-CDDB-434C-8511-C92A58D3EBB7}"/>
              </a:ext>
            </a:extLst>
          </p:cNvPr>
          <p:cNvSpPr/>
          <p:nvPr/>
        </p:nvSpPr>
        <p:spPr>
          <a:xfrm rot="2604923" flipH="1">
            <a:off x="7868542" y="2934169"/>
            <a:ext cx="91440" cy="91440"/>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solidFill>
                <a:prstClr val="black"/>
              </a:solidFill>
            </a:endParaRPr>
          </a:p>
        </p:txBody>
      </p:sp>
      <p:sp>
        <p:nvSpPr>
          <p:cNvPr id="6" name="Oval 5">
            <a:extLst>
              <a:ext uri="{FF2B5EF4-FFF2-40B4-BE49-F238E27FC236}">
                <a16:creationId xmlns:a16="http://schemas.microsoft.com/office/drawing/2014/main" id="{2BF11F4A-9F01-4ECE-9B3D-43750A8127EE}"/>
              </a:ext>
            </a:extLst>
          </p:cNvPr>
          <p:cNvSpPr/>
          <p:nvPr/>
        </p:nvSpPr>
        <p:spPr>
          <a:xfrm rot="2604923" flipH="1">
            <a:off x="7504088" y="3223843"/>
            <a:ext cx="91440" cy="91440"/>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solidFill>
                <a:prstClr val="black"/>
              </a:solidFill>
            </a:endParaRPr>
          </a:p>
        </p:txBody>
      </p:sp>
      <p:sp>
        <p:nvSpPr>
          <p:cNvPr id="7" name="Oval 6">
            <a:extLst>
              <a:ext uri="{FF2B5EF4-FFF2-40B4-BE49-F238E27FC236}">
                <a16:creationId xmlns:a16="http://schemas.microsoft.com/office/drawing/2014/main" id="{E2609495-B978-4393-89CF-F22817F0A7B4}"/>
              </a:ext>
            </a:extLst>
          </p:cNvPr>
          <p:cNvSpPr/>
          <p:nvPr/>
        </p:nvSpPr>
        <p:spPr>
          <a:xfrm rot="2604923" flipH="1">
            <a:off x="7586291" y="4156975"/>
            <a:ext cx="91440" cy="9144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solidFill>
                <a:prstClr val="black"/>
              </a:solidFill>
            </a:endParaRPr>
          </a:p>
        </p:txBody>
      </p:sp>
      <p:sp>
        <p:nvSpPr>
          <p:cNvPr id="8" name="Oval 7">
            <a:extLst>
              <a:ext uri="{FF2B5EF4-FFF2-40B4-BE49-F238E27FC236}">
                <a16:creationId xmlns:a16="http://schemas.microsoft.com/office/drawing/2014/main" id="{A5949CC0-C87B-48EF-AEB8-2F1B706DBD63}"/>
              </a:ext>
            </a:extLst>
          </p:cNvPr>
          <p:cNvSpPr/>
          <p:nvPr/>
        </p:nvSpPr>
        <p:spPr>
          <a:xfrm rot="2604923" flipH="1">
            <a:off x="5722401" y="3063437"/>
            <a:ext cx="91440" cy="9144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solidFill>
                <a:prstClr val="black"/>
              </a:solidFill>
            </a:endParaRPr>
          </a:p>
        </p:txBody>
      </p:sp>
      <p:sp>
        <p:nvSpPr>
          <p:cNvPr id="9" name="Oval 8">
            <a:extLst>
              <a:ext uri="{FF2B5EF4-FFF2-40B4-BE49-F238E27FC236}">
                <a16:creationId xmlns:a16="http://schemas.microsoft.com/office/drawing/2014/main" id="{0ADFF4D1-F6B4-42AC-9172-37DD9EC410FE}"/>
              </a:ext>
            </a:extLst>
          </p:cNvPr>
          <p:cNvSpPr/>
          <p:nvPr/>
        </p:nvSpPr>
        <p:spPr>
          <a:xfrm rot="2604923" flipH="1">
            <a:off x="5638860" y="3657658"/>
            <a:ext cx="91440" cy="9144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solidFill>
                <a:prstClr val="black"/>
              </a:solidFill>
            </a:endParaRPr>
          </a:p>
        </p:txBody>
      </p:sp>
      <p:sp>
        <p:nvSpPr>
          <p:cNvPr id="10" name="Oval 9">
            <a:extLst>
              <a:ext uri="{FF2B5EF4-FFF2-40B4-BE49-F238E27FC236}">
                <a16:creationId xmlns:a16="http://schemas.microsoft.com/office/drawing/2014/main" id="{B2B6A2E5-9BC0-4A0A-A703-120EDB98B3A5}"/>
              </a:ext>
            </a:extLst>
          </p:cNvPr>
          <p:cNvSpPr/>
          <p:nvPr/>
        </p:nvSpPr>
        <p:spPr>
          <a:xfrm rot="2604923" flipH="1">
            <a:off x="6095084" y="3115317"/>
            <a:ext cx="91440" cy="9144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solidFill>
                <a:prstClr val="black"/>
              </a:solidFill>
            </a:endParaRPr>
          </a:p>
        </p:txBody>
      </p:sp>
      <p:sp>
        <p:nvSpPr>
          <p:cNvPr id="11" name="Oval 10">
            <a:extLst>
              <a:ext uri="{FF2B5EF4-FFF2-40B4-BE49-F238E27FC236}">
                <a16:creationId xmlns:a16="http://schemas.microsoft.com/office/drawing/2014/main" id="{FC2C8F97-A926-4EF5-8A5D-50894BCD42B5}"/>
              </a:ext>
            </a:extLst>
          </p:cNvPr>
          <p:cNvSpPr/>
          <p:nvPr/>
        </p:nvSpPr>
        <p:spPr>
          <a:xfrm rot="2604923" flipH="1">
            <a:off x="6731336" y="2508831"/>
            <a:ext cx="91440" cy="91440"/>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solidFill>
                <a:prstClr val="black"/>
              </a:solidFill>
            </a:endParaRPr>
          </a:p>
        </p:txBody>
      </p:sp>
      <p:sp>
        <p:nvSpPr>
          <p:cNvPr id="12" name="Oval 11">
            <a:extLst>
              <a:ext uri="{FF2B5EF4-FFF2-40B4-BE49-F238E27FC236}">
                <a16:creationId xmlns:a16="http://schemas.microsoft.com/office/drawing/2014/main" id="{5441B634-329B-41A1-AF69-BB53696CA633}"/>
              </a:ext>
            </a:extLst>
          </p:cNvPr>
          <p:cNvSpPr/>
          <p:nvPr/>
        </p:nvSpPr>
        <p:spPr>
          <a:xfrm rot="2604923" flipH="1">
            <a:off x="7331814" y="2512123"/>
            <a:ext cx="91440" cy="91440"/>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solidFill>
                <a:prstClr val="black"/>
              </a:solidFill>
            </a:endParaRPr>
          </a:p>
        </p:txBody>
      </p:sp>
      <p:sp>
        <p:nvSpPr>
          <p:cNvPr id="13" name="Oval 12">
            <a:extLst>
              <a:ext uri="{FF2B5EF4-FFF2-40B4-BE49-F238E27FC236}">
                <a16:creationId xmlns:a16="http://schemas.microsoft.com/office/drawing/2014/main" id="{A75CC497-F497-4703-9BFC-B8F526A31842}"/>
              </a:ext>
            </a:extLst>
          </p:cNvPr>
          <p:cNvSpPr/>
          <p:nvPr/>
        </p:nvSpPr>
        <p:spPr>
          <a:xfrm rot="2604923" flipH="1">
            <a:off x="6386778" y="3603039"/>
            <a:ext cx="91440" cy="9144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solidFill>
                <a:prstClr val="black"/>
              </a:solidFill>
            </a:endParaRPr>
          </a:p>
        </p:txBody>
      </p:sp>
      <p:sp>
        <p:nvSpPr>
          <p:cNvPr id="14" name="Oval 13">
            <a:extLst>
              <a:ext uri="{FF2B5EF4-FFF2-40B4-BE49-F238E27FC236}">
                <a16:creationId xmlns:a16="http://schemas.microsoft.com/office/drawing/2014/main" id="{5B583A80-45D5-4318-832B-3D24E64FCF70}"/>
              </a:ext>
            </a:extLst>
          </p:cNvPr>
          <p:cNvSpPr/>
          <p:nvPr/>
        </p:nvSpPr>
        <p:spPr>
          <a:xfrm rot="2604923" flipH="1">
            <a:off x="6979320" y="2959724"/>
            <a:ext cx="91440" cy="91440"/>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solidFill>
                <a:prstClr val="black"/>
              </a:solidFill>
            </a:endParaRPr>
          </a:p>
        </p:txBody>
      </p:sp>
      <p:sp>
        <p:nvSpPr>
          <p:cNvPr id="15" name="Oval 14">
            <a:extLst>
              <a:ext uri="{FF2B5EF4-FFF2-40B4-BE49-F238E27FC236}">
                <a16:creationId xmlns:a16="http://schemas.microsoft.com/office/drawing/2014/main" id="{61144BE3-2EA7-45CD-85C7-0B114C474A28}"/>
              </a:ext>
            </a:extLst>
          </p:cNvPr>
          <p:cNvSpPr/>
          <p:nvPr/>
        </p:nvSpPr>
        <p:spPr>
          <a:xfrm rot="2604923" flipH="1">
            <a:off x="7045434" y="4510277"/>
            <a:ext cx="91440" cy="9144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solidFill>
                <a:prstClr val="black"/>
              </a:solidFill>
            </a:endParaRPr>
          </a:p>
        </p:txBody>
      </p:sp>
      <p:sp>
        <p:nvSpPr>
          <p:cNvPr id="16" name="Oval 15">
            <a:extLst>
              <a:ext uri="{FF2B5EF4-FFF2-40B4-BE49-F238E27FC236}">
                <a16:creationId xmlns:a16="http://schemas.microsoft.com/office/drawing/2014/main" id="{A7281ABC-B555-43BA-94D4-99EC776465D0}"/>
              </a:ext>
            </a:extLst>
          </p:cNvPr>
          <p:cNvSpPr/>
          <p:nvPr/>
        </p:nvSpPr>
        <p:spPr>
          <a:xfrm rot="2604923" flipH="1">
            <a:off x="7343922" y="3734477"/>
            <a:ext cx="91440" cy="9144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solidFill>
                <a:prstClr val="black"/>
              </a:solidFill>
            </a:endParaRPr>
          </a:p>
        </p:txBody>
      </p:sp>
      <p:cxnSp>
        <p:nvCxnSpPr>
          <p:cNvPr id="17" name="Straight Arrow Connector 16">
            <a:extLst>
              <a:ext uri="{FF2B5EF4-FFF2-40B4-BE49-F238E27FC236}">
                <a16:creationId xmlns:a16="http://schemas.microsoft.com/office/drawing/2014/main" id="{200D540F-BB2D-4447-B1C2-E255DDE7B0CA}"/>
              </a:ext>
            </a:extLst>
          </p:cNvPr>
          <p:cNvCxnSpPr/>
          <p:nvPr/>
        </p:nvCxnSpPr>
        <p:spPr>
          <a:xfrm>
            <a:off x="5310565" y="4860695"/>
            <a:ext cx="313783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Straight Arrow Connector 17">
            <a:extLst>
              <a:ext uri="{FF2B5EF4-FFF2-40B4-BE49-F238E27FC236}">
                <a16:creationId xmlns:a16="http://schemas.microsoft.com/office/drawing/2014/main" id="{AF8BAB40-696B-4B71-A8D0-C7595EFA41CB}"/>
              </a:ext>
            </a:extLst>
          </p:cNvPr>
          <p:cNvCxnSpPr>
            <a:cxnSpLocks/>
          </p:cNvCxnSpPr>
          <p:nvPr/>
        </p:nvCxnSpPr>
        <p:spPr>
          <a:xfrm rot="16200000" flipV="1">
            <a:off x="4103433" y="3625065"/>
            <a:ext cx="26517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A39C32A-8214-48F6-8DE0-37CEF4298881}"/>
                  </a:ext>
                </a:extLst>
              </p:cNvPr>
              <p:cNvSpPr txBox="1"/>
              <p:nvPr/>
            </p:nvSpPr>
            <p:spPr>
              <a:xfrm>
                <a:off x="4566532" y="2172128"/>
                <a:ext cx="1311636" cy="369332"/>
              </a:xfrm>
              <a:prstGeom prst="rect">
                <a:avLst/>
              </a:prstGeom>
              <a:noFill/>
            </p:spPr>
            <p:txBody>
              <a:bodyPr wrap="square" rtlCol="0">
                <a:spAutoFit/>
              </a:bodyPr>
              <a:lstStyle/>
              <a:p>
                <a:pPr algn="ct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oMath>
                </a14:m>
                <a:r>
                  <a:rPr lang="en-US" dirty="0"/>
                  <a:t> </a:t>
                </a:r>
              </a:p>
            </p:txBody>
          </p:sp>
        </mc:Choice>
        <mc:Fallback xmlns="">
          <p:sp>
            <p:nvSpPr>
              <p:cNvPr id="19" name="TextBox 18">
                <a:extLst>
                  <a:ext uri="{FF2B5EF4-FFF2-40B4-BE49-F238E27FC236}">
                    <a16:creationId xmlns:a16="http://schemas.microsoft.com/office/drawing/2014/main" id="{BA39C32A-8214-48F6-8DE0-37CEF4298881}"/>
                  </a:ext>
                </a:extLst>
              </p:cNvPr>
              <p:cNvSpPr txBox="1">
                <a:spLocks noRot="1" noChangeAspect="1" noMove="1" noResize="1" noEditPoints="1" noAdjustHandles="1" noChangeArrowheads="1" noChangeShapeType="1" noTextEdit="1"/>
              </p:cNvSpPr>
              <p:nvPr/>
            </p:nvSpPr>
            <p:spPr>
              <a:xfrm>
                <a:off x="4566532" y="2172128"/>
                <a:ext cx="1311636" cy="369332"/>
              </a:xfrm>
              <a:prstGeom prst="rect">
                <a:avLst/>
              </a:prstGeom>
              <a:blipFill>
                <a:blip r:embed="rId2"/>
                <a:stretch>
                  <a:fillRect/>
                </a:stretch>
              </a:blipFill>
            </p:spPr>
            <p:txBody>
              <a:bodyPr/>
              <a:lstStyle/>
              <a:p>
                <a:r>
                  <a:rPr lang="en-US">
                    <a:noFill/>
                  </a:rPr>
                  <a:t> </a:t>
                </a:r>
              </a:p>
            </p:txBody>
          </p:sp>
        </mc:Fallback>
      </mc:AlternateContent>
      <p:sp>
        <p:nvSpPr>
          <p:cNvPr id="20" name="TextBox 19">
            <a:extLst>
              <a:ext uri="{FF2B5EF4-FFF2-40B4-BE49-F238E27FC236}">
                <a16:creationId xmlns:a16="http://schemas.microsoft.com/office/drawing/2014/main" id="{9108F7A5-5452-4218-A1C7-81F4978C64BB}"/>
              </a:ext>
            </a:extLst>
          </p:cNvPr>
          <p:cNvSpPr txBox="1"/>
          <p:nvPr/>
        </p:nvSpPr>
        <p:spPr>
          <a:xfrm>
            <a:off x="5391355" y="4251299"/>
            <a:ext cx="914400" cy="369332"/>
          </a:xfrm>
          <a:prstGeom prst="rect">
            <a:avLst/>
          </a:prstGeom>
          <a:noFill/>
        </p:spPr>
        <p:txBody>
          <a:bodyPr wrap="square" rtlCol="0">
            <a:spAutoFit/>
          </a:bodyPr>
          <a:lstStyle/>
          <a:p>
            <a:r>
              <a:rPr lang="en-US" b="1" dirty="0">
                <a:solidFill>
                  <a:schemeClr val="accent1">
                    <a:lumMod val="60000"/>
                    <a:lumOff val="40000"/>
                  </a:schemeClr>
                </a:solidFill>
              </a:rPr>
              <a:t>Class 2</a:t>
            </a:r>
          </a:p>
        </p:txBody>
      </p:sp>
      <p:sp>
        <p:nvSpPr>
          <p:cNvPr id="21" name="TextBox 20">
            <a:extLst>
              <a:ext uri="{FF2B5EF4-FFF2-40B4-BE49-F238E27FC236}">
                <a16:creationId xmlns:a16="http://schemas.microsoft.com/office/drawing/2014/main" id="{2CAF28F6-1EB8-442A-9DF0-18D2C3CE9869}"/>
              </a:ext>
            </a:extLst>
          </p:cNvPr>
          <p:cNvSpPr txBox="1"/>
          <p:nvPr/>
        </p:nvSpPr>
        <p:spPr>
          <a:xfrm>
            <a:off x="7731782" y="4118153"/>
            <a:ext cx="914400" cy="369332"/>
          </a:xfrm>
          <a:prstGeom prst="rect">
            <a:avLst/>
          </a:prstGeom>
          <a:noFill/>
        </p:spPr>
        <p:txBody>
          <a:bodyPr wrap="square" rtlCol="0">
            <a:spAutoFit/>
          </a:bodyPr>
          <a:lstStyle/>
          <a:p>
            <a:r>
              <a:rPr lang="en-US" b="1" dirty="0">
                <a:solidFill>
                  <a:schemeClr val="accent2">
                    <a:lumMod val="60000"/>
                    <a:lumOff val="40000"/>
                  </a:schemeClr>
                </a:solidFill>
              </a:rPr>
              <a:t>Class 1</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626B111A-BBC8-459E-8D49-E1F4C6882B68}"/>
                  </a:ext>
                </a:extLst>
              </p:cNvPr>
              <p:cNvSpPr txBox="1"/>
              <p:nvPr/>
            </p:nvSpPr>
            <p:spPr>
              <a:xfrm>
                <a:off x="7315849" y="4826045"/>
                <a:ext cx="1311636" cy="369332"/>
              </a:xfrm>
              <a:prstGeom prst="rect">
                <a:avLst/>
              </a:prstGeom>
              <a:noFill/>
            </p:spPr>
            <p:txBody>
              <a:bodyPr wrap="square" rtlCol="0">
                <a:spAutoFit/>
              </a:bodyPr>
              <a:lstStyle/>
              <a:p>
                <a:pPr algn="ct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oMath>
                </a14:m>
                <a:r>
                  <a:rPr lang="en-US" dirty="0"/>
                  <a:t> </a:t>
                </a:r>
              </a:p>
            </p:txBody>
          </p:sp>
        </mc:Choice>
        <mc:Fallback xmlns="">
          <p:sp>
            <p:nvSpPr>
              <p:cNvPr id="22" name="TextBox 21">
                <a:extLst>
                  <a:ext uri="{FF2B5EF4-FFF2-40B4-BE49-F238E27FC236}">
                    <a16:creationId xmlns:a16="http://schemas.microsoft.com/office/drawing/2014/main" id="{626B111A-BBC8-459E-8D49-E1F4C6882B68}"/>
                  </a:ext>
                </a:extLst>
              </p:cNvPr>
              <p:cNvSpPr txBox="1">
                <a:spLocks noRot="1" noChangeAspect="1" noMove="1" noResize="1" noEditPoints="1" noAdjustHandles="1" noChangeArrowheads="1" noChangeShapeType="1" noTextEdit="1"/>
              </p:cNvSpPr>
              <p:nvPr/>
            </p:nvSpPr>
            <p:spPr>
              <a:xfrm>
                <a:off x="7315849" y="4826045"/>
                <a:ext cx="1311636" cy="369332"/>
              </a:xfrm>
              <a:prstGeom prst="rect">
                <a:avLst/>
              </a:prstGeom>
              <a:blipFill>
                <a:blip r:embed="rId3"/>
                <a:stretch>
                  <a:fillRect/>
                </a:stretch>
              </a:blipFill>
            </p:spPr>
            <p:txBody>
              <a:bodyPr/>
              <a:lstStyle/>
              <a:p>
                <a:r>
                  <a:rPr lang="en-US">
                    <a:noFill/>
                  </a:rPr>
                  <a:t> </a:t>
                </a:r>
              </a:p>
            </p:txBody>
          </p:sp>
        </mc:Fallback>
      </mc:AlternateContent>
      <p:sp>
        <p:nvSpPr>
          <p:cNvPr id="23" name="Oval 22">
            <a:extLst>
              <a:ext uri="{FF2B5EF4-FFF2-40B4-BE49-F238E27FC236}">
                <a16:creationId xmlns:a16="http://schemas.microsoft.com/office/drawing/2014/main" id="{70C93CFD-C7EC-42A6-AF0E-76B729244F5A}"/>
              </a:ext>
            </a:extLst>
          </p:cNvPr>
          <p:cNvSpPr/>
          <p:nvPr/>
        </p:nvSpPr>
        <p:spPr>
          <a:xfrm rot="2604923" flipH="1">
            <a:off x="6775925" y="3489912"/>
            <a:ext cx="91440" cy="9144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solidFill>
                <a:prstClr val="black"/>
              </a:solidFill>
            </a:endParaRPr>
          </a:p>
        </p:txBody>
      </p:sp>
      <p:sp>
        <p:nvSpPr>
          <p:cNvPr id="24" name="Oval 23">
            <a:extLst>
              <a:ext uri="{FF2B5EF4-FFF2-40B4-BE49-F238E27FC236}">
                <a16:creationId xmlns:a16="http://schemas.microsoft.com/office/drawing/2014/main" id="{91A08EA6-54A3-4FE0-99F1-2B4FC633ECDE}"/>
              </a:ext>
            </a:extLst>
          </p:cNvPr>
          <p:cNvSpPr/>
          <p:nvPr/>
        </p:nvSpPr>
        <p:spPr>
          <a:xfrm rot="2604923" flipH="1">
            <a:off x="7607147" y="2730328"/>
            <a:ext cx="91440" cy="91440"/>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solidFill>
                <a:prstClr val="black"/>
              </a:solidFill>
            </a:endParaRPr>
          </a:p>
        </p:txBody>
      </p:sp>
      <p:sp>
        <p:nvSpPr>
          <p:cNvPr id="25" name="Oval 24">
            <a:extLst>
              <a:ext uri="{FF2B5EF4-FFF2-40B4-BE49-F238E27FC236}">
                <a16:creationId xmlns:a16="http://schemas.microsoft.com/office/drawing/2014/main" id="{A62D9152-7534-4F57-AE42-1264DFE80530}"/>
              </a:ext>
            </a:extLst>
          </p:cNvPr>
          <p:cNvSpPr/>
          <p:nvPr/>
        </p:nvSpPr>
        <p:spPr>
          <a:xfrm rot="2604923" flipH="1">
            <a:off x="5969941" y="3465891"/>
            <a:ext cx="91440" cy="9144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solidFill>
                <a:prstClr val="black"/>
              </a:solidFill>
            </a:endParaRPr>
          </a:p>
        </p:txBody>
      </p:sp>
      <p:sp>
        <p:nvSpPr>
          <p:cNvPr id="26" name="Oval 25">
            <a:extLst>
              <a:ext uri="{FF2B5EF4-FFF2-40B4-BE49-F238E27FC236}">
                <a16:creationId xmlns:a16="http://schemas.microsoft.com/office/drawing/2014/main" id="{511B614F-9906-4FDC-B19A-8CE7B96CCB81}"/>
              </a:ext>
            </a:extLst>
          </p:cNvPr>
          <p:cNvSpPr/>
          <p:nvPr/>
        </p:nvSpPr>
        <p:spPr>
          <a:xfrm rot="2604923" flipH="1">
            <a:off x="6217925" y="3916784"/>
            <a:ext cx="91440" cy="9144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solidFill>
                <a:prstClr val="black"/>
              </a:solidFill>
            </a:endParaRPr>
          </a:p>
        </p:txBody>
      </p:sp>
      <p:sp>
        <p:nvSpPr>
          <p:cNvPr id="27" name="Oval 26">
            <a:extLst>
              <a:ext uri="{FF2B5EF4-FFF2-40B4-BE49-F238E27FC236}">
                <a16:creationId xmlns:a16="http://schemas.microsoft.com/office/drawing/2014/main" id="{9541679A-772F-4985-9766-1A49B55F667A}"/>
              </a:ext>
            </a:extLst>
          </p:cNvPr>
          <p:cNvSpPr/>
          <p:nvPr/>
        </p:nvSpPr>
        <p:spPr>
          <a:xfrm rot="2604923" flipH="1">
            <a:off x="6731337" y="3863745"/>
            <a:ext cx="91440" cy="9144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solidFill>
                <a:prstClr val="black"/>
              </a:solidFill>
            </a:endParaRPr>
          </a:p>
        </p:txBody>
      </p:sp>
      <p:sp>
        <p:nvSpPr>
          <p:cNvPr id="28" name="Oval 27">
            <a:extLst>
              <a:ext uri="{FF2B5EF4-FFF2-40B4-BE49-F238E27FC236}">
                <a16:creationId xmlns:a16="http://schemas.microsoft.com/office/drawing/2014/main" id="{CD18F93B-9C6A-4484-BD3B-EAD60178B475}"/>
              </a:ext>
            </a:extLst>
          </p:cNvPr>
          <p:cNvSpPr/>
          <p:nvPr/>
        </p:nvSpPr>
        <p:spPr>
          <a:xfrm rot="2604923" flipH="1">
            <a:off x="7106882" y="4027708"/>
            <a:ext cx="91440" cy="9144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solidFill>
                <a:prstClr val="black"/>
              </a:solidFill>
            </a:endParaRPr>
          </a:p>
        </p:txBody>
      </p:sp>
      <p:sp>
        <p:nvSpPr>
          <p:cNvPr id="29" name="Oval 28">
            <a:extLst>
              <a:ext uri="{FF2B5EF4-FFF2-40B4-BE49-F238E27FC236}">
                <a16:creationId xmlns:a16="http://schemas.microsoft.com/office/drawing/2014/main" id="{41C625D0-42A4-41E4-A0AC-6B89E431DD1B}"/>
              </a:ext>
            </a:extLst>
          </p:cNvPr>
          <p:cNvSpPr/>
          <p:nvPr/>
        </p:nvSpPr>
        <p:spPr>
          <a:xfrm rot="2604923" flipH="1">
            <a:off x="6257511" y="4339871"/>
            <a:ext cx="91440" cy="9144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solidFill>
                <a:prstClr val="black"/>
              </a:solidFill>
            </a:endParaRPr>
          </a:p>
        </p:txBody>
      </p:sp>
      <p:sp>
        <p:nvSpPr>
          <p:cNvPr id="30" name="Oval 29">
            <a:extLst>
              <a:ext uri="{FF2B5EF4-FFF2-40B4-BE49-F238E27FC236}">
                <a16:creationId xmlns:a16="http://schemas.microsoft.com/office/drawing/2014/main" id="{ACD405CF-6317-4825-8CFC-EA9CCF6E4687}"/>
              </a:ext>
            </a:extLst>
          </p:cNvPr>
          <p:cNvSpPr/>
          <p:nvPr/>
        </p:nvSpPr>
        <p:spPr>
          <a:xfrm rot="2604923" flipH="1">
            <a:off x="6710617" y="3172591"/>
            <a:ext cx="91440" cy="91440"/>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solidFill>
                <a:prstClr val="black"/>
              </a:solidFill>
            </a:endParaRPr>
          </a:p>
        </p:txBody>
      </p:sp>
      <p:sp>
        <p:nvSpPr>
          <p:cNvPr id="31" name="Oval 30">
            <a:extLst>
              <a:ext uri="{FF2B5EF4-FFF2-40B4-BE49-F238E27FC236}">
                <a16:creationId xmlns:a16="http://schemas.microsoft.com/office/drawing/2014/main" id="{4FA6CF7F-BD2F-48DE-8DFD-2B97103BC12F}"/>
              </a:ext>
            </a:extLst>
          </p:cNvPr>
          <p:cNvSpPr/>
          <p:nvPr/>
        </p:nvSpPr>
        <p:spPr>
          <a:xfrm rot="2604923" flipH="1">
            <a:off x="6581350" y="3554545"/>
            <a:ext cx="91440" cy="91440"/>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solidFill>
                <a:prstClr val="black"/>
              </a:solidFill>
            </a:endParaRPr>
          </a:p>
        </p:txBody>
      </p:sp>
      <p:sp>
        <p:nvSpPr>
          <p:cNvPr id="32" name="Oval 31">
            <a:extLst>
              <a:ext uri="{FF2B5EF4-FFF2-40B4-BE49-F238E27FC236}">
                <a16:creationId xmlns:a16="http://schemas.microsoft.com/office/drawing/2014/main" id="{41032802-5611-43F9-9FDF-A0FB547937ED}"/>
              </a:ext>
            </a:extLst>
          </p:cNvPr>
          <p:cNvSpPr/>
          <p:nvPr/>
        </p:nvSpPr>
        <p:spPr>
          <a:xfrm rot="2604923" flipH="1">
            <a:off x="6401197" y="2866208"/>
            <a:ext cx="91440" cy="91440"/>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solidFill>
                <a:prstClr val="black"/>
              </a:solidFill>
            </a:endParaRPr>
          </a:p>
        </p:txBody>
      </p:sp>
      <p:sp>
        <p:nvSpPr>
          <p:cNvPr id="33" name="Oval 32">
            <a:extLst>
              <a:ext uri="{FF2B5EF4-FFF2-40B4-BE49-F238E27FC236}">
                <a16:creationId xmlns:a16="http://schemas.microsoft.com/office/drawing/2014/main" id="{4781625E-90D3-4C59-954D-BF97BB0C84D2}"/>
              </a:ext>
            </a:extLst>
          </p:cNvPr>
          <p:cNvSpPr/>
          <p:nvPr/>
        </p:nvSpPr>
        <p:spPr>
          <a:xfrm rot="2604923" flipH="1">
            <a:off x="5905307" y="3916784"/>
            <a:ext cx="91440" cy="9144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solidFill>
                <a:prstClr val="black"/>
              </a:solidFill>
            </a:endParaRPr>
          </a:p>
        </p:txBody>
      </p:sp>
      <p:sp>
        <p:nvSpPr>
          <p:cNvPr id="34" name="Oval 33">
            <a:extLst>
              <a:ext uri="{FF2B5EF4-FFF2-40B4-BE49-F238E27FC236}">
                <a16:creationId xmlns:a16="http://schemas.microsoft.com/office/drawing/2014/main" id="{78479D9A-B84F-4B55-9271-0C8409C5C531}"/>
              </a:ext>
            </a:extLst>
          </p:cNvPr>
          <p:cNvSpPr/>
          <p:nvPr/>
        </p:nvSpPr>
        <p:spPr>
          <a:xfrm rot="2604923" flipH="1">
            <a:off x="7607147" y="3844948"/>
            <a:ext cx="91440" cy="9144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solidFill>
                <a:prstClr val="black"/>
              </a:solidFill>
            </a:endParaRPr>
          </a:p>
        </p:txBody>
      </p:sp>
      <p:sp>
        <p:nvSpPr>
          <p:cNvPr id="35" name="Oval 34">
            <a:extLst>
              <a:ext uri="{FF2B5EF4-FFF2-40B4-BE49-F238E27FC236}">
                <a16:creationId xmlns:a16="http://schemas.microsoft.com/office/drawing/2014/main" id="{11BB8CB2-64FA-4E4A-B669-F82F8414578D}"/>
              </a:ext>
            </a:extLst>
          </p:cNvPr>
          <p:cNvSpPr/>
          <p:nvPr/>
        </p:nvSpPr>
        <p:spPr>
          <a:xfrm>
            <a:off x="6054774" y="3025190"/>
            <a:ext cx="1143000" cy="1143000"/>
          </a:xfrm>
          <a:prstGeom prst="ellipse">
            <a:avLst/>
          </a:prstGeom>
          <a:noFill/>
          <a:ln w="6350">
            <a:prstDash val="dash"/>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36" name="TextBox 35">
            <a:extLst>
              <a:ext uri="{FF2B5EF4-FFF2-40B4-BE49-F238E27FC236}">
                <a16:creationId xmlns:a16="http://schemas.microsoft.com/office/drawing/2014/main" id="{4A972A2F-5591-43A6-A14C-B321C556B384}"/>
              </a:ext>
            </a:extLst>
          </p:cNvPr>
          <p:cNvSpPr txBox="1"/>
          <p:nvPr/>
        </p:nvSpPr>
        <p:spPr>
          <a:xfrm>
            <a:off x="7525766" y="2199671"/>
            <a:ext cx="914400" cy="369332"/>
          </a:xfrm>
          <a:prstGeom prst="rect">
            <a:avLst/>
          </a:prstGeom>
          <a:noFill/>
        </p:spPr>
        <p:txBody>
          <a:bodyPr wrap="square" rtlCol="0">
            <a:spAutoFit/>
          </a:bodyPr>
          <a:lstStyle/>
          <a:p>
            <a:r>
              <a:rPr lang="en-US" b="1" dirty="0">
                <a:solidFill>
                  <a:schemeClr val="accent6">
                    <a:lumMod val="60000"/>
                    <a:lumOff val="40000"/>
                  </a:schemeClr>
                </a:solidFill>
              </a:rPr>
              <a:t>Class 3</a:t>
            </a:r>
          </a:p>
        </p:txBody>
      </p:sp>
      <p:sp>
        <p:nvSpPr>
          <p:cNvPr id="37" name="TextBox 36">
            <a:extLst>
              <a:ext uri="{FF2B5EF4-FFF2-40B4-BE49-F238E27FC236}">
                <a16:creationId xmlns:a16="http://schemas.microsoft.com/office/drawing/2014/main" id="{6C016077-1F8A-4E00-883F-BED1CD3E2234}"/>
              </a:ext>
            </a:extLst>
          </p:cNvPr>
          <p:cNvSpPr txBox="1"/>
          <p:nvPr/>
        </p:nvSpPr>
        <p:spPr>
          <a:xfrm>
            <a:off x="8896644" y="2619185"/>
            <a:ext cx="3032467" cy="206210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1600" dirty="0"/>
              <a:t>The 5 data samples that are closest to        :</a:t>
            </a:r>
          </a:p>
          <a:p>
            <a:r>
              <a:rPr lang="en-US" sz="1600" dirty="0"/>
              <a:t>3 belong to class 2 (blue)</a:t>
            </a:r>
          </a:p>
          <a:p>
            <a:r>
              <a:rPr lang="en-US" sz="1600" dirty="0"/>
              <a:t>1 belongs to class 3 (green)</a:t>
            </a:r>
          </a:p>
          <a:p>
            <a:r>
              <a:rPr lang="en-US" sz="1600" dirty="0"/>
              <a:t>1 belongs to class 1 (orange) </a:t>
            </a:r>
          </a:p>
          <a:p>
            <a:r>
              <a:rPr lang="en-US" sz="1600" dirty="0"/>
              <a:t>Then the unlabeled data is predicted to belong to class 2 (blue).</a:t>
            </a:r>
          </a:p>
        </p:txBody>
      </p:sp>
      <p:cxnSp>
        <p:nvCxnSpPr>
          <p:cNvPr id="38" name="Straight Arrow Connector 37">
            <a:extLst>
              <a:ext uri="{FF2B5EF4-FFF2-40B4-BE49-F238E27FC236}">
                <a16:creationId xmlns:a16="http://schemas.microsoft.com/office/drawing/2014/main" id="{08CBA6B3-FC48-4263-A6F9-2788BDA1441C}"/>
              </a:ext>
            </a:extLst>
          </p:cNvPr>
          <p:cNvCxnSpPr>
            <a:cxnSpLocks/>
            <a:stCxn id="35" idx="6"/>
            <a:endCxn id="37" idx="1"/>
          </p:cNvCxnSpPr>
          <p:nvPr/>
        </p:nvCxnSpPr>
        <p:spPr>
          <a:xfrm>
            <a:off x="7197774" y="3596690"/>
            <a:ext cx="1698870" cy="5354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9" name="Oval 38">
            <a:extLst>
              <a:ext uri="{FF2B5EF4-FFF2-40B4-BE49-F238E27FC236}">
                <a16:creationId xmlns:a16="http://schemas.microsoft.com/office/drawing/2014/main" id="{44E1DA01-9C6E-4566-ABC0-08988A2802A3}"/>
              </a:ext>
            </a:extLst>
          </p:cNvPr>
          <p:cNvSpPr/>
          <p:nvPr/>
        </p:nvSpPr>
        <p:spPr>
          <a:xfrm rot="2604923" flipH="1">
            <a:off x="9933162" y="2998804"/>
            <a:ext cx="91440" cy="91440"/>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solidFill>
                <a:prstClr val="black"/>
              </a:solidFill>
            </a:endParaRPr>
          </a:p>
        </p:txBody>
      </p:sp>
      <p:sp>
        <p:nvSpPr>
          <p:cNvPr id="40" name="Oval 39">
            <a:extLst>
              <a:ext uri="{FF2B5EF4-FFF2-40B4-BE49-F238E27FC236}">
                <a16:creationId xmlns:a16="http://schemas.microsoft.com/office/drawing/2014/main" id="{A2B1DF07-EBB9-40DF-8589-FB2A48FC8594}"/>
              </a:ext>
            </a:extLst>
          </p:cNvPr>
          <p:cNvSpPr/>
          <p:nvPr/>
        </p:nvSpPr>
        <p:spPr>
          <a:xfrm rot="2604923" flipH="1">
            <a:off x="3030821" y="3545856"/>
            <a:ext cx="91440" cy="9144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solidFill>
                <a:prstClr val="black"/>
              </a:solidFill>
            </a:endParaRPr>
          </a:p>
        </p:txBody>
      </p:sp>
      <p:sp>
        <p:nvSpPr>
          <p:cNvPr id="41" name="Oval 40">
            <a:extLst>
              <a:ext uri="{FF2B5EF4-FFF2-40B4-BE49-F238E27FC236}">
                <a16:creationId xmlns:a16="http://schemas.microsoft.com/office/drawing/2014/main" id="{B03D9C8A-A147-4AEC-812B-E33A0DF690A0}"/>
              </a:ext>
            </a:extLst>
          </p:cNvPr>
          <p:cNvSpPr/>
          <p:nvPr/>
        </p:nvSpPr>
        <p:spPr>
          <a:xfrm rot="2604923" flipH="1">
            <a:off x="2986792" y="2998803"/>
            <a:ext cx="91440" cy="91440"/>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solidFill>
                <a:prstClr val="black"/>
              </a:solidFill>
            </a:endParaRPr>
          </a:p>
        </p:txBody>
      </p:sp>
      <p:sp>
        <p:nvSpPr>
          <p:cNvPr id="42" name="Oval 41">
            <a:extLst>
              <a:ext uri="{FF2B5EF4-FFF2-40B4-BE49-F238E27FC236}">
                <a16:creationId xmlns:a16="http://schemas.microsoft.com/office/drawing/2014/main" id="{87D06C76-A421-4D8C-8714-963E3C341F8C}"/>
              </a:ext>
            </a:extLst>
          </p:cNvPr>
          <p:cNvSpPr/>
          <p:nvPr/>
        </p:nvSpPr>
        <p:spPr>
          <a:xfrm rot="2604923" flipH="1">
            <a:off x="2622338" y="3288477"/>
            <a:ext cx="91440" cy="91440"/>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solidFill>
                <a:prstClr val="black"/>
              </a:solidFill>
            </a:endParaRPr>
          </a:p>
        </p:txBody>
      </p:sp>
      <p:sp>
        <p:nvSpPr>
          <p:cNvPr id="43" name="Oval 42">
            <a:extLst>
              <a:ext uri="{FF2B5EF4-FFF2-40B4-BE49-F238E27FC236}">
                <a16:creationId xmlns:a16="http://schemas.microsoft.com/office/drawing/2014/main" id="{74C1F293-7E0A-41C4-AD25-39333B7D053A}"/>
              </a:ext>
            </a:extLst>
          </p:cNvPr>
          <p:cNvSpPr/>
          <p:nvPr/>
        </p:nvSpPr>
        <p:spPr>
          <a:xfrm rot="2604923" flipH="1">
            <a:off x="2704541" y="4221609"/>
            <a:ext cx="91440" cy="9144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solidFill>
                <a:prstClr val="black"/>
              </a:solidFill>
            </a:endParaRPr>
          </a:p>
        </p:txBody>
      </p:sp>
      <p:sp>
        <p:nvSpPr>
          <p:cNvPr id="44" name="Oval 43">
            <a:extLst>
              <a:ext uri="{FF2B5EF4-FFF2-40B4-BE49-F238E27FC236}">
                <a16:creationId xmlns:a16="http://schemas.microsoft.com/office/drawing/2014/main" id="{585F1622-6C97-46EA-ABD7-40D8637AD798}"/>
              </a:ext>
            </a:extLst>
          </p:cNvPr>
          <p:cNvSpPr/>
          <p:nvPr/>
        </p:nvSpPr>
        <p:spPr>
          <a:xfrm rot="2604923" flipH="1">
            <a:off x="840651" y="3128071"/>
            <a:ext cx="91440" cy="9144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solidFill>
                <a:prstClr val="black"/>
              </a:solidFill>
            </a:endParaRPr>
          </a:p>
        </p:txBody>
      </p:sp>
      <p:sp>
        <p:nvSpPr>
          <p:cNvPr id="45" name="Oval 44">
            <a:extLst>
              <a:ext uri="{FF2B5EF4-FFF2-40B4-BE49-F238E27FC236}">
                <a16:creationId xmlns:a16="http://schemas.microsoft.com/office/drawing/2014/main" id="{34F155ED-1B3D-436D-947D-35FB5FACA8E1}"/>
              </a:ext>
            </a:extLst>
          </p:cNvPr>
          <p:cNvSpPr/>
          <p:nvPr/>
        </p:nvSpPr>
        <p:spPr>
          <a:xfrm rot="2604923" flipH="1">
            <a:off x="757110" y="3722292"/>
            <a:ext cx="91440" cy="9144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solidFill>
                <a:prstClr val="black"/>
              </a:solidFill>
            </a:endParaRPr>
          </a:p>
        </p:txBody>
      </p:sp>
      <p:sp>
        <p:nvSpPr>
          <p:cNvPr id="46" name="Oval 45">
            <a:extLst>
              <a:ext uri="{FF2B5EF4-FFF2-40B4-BE49-F238E27FC236}">
                <a16:creationId xmlns:a16="http://schemas.microsoft.com/office/drawing/2014/main" id="{C79E3536-76B8-4511-B2E8-71F8B0D88884}"/>
              </a:ext>
            </a:extLst>
          </p:cNvPr>
          <p:cNvSpPr/>
          <p:nvPr/>
        </p:nvSpPr>
        <p:spPr>
          <a:xfrm rot="2604923" flipH="1">
            <a:off x="1213334" y="3179951"/>
            <a:ext cx="91440" cy="9144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solidFill>
                <a:prstClr val="black"/>
              </a:solidFill>
            </a:endParaRPr>
          </a:p>
        </p:txBody>
      </p:sp>
      <p:sp>
        <p:nvSpPr>
          <p:cNvPr id="47" name="Oval 46">
            <a:extLst>
              <a:ext uri="{FF2B5EF4-FFF2-40B4-BE49-F238E27FC236}">
                <a16:creationId xmlns:a16="http://schemas.microsoft.com/office/drawing/2014/main" id="{F66C80B7-16C9-4E9B-9507-D9DF16098B32}"/>
              </a:ext>
            </a:extLst>
          </p:cNvPr>
          <p:cNvSpPr/>
          <p:nvPr/>
        </p:nvSpPr>
        <p:spPr>
          <a:xfrm rot="2604923" flipH="1">
            <a:off x="1849586" y="2573465"/>
            <a:ext cx="91440" cy="91440"/>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solidFill>
                <a:prstClr val="black"/>
              </a:solidFill>
            </a:endParaRPr>
          </a:p>
        </p:txBody>
      </p:sp>
      <p:sp>
        <p:nvSpPr>
          <p:cNvPr id="48" name="Oval 47">
            <a:extLst>
              <a:ext uri="{FF2B5EF4-FFF2-40B4-BE49-F238E27FC236}">
                <a16:creationId xmlns:a16="http://schemas.microsoft.com/office/drawing/2014/main" id="{B3F1F9A0-9ADA-4775-B4F4-A09A3C6E9A5C}"/>
              </a:ext>
            </a:extLst>
          </p:cNvPr>
          <p:cNvSpPr/>
          <p:nvPr/>
        </p:nvSpPr>
        <p:spPr>
          <a:xfrm rot="2604923" flipH="1">
            <a:off x="2450064" y="2576757"/>
            <a:ext cx="91440" cy="91440"/>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solidFill>
                <a:prstClr val="black"/>
              </a:solidFill>
            </a:endParaRPr>
          </a:p>
        </p:txBody>
      </p:sp>
      <p:sp>
        <p:nvSpPr>
          <p:cNvPr id="49" name="Oval 48">
            <a:extLst>
              <a:ext uri="{FF2B5EF4-FFF2-40B4-BE49-F238E27FC236}">
                <a16:creationId xmlns:a16="http://schemas.microsoft.com/office/drawing/2014/main" id="{7388F5D5-CAA4-4506-B064-A0B6A6AA9198}"/>
              </a:ext>
            </a:extLst>
          </p:cNvPr>
          <p:cNvSpPr/>
          <p:nvPr/>
        </p:nvSpPr>
        <p:spPr>
          <a:xfrm rot="2604923" flipH="1">
            <a:off x="1505028" y="3667673"/>
            <a:ext cx="91440" cy="9144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solidFill>
                <a:prstClr val="black"/>
              </a:solidFill>
            </a:endParaRPr>
          </a:p>
        </p:txBody>
      </p:sp>
      <p:sp>
        <p:nvSpPr>
          <p:cNvPr id="50" name="Oval 49">
            <a:extLst>
              <a:ext uri="{FF2B5EF4-FFF2-40B4-BE49-F238E27FC236}">
                <a16:creationId xmlns:a16="http://schemas.microsoft.com/office/drawing/2014/main" id="{B97D4C63-5F61-4323-B075-9ADE426A0394}"/>
              </a:ext>
            </a:extLst>
          </p:cNvPr>
          <p:cNvSpPr/>
          <p:nvPr/>
        </p:nvSpPr>
        <p:spPr>
          <a:xfrm rot="2604923" flipH="1">
            <a:off x="2097570" y="3024358"/>
            <a:ext cx="91440" cy="91440"/>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solidFill>
                <a:prstClr val="black"/>
              </a:solidFill>
            </a:endParaRPr>
          </a:p>
        </p:txBody>
      </p:sp>
      <p:sp>
        <p:nvSpPr>
          <p:cNvPr id="51" name="Oval 50">
            <a:extLst>
              <a:ext uri="{FF2B5EF4-FFF2-40B4-BE49-F238E27FC236}">
                <a16:creationId xmlns:a16="http://schemas.microsoft.com/office/drawing/2014/main" id="{113B9393-3036-43BB-BFB6-95FEF1A3D362}"/>
              </a:ext>
            </a:extLst>
          </p:cNvPr>
          <p:cNvSpPr/>
          <p:nvPr/>
        </p:nvSpPr>
        <p:spPr>
          <a:xfrm rot="2604923" flipH="1">
            <a:off x="2163684" y="4574911"/>
            <a:ext cx="91440" cy="9144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solidFill>
                <a:prstClr val="black"/>
              </a:solidFill>
            </a:endParaRPr>
          </a:p>
        </p:txBody>
      </p:sp>
      <p:sp>
        <p:nvSpPr>
          <p:cNvPr id="52" name="Oval 51">
            <a:extLst>
              <a:ext uri="{FF2B5EF4-FFF2-40B4-BE49-F238E27FC236}">
                <a16:creationId xmlns:a16="http://schemas.microsoft.com/office/drawing/2014/main" id="{CF61436D-3FEC-480D-A833-5E6D1D42E122}"/>
              </a:ext>
            </a:extLst>
          </p:cNvPr>
          <p:cNvSpPr/>
          <p:nvPr/>
        </p:nvSpPr>
        <p:spPr>
          <a:xfrm rot="2604923" flipH="1">
            <a:off x="2462172" y="3799111"/>
            <a:ext cx="91440" cy="9144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solidFill>
                <a:prstClr val="black"/>
              </a:solidFill>
            </a:endParaRPr>
          </a:p>
        </p:txBody>
      </p:sp>
      <p:cxnSp>
        <p:nvCxnSpPr>
          <p:cNvPr id="53" name="Straight Arrow Connector 52">
            <a:extLst>
              <a:ext uri="{FF2B5EF4-FFF2-40B4-BE49-F238E27FC236}">
                <a16:creationId xmlns:a16="http://schemas.microsoft.com/office/drawing/2014/main" id="{E69C1307-6F07-453C-BEDF-193658270637}"/>
              </a:ext>
            </a:extLst>
          </p:cNvPr>
          <p:cNvCxnSpPr/>
          <p:nvPr/>
        </p:nvCxnSpPr>
        <p:spPr>
          <a:xfrm>
            <a:off x="428815" y="4925329"/>
            <a:ext cx="313783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4" name="Straight Arrow Connector 53">
            <a:extLst>
              <a:ext uri="{FF2B5EF4-FFF2-40B4-BE49-F238E27FC236}">
                <a16:creationId xmlns:a16="http://schemas.microsoft.com/office/drawing/2014/main" id="{B7CCCCF0-2AEE-44E2-BCB8-827047D4A963}"/>
              </a:ext>
            </a:extLst>
          </p:cNvPr>
          <p:cNvCxnSpPr>
            <a:cxnSpLocks/>
          </p:cNvCxnSpPr>
          <p:nvPr/>
        </p:nvCxnSpPr>
        <p:spPr>
          <a:xfrm rot="16200000" flipV="1">
            <a:off x="-778317" y="3689699"/>
            <a:ext cx="26517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1525258D-45D2-4C4D-BB5E-349B29010F2A}"/>
                  </a:ext>
                </a:extLst>
              </p:cNvPr>
              <p:cNvSpPr txBox="1"/>
              <p:nvPr/>
            </p:nvSpPr>
            <p:spPr>
              <a:xfrm>
                <a:off x="-315218" y="2236762"/>
                <a:ext cx="1311636" cy="369332"/>
              </a:xfrm>
              <a:prstGeom prst="rect">
                <a:avLst/>
              </a:prstGeom>
              <a:noFill/>
            </p:spPr>
            <p:txBody>
              <a:bodyPr wrap="square" rtlCol="0">
                <a:spAutoFit/>
              </a:bodyPr>
              <a:lstStyle/>
              <a:p>
                <a:pPr algn="ct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oMath>
                </a14:m>
                <a:r>
                  <a:rPr lang="en-US" dirty="0"/>
                  <a:t> </a:t>
                </a:r>
              </a:p>
            </p:txBody>
          </p:sp>
        </mc:Choice>
        <mc:Fallback xmlns="">
          <p:sp>
            <p:nvSpPr>
              <p:cNvPr id="55" name="TextBox 54">
                <a:extLst>
                  <a:ext uri="{FF2B5EF4-FFF2-40B4-BE49-F238E27FC236}">
                    <a16:creationId xmlns:a16="http://schemas.microsoft.com/office/drawing/2014/main" id="{1525258D-45D2-4C4D-BB5E-349B29010F2A}"/>
                  </a:ext>
                </a:extLst>
              </p:cNvPr>
              <p:cNvSpPr txBox="1">
                <a:spLocks noRot="1" noChangeAspect="1" noMove="1" noResize="1" noEditPoints="1" noAdjustHandles="1" noChangeArrowheads="1" noChangeShapeType="1" noTextEdit="1"/>
              </p:cNvSpPr>
              <p:nvPr/>
            </p:nvSpPr>
            <p:spPr>
              <a:xfrm>
                <a:off x="-315218" y="2236762"/>
                <a:ext cx="1311636" cy="369332"/>
              </a:xfrm>
              <a:prstGeom prst="rect">
                <a:avLst/>
              </a:prstGeom>
              <a:blipFill>
                <a:blip r:embed="rId4"/>
                <a:stretch>
                  <a:fillRect/>
                </a:stretch>
              </a:blipFill>
            </p:spPr>
            <p:txBody>
              <a:bodyPr/>
              <a:lstStyle/>
              <a:p>
                <a:r>
                  <a:rPr lang="en-US">
                    <a:noFill/>
                  </a:rPr>
                  <a:t> </a:t>
                </a:r>
              </a:p>
            </p:txBody>
          </p:sp>
        </mc:Fallback>
      </mc:AlternateContent>
      <p:sp>
        <p:nvSpPr>
          <p:cNvPr id="56" name="TextBox 55">
            <a:extLst>
              <a:ext uri="{FF2B5EF4-FFF2-40B4-BE49-F238E27FC236}">
                <a16:creationId xmlns:a16="http://schemas.microsoft.com/office/drawing/2014/main" id="{93F660A0-0294-4423-B669-3F0423C7D294}"/>
              </a:ext>
            </a:extLst>
          </p:cNvPr>
          <p:cNvSpPr txBox="1"/>
          <p:nvPr/>
        </p:nvSpPr>
        <p:spPr>
          <a:xfrm>
            <a:off x="509605" y="4315933"/>
            <a:ext cx="914400" cy="369332"/>
          </a:xfrm>
          <a:prstGeom prst="rect">
            <a:avLst/>
          </a:prstGeom>
          <a:noFill/>
        </p:spPr>
        <p:txBody>
          <a:bodyPr wrap="square" rtlCol="0">
            <a:spAutoFit/>
          </a:bodyPr>
          <a:lstStyle/>
          <a:p>
            <a:r>
              <a:rPr lang="en-US" b="1" dirty="0">
                <a:solidFill>
                  <a:schemeClr val="accent1">
                    <a:lumMod val="60000"/>
                    <a:lumOff val="40000"/>
                  </a:schemeClr>
                </a:solidFill>
              </a:rPr>
              <a:t>Class 2</a:t>
            </a:r>
          </a:p>
        </p:txBody>
      </p:sp>
      <p:sp>
        <p:nvSpPr>
          <p:cNvPr id="57" name="TextBox 56">
            <a:extLst>
              <a:ext uri="{FF2B5EF4-FFF2-40B4-BE49-F238E27FC236}">
                <a16:creationId xmlns:a16="http://schemas.microsoft.com/office/drawing/2014/main" id="{99441593-2CD6-4C3F-AAC0-2A5361792F32}"/>
              </a:ext>
            </a:extLst>
          </p:cNvPr>
          <p:cNvSpPr txBox="1"/>
          <p:nvPr/>
        </p:nvSpPr>
        <p:spPr>
          <a:xfrm>
            <a:off x="2850032" y="4182787"/>
            <a:ext cx="914400" cy="369332"/>
          </a:xfrm>
          <a:prstGeom prst="rect">
            <a:avLst/>
          </a:prstGeom>
          <a:noFill/>
        </p:spPr>
        <p:txBody>
          <a:bodyPr wrap="square" rtlCol="0">
            <a:spAutoFit/>
          </a:bodyPr>
          <a:lstStyle/>
          <a:p>
            <a:r>
              <a:rPr lang="en-US" b="1" dirty="0">
                <a:solidFill>
                  <a:schemeClr val="accent2">
                    <a:lumMod val="60000"/>
                    <a:lumOff val="40000"/>
                  </a:schemeClr>
                </a:solidFill>
              </a:rPr>
              <a:t>Class 1</a:t>
            </a:r>
          </a:p>
        </p:txBody>
      </p: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78EDB2E6-CEED-4392-8335-2AF648B91CCD}"/>
                  </a:ext>
                </a:extLst>
              </p:cNvPr>
              <p:cNvSpPr txBox="1"/>
              <p:nvPr/>
            </p:nvSpPr>
            <p:spPr>
              <a:xfrm>
                <a:off x="2434099" y="4890679"/>
                <a:ext cx="1311636" cy="369332"/>
              </a:xfrm>
              <a:prstGeom prst="rect">
                <a:avLst/>
              </a:prstGeom>
              <a:noFill/>
            </p:spPr>
            <p:txBody>
              <a:bodyPr wrap="square" rtlCol="0">
                <a:spAutoFit/>
              </a:bodyPr>
              <a:lstStyle/>
              <a:p>
                <a:pPr algn="ct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oMath>
                </a14:m>
                <a:r>
                  <a:rPr lang="en-US" dirty="0"/>
                  <a:t> </a:t>
                </a:r>
              </a:p>
            </p:txBody>
          </p:sp>
        </mc:Choice>
        <mc:Fallback xmlns="">
          <p:sp>
            <p:nvSpPr>
              <p:cNvPr id="58" name="TextBox 57">
                <a:extLst>
                  <a:ext uri="{FF2B5EF4-FFF2-40B4-BE49-F238E27FC236}">
                    <a16:creationId xmlns:a16="http://schemas.microsoft.com/office/drawing/2014/main" id="{78EDB2E6-CEED-4392-8335-2AF648B91CCD}"/>
                  </a:ext>
                </a:extLst>
              </p:cNvPr>
              <p:cNvSpPr txBox="1">
                <a:spLocks noRot="1" noChangeAspect="1" noMove="1" noResize="1" noEditPoints="1" noAdjustHandles="1" noChangeArrowheads="1" noChangeShapeType="1" noTextEdit="1"/>
              </p:cNvSpPr>
              <p:nvPr/>
            </p:nvSpPr>
            <p:spPr>
              <a:xfrm>
                <a:off x="2434099" y="4890679"/>
                <a:ext cx="1311636" cy="369332"/>
              </a:xfrm>
              <a:prstGeom prst="rect">
                <a:avLst/>
              </a:prstGeom>
              <a:blipFill>
                <a:blip r:embed="rId5"/>
                <a:stretch>
                  <a:fillRect/>
                </a:stretch>
              </a:blipFill>
            </p:spPr>
            <p:txBody>
              <a:bodyPr/>
              <a:lstStyle/>
              <a:p>
                <a:r>
                  <a:rPr lang="en-US">
                    <a:noFill/>
                  </a:rPr>
                  <a:t> </a:t>
                </a:r>
              </a:p>
            </p:txBody>
          </p:sp>
        </mc:Fallback>
      </mc:AlternateContent>
      <p:sp>
        <p:nvSpPr>
          <p:cNvPr id="59" name="Oval 58">
            <a:extLst>
              <a:ext uri="{FF2B5EF4-FFF2-40B4-BE49-F238E27FC236}">
                <a16:creationId xmlns:a16="http://schemas.microsoft.com/office/drawing/2014/main" id="{2E444465-AD2F-4D5E-9CC4-EEF6BBF8B3B5}"/>
              </a:ext>
            </a:extLst>
          </p:cNvPr>
          <p:cNvSpPr/>
          <p:nvPr/>
        </p:nvSpPr>
        <p:spPr>
          <a:xfrm rot="2604923" flipH="1">
            <a:off x="1894175" y="3554546"/>
            <a:ext cx="91440" cy="9144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solidFill>
                <a:prstClr val="black"/>
              </a:solidFill>
            </a:endParaRPr>
          </a:p>
        </p:txBody>
      </p:sp>
      <p:sp>
        <p:nvSpPr>
          <p:cNvPr id="60" name="Oval 59">
            <a:extLst>
              <a:ext uri="{FF2B5EF4-FFF2-40B4-BE49-F238E27FC236}">
                <a16:creationId xmlns:a16="http://schemas.microsoft.com/office/drawing/2014/main" id="{7405F08B-99E4-4E84-9B48-5195F280D0D3}"/>
              </a:ext>
            </a:extLst>
          </p:cNvPr>
          <p:cNvSpPr/>
          <p:nvPr/>
        </p:nvSpPr>
        <p:spPr>
          <a:xfrm rot="2604923" flipH="1">
            <a:off x="2725397" y="2794962"/>
            <a:ext cx="91440" cy="91440"/>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solidFill>
                <a:prstClr val="black"/>
              </a:solidFill>
            </a:endParaRPr>
          </a:p>
        </p:txBody>
      </p:sp>
      <p:sp>
        <p:nvSpPr>
          <p:cNvPr id="61" name="Oval 60">
            <a:extLst>
              <a:ext uri="{FF2B5EF4-FFF2-40B4-BE49-F238E27FC236}">
                <a16:creationId xmlns:a16="http://schemas.microsoft.com/office/drawing/2014/main" id="{F928E797-C850-4841-8E7A-302737229C60}"/>
              </a:ext>
            </a:extLst>
          </p:cNvPr>
          <p:cNvSpPr/>
          <p:nvPr/>
        </p:nvSpPr>
        <p:spPr>
          <a:xfrm rot="2604923" flipH="1">
            <a:off x="1088191" y="3530525"/>
            <a:ext cx="91440" cy="9144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solidFill>
                <a:prstClr val="black"/>
              </a:solidFill>
            </a:endParaRPr>
          </a:p>
        </p:txBody>
      </p:sp>
      <p:sp>
        <p:nvSpPr>
          <p:cNvPr id="62" name="Oval 61">
            <a:extLst>
              <a:ext uri="{FF2B5EF4-FFF2-40B4-BE49-F238E27FC236}">
                <a16:creationId xmlns:a16="http://schemas.microsoft.com/office/drawing/2014/main" id="{B911A1AC-62CF-4963-B4EE-B17A8AD719F7}"/>
              </a:ext>
            </a:extLst>
          </p:cNvPr>
          <p:cNvSpPr/>
          <p:nvPr/>
        </p:nvSpPr>
        <p:spPr>
          <a:xfrm rot="2604923" flipH="1">
            <a:off x="1336175" y="3981418"/>
            <a:ext cx="91440" cy="9144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solidFill>
                <a:prstClr val="black"/>
              </a:solidFill>
            </a:endParaRPr>
          </a:p>
        </p:txBody>
      </p:sp>
      <p:sp>
        <p:nvSpPr>
          <p:cNvPr id="63" name="Oval 62">
            <a:extLst>
              <a:ext uri="{FF2B5EF4-FFF2-40B4-BE49-F238E27FC236}">
                <a16:creationId xmlns:a16="http://schemas.microsoft.com/office/drawing/2014/main" id="{611ABC75-B319-4F7A-A4C0-BEDACE8BDE43}"/>
              </a:ext>
            </a:extLst>
          </p:cNvPr>
          <p:cNvSpPr/>
          <p:nvPr/>
        </p:nvSpPr>
        <p:spPr>
          <a:xfrm rot="2604923" flipH="1">
            <a:off x="1849587" y="3928379"/>
            <a:ext cx="91440" cy="9144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solidFill>
                <a:prstClr val="black"/>
              </a:solidFill>
            </a:endParaRPr>
          </a:p>
        </p:txBody>
      </p:sp>
      <p:sp>
        <p:nvSpPr>
          <p:cNvPr id="64" name="Oval 63">
            <a:extLst>
              <a:ext uri="{FF2B5EF4-FFF2-40B4-BE49-F238E27FC236}">
                <a16:creationId xmlns:a16="http://schemas.microsoft.com/office/drawing/2014/main" id="{F2FD2518-996E-4E66-B49B-5C3B7C3FB39C}"/>
              </a:ext>
            </a:extLst>
          </p:cNvPr>
          <p:cNvSpPr/>
          <p:nvPr/>
        </p:nvSpPr>
        <p:spPr>
          <a:xfrm rot="2604923" flipH="1">
            <a:off x="2225132" y="4092342"/>
            <a:ext cx="91440" cy="9144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solidFill>
                <a:prstClr val="black"/>
              </a:solidFill>
            </a:endParaRPr>
          </a:p>
        </p:txBody>
      </p:sp>
      <p:sp>
        <p:nvSpPr>
          <p:cNvPr id="65" name="Oval 64">
            <a:extLst>
              <a:ext uri="{FF2B5EF4-FFF2-40B4-BE49-F238E27FC236}">
                <a16:creationId xmlns:a16="http://schemas.microsoft.com/office/drawing/2014/main" id="{8769AFBE-5BC6-437E-9DC5-AEE8A01AF6E9}"/>
              </a:ext>
            </a:extLst>
          </p:cNvPr>
          <p:cNvSpPr/>
          <p:nvPr/>
        </p:nvSpPr>
        <p:spPr>
          <a:xfrm rot="2604923" flipH="1">
            <a:off x="1375761" y="4404505"/>
            <a:ext cx="91440" cy="9144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solidFill>
                <a:prstClr val="black"/>
              </a:solidFill>
            </a:endParaRPr>
          </a:p>
        </p:txBody>
      </p:sp>
      <p:sp>
        <p:nvSpPr>
          <p:cNvPr id="66" name="Oval 65">
            <a:extLst>
              <a:ext uri="{FF2B5EF4-FFF2-40B4-BE49-F238E27FC236}">
                <a16:creationId xmlns:a16="http://schemas.microsoft.com/office/drawing/2014/main" id="{D375084C-2062-4545-AACC-432859E3B5A3}"/>
              </a:ext>
            </a:extLst>
          </p:cNvPr>
          <p:cNvSpPr/>
          <p:nvPr/>
        </p:nvSpPr>
        <p:spPr>
          <a:xfrm rot="2604923" flipH="1">
            <a:off x="1828867" y="3237225"/>
            <a:ext cx="91440" cy="91440"/>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solidFill>
                <a:prstClr val="black"/>
              </a:solidFill>
            </a:endParaRPr>
          </a:p>
        </p:txBody>
      </p:sp>
      <p:sp>
        <p:nvSpPr>
          <p:cNvPr id="67" name="Oval 66">
            <a:extLst>
              <a:ext uri="{FF2B5EF4-FFF2-40B4-BE49-F238E27FC236}">
                <a16:creationId xmlns:a16="http://schemas.microsoft.com/office/drawing/2014/main" id="{19CBEAD4-1811-4462-B4C4-D76D873DC3B2}"/>
              </a:ext>
            </a:extLst>
          </p:cNvPr>
          <p:cNvSpPr/>
          <p:nvPr/>
        </p:nvSpPr>
        <p:spPr>
          <a:xfrm rot="2604923" flipH="1">
            <a:off x="1699600" y="3619179"/>
            <a:ext cx="91440" cy="91440"/>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solidFill>
                <a:prstClr val="black"/>
              </a:solidFill>
            </a:endParaRPr>
          </a:p>
        </p:txBody>
      </p:sp>
      <p:sp>
        <p:nvSpPr>
          <p:cNvPr id="68" name="Oval 67">
            <a:extLst>
              <a:ext uri="{FF2B5EF4-FFF2-40B4-BE49-F238E27FC236}">
                <a16:creationId xmlns:a16="http://schemas.microsoft.com/office/drawing/2014/main" id="{DD30EA52-204F-482F-AA5C-7F0F3B27613E}"/>
              </a:ext>
            </a:extLst>
          </p:cNvPr>
          <p:cNvSpPr/>
          <p:nvPr/>
        </p:nvSpPr>
        <p:spPr>
          <a:xfrm rot="2604923" flipH="1">
            <a:off x="1519447" y="2930842"/>
            <a:ext cx="91440" cy="91440"/>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solidFill>
                <a:prstClr val="black"/>
              </a:solidFill>
            </a:endParaRPr>
          </a:p>
        </p:txBody>
      </p:sp>
      <p:sp>
        <p:nvSpPr>
          <p:cNvPr id="69" name="Oval 68">
            <a:extLst>
              <a:ext uri="{FF2B5EF4-FFF2-40B4-BE49-F238E27FC236}">
                <a16:creationId xmlns:a16="http://schemas.microsoft.com/office/drawing/2014/main" id="{84B83B89-7B90-4360-9335-59DCD8D3B20F}"/>
              </a:ext>
            </a:extLst>
          </p:cNvPr>
          <p:cNvSpPr/>
          <p:nvPr/>
        </p:nvSpPr>
        <p:spPr>
          <a:xfrm rot="2604923" flipH="1">
            <a:off x="1023557" y="3981418"/>
            <a:ext cx="91440" cy="9144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solidFill>
                <a:prstClr val="black"/>
              </a:solidFill>
            </a:endParaRPr>
          </a:p>
        </p:txBody>
      </p:sp>
      <p:sp>
        <p:nvSpPr>
          <p:cNvPr id="70" name="Oval 69">
            <a:extLst>
              <a:ext uri="{FF2B5EF4-FFF2-40B4-BE49-F238E27FC236}">
                <a16:creationId xmlns:a16="http://schemas.microsoft.com/office/drawing/2014/main" id="{C0D28758-9BC6-49C5-9661-950FDCEE797B}"/>
              </a:ext>
            </a:extLst>
          </p:cNvPr>
          <p:cNvSpPr/>
          <p:nvPr/>
        </p:nvSpPr>
        <p:spPr>
          <a:xfrm rot="2604923" flipH="1">
            <a:off x="2725397" y="3909582"/>
            <a:ext cx="91440" cy="9144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solidFill>
                <a:prstClr val="black"/>
              </a:solidFill>
            </a:endParaRPr>
          </a:p>
        </p:txBody>
      </p:sp>
      <p:sp>
        <p:nvSpPr>
          <p:cNvPr id="71" name="TextBox 70">
            <a:extLst>
              <a:ext uri="{FF2B5EF4-FFF2-40B4-BE49-F238E27FC236}">
                <a16:creationId xmlns:a16="http://schemas.microsoft.com/office/drawing/2014/main" id="{B0773FC1-0903-414A-A66A-0A846115DD4E}"/>
              </a:ext>
            </a:extLst>
          </p:cNvPr>
          <p:cNvSpPr txBox="1"/>
          <p:nvPr/>
        </p:nvSpPr>
        <p:spPr>
          <a:xfrm>
            <a:off x="2644016" y="2264305"/>
            <a:ext cx="914400" cy="369332"/>
          </a:xfrm>
          <a:prstGeom prst="rect">
            <a:avLst/>
          </a:prstGeom>
          <a:noFill/>
        </p:spPr>
        <p:txBody>
          <a:bodyPr wrap="square" rtlCol="0">
            <a:spAutoFit/>
          </a:bodyPr>
          <a:lstStyle/>
          <a:p>
            <a:r>
              <a:rPr lang="en-US" b="1" dirty="0">
                <a:solidFill>
                  <a:schemeClr val="accent6">
                    <a:lumMod val="60000"/>
                    <a:lumOff val="40000"/>
                  </a:schemeClr>
                </a:solidFill>
              </a:rPr>
              <a:t>Class 3</a:t>
            </a:r>
          </a:p>
        </p:txBody>
      </p:sp>
      <p:sp>
        <p:nvSpPr>
          <p:cNvPr id="72" name="TextBox 71">
            <a:extLst>
              <a:ext uri="{FF2B5EF4-FFF2-40B4-BE49-F238E27FC236}">
                <a16:creationId xmlns:a16="http://schemas.microsoft.com/office/drawing/2014/main" id="{90A26DE6-C479-4EA2-ADE4-4D14951F6EC8}"/>
              </a:ext>
            </a:extLst>
          </p:cNvPr>
          <p:cNvSpPr txBox="1"/>
          <p:nvPr/>
        </p:nvSpPr>
        <p:spPr>
          <a:xfrm>
            <a:off x="1597972" y="3382229"/>
            <a:ext cx="330139" cy="369332"/>
          </a:xfrm>
          <a:prstGeom prst="rect">
            <a:avLst/>
          </a:prstGeom>
          <a:noFill/>
        </p:spPr>
        <p:txBody>
          <a:bodyPr wrap="square" rtlCol="0">
            <a:spAutoFit/>
          </a:bodyPr>
          <a:lstStyle/>
          <a:p>
            <a:r>
              <a:rPr lang="en-US" b="1" dirty="0"/>
              <a:t>?</a:t>
            </a:r>
          </a:p>
        </p:txBody>
      </p:sp>
    </p:spTree>
    <p:extLst>
      <p:ext uri="{BB962C8B-B14F-4D97-AF65-F5344CB8AC3E}">
        <p14:creationId xmlns:p14="http://schemas.microsoft.com/office/powerpoint/2010/main" val="26358859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D98A1-5525-46C5-9041-1C6A7102816D}"/>
              </a:ext>
            </a:extLst>
          </p:cNvPr>
          <p:cNvSpPr>
            <a:spLocks noGrp="1"/>
          </p:cNvSpPr>
          <p:nvPr>
            <p:ph type="title"/>
          </p:nvPr>
        </p:nvSpPr>
        <p:spPr/>
        <p:txBody>
          <a:bodyPr/>
          <a:lstStyle/>
          <a:p>
            <a:r>
              <a:rPr lang="en-US" b="1" dirty="0"/>
              <a:t>Training Phase </a:t>
            </a:r>
          </a:p>
        </p:txBody>
      </p:sp>
      <p:sp>
        <p:nvSpPr>
          <p:cNvPr id="3" name="Text Placeholder 2">
            <a:extLst>
              <a:ext uri="{FF2B5EF4-FFF2-40B4-BE49-F238E27FC236}">
                <a16:creationId xmlns:a16="http://schemas.microsoft.com/office/drawing/2014/main" id="{FD75CF34-6D6F-4923-BDF9-24E71E423A7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8933774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C51E4-1213-4F08-A5FD-6812B14D60C3}"/>
              </a:ext>
            </a:extLst>
          </p:cNvPr>
          <p:cNvSpPr>
            <a:spLocks noGrp="1"/>
          </p:cNvSpPr>
          <p:nvPr>
            <p:ph type="title"/>
          </p:nvPr>
        </p:nvSpPr>
        <p:spPr/>
        <p:txBody>
          <a:bodyPr/>
          <a:lstStyle/>
          <a:p>
            <a:r>
              <a:rPr lang="en-US" b="1" dirty="0"/>
              <a:t>Training Phase of KNN</a:t>
            </a:r>
          </a:p>
        </p:txBody>
      </p:sp>
      <p:sp>
        <p:nvSpPr>
          <p:cNvPr id="3" name="Content Placeholder 2">
            <a:extLst>
              <a:ext uri="{FF2B5EF4-FFF2-40B4-BE49-F238E27FC236}">
                <a16:creationId xmlns:a16="http://schemas.microsoft.com/office/drawing/2014/main" id="{D52AE6DE-5AFC-4C17-B866-C40F2D6C5869}"/>
              </a:ext>
            </a:extLst>
          </p:cNvPr>
          <p:cNvSpPr>
            <a:spLocks noGrp="1"/>
          </p:cNvSpPr>
          <p:nvPr>
            <p:ph idx="1"/>
          </p:nvPr>
        </p:nvSpPr>
        <p:spPr/>
        <p:txBody>
          <a:bodyPr>
            <a:normAutofit/>
          </a:bodyPr>
          <a:lstStyle/>
          <a:p>
            <a:pPr>
              <a:lnSpc>
                <a:spcPct val="100000"/>
              </a:lnSpc>
            </a:pPr>
            <a:r>
              <a:rPr lang="en-US" sz="2400" dirty="0"/>
              <a:t>KNN assumes no specific functional form for the relationship between a feature vector and its label.</a:t>
            </a:r>
          </a:p>
          <a:p>
            <a:pPr>
              <a:lnSpc>
                <a:spcPct val="100000"/>
              </a:lnSpc>
            </a:pPr>
            <a:r>
              <a:rPr lang="en-US" sz="2400" dirty="0"/>
              <a:t>There is no training phase: KNN is an example of </a:t>
            </a:r>
            <a:r>
              <a:rPr lang="en-US" sz="2400" b="1" dirty="0"/>
              <a:t>lazy learner</a:t>
            </a:r>
            <a:r>
              <a:rPr lang="en-US" sz="2400" dirty="0"/>
              <a:t>. </a:t>
            </a:r>
          </a:p>
          <a:p>
            <a:pPr>
              <a:lnSpc>
                <a:spcPct val="100000"/>
              </a:lnSpc>
            </a:pPr>
            <a:r>
              <a:rPr lang="en-US" sz="2400" dirty="0"/>
              <a:t>The algorithm just needs to store the training data. This </a:t>
            </a:r>
            <a:r>
              <a:rPr lang="en-US" sz="2400" b="1" dirty="0"/>
              <a:t>memory-based learning </a:t>
            </a:r>
            <a:r>
              <a:rPr lang="en-US" sz="2400" dirty="0"/>
              <a:t>is also known as </a:t>
            </a:r>
            <a:r>
              <a:rPr lang="en-US" sz="2400" b="1" dirty="0"/>
              <a:t>instance-based learning </a:t>
            </a:r>
            <a:r>
              <a:rPr lang="en-US" sz="2400" dirty="0"/>
              <a:t>which consists of comparing new data instances with instances seen in training.</a:t>
            </a:r>
          </a:p>
        </p:txBody>
      </p:sp>
    </p:spTree>
    <p:extLst>
      <p:ext uri="{BB962C8B-B14F-4D97-AF65-F5344CB8AC3E}">
        <p14:creationId xmlns:p14="http://schemas.microsoft.com/office/powerpoint/2010/main" val="9965666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02D8C-3544-4B97-99C1-84D1E360AFC2}"/>
              </a:ext>
            </a:extLst>
          </p:cNvPr>
          <p:cNvSpPr>
            <a:spLocks noGrp="1"/>
          </p:cNvSpPr>
          <p:nvPr>
            <p:ph type="title"/>
          </p:nvPr>
        </p:nvSpPr>
        <p:spPr/>
        <p:txBody>
          <a:bodyPr/>
          <a:lstStyle/>
          <a:p>
            <a:r>
              <a:rPr lang="en-US" b="1" dirty="0"/>
              <a:t>What are the parameters of KNN? </a:t>
            </a:r>
          </a:p>
        </p:txBody>
      </p:sp>
      <p:sp>
        <p:nvSpPr>
          <p:cNvPr id="3" name="Content Placeholder 2">
            <a:extLst>
              <a:ext uri="{FF2B5EF4-FFF2-40B4-BE49-F238E27FC236}">
                <a16:creationId xmlns:a16="http://schemas.microsoft.com/office/drawing/2014/main" id="{A42A3961-EB60-494C-8712-26B83C1F23B6}"/>
              </a:ext>
            </a:extLst>
          </p:cNvPr>
          <p:cNvSpPr>
            <a:spLocks noGrp="1"/>
          </p:cNvSpPr>
          <p:nvPr>
            <p:ph idx="1"/>
          </p:nvPr>
        </p:nvSpPr>
        <p:spPr/>
        <p:txBody>
          <a:bodyPr>
            <a:normAutofit/>
          </a:bodyPr>
          <a:lstStyle/>
          <a:p>
            <a:pPr>
              <a:lnSpc>
                <a:spcPct val="100000"/>
              </a:lnSpc>
            </a:pPr>
            <a:r>
              <a:rPr lang="en-US" dirty="0"/>
              <a:t>The training data set itself is treated as the building blocks or the parameters for the KNN algorithm.</a:t>
            </a:r>
          </a:p>
          <a:p>
            <a:pPr>
              <a:lnSpc>
                <a:spcPct val="100000"/>
              </a:lnSpc>
            </a:pPr>
            <a:endParaRPr lang="en-US" dirty="0"/>
          </a:p>
          <a:p>
            <a:pPr>
              <a:lnSpc>
                <a:spcPct val="100000"/>
              </a:lnSpc>
            </a:pPr>
            <a:r>
              <a:rPr lang="en-US" dirty="0"/>
              <a:t>KNN is an example of non-parametric model:</a:t>
            </a:r>
          </a:p>
          <a:p>
            <a:pPr lvl="1">
              <a:lnSpc>
                <a:spcPct val="100000"/>
              </a:lnSpc>
              <a:buFont typeface="Courier New" panose="02070309020205020404" pitchFamily="49" charset="0"/>
              <a:buChar char="o"/>
            </a:pPr>
            <a:r>
              <a:rPr lang="en-US" dirty="0"/>
              <a:t>a parametric model (like linear model) summarizes the training data with a finite set of parameters (irrespective of the number of samples in the training data).</a:t>
            </a:r>
          </a:p>
          <a:p>
            <a:pPr lvl="1">
              <a:lnSpc>
                <a:spcPct val="100000"/>
              </a:lnSpc>
              <a:buFont typeface="Courier New" panose="02070309020205020404" pitchFamily="49" charset="0"/>
              <a:buChar char="o"/>
            </a:pPr>
            <a:r>
              <a:rPr lang="en-US" dirty="0"/>
              <a:t>KNN is non-parametric: it cannot be characterized by a finite set of parameters.</a:t>
            </a:r>
          </a:p>
        </p:txBody>
      </p:sp>
    </p:spTree>
    <p:extLst>
      <p:ext uri="{BB962C8B-B14F-4D97-AF65-F5344CB8AC3E}">
        <p14:creationId xmlns:p14="http://schemas.microsoft.com/office/powerpoint/2010/main" val="8636358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DA0A5-8D7B-9545-96EB-B6E41731A5C0}"/>
              </a:ext>
            </a:extLst>
          </p:cNvPr>
          <p:cNvSpPr>
            <a:spLocks noGrp="1"/>
          </p:cNvSpPr>
          <p:nvPr>
            <p:ph type="title"/>
          </p:nvPr>
        </p:nvSpPr>
        <p:spPr/>
        <p:txBody>
          <a:bodyPr/>
          <a:lstStyle/>
          <a:p>
            <a:r>
              <a:rPr lang="en-US" b="1" dirty="0"/>
              <a:t>Prediction phase of KNN</a:t>
            </a:r>
          </a:p>
        </p:txBody>
      </p:sp>
      <p:sp>
        <p:nvSpPr>
          <p:cNvPr id="3" name="Text Placeholder 2">
            <a:extLst>
              <a:ext uri="{FF2B5EF4-FFF2-40B4-BE49-F238E27FC236}">
                <a16:creationId xmlns:a16="http://schemas.microsoft.com/office/drawing/2014/main" id="{AEE7618D-A5FD-C143-A554-7BA5939C414B}"/>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6086021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BA718-16FC-2E43-90F4-6B5F040517E9}"/>
              </a:ext>
            </a:extLst>
          </p:cNvPr>
          <p:cNvSpPr>
            <a:spLocks noGrp="1"/>
          </p:cNvSpPr>
          <p:nvPr>
            <p:ph type="title"/>
          </p:nvPr>
        </p:nvSpPr>
        <p:spPr/>
        <p:txBody>
          <a:bodyPr/>
          <a:lstStyle/>
          <a:p>
            <a:r>
              <a:rPr lang="en-US" b="1" dirty="0"/>
              <a:t>Terminology</a:t>
            </a:r>
          </a:p>
        </p:txBody>
      </p:sp>
      <p:sp>
        <p:nvSpPr>
          <p:cNvPr id="3" name="Content Placeholder 2">
            <a:extLst>
              <a:ext uri="{FF2B5EF4-FFF2-40B4-BE49-F238E27FC236}">
                <a16:creationId xmlns:a16="http://schemas.microsoft.com/office/drawing/2014/main" id="{175E4A39-B616-1141-AC69-21417CF0AC66}"/>
              </a:ext>
            </a:extLst>
          </p:cNvPr>
          <p:cNvSpPr>
            <a:spLocks noGrp="1"/>
          </p:cNvSpPr>
          <p:nvPr>
            <p:ph idx="1"/>
          </p:nvPr>
        </p:nvSpPr>
        <p:spPr/>
        <p:txBody>
          <a:bodyPr/>
          <a:lstStyle/>
          <a:p>
            <a:endParaRPr lang="en-US" b="1" dirty="0"/>
          </a:p>
          <a:p>
            <a:r>
              <a:rPr lang="en-US" b="1" dirty="0"/>
              <a:t>Reference points</a:t>
            </a:r>
            <a:r>
              <a:rPr lang="en-US" dirty="0"/>
              <a:t>: training set data</a:t>
            </a:r>
            <a:endParaRPr lang="en-US" b="1" dirty="0"/>
          </a:p>
          <a:p>
            <a:r>
              <a:rPr lang="en-US" b="1" dirty="0"/>
              <a:t>Query point</a:t>
            </a:r>
            <a:r>
              <a:rPr lang="en-US" dirty="0"/>
              <a:t>: new data point we want to classify</a:t>
            </a:r>
          </a:p>
          <a:p>
            <a:r>
              <a:rPr lang="en-US" b="1" dirty="0"/>
              <a:t>Neighbors</a:t>
            </a:r>
            <a:r>
              <a:rPr lang="en-US" dirty="0"/>
              <a:t>: points near each other in some space</a:t>
            </a:r>
          </a:p>
        </p:txBody>
      </p:sp>
    </p:spTree>
    <p:extLst>
      <p:ext uri="{BB962C8B-B14F-4D97-AF65-F5344CB8AC3E}">
        <p14:creationId xmlns:p14="http://schemas.microsoft.com/office/powerpoint/2010/main" val="3477609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65C8DC-C18A-1941-B66D-F84C8AAEE94A}"/>
              </a:ext>
            </a:extLst>
          </p:cNvPr>
          <p:cNvSpPr>
            <a:spLocks noGrp="1"/>
          </p:cNvSpPr>
          <p:nvPr>
            <p:ph type="title"/>
          </p:nvPr>
        </p:nvSpPr>
        <p:spPr/>
        <p:txBody>
          <a:bodyPr/>
          <a:lstStyle/>
          <a:p>
            <a:r>
              <a:rPr lang="en-US" b="1" dirty="0"/>
              <a:t>KNN Algorithm Flowchart</a:t>
            </a:r>
          </a:p>
        </p:txBody>
      </p:sp>
      <p:pic>
        <p:nvPicPr>
          <p:cNvPr id="5" name="Content Placeholder 4">
            <a:extLst>
              <a:ext uri="{FF2B5EF4-FFF2-40B4-BE49-F238E27FC236}">
                <a16:creationId xmlns:a16="http://schemas.microsoft.com/office/drawing/2014/main" id="{2EA32B59-5164-5647-B5F3-25321041F256}"/>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849955" y="2175495"/>
            <a:ext cx="10492091" cy="3651598"/>
          </a:xfrm>
        </p:spPr>
      </p:pic>
      <p:sp>
        <p:nvSpPr>
          <p:cNvPr id="3" name="TextBox 2">
            <a:extLst>
              <a:ext uri="{FF2B5EF4-FFF2-40B4-BE49-F238E27FC236}">
                <a16:creationId xmlns:a16="http://schemas.microsoft.com/office/drawing/2014/main" id="{5278DC39-564B-41D9-97ED-64037A42BED2}"/>
              </a:ext>
            </a:extLst>
          </p:cNvPr>
          <p:cNvSpPr txBox="1"/>
          <p:nvPr/>
        </p:nvSpPr>
        <p:spPr>
          <a:xfrm>
            <a:off x="581026" y="1529164"/>
            <a:ext cx="2266950" cy="646331"/>
          </a:xfrm>
          <a:prstGeom prst="rect">
            <a:avLst/>
          </a:prstGeom>
          <a:noFill/>
        </p:spPr>
        <p:txBody>
          <a:bodyPr wrap="square" rtlCol="0">
            <a:spAutoFit/>
          </a:bodyPr>
          <a:lstStyle/>
          <a:p>
            <a:r>
              <a:rPr lang="en-US" dirty="0">
                <a:solidFill>
                  <a:srgbClr val="FF0000"/>
                </a:solidFill>
              </a:rPr>
              <a:t>Training data (data with answers)</a:t>
            </a:r>
          </a:p>
        </p:txBody>
      </p:sp>
      <p:sp>
        <p:nvSpPr>
          <p:cNvPr id="6" name="TextBox 5">
            <a:extLst>
              <a:ext uri="{FF2B5EF4-FFF2-40B4-BE49-F238E27FC236}">
                <a16:creationId xmlns:a16="http://schemas.microsoft.com/office/drawing/2014/main" id="{12E501DD-CC57-4806-BDD7-FC34452C5F67}"/>
              </a:ext>
            </a:extLst>
          </p:cNvPr>
          <p:cNvSpPr txBox="1"/>
          <p:nvPr/>
        </p:nvSpPr>
        <p:spPr>
          <a:xfrm>
            <a:off x="3105150" y="1529163"/>
            <a:ext cx="2381250" cy="646331"/>
          </a:xfrm>
          <a:prstGeom prst="rect">
            <a:avLst/>
          </a:prstGeom>
          <a:noFill/>
        </p:spPr>
        <p:txBody>
          <a:bodyPr wrap="square" rtlCol="0">
            <a:spAutoFit/>
          </a:bodyPr>
          <a:lstStyle/>
          <a:p>
            <a:r>
              <a:rPr lang="en-US" dirty="0">
                <a:solidFill>
                  <a:srgbClr val="FF0000"/>
                </a:solidFill>
              </a:rPr>
              <a:t>New data point without label</a:t>
            </a:r>
          </a:p>
        </p:txBody>
      </p:sp>
    </p:spTree>
    <p:extLst>
      <p:ext uri="{BB962C8B-B14F-4D97-AF65-F5344CB8AC3E}">
        <p14:creationId xmlns:p14="http://schemas.microsoft.com/office/powerpoint/2010/main" val="31708221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C4E6E-247D-1B4D-8F92-AC01D0C332C8}"/>
              </a:ext>
            </a:extLst>
          </p:cNvPr>
          <p:cNvSpPr>
            <a:spLocks noGrp="1"/>
          </p:cNvSpPr>
          <p:nvPr>
            <p:ph type="title"/>
          </p:nvPr>
        </p:nvSpPr>
        <p:spPr/>
        <p:txBody>
          <a:bodyPr/>
          <a:lstStyle/>
          <a:p>
            <a:r>
              <a:rPr lang="en-US" b="1" dirty="0"/>
              <a:t>Step 1: Calculate Distances</a:t>
            </a:r>
          </a:p>
        </p:txBody>
      </p:sp>
      <p:pic>
        <p:nvPicPr>
          <p:cNvPr id="6" name="Content Placeholder 5">
            <a:extLst>
              <a:ext uri="{FF2B5EF4-FFF2-40B4-BE49-F238E27FC236}">
                <a16:creationId xmlns:a16="http://schemas.microsoft.com/office/drawing/2014/main" id="{DB971EC0-51FA-B548-8B83-88EC62D52C79}"/>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838200" y="2274094"/>
            <a:ext cx="5181600" cy="3454400"/>
          </a:xfrm>
        </p:spPr>
      </p:pic>
      <p:sp>
        <p:nvSpPr>
          <p:cNvPr id="5" name="Content Placeholder 4">
            <a:extLst>
              <a:ext uri="{FF2B5EF4-FFF2-40B4-BE49-F238E27FC236}">
                <a16:creationId xmlns:a16="http://schemas.microsoft.com/office/drawing/2014/main" id="{AEECB283-63B9-634F-AF8B-517F9851BDF1}"/>
              </a:ext>
            </a:extLst>
          </p:cNvPr>
          <p:cNvSpPr>
            <a:spLocks noGrp="1"/>
          </p:cNvSpPr>
          <p:nvPr>
            <p:ph sz="half" idx="2"/>
          </p:nvPr>
        </p:nvSpPr>
        <p:spPr/>
        <p:txBody>
          <a:bodyPr/>
          <a:lstStyle/>
          <a:p>
            <a:pPr>
              <a:lnSpc>
                <a:spcPct val="100000"/>
              </a:lnSpc>
            </a:pPr>
            <a:r>
              <a:rPr lang="en-US" dirty="0"/>
              <a:t>We calculate the distance between the query point (star) and every reference point</a:t>
            </a:r>
          </a:p>
          <a:p>
            <a:pPr>
              <a:lnSpc>
                <a:spcPct val="100000"/>
              </a:lnSpc>
            </a:pPr>
            <a:r>
              <a:rPr lang="en-US" dirty="0"/>
              <a:t>Note that we do this in feature space!</a:t>
            </a:r>
          </a:p>
          <a:p>
            <a:pPr lvl="1">
              <a:lnSpc>
                <a:spcPct val="100000"/>
              </a:lnSpc>
            </a:pPr>
            <a:r>
              <a:rPr lang="en-US" dirty="0"/>
              <a:t>Meaning, we calculate the distances between each pair of points using their feature vectors</a:t>
            </a:r>
          </a:p>
          <a:p>
            <a:pPr>
              <a:lnSpc>
                <a:spcPct val="100000"/>
              </a:lnSpc>
            </a:pPr>
            <a:endParaRPr lang="en-US" dirty="0"/>
          </a:p>
        </p:txBody>
      </p:sp>
      <p:sp>
        <p:nvSpPr>
          <p:cNvPr id="7" name="5-Point Star 6">
            <a:extLst>
              <a:ext uri="{FF2B5EF4-FFF2-40B4-BE49-F238E27FC236}">
                <a16:creationId xmlns:a16="http://schemas.microsoft.com/office/drawing/2014/main" id="{6546125C-2991-E64D-B4DC-5B630BE40AC6}"/>
              </a:ext>
            </a:extLst>
          </p:cNvPr>
          <p:cNvSpPr/>
          <p:nvPr/>
        </p:nvSpPr>
        <p:spPr>
          <a:xfrm>
            <a:off x="2951921" y="4194312"/>
            <a:ext cx="218661" cy="208721"/>
          </a:xfrm>
          <a:prstGeom prst="star5">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467FE4A5-10CF-A047-A377-77889259DF0F}"/>
              </a:ext>
            </a:extLst>
          </p:cNvPr>
          <p:cNvCxnSpPr>
            <a:cxnSpLocks/>
            <a:stCxn id="7" idx="2"/>
          </p:cNvCxnSpPr>
          <p:nvPr/>
        </p:nvCxnSpPr>
        <p:spPr>
          <a:xfrm flipH="1">
            <a:off x="2632213" y="4403032"/>
            <a:ext cx="361469" cy="24250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BA4AABDF-3B99-4540-9D93-86FC0D7B3E9C}"/>
              </a:ext>
            </a:extLst>
          </p:cNvPr>
          <p:cNvCxnSpPr>
            <a:cxnSpLocks/>
            <a:stCxn id="7" idx="4"/>
          </p:cNvCxnSpPr>
          <p:nvPr/>
        </p:nvCxnSpPr>
        <p:spPr>
          <a:xfrm flipV="1">
            <a:off x="3170582" y="3951804"/>
            <a:ext cx="462634" cy="32223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64402D8B-2939-5D4E-A381-F7869F9C9701}"/>
              </a:ext>
            </a:extLst>
          </p:cNvPr>
          <p:cNvCxnSpPr>
            <a:cxnSpLocks/>
            <a:stCxn id="7" idx="1"/>
          </p:cNvCxnSpPr>
          <p:nvPr/>
        </p:nvCxnSpPr>
        <p:spPr>
          <a:xfrm flipH="1" flipV="1">
            <a:off x="2522883" y="4263903"/>
            <a:ext cx="429038" cy="1013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340445B-6022-504E-A79B-17EB77732067}"/>
              </a:ext>
            </a:extLst>
          </p:cNvPr>
          <p:cNvCxnSpPr>
            <a:cxnSpLocks/>
            <a:stCxn id="7" idx="0"/>
          </p:cNvCxnSpPr>
          <p:nvPr/>
        </p:nvCxnSpPr>
        <p:spPr>
          <a:xfrm flipH="1" flipV="1">
            <a:off x="2632213" y="3714639"/>
            <a:ext cx="429039" cy="47967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097D1DAD-7FC8-CB40-87C1-D9BCC1DBE21E}"/>
              </a:ext>
            </a:extLst>
          </p:cNvPr>
          <p:cNvCxnSpPr>
            <a:cxnSpLocks/>
            <a:stCxn id="7" idx="3"/>
          </p:cNvCxnSpPr>
          <p:nvPr/>
        </p:nvCxnSpPr>
        <p:spPr>
          <a:xfrm>
            <a:off x="3128821" y="4403032"/>
            <a:ext cx="175211" cy="13739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22157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5C0E2-E95C-A142-A36B-2E13E6505360}"/>
              </a:ext>
            </a:extLst>
          </p:cNvPr>
          <p:cNvSpPr>
            <a:spLocks noGrp="1"/>
          </p:cNvSpPr>
          <p:nvPr>
            <p:ph type="title"/>
          </p:nvPr>
        </p:nvSpPr>
        <p:spPr/>
        <p:txBody>
          <a:bodyPr/>
          <a:lstStyle/>
          <a:p>
            <a:r>
              <a:rPr lang="en-US" b="1" dirty="0"/>
              <a:t>Step 1: Calculate Distances</a:t>
            </a:r>
          </a:p>
        </p:txBody>
      </p:sp>
      <p:pic>
        <p:nvPicPr>
          <p:cNvPr id="6" name="Content Placeholder 5">
            <a:extLst>
              <a:ext uri="{FF2B5EF4-FFF2-40B4-BE49-F238E27FC236}">
                <a16:creationId xmlns:a16="http://schemas.microsoft.com/office/drawing/2014/main" id="{616A4749-A235-6247-9944-FDD4053DD1B0}"/>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838200" y="1690688"/>
            <a:ext cx="4572000" cy="3657600"/>
          </a:xfrm>
        </p:spPr>
      </p:pic>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7B8893EF-E7DA-1E43-973B-A81040C6B965}"/>
                  </a:ext>
                </a:extLst>
              </p:cNvPr>
              <p:cNvSpPr>
                <a:spLocks noGrp="1"/>
              </p:cNvSpPr>
              <p:nvPr>
                <p:ph sz="half" idx="2"/>
              </p:nvPr>
            </p:nvSpPr>
            <p:spPr>
              <a:xfrm>
                <a:off x="6172200" y="1825625"/>
                <a:ext cx="5893904" cy="4351338"/>
              </a:xfrm>
            </p:spPr>
            <p:txBody>
              <a:bodyPr>
                <a:normAutofit/>
              </a:bodyPr>
              <a:lstStyle/>
              <a:p>
                <a:pPr marL="0" indent="0">
                  <a:buNone/>
                </a:pPr>
                <a:r>
                  <a:rPr lang="en-US" sz="2400" dirty="0"/>
                  <a:t>The Euclidean distance of points represented as the vectors u and v can be calculated by:</a:t>
                </a:r>
                <a:br>
                  <a:rPr lang="en-US" sz="2400" dirty="0"/>
                </a:br>
                <a:br>
                  <a:rPr lang="en-US" sz="2400" dirty="0"/>
                </a:b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𝑑</m:t>
                      </m:r>
                      <m:r>
                        <a:rPr lang="en-US" sz="2400" b="0" i="1" smtClean="0">
                          <a:latin typeface="Cambria Math" panose="02040503050406030204" pitchFamily="18" charset="0"/>
                        </a:rPr>
                        <m:t>=</m:t>
                      </m:r>
                      <m:d>
                        <m:dPr>
                          <m:begChr m:val="‖"/>
                          <m:endChr m:val="‖"/>
                          <m:ctrlPr>
                            <a:rPr lang="en-US" sz="2400" b="0" i="1" smtClean="0">
                              <a:latin typeface="Cambria Math" panose="02040503050406030204" pitchFamily="18" charset="0"/>
                            </a:rPr>
                          </m:ctrlPr>
                        </m:dPr>
                        <m:e>
                          <m:r>
                            <a:rPr lang="en-US" sz="2400" b="1" i="1" smtClean="0">
                              <a:latin typeface="Cambria Math" panose="02040503050406030204" pitchFamily="18" charset="0"/>
                            </a:rPr>
                            <m:t>𝒖</m:t>
                          </m:r>
                          <m:r>
                            <a:rPr lang="en-US" sz="2400" b="0" i="1" smtClean="0">
                              <a:latin typeface="Cambria Math" panose="02040503050406030204" pitchFamily="18" charset="0"/>
                            </a:rPr>
                            <m:t> −</m:t>
                          </m:r>
                          <m:r>
                            <a:rPr lang="en-US" sz="2400" b="1" i="1" smtClean="0">
                              <a:latin typeface="Cambria Math" panose="02040503050406030204" pitchFamily="18" charset="0"/>
                            </a:rPr>
                            <m:t>𝒗</m:t>
                          </m:r>
                        </m:e>
                      </m:d>
                    </m:oMath>
                  </m:oMathPara>
                </a14:m>
                <a:br>
                  <a:rPr lang="en-US" sz="2400" b="0" dirty="0"/>
                </a:br>
                <a:br>
                  <a:rPr lang="en-US" sz="2400" b="0" dirty="0"/>
                </a:br>
                <a:endParaRPr lang="en-US" sz="2400" dirty="0"/>
              </a:p>
            </p:txBody>
          </p:sp>
        </mc:Choice>
        <mc:Fallback xmlns="">
          <p:sp>
            <p:nvSpPr>
              <p:cNvPr id="4" name="Content Placeholder 3">
                <a:extLst>
                  <a:ext uri="{FF2B5EF4-FFF2-40B4-BE49-F238E27FC236}">
                    <a16:creationId xmlns:a16="http://schemas.microsoft.com/office/drawing/2014/main" id="{7B8893EF-E7DA-1E43-973B-A81040C6B965}"/>
                  </a:ext>
                </a:extLst>
              </p:cNvPr>
              <p:cNvSpPr>
                <a:spLocks noGrp="1" noRot="1" noChangeAspect="1" noMove="1" noResize="1" noEditPoints="1" noAdjustHandles="1" noChangeArrowheads="1" noChangeShapeType="1" noTextEdit="1"/>
              </p:cNvSpPr>
              <p:nvPr>
                <p:ph sz="half" idx="2"/>
              </p:nvPr>
            </p:nvSpPr>
            <p:spPr>
              <a:xfrm>
                <a:off x="6172200" y="1825625"/>
                <a:ext cx="5893904" cy="4351338"/>
              </a:xfrm>
              <a:blipFill>
                <a:blip r:embed="rId3"/>
                <a:stretch>
                  <a:fillRect l="-1656" t="-1961" r="-311"/>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27621126-2D03-C64A-A5DF-535E0035E4F6}"/>
              </a:ext>
            </a:extLst>
          </p:cNvPr>
          <p:cNvSpPr txBox="1"/>
          <p:nvPr/>
        </p:nvSpPr>
        <p:spPr>
          <a:xfrm>
            <a:off x="357809" y="6062870"/>
            <a:ext cx="4768806" cy="369332"/>
          </a:xfrm>
          <a:prstGeom prst="rect">
            <a:avLst/>
          </a:prstGeom>
          <a:noFill/>
        </p:spPr>
        <p:txBody>
          <a:bodyPr wrap="none" rtlCol="0">
            <a:spAutoFit/>
          </a:bodyPr>
          <a:lstStyle/>
          <a:p>
            <a:r>
              <a:rPr lang="en-US" dirty="0">
                <a:hlinkClick r:id="rId4"/>
              </a:rPr>
              <a:t>http://rosalind.info/glossary/euclidean-distance/</a:t>
            </a:r>
            <a:endParaRPr lang="en-US" dirty="0"/>
          </a:p>
        </p:txBody>
      </p:sp>
      <p:sp>
        <p:nvSpPr>
          <p:cNvPr id="3" name="TextBox 2">
            <a:extLst>
              <a:ext uri="{FF2B5EF4-FFF2-40B4-BE49-F238E27FC236}">
                <a16:creationId xmlns:a16="http://schemas.microsoft.com/office/drawing/2014/main" id="{5C2FB194-C88B-4F11-A12E-C85F5635377F}"/>
              </a:ext>
            </a:extLst>
          </p:cNvPr>
          <p:cNvSpPr txBox="1"/>
          <p:nvPr/>
        </p:nvSpPr>
        <p:spPr>
          <a:xfrm>
            <a:off x="3886200" y="2206974"/>
            <a:ext cx="1371600" cy="369332"/>
          </a:xfrm>
          <a:prstGeom prst="rect">
            <a:avLst/>
          </a:prstGeom>
          <a:solidFill>
            <a:schemeClr val="bg1"/>
          </a:solidFill>
        </p:spPr>
        <p:txBody>
          <a:bodyPr wrap="square" rtlCol="0">
            <a:spAutoFit/>
          </a:bodyPr>
          <a:lstStyle/>
          <a:p>
            <a:r>
              <a:rPr lang="en-US" dirty="0"/>
              <a:t>u = (u1, u2)</a:t>
            </a:r>
          </a:p>
        </p:txBody>
      </p:sp>
      <p:sp>
        <p:nvSpPr>
          <p:cNvPr id="8" name="TextBox 7">
            <a:extLst>
              <a:ext uri="{FF2B5EF4-FFF2-40B4-BE49-F238E27FC236}">
                <a16:creationId xmlns:a16="http://schemas.microsoft.com/office/drawing/2014/main" id="{7CA9AADC-24F1-4BB4-BA28-E52A8B517568}"/>
              </a:ext>
            </a:extLst>
          </p:cNvPr>
          <p:cNvSpPr txBox="1"/>
          <p:nvPr/>
        </p:nvSpPr>
        <p:spPr>
          <a:xfrm>
            <a:off x="810924" y="4505325"/>
            <a:ext cx="1371600" cy="369332"/>
          </a:xfrm>
          <a:prstGeom prst="rect">
            <a:avLst/>
          </a:prstGeom>
          <a:solidFill>
            <a:schemeClr val="bg1"/>
          </a:solidFill>
        </p:spPr>
        <p:txBody>
          <a:bodyPr wrap="square" rtlCol="0">
            <a:spAutoFit/>
          </a:bodyPr>
          <a:lstStyle/>
          <a:p>
            <a:r>
              <a:rPr lang="en-US" dirty="0"/>
              <a:t>v = (v1, v2)</a:t>
            </a:r>
          </a:p>
        </p:txBody>
      </p:sp>
      <p:sp>
        <p:nvSpPr>
          <p:cNvPr id="5" name="Rectangle 4">
            <a:extLst>
              <a:ext uri="{FF2B5EF4-FFF2-40B4-BE49-F238E27FC236}">
                <a16:creationId xmlns:a16="http://schemas.microsoft.com/office/drawing/2014/main" id="{6E34574B-9B48-4E55-86BB-B83B148B3100}"/>
              </a:ext>
            </a:extLst>
          </p:cNvPr>
          <p:cNvSpPr/>
          <p:nvPr/>
        </p:nvSpPr>
        <p:spPr>
          <a:xfrm>
            <a:off x="2345747" y="4543425"/>
            <a:ext cx="1276350" cy="4572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9" name="Rectangle 8">
            <a:extLst>
              <a:ext uri="{FF2B5EF4-FFF2-40B4-BE49-F238E27FC236}">
                <a16:creationId xmlns:a16="http://schemas.microsoft.com/office/drawing/2014/main" id="{3F2C7B11-DD68-4591-933B-8E8448D484C7}"/>
              </a:ext>
            </a:extLst>
          </p:cNvPr>
          <p:cNvSpPr/>
          <p:nvPr/>
        </p:nvSpPr>
        <p:spPr>
          <a:xfrm>
            <a:off x="4373058" y="3290888"/>
            <a:ext cx="1037142" cy="4572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7714120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EE8D7-241E-A24A-B752-F960E4E31ECE}"/>
              </a:ext>
            </a:extLst>
          </p:cNvPr>
          <p:cNvSpPr>
            <a:spLocks noGrp="1"/>
          </p:cNvSpPr>
          <p:nvPr>
            <p:ph type="title"/>
          </p:nvPr>
        </p:nvSpPr>
        <p:spPr/>
        <p:txBody>
          <a:bodyPr/>
          <a:lstStyle/>
          <a:p>
            <a:r>
              <a:rPr lang="en-US" b="1" dirty="0"/>
              <a:t>Step 1: Calculate Distances</a:t>
            </a:r>
          </a:p>
        </p:txBody>
      </p:sp>
      <p:pic>
        <p:nvPicPr>
          <p:cNvPr id="6" name="Content Placeholder 5">
            <a:extLst>
              <a:ext uri="{FF2B5EF4-FFF2-40B4-BE49-F238E27FC236}">
                <a16:creationId xmlns:a16="http://schemas.microsoft.com/office/drawing/2014/main" id="{4455FA15-B890-DF4A-9775-FC1C3C9E9243}"/>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889000" y="2839244"/>
            <a:ext cx="5080000" cy="2324100"/>
          </a:xfrm>
        </p:spPr>
      </p:pic>
      <p:pic>
        <p:nvPicPr>
          <p:cNvPr id="8" name="Content Placeholder 7">
            <a:extLst>
              <a:ext uri="{FF2B5EF4-FFF2-40B4-BE49-F238E27FC236}">
                <a16:creationId xmlns:a16="http://schemas.microsoft.com/office/drawing/2014/main" id="{A6F025A6-4F8C-D943-90DA-EECFBA80C7C0}"/>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305550" y="3836194"/>
            <a:ext cx="4914900" cy="330200"/>
          </a:xfrm>
        </p:spPr>
      </p:pic>
      <p:cxnSp>
        <p:nvCxnSpPr>
          <p:cNvPr id="9" name="Straight Arrow Connector 8">
            <a:extLst>
              <a:ext uri="{FF2B5EF4-FFF2-40B4-BE49-F238E27FC236}">
                <a16:creationId xmlns:a16="http://schemas.microsoft.com/office/drawing/2014/main" id="{EED3954A-C391-3D4F-89FF-6BF3C8AC7A88}"/>
              </a:ext>
            </a:extLst>
          </p:cNvPr>
          <p:cNvCxnSpPr>
            <a:cxnSpLocks/>
          </p:cNvCxnSpPr>
          <p:nvPr/>
        </p:nvCxnSpPr>
        <p:spPr>
          <a:xfrm flipH="1" flipV="1">
            <a:off x="5814114" y="3021806"/>
            <a:ext cx="623408" cy="81439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322065AC-5B67-3745-80F6-2B93CDFA5874}"/>
              </a:ext>
            </a:extLst>
          </p:cNvPr>
          <p:cNvCxnSpPr>
            <a:cxnSpLocks/>
          </p:cNvCxnSpPr>
          <p:nvPr/>
        </p:nvCxnSpPr>
        <p:spPr>
          <a:xfrm flipH="1">
            <a:off x="5814114" y="4033444"/>
            <a:ext cx="623408" cy="88780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3A6C44AC-D022-AE40-A9B6-6C334CE0D2E3}"/>
              </a:ext>
            </a:extLst>
          </p:cNvPr>
          <p:cNvCxnSpPr>
            <a:cxnSpLocks/>
          </p:cNvCxnSpPr>
          <p:nvPr/>
        </p:nvCxnSpPr>
        <p:spPr>
          <a:xfrm flipH="1" flipV="1">
            <a:off x="5814114" y="3928472"/>
            <a:ext cx="623408" cy="7282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97865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28A90CE-1ABC-FB4B-8D5D-9B5944DF11CD}"/>
              </a:ext>
            </a:extLst>
          </p:cNvPr>
          <p:cNvSpPr>
            <a:spLocks noGrp="1"/>
          </p:cNvSpPr>
          <p:nvPr>
            <p:ph type="title"/>
          </p:nvPr>
        </p:nvSpPr>
        <p:spPr/>
        <p:txBody>
          <a:bodyPr/>
          <a:lstStyle/>
          <a:p>
            <a:r>
              <a:rPr lang="en-US" b="1" dirty="0"/>
              <a:t>Step 1: Calculate Distances</a:t>
            </a:r>
          </a:p>
        </p:txBody>
      </p:sp>
      <p:graphicFrame>
        <p:nvGraphicFramePr>
          <p:cNvPr id="4" name="Content Placeholder 3">
            <a:extLst>
              <a:ext uri="{FF2B5EF4-FFF2-40B4-BE49-F238E27FC236}">
                <a16:creationId xmlns:a16="http://schemas.microsoft.com/office/drawing/2014/main" id="{78DE0D87-C4D2-F145-859C-6FFCBE26FDAF}"/>
              </a:ext>
            </a:extLst>
          </p:cNvPr>
          <p:cNvGraphicFramePr>
            <a:graphicFrameLocks noGrp="1"/>
          </p:cNvGraphicFramePr>
          <p:nvPr>
            <p:ph sz="half" idx="1"/>
            <p:extLst>
              <p:ext uri="{D42A27DB-BD31-4B8C-83A1-F6EECF244321}">
                <p14:modId xmlns:p14="http://schemas.microsoft.com/office/powerpoint/2010/main" val="1495984858"/>
              </p:ext>
            </p:extLst>
          </p:nvPr>
        </p:nvGraphicFramePr>
        <p:xfrm>
          <a:off x="838200" y="1825625"/>
          <a:ext cx="5181600" cy="2494280"/>
        </p:xfrm>
        <a:graphic>
          <a:graphicData uri="http://schemas.openxmlformats.org/drawingml/2006/table">
            <a:tbl>
              <a:tblPr firstRow="1" bandRow="1">
                <a:tableStyleId>{5940675A-B579-460E-94D1-54222C63F5DA}</a:tableStyleId>
              </a:tblPr>
              <a:tblGrid>
                <a:gridCol w="2590800">
                  <a:extLst>
                    <a:ext uri="{9D8B030D-6E8A-4147-A177-3AD203B41FA5}">
                      <a16:colId xmlns:a16="http://schemas.microsoft.com/office/drawing/2014/main" val="3442811767"/>
                    </a:ext>
                  </a:extLst>
                </a:gridCol>
                <a:gridCol w="2590800">
                  <a:extLst>
                    <a:ext uri="{9D8B030D-6E8A-4147-A177-3AD203B41FA5}">
                      <a16:colId xmlns:a16="http://schemas.microsoft.com/office/drawing/2014/main" val="1695224136"/>
                    </a:ext>
                  </a:extLst>
                </a:gridCol>
              </a:tblGrid>
              <a:tr h="370840">
                <a:tc>
                  <a:txBody>
                    <a:bodyPr/>
                    <a:lstStyle/>
                    <a:p>
                      <a:pPr algn="ctr"/>
                      <a:r>
                        <a:rPr lang="en-US" b="1" dirty="0"/>
                        <a:t>Index of reference data point in the training set</a:t>
                      </a:r>
                    </a:p>
                  </a:txBody>
                  <a:tcPr/>
                </a:tc>
                <a:tc>
                  <a:txBody>
                    <a:bodyPr/>
                    <a:lstStyle/>
                    <a:p>
                      <a:pPr algn="ctr"/>
                      <a:r>
                        <a:rPr lang="en-US" b="1" dirty="0"/>
                        <a:t>Distance to the query point</a:t>
                      </a:r>
                    </a:p>
                  </a:txBody>
                  <a:tcPr/>
                </a:tc>
                <a:extLst>
                  <a:ext uri="{0D108BD9-81ED-4DB2-BD59-A6C34878D82A}">
                    <a16:rowId xmlns:a16="http://schemas.microsoft.com/office/drawing/2014/main" val="4051681193"/>
                  </a:ext>
                </a:extLst>
              </a:tr>
              <a:tr h="370840">
                <a:tc>
                  <a:txBody>
                    <a:bodyPr/>
                    <a:lstStyle/>
                    <a:p>
                      <a:pPr algn="ctr"/>
                      <a:r>
                        <a:rPr lang="en-US" dirty="0"/>
                        <a:t>0</a:t>
                      </a:r>
                    </a:p>
                  </a:txBody>
                  <a:tcPr/>
                </a:tc>
                <a:tc>
                  <a:txBody>
                    <a:bodyPr/>
                    <a:lstStyle/>
                    <a:p>
                      <a:pPr algn="ctr"/>
                      <a:r>
                        <a:rPr lang="en-US" dirty="0"/>
                        <a:t>2.2404</a:t>
                      </a:r>
                    </a:p>
                  </a:txBody>
                  <a:tcPr/>
                </a:tc>
                <a:extLst>
                  <a:ext uri="{0D108BD9-81ED-4DB2-BD59-A6C34878D82A}">
                    <a16:rowId xmlns:a16="http://schemas.microsoft.com/office/drawing/2014/main" val="1221612007"/>
                  </a:ext>
                </a:extLst>
              </a:tr>
              <a:tr h="370840">
                <a:tc>
                  <a:txBody>
                    <a:bodyPr/>
                    <a:lstStyle/>
                    <a:p>
                      <a:pPr algn="ctr"/>
                      <a:r>
                        <a:rPr lang="en-US" dirty="0"/>
                        <a:t>1</a:t>
                      </a:r>
                    </a:p>
                  </a:txBody>
                  <a:tcPr/>
                </a:tc>
                <a:tc>
                  <a:txBody>
                    <a:bodyPr/>
                    <a:lstStyle/>
                    <a:p>
                      <a:pPr algn="ctr"/>
                      <a:r>
                        <a:rPr lang="en-US" dirty="0"/>
                        <a:t>1.2062</a:t>
                      </a:r>
                    </a:p>
                  </a:txBody>
                  <a:tcPr/>
                </a:tc>
                <a:extLst>
                  <a:ext uri="{0D108BD9-81ED-4DB2-BD59-A6C34878D82A}">
                    <a16:rowId xmlns:a16="http://schemas.microsoft.com/office/drawing/2014/main" val="2823071710"/>
                  </a:ext>
                </a:extLst>
              </a:tr>
              <a:tr h="370840">
                <a:tc>
                  <a:txBody>
                    <a:bodyPr/>
                    <a:lstStyle/>
                    <a:p>
                      <a:pPr algn="ctr"/>
                      <a:r>
                        <a:rPr lang="en-US" dirty="0"/>
                        <a:t>2</a:t>
                      </a:r>
                    </a:p>
                  </a:txBody>
                  <a:tcPr/>
                </a:tc>
                <a:tc>
                  <a:txBody>
                    <a:bodyPr/>
                    <a:lstStyle/>
                    <a:p>
                      <a:pPr algn="ctr"/>
                      <a:r>
                        <a:rPr lang="en-US" dirty="0"/>
                        <a:t>1.6820</a:t>
                      </a:r>
                    </a:p>
                  </a:txBody>
                  <a:tcPr/>
                </a:tc>
                <a:extLst>
                  <a:ext uri="{0D108BD9-81ED-4DB2-BD59-A6C34878D82A}">
                    <a16:rowId xmlns:a16="http://schemas.microsoft.com/office/drawing/2014/main" val="3189132377"/>
                  </a:ext>
                </a:extLst>
              </a:tr>
              <a:tr h="370840">
                <a:tc>
                  <a:txBody>
                    <a:bodyPr/>
                    <a:lstStyle/>
                    <a:p>
                      <a:pPr algn="ctr"/>
                      <a:r>
                        <a:rPr lang="en-US" dirty="0"/>
                        <a:t>3</a:t>
                      </a:r>
                    </a:p>
                  </a:txBody>
                  <a:tcPr/>
                </a:tc>
                <a:tc>
                  <a:txBody>
                    <a:bodyPr/>
                    <a:lstStyle/>
                    <a:p>
                      <a:pPr algn="ctr"/>
                      <a:r>
                        <a:rPr lang="en-US" dirty="0"/>
                        <a:t>3.3208</a:t>
                      </a:r>
                    </a:p>
                  </a:txBody>
                  <a:tcPr/>
                </a:tc>
                <a:extLst>
                  <a:ext uri="{0D108BD9-81ED-4DB2-BD59-A6C34878D82A}">
                    <a16:rowId xmlns:a16="http://schemas.microsoft.com/office/drawing/2014/main" val="87177652"/>
                  </a:ext>
                </a:extLst>
              </a:tr>
              <a:tr h="370840">
                <a:tc>
                  <a:txBody>
                    <a:bodyPr/>
                    <a:lstStyle/>
                    <a:p>
                      <a:pPr algn="ctr"/>
                      <a:r>
                        <a:rPr lang="en-US" dirty="0"/>
                        <a:t>4</a:t>
                      </a:r>
                    </a:p>
                  </a:txBody>
                  <a:tcPr/>
                </a:tc>
                <a:tc>
                  <a:txBody>
                    <a:bodyPr/>
                    <a:lstStyle/>
                    <a:p>
                      <a:pPr algn="ctr"/>
                      <a:r>
                        <a:rPr lang="en-US" dirty="0"/>
                        <a:t>0.0001</a:t>
                      </a:r>
                    </a:p>
                  </a:txBody>
                  <a:tcPr/>
                </a:tc>
                <a:extLst>
                  <a:ext uri="{0D108BD9-81ED-4DB2-BD59-A6C34878D82A}">
                    <a16:rowId xmlns:a16="http://schemas.microsoft.com/office/drawing/2014/main" val="4173375689"/>
                  </a:ext>
                </a:extLst>
              </a:tr>
            </a:tbl>
          </a:graphicData>
        </a:graphic>
      </p:graphicFrame>
      <p:sp>
        <p:nvSpPr>
          <p:cNvPr id="6" name="Content Placeholder 5">
            <a:extLst>
              <a:ext uri="{FF2B5EF4-FFF2-40B4-BE49-F238E27FC236}">
                <a16:creationId xmlns:a16="http://schemas.microsoft.com/office/drawing/2014/main" id="{89A5E106-C7B3-5744-BB22-3623DFA1D42E}"/>
              </a:ext>
            </a:extLst>
          </p:cNvPr>
          <p:cNvSpPr>
            <a:spLocks noGrp="1"/>
          </p:cNvSpPr>
          <p:nvPr>
            <p:ph sz="half" idx="2"/>
          </p:nvPr>
        </p:nvSpPr>
        <p:spPr/>
        <p:txBody>
          <a:bodyPr/>
          <a:lstStyle/>
          <a:p>
            <a:pPr marL="0" indent="0">
              <a:lnSpc>
                <a:spcPct val="100000"/>
              </a:lnSpc>
              <a:buNone/>
            </a:pPr>
            <a:r>
              <a:rPr lang="en-US" dirty="0"/>
              <a:t>We create a table of the index of every reference point (row in the feature matrix) and its distance to the query point</a:t>
            </a:r>
          </a:p>
        </p:txBody>
      </p:sp>
    </p:spTree>
    <p:extLst>
      <p:ext uri="{BB962C8B-B14F-4D97-AF65-F5344CB8AC3E}">
        <p14:creationId xmlns:p14="http://schemas.microsoft.com/office/powerpoint/2010/main" val="19671398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28A90CE-1ABC-FB4B-8D5D-9B5944DF11CD}"/>
              </a:ext>
            </a:extLst>
          </p:cNvPr>
          <p:cNvSpPr>
            <a:spLocks noGrp="1"/>
          </p:cNvSpPr>
          <p:nvPr>
            <p:ph type="title"/>
          </p:nvPr>
        </p:nvSpPr>
        <p:spPr/>
        <p:txBody>
          <a:bodyPr/>
          <a:lstStyle/>
          <a:p>
            <a:r>
              <a:rPr lang="en-US" b="1" dirty="0"/>
              <a:t>Step 2: Sort by Distance</a:t>
            </a:r>
          </a:p>
        </p:txBody>
      </p:sp>
      <p:graphicFrame>
        <p:nvGraphicFramePr>
          <p:cNvPr id="4" name="Content Placeholder 3">
            <a:extLst>
              <a:ext uri="{FF2B5EF4-FFF2-40B4-BE49-F238E27FC236}">
                <a16:creationId xmlns:a16="http://schemas.microsoft.com/office/drawing/2014/main" id="{78DE0D87-C4D2-F145-859C-6FFCBE26FDAF}"/>
              </a:ext>
            </a:extLst>
          </p:cNvPr>
          <p:cNvGraphicFramePr>
            <a:graphicFrameLocks noGrp="1"/>
          </p:cNvGraphicFramePr>
          <p:nvPr>
            <p:ph sz="half" idx="1"/>
            <p:extLst>
              <p:ext uri="{D42A27DB-BD31-4B8C-83A1-F6EECF244321}">
                <p14:modId xmlns:p14="http://schemas.microsoft.com/office/powerpoint/2010/main" val="3652220276"/>
              </p:ext>
            </p:extLst>
          </p:nvPr>
        </p:nvGraphicFramePr>
        <p:xfrm>
          <a:off x="838200" y="1825625"/>
          <a:ext cx="5181600" cy="2494280"/>
        </p:xfrm>
        <a:graphic>
          <a:graphicData uri="http://schemas.openxmlformats.org/drawingml/2006/table">
            <a:tbl>
              <a:tblPr firstRow="1" bandRow="1">
                <a:tableStyleId>{5940675A-B579-460E-94D1-54222C63F5DA}</a:tableStyleId>
              </a:tblPr>
              <a:tblGrid>
                <a:gridCol w="2590800">
                  <a:extLst>
                    <a:ext uri="{9D8B030D-6E8A-4147-A177-3AD203B41FA5}">
                      <a16:colId xmlns:a16="http://schemas.microsoft.com/office/drawing/2014/main" val="3442811767"/>
                    </a:ext>
                  </a:extLst>
                </a:gridCol>
                <a:gridCol w="2590800">
                  <a:extLst>
                    <a:ext uri="{9D8B030D-6E8A-4147-A177-3AD203B41FA5}">
                      <a16:colId xmlns:a16="http://schemas.microsoft.com/office/drawing/2014/main" val="1695224136"/>
                    </a:ext>
                  </a:extLst>
                </a:gridCol>
              </a:tblGrid>
              <a:tr h="370840">
                <a:tc>
                  <a:txBody>
                    <a:bodyPr/>
                    <a:lstStyle/>
                    <a:p>
                      <a:pPr algn="ctr"/>
                      <a:r>
                        <a:rPr lang="en-US" b="1" dirty="0"/>
                        <a:t>Index of reference data point in the training set</a:t>
                      </a:r>
                    </a:p>
                  </a:txBody>
                  <a:tcPr/>
                </a:tc>
                <a:tc>
                  <a:txBody>
                    <a:bodyPr/>
                    <a:lstStyle/>
                    <a:p>
                      <a:pPr algn="ctr"/>
                      <a:r>
                        <a:rPr lang="en-US" b="1" dirty="0"/>
                        <a:t>Distance to the query point</a:t>
                      </a:r>
                    </a:p>
                  </a:txBody>
                  <a:tcPr/>
                </a:tc>
                <a:extLst>
                  <a:ext uri="{0D108BD9-81ED-4DB2-BD59-A6C34878D82A}">
                    <a16:rowId xmlns:a16="http://schemas.microsoft.com/office/drawing/2014/main" val="4051681193"/>
                  </a:ext>
                </a:extLst>
              </a:tr>
              <a:tr h="370840">
                <a:tc>
                  <a:txBody>
                    <a:bodyPr/>
                    <a:lstStyle/>
                    <a:p>
                      <a:pPr algn="ctr"/>
                      <a:r>
                        <a:rPr lang="en-US" dirty="0"/>
                        <a:t>0</a:t>
                      </a:r>
                    </a:p>
                  </a:txBody>
                  <a:tcPr/>
                </a:tc>
                <a:tc>
                  <a:txBody>
                    <a:bodyPr/>
                    <a:lstStyle/>
                    <a:p>
                      <a:pPr algn="ctr"/>
                      <a:r>
                        <a:rPr lang="en-US" dirty="0"/>
                        <a:t>2.2404</a:t>
                      </a:r>
                    </a:p>
                  </a:txBody>
                  <a:tcPr/>
                </a:tc>
                <a:extLst>
                  <a:ext uri="{0D108BD9-81ED-4DB2-BD59-A6C34878D82A}">
                    <a16:rowId xmlns:a16="http://schemas.microsoft.com/office/drawing/2014/main" val="1221612007"/>
                  </a:ext>
                </a:extLst>
              </a:tr>
              <a:tr h="370840">
                <a:tc>
                  <a:txBody>
                    <a:bodyPr/>
                    <a:lstStyle/>
                    <a:p>
                      <a:pPr algn="ctr"/>
                      <a:r>
                        <a:rPr lang="en-US" dirty="0"/>
                        <a:t>1</a:t>
                      </a:r>
                    </a:p>
                  </a:txBody>
                  <a:tcPr/>
                </a:tc>
                <a:tc>
                  <a:txBody>
                    <a:bodyPr/>
                    <a:lstStyle/>
                    <a:p>
                      <a:pPr algn="ctr"/>
                      <a:r>
                        <a:rPr lang="en-US" dirty="0"/>
                        <a:t>1.2062</a:t>
                      </a:r>
                    </a:p>
                  </a:txBody>
                  <a:tcPr/>
                </a:tc>
                <a:extLst>
                  <a:ext uri="{0D108BD9-81ED-4DB2-BD59-A6C34878D82A}">
                    <a16:rowId xmlns:a16="http://schemas.microsoft.com/office/drawing/2014/main" val="2823071710"/>
                  </a:ext>
                </a:extLst>
              </a:tr>
              <a:tr h="370840">
                <a:tc>
                  <a:txBody>
                    <a:bodyPr/>
                    <a:lstStyle/>
                    <a:p>
                      <a:pPr algn="ctr"/>
                      <a:r>
                        <a:rPr lang="en-US" dirty="0"/>
                        <a:t>2</a:t>
                      </a:r>
                    </a:p>
                  </a:txBody>
                  <a:tcPr/>
                </a:tc>
                <a:tc>
                  <a:txBody>
                    <a:bodyPr/>
                    <a:lstStyle/>
                    <a:p>
                      <a:pPr algn="ctr"/>
                      <a:r>
                        <a:rPr lang="en-US" dirty="0"/>
                        <a:t>1.6820</a:t>
                      </a:r>
                    </a:p>
                  </a:txBody>
                  <a:tcPr/>
                </a:tc>
                <a:extLst>
                  <a:ext uri="{0D108BD9-81ED-4DB2-BD59-A6C34878D82A}">
                    <a16:rowId xmlns:a16="http://schemas.microsoft.com/office/drawing/2014/main" val="3189132377"/>
                  </a:ext>
                </a:extLst>
              </a:tr>
              <a:tr h="370840">
                <a:tc>
                  <a:txBody>
                    <a:bodyPr/>
                    <a:lstStyle/>
                    <a:p>
                      <a:pPr algn="ctr"/>
                      <a:r>
                        <a:rPr lang="en-US" dirty="0"/>
                        <a:t>3</a:t>
                      </a:r>
                    </a:p>
                  </a:txBody>
                  <a:tcPr/>
                </a:tc>
                <a:tc>
                  <a:txBody>
                    <a:bodyPr/>
                    <a:lstStyle/>
                    <a:p>
                      <a:pPr algn="ctr"/>
                      <a:r>
                        <a:rPr lang="en-US" dirty="0"/>
                        <a:t>3.3208</a:t>
                      </a:r>
                    </a:p>
                  </a:txBody>
                  <a:tcPr/>
                </a:tc>
                <a:extLst>
                  <a:ext uri="{0D108BD9-81ED-4DB2-BD59-A6C34878D82A}">
                    <a16:rowId xmlns:a16="http://schemas.microsoft.com/office/drawing/2014/main" val="87177652"/>
                  </a:ext>
                </a:extLst>
              </a:tr>
              <a:tr h="370840">
                <a:tc>
                  <a:txBody>
                    <a:bodyPr/>
                    <a:lstStyle/>
                    <a:p>
                      <a:pPr algn="ctr"/>
                      <a:r>
                        <a:rPr lang="en-US" dirty="0"/>
                        <a:t>4</a:t>
                      </a:r>
                    </a:p>
                  </a:txBody>
                  <a:tcPr/>
                </a:tc>
                <a:tc>
                  <a:txBody>
                    <a:bodyPr/>
                    <a:lstStyle/>
                    <a:p>
                      <a:pPr algn="ctr"/>
                      <a:r>
                        <a:rPr lang="en-US" dirty="0"/>
                        <a:t>0.0001</a:t>
                      </a:r>
                    </a:p>
                  </a:txBody>
                  <a:tcPr/>
                </a:tc>
                <a:extLst>
                  <a:ext uri="{0D108BD9-81ED-4DB2-BD59-A6C34878D82A}">
                    <a16:rowId xmlns:a16="http://schemas.microsoft.com/office/drawing/2014/main" val="4173375689"/>
                  </a:ext>
                </a:extLst>
              </a:tr>
            </a:tbl>
          </a:graphicData>
        </a:graphic>
      </p:graphicFrame>
      <p:sp>
        <p:nvSpPr>
          <p:cNvPr id="6" name="Content Placeholder 5">
            <a:extLst>
              <a:ext uri="{FF2B5EF4-FFF2-40B4-BE49-F238E27FC236}">
                <a16:creationId xmlns:a16="http://schemas.microsoft.com/office/drawing/2014/main" id="{89A5E106-C7B3-5744-BB22-3623DFA1D42E}"/>
              </a:ext>
            </a:extLst>
          </p:cNvPr>
          <p:cNvSpPr>
            <a:spLocks noGrp="1"/>
          </p:cNvSpPr>
          <p:nvPr>
            <p:ph sz="half" idx="2"/>
          </p:nvPr>
        </p:nvSpPr>
        <p:spPr/>
        <p:txBody>
          <a:bodyPr/>
          <a:lstStyle/>
          <a:p>
            <a:pPr marL="0" indent="0">
              <a:buNone/>
            </a:pPr>
            <a:r>
              <a:rPr lang="en-US" dirty="0"/>
              <a:t>Sort the reference points by their distance from the query point</a:t>
            </a:r>
          </a:p>
          <a:p>
            <a:endParaRPr lang="en-US" dirty="0"/>
          </a:p>
        </p:txBody>
      </p:sp>
    </p:spTree>
    <p:extLst>
      <p:ext uri="{BB962C8B-B14F-4D97-AF65-F5344CB8AC3E}">
        <p14:creationId xmlns:p14="http://schemas.microsoft.com/office/powerpoint/2010/main" val="39352110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28A90CE-1ABC-FB4B-8D5D-9B5944DF11CD}"/>
              </a:ext>
            </a:extLst>
          </p:cNvPr>
          <p:cNvSpPr>
            <a:spLocks noGrp="1"/>
          </p:cNvSpPr>
          <p:nvPr>
            <p:ph type="title"/>
          </p:nvPr>
        </p:nvSpPr>
        <p:spPr/>
        <p:txBody>
          <a:bodyPr/>
          <a:lstStyle/>
          <a:p>
            <a:r>
              <a:rPr lang="en-US" b="1" dirty="0"/>
              <a:t>Step 2: Sort by Distance</a:t>
            </a:r>
          </a:p>
        </p:txBody>
      </p:sp>
      <p:graphicFrame>
        <p:nvGraphicFramePr>
          <p:cNvPr id="4" name="Content Placeholder 3">
            <a:extLst>
              <a:ext uri="{FF2B5EF4-FFF2-40B4-BE49-F238E27FC236}">
                <a16:creationId xmlns:a16="http://schemas.microsoft.com/office/drawing/2014/main" id="{78DE0D87-C4D2-F145-859C-6FFCBE26FDAF}"/>
              </a:ext>
            </a:extLst>
          </p:cNvPr>
          <p:cNvGraphicFramePr>
            <a:graphicFrameLocks noGrp="1"/>
          </p:cNvGraphicFramePr>
          <p:nvPr>
            <p:ph sz="half" idx="1"/>
            <p:extLst>
              <p:ext uri="{D42A27DB-BD31-4B8C-83A1-F6EECF244321}">
                <p14:modId xmlns:p14="http://schemas.microsoft.com/office/powerpoint/2010/main" val="436483380"/>
              </p:ext>
            </p:extLst>
          </p:nvPr>
        </p:nvGraphicFramePr>
        <p:xfrm>
          <a:off x="838200" y="1825625"/>
          <a:ext cx="5181600" cy="2494280"/>
        </p:xfrm>
        <a:graphic>
          <a:graphicData uri="http://schemas.openxmlformats.org/drawingml/2006/table">
            <a:tbl>
              <a:tblPr firstRow="1" bandRow="1">
                <a:tableStyleId>{5940675A-B579-460E-94D1-54222C63F5DA}</a:tableStyleId>
              </a:tblPr>
              <a:tblGrid>
                <a:gridCol w="2590800">
                  <a:extLst>
                    <a:ext uri="{9D8B030D-6E8A-4147-A177-3AD203B41FA5}">
                      <a16:colId xmlns:a16="http://schemas.microsoft.com/office/drawing/2014/main" val="3442811767"/>
                    </a:ext>
                  </a:extLst>
                </a:gridCol>
                <a:gridCol w="2590800">
                  <a:extLst>
                    <a:ext uri="{9D8B030D-6E8A-4147-A177-3AD203B41FA5}">
                      <a16:colId xmlns:a16="http://schemas.microsoft.com/office/drawing/2014/main" val="1695224136"/>
                    </a:ext>
                  </a:extLst>
                </a:gridCol>
              </a:tblGrid>
              <a:tr h="370840">
                <a:tc>
                  <a:txBody>
                    <a:bodyPr/>
                    <a:lstStyle/>
                    <a:p>
                      <a:pPr algn="ctr"/>
                      <a:r>
                        <a:rPr lang="en-US" b="1" dirty="0"/>
                        <a:t>Index of reference data point in the training set</a:t>
                      </a:r>
                    </a:p>
                  </a:txBody>
                  <a:tcPr/>
                </a:tc>
                <a:tc>
                  <a:txBody>
                    <a:bodyPr/>
                    <a:lstStyle/>
                    <a:p>
                      <a:pPr algn="ctr"/>
                      <a:r>
                        <a:rPr lang="en-US" b="1" dirty="0"/>
                        <a:t>Distance to the query point</a:t>
                      </a:r>
                    </a:p>
                  </a:txBody>
                  <a:tcPr/>
                </a:tc>
                <a:extLst>
                  <a:ext uri="{0D108BD9-81ED-4DB2-BD59-A6C34878D82A}">
                    <a16:rowId xmlns:a16="http://schemas.microsoft.com/office/drawing/2014/main" val="4051681193"/>
                  </a:ext>
                </a:extLst>
              </a:tr>
              <a:tr h="370840">
                <a:tc>
                  <a:txBody>
                    <a:bodyPr/>
                    <a:lstStyle/>
                    <a:p>
                      <a:pPr algn="ctr"/>
                      <a:r>
                        <a:rPr lang="en-US" dirty="0"/>
                        <a:t>4</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0.0001</a:t>
                      </a:r>
                    </a:p>
                  </a:txBody>
                  <a:tcPr/>
                </a:tc>
                <a:extLst>
                  <a:ext uri="{0D108BD9-81ED-4DB2-BD59-A6C34878D82A}">
                    <a16:rowId xmlns:a16="http://schemas.microsoft.com/office/drawing/2014/main" val="1221612007"/>
                  </a:ext>
                </a:extLst>
              </a:tr>
              <a:tr h="370840">
                <a:tc>
                  <a:txBody>
                    <a:bodyPr/>
                    <a:lstStyle/>
                    <a:p>
                      <a:pPr algn="ctr"/>
                      <a:r>
                        <a:rPr lang="en-US" dirty="0"/>
                        <a:t>1</a:t>
                      </a:r>
                    </a:p>
                  </a:txBody>
                  <a:tcPr/>
                </a:tc>
                <a:tc>
                  <a:txBody>
                    <a:bodyPr/>
                    <a:lstStyle/>
                    <a:p>
                      <a:pPr algn="ctr"/>
                      <a:r>
                        <a:rPr lang="en-US" dirty="0"/>
                        <a:t>1.2062</a:t>
                      </a:r>
                    </a:p>
                  </a:txBody>
                  <a:tcPr/>
                </a:tc>
                <a:extLst>
                  <a:ext uri="{0D108BD9-81ED-4DB2-BD59-A6C34878D82A}">
                    <a16:rowId xmlns:a16="http://schemas.microsoft.com/office/drawing/2014/main" val="2823071710"/>
                  </a:ext>
                </a:extLst>
              </a:tr>
              <a:tr h="370840">
                <a:tc>
                  <a:txBody>
                    <a:bodyPr/>
                    <a:lstStyle/>
                    <a:p>
                      <a:pPr algn="ctr"/>
                      <a:r>
                        <a:rPr lang="en-US" dirty="0"/>
                        <a:t>2</a:t>
                      </a:r>
                    </a:p>
                  </a:txBody>
                  <a:tcPr/>
                </a:tc>
                <a:tc>
                  <a:txBody>
                    <a:bodyPr/>
                    <a:lstStyle/>
                    <a:p>
                      <a:pPr algn="ctr"/>
                      <a:r>
                        <a:rPr lang="en-US" dirty="0"/>
                        <a:t>1.6820</a:t>
                      </a:r>
                    </a:p>
                  </a:txBody>
                  <a:tcPr/>
                </a:tc>
                <a:extLst>
                  <a:ext uri="{0D108BD9-81ED-4DB2-BD59-A6C34878D82A}">
                    <a16:rowId xmlns:a16="http://schemas.microsoft.com/office/drawing/2014/main" val="3189132377"/>
                  </a:ext>
                </a:extLst>
              </a:tr>
              <a:tr h="370840">
                <a:tc>
                  <a:txBody>
                    <a:bodyPr/>
                    <a:lstStyle/>
                    <a:p>
                      <a:pPr algn="ctr"/>
                      <a:r>
                        <a:rPr lang="en-US" dirty="0"/>
                        <a:t>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2.2404</a:t>
                      </a:r>
                    </a:p>
                  </a:txBody>
                  <a:tcPr/>
                </a:tc>
                <a:extLst>
                  <a:ext uri="{0D108BD9-81ED-4DB2-BD59-A6C34878D82A}">
                    <a16:rowId xmlns:a16="http://schemas.microsoft.com/office/drawing/2014/main" val="87177652"/>
                  </a:ext>
                </a:extLst>
              </a:tr>
              <a:tr h="370840">
                <a:tc>
                  <a:txBody>
                    <a:bodyPr/>
                    <a:lstStyle/>
                    <a:p>
                      <a:pPr algn="ctr"/>
                      <a:r>
                        <a:rPr lang="en-US" dirty="0"/>
                        <a:t>3</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3.3208</a:t>
                      </a:r>
                    </a:p>
                  </a:txBody>
                  <a:tcPr/>
                </a:tc>
                <a:extLst>
                  <a:ext uri="{0D108BD9-81ED-4DB2-BD59-A6C34878D82A}">
                    <a16:rowId xmlns:a16="http://schemas.microsoft.com/office/drawing/2014/main" val="4173375689"/>
                  </a:ext>
                </a:extLst>
              </a:tr>
            </a:tbl>
          </a:graphicData>
        </a:graphic>
      </p:graphicFrame>
      <p:sp>
        <p:nvSpPr>
          <p:cNvPr id="6" name="Content Placeholder 5">
            <a:extLst>
              <a:ext uri="{FF2B5EF4-FFF2-40B4-BE49-F238E27FC236}">
                <a16:creationId xmlns:a16="http://schemas.microsoft.com/office/drawing/2014/main" id="{89A5E106-C7B3-5744-BB22-3623DFA1D42E}"/>
              </a:ext>
            </a:extLst>
          </p:cNvPr>
          <p:cNvSpPr>
            <a:spLocks noGrp="1"/>
          </p:cNvSpPr>
          <p:nvPr>
            <p:ph sz="half" idx="2"/>
          </p:nvPr>
        </p:nvSpPr>
        <p:spPr/>
        <p:txBody>
          <a:bodyPr/>
          <a:lstStyle/>
          <a:p>
            <a:pPr marL="0" indent="0">
              <a:buNone/>
            </a:pPr>
            <a:r>
              <a:rPr lang="en-US" dirty="0"/>
              <a:t>Sort the reference points by their distance from the query point</a:t>
            </a:r>
          </a:p>
        </p:txBody>
      </p:sp>
    </p:spTree>
    <p:extLst>
      <p:ext uri="{BB962C8B-B14F-4D97-AF65-F5344CB8AC3E}">
        <p14:creationId xmlns:p14="http://schemas.microsoft.com/office/powerpoint/2010/main" val="69088202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28A90CE-1ABC-FB4B-8D5D-9B5944DF11CD}"/>
              </a:ext>
            </a:extLst>
          </p:cNvPr>
          <p:cNvSpPr>
            <a:spLocks noGrp="1"/>
          </p:cNvSpPr>
          <p:nvPr>
            <p:ph type="title"/>
          </p:nvPr>
        </p:nvSpPr>
        <p:spPr/>
        <p:txBody>
          <a:bodyPr/>
          <a:lstStyle/>
          <a:p>
            <a:r>
              <a:rPr lang="en-US" b="1" dirty="0"/>
              <a:t>Step 3: Find the k-closest neighbors</a:t>
            </a:r>
          </a:p>
        </p:txBody>
      </p:sp>
      <p:graphicFrame>
        <p:nvGraphicFramePr>
          <p:cNvPr id="4" name="Content Placeholder 3">
            <a:extLst>
              <a:ext uri="{FF2B5EF4-FFF2-40B4-BE49-F238E27FC236}">
                <a16:creationId xmlns:a16="http://schemas.microsoft.com/office/drawing/2014/main" id="{78DE0D87-C4D2-F145-859C-6FFCBE26FDAF}"/>
              </a:ext>
            </a:extLst>
          </p:cNvPr>
          <p:cNvGraphicFramePr>
            <a:graphicFrameLocks noGrp="1"/>
          </p:cNvGraphicFramePr>
          <p:nvPr>
            <p:ph sz="half" idx="1"/>
            <p:extLst>
              <p:ext uri="{D42A27DB-BD31-4B8C-83A1-F6EECF244321}">
                <p14:modId xmlns:p14="http://schemas.microsoft.com/office/powerpoint/2010/main" val="1715738181"/>
              </p:ext>
            </p:extLst>
          </p:nvPr>
        </p:nvGraphicFramePr>
        <p:xfrm>
          <a:off x="838200" y="1825625"/>
          <a:ext cx="5181600" cy="2494280"/>
        </p:xfrm>
        <a:graphic>
          <a:graphicData uri="http://schemas.openxmlformats.org/drawingml/2006/table">
            <a:tbl>
              <a:tblPr firstRow="1" bandRow="1">
                <a:tableStyleId>{5940675A-B579-460E-94D1-54222C63F5DA}</a:tableStyleId>
              </a:tblPr>
              <a:tblGrid>
                <a:gridCol w="2590800">
                  <a:extLst>
                    <a:ext uri="{9D8B030D-6E8A-4147-A177-3AD203B41FA5}">
                      <a16:colId xmlns:a16="http://schemas.microsoft.com/office/drawing/2014/main" val="3442811767"/>
                    </a:ext>
                  </a:extLst>
                </a:gridCol>
                <a:gridCol w="2590800">
                  <a:extLst>
                    <a:ext uri="{9D8B030D-6E8A-4147-A177-3AD203B41FA5}">
                      <a16:colId xmlns:a16="http://schemas.microsoft.com/office/drawing/2014/main" val="1695224136"/>
                    </a:ext>
                  </a:extLst>
                </a:gridCol>
              </a:tblGrid>
              <a:tr h="370840">
                <a:tc>
                  <a:txBody>
                    <a:bodyPr/>
                    <a:lstStyle/>
                    <a:p>
                      <a:pPr algn="ctr"/>
                      <a:r>
                        <a:rPr lang="en-US" b="1" dirty="0"/>
                        <a:t>Index of reference data point in the training set</a:t>
                      </a:r>
                    </a:p>
                  </a:txBody>
                  <a:tcPr/>
                </a:tc>
                <a:tc>
                  <a:txBody>
                    <a:bodyPr/>
                    <a:lstStyle/>
                    <a:p>
                      <a:pPr algn="ctr"/>
                      <a:r>
                        <a:rPr lang="en-US" b="1" dirty="0"/>
                        <a:t>Distance to the query point</a:t>
                      </a:r>
                    </a:p>
                  </a:txBody>
                  <a:tcPr/>
                </a:tc>
                <a:extLst>
                  <a:ext uri="{0D108BD9-81ED-4DB2-BD59-A6C34878D82A}">
                    <a16:rowId xmlns:a16="http://schemas.microsoft.com/office/drawing/2014/main" val="4051681193"/>
                  </a:ext>
                </a:extLst>
              </a:tr>
              <a:tr h="370840">
                <a:tc>
                  <a:txBody>
                    <a:bodyPr/>
                    <a:lstStyle/>
                    <a:p>
                      <a:pPr algn="ctr"/>
                      <a:r>
                        <a:rPr lang="en-US" dirty="0"/>
                        <a:t>4</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0.0001</a:t>
                      </a:r>
                    </a:p>
                  </a:txBody>
                  <a:tcPr/>
                </a:tc>
                <a:extLst>
                  <a:ext uri="{0D108BD9-81ED-4DB2-BD59-A6C34878D82A}">
                    <a16:rowId xmlns:a16="http://schemas.microsoft.com/office/drawing/2014/main" val="1221612007"/>
                  </a:ext>
                </a:extLst>
              </a:tr>
              <a:tr h="370840">
                <a:tc>
                  <a:txBody>
                    <a:bodyPr/>
                    <a:lstStyle/>
                    <a:p>
                      <a:pPr algn="ctr"/>
                      <a:r>
                        <a:rPr lang="en-US" dirty="0"/>
                        <a:t>1</a:t>
                      </a:r>
                    </a:p>
                  </a:txBody>
                  <a:tcPr/>
                </a:tc>
                <a:tc>
                  <a:txBody>
                    <a:bodyPr/>
                    <a:lstStyle/>
                    <a:p>
                      <a:pPr algn="ctr"/>
                      <a:r>
                        <a:rPr lang="en-US" dirty="0"/>
                        <a:t>1.2062</a:t>
                      </a:r>
                    </a:p>
                  </a:txBody>
                  <a:tcPr/>
                </a:tc>
                <a:extLst>
                  <a:ext uri="{0D108BD9-81ED-4DB2-BD59-A6C34878D82A}">
                    <a16:rowId xmlns:a16="http://schemas.microsoft.com/office/drawing/2014/main" val="2823071710"/>
                  </a:ext>
                </a:extLst>
              </a:tr>
              <a:tr h="370840">
                <a:tc>
                  <a:txBody>
                    <a:bodyPr/>
                    <a:lstStyle/>
                    <a:p>
                      <a:pPr algn="ctr"/>
                      <a:r>
                        <a:rPr lang="en-US" dirty="0"/>
                        <a:t>2</a:t>
                      </a:r>
                    </a:p>
                  </a:txBody>
                  <a:tcPr/>
                </a:tc>
                <a:tc>
                  <a:txBody>
                    <a:bodyPr/>
                    <a:lstStyle/>
                    <a:p>
                      <a:pPr algn="ctr"/>
                      <a:r>
                        <a:rPr lang="en-US" dirty="0"/>
                        <a:t>1.6820</a:t>
                      </a:r>
                    </a:p>
                  </a:txBody>
                  <a:tcPr/>
                </a:tc>
                <a:extLst>
                  <a:ext uri="{0D108BD9-81ED-4DB2-BD59-A6C34878D82A}">
                    <a16:rowId xmlns:a16="http://schemas.microsoft.com/office/drawing/2014/main" val="3189132377"/>
                  </a:ext>
                </a:extLst>
              </a:tr>
              <a:tr h="370840">
                <a:tc>
                  <a:txBody>
                    <a:bodyPr/>
                    <a:lstStyle/>
                    <a:p>
                      <a:pPr algn="ctr"/>
                      <a:r>
                        <a:rPr lang="en-US" dirty="0"/>
                        <a:t>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2.2404</a:t>
                      </a:r>
                    </a:p>
                  </a:txBody>
                  <a:tcPr/>
                </a:tc>
                <a:extLst>
                  <a:ext uri="{0D108BD9-81ED-4DB2-BD59-A6C34878D82A}">
                    <a16:rowId xmlns:a16="http://schemas.microsoft.com/office/drawing/2014/main" val="87177652"/>
                  </a:ext>
                </a:extLst>
              </a:tr>
              <a:tr h="370840">
                <a:tc>
                  <a:txBody>
                    <a:bodyPr/>
                    <a:lstStyle/>
                    <a:p>
                      <a:pPr algn="ctr"/>
                      <a:r>
                        <a:rPr lang="en-US" dirty="0"/>
                        <a:t>3</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3.3208</a:t>
                      </a:r>
                    </a:p>
                  </a:txBody>
                  <a:tcPr/>
                </a:tc>
                <a:extLst>
                  <a:ext uri="{0D108BD9-81ED-4DB2-BD59-A6C34878D82A}">
                    <a16:rowId xmlns:a16="http://schemas.microsoft.com/office/drawing/2014/main" val="4173375689"/>
                  </a:ext>
                </a:extLst>
              </a:tr>
            </a:tbl>
          </a:graphicData>
        </a:graphic>
      </p:graphicFrame>
      <p:sp>
        <p:nvSpPr>
          <p:cNvPr id="6" name="Content Placeholder 5">
            <a:extLst>
              <a:ext uri="{FF2B5EF4-FFF2-40B4-BE49-F238E27FC236}">
                <a16:creationId xmlns:a16="http://schemas.microsoft.com/office/drawing/2014/main" id="{89A5E106-C7B3-5744-BB22-3623DFA1D42E}"/>
              </a:ext>
            </a:extLst>
          </p:cNvPr>
          <p:cNvSpPr>
            <a:spLocks noGrp="1"/>
          </p:cNvSpPr>
          <p:nvPr>
            <p:ph sz="half" idx="2"/>
          </p:nvPr>
        </p:nvSpPr>
        <p:spPr/>
        <p:txBody>
          <a:bodyPr/>
          <a:lstStyle/>
          <a:p>
            <a:pPr marL="0" indent="0">
              <a:buNone/>
            </a:pPr>
            <a:r>
              <a:rPr lang="en-US" dirty="0"/>
              <a:t>The k closest neighbors are kept</a:t>
            </a:r>
          </a:p>
        </p:txBody>
      </p:sp>
    </p:spTree>
    <p:extLst>
      <p:ext uri="{BB962C8B-B14F-4D97-AF65-F5344CB8AC3E}">
        <p14:creationId xmlns:p14="http://schemas.microsoft.com/office/powerpoint/2010/main" val="57801815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28A90CE-1ABC-FB4B-8D5D-9B5944DF11CD}"/>
              </a:ext>
            </a:extLst>
          </p:cNvPr>
          <p:cNvSpPr>
            <a:spLocks noGrp="1"/>
          </p:cNvSpPr>
          <p:nvPr>
            <p:ph type="title"/>
          </p:nvPr>
        </p:nvSpPr>
        <p:spPr/>
        <p:txBody>
          <a:bodyPr/>
          <a:lstStyle/>
          <a:p>
            <a:r>
              <a:rPr lang="en-US" b="1" dirty="0"/>
              <a:t>Step 3: Find the k-closest neighbors</a:t>
            </a:r>
          </a:p>
        </p:txBody>
      </p:sp>
      <p:graphicFrame>
        <p:nvGraphicFramePr>
          <p:cNvPr id="4" name="Content Placeholder 3">
            <a:extLst>
              <a:ext uri="{FF2B5EF4-FFF2-40B4-BE49-F238E27FC236}">
                <a16:creationId xmlns:a16="http://schemas.microsoft.com/office/drawing/2014/main" id="{78DE0D87-C4D2-F145-859C-6FFCBE26FDAF}"/>
              </a:ext>
            </a:extLst>
          </p:cNvPr>
          <p:cNvGraphicFramePr>
            <a:graphicFrameLocks noGrp="1"/>
          </p:cNvGraphicFramePr>
          <p:nvPr>
            <p:ph sz="half" idx="1"/>
            <p:extLst>
              <p:ext uri="{D42A27DB-BD31-4B8C-83A1-F6EECF244321}">
                <p14:modId xmlns:p14="http://schemas.microsoft.com/office/powerpoint/2010/main" val="2426823858"/>
              </p:ext>
            </p:extLst>
          </p:nvPr>
        </p:nvGraphicFramePr>
        <p:xfrm>
          <a:off x="838200" y="1825625"/>
          <a:ext cx="5181600" cy="2494280"/>
        </p:xfrm>
        <a:graphic>
          <a:graphicData uri="http://schemas.openxmlformats.org/drawingml/2006/table">
            <a:tbl>
              <a:tblPr firstRow="1" bandRow="1">
                <a:tableStyleId>{5940675A-B579-460E-94D1-54222C63F5DA}</a:tableStyleId>
              </a:tblPr>
              <a:tblGrid>
                <a:gridCol w="2590800">
                  <a:extLst>
                    <a:ext uri="{9D8B030D-6E8A-4147-A177-3AD203B41FA5}">
                      <a16:colId xmlns:a16="http://schemas.microsoft.com/office/drawing/2014/main" val="3442811767"/>
                    </a:ext>
                  </a:extLst>
                </a:gridCol>
                <a:gridCol w="2590800">
                  <a:extLst>
                    <a:ext uri="{9D8B030D-6E8A-4147-A177-3AD203B41FA5}">
                      <a16:colId xmlns:a16="http://schemas.microsoft.com/office/drawing/2014/main" val="1695224136"/>
                    </a:ext>
                  </a:extLst>
                </a:gridCol>
              </a:tblGrid>
              <a:tr h="370840">
                <a:tc>
                  <a:txBody>
                    <a:bodyPr/>
                    <a:lstStyle/>
                    <a:p>
                      <a:pPr algn="ctr"/>
                      <a:r>
                        <a:rPr lang="en-US" b="1" dirty="0"/>
                        <a:t>Index of reference data point in the training set</a:t>
                      </a:r>
                    </a:p>
                  </a:txBody>
                  <a:tcPr/>
                </a:tc>
                <a:tc>
                  <a:txBody>
                    <a:bodyPr/>
                    <a:lstStyle/>
                    <a:p>
                      <a:pPr algn="ctr"/>
                      <a:r>
                        <a:rPr lang="en-US" b="1" dirty="0"/>
                        <a:t>Distance to the query point</a:t>
                      </a:r>
                    </a:p>
                  </a:txBody>
                  <a:tcPr/>
                </a:tc>
                <a:extLst>
                  <a:ext uri="{0D108BD9-81ED-4DB2-BD59-A6C34878D82A}">
                    <a16:rowId xmlns:a16="http://schemas.microsoft.com/office/drawing/2014/main" val="4051681193"/>
                  </a:ext>
                </a:extLst>
              </a:tr>
              <a:tr h="370840">
                <a:tc>
                  <a:txBody>
                    <a:bodyPr/>
                    <a:lstStyle/>
                    <a:p>
                      <a:pPr algn="ctr"/>
                      <a:r>
                        <a:rPr lang="en-US" dirty="0"/>
                        <a:t>4</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0.0001</a:t>
                      </a:r>
                    </a:p>
                  </a:txBody>
                  <a:tcPr/>
                </a:tc>
                <a:extLst>
                  <a:ext uri="{0D108BD9-81ED-4DB2-BD59-A6C34878D82A}">
                    <a16:rowId xmlns:a16="http://schemas.microsoft.com/office/drawing/2014/main" val="1221612007"/>
                  </a:ext>
                </a:extLst>
              </a:tr>
              <a:tr h="370840">
                <a:tc>
                  <a:txBody>
                    <a:bodyPr/>
                    <a:lstStyle/>
                    <a:p>
                      <a:pPr algn="ctr"/>
                      <a:r>
                        <a:rPr lang="en-US" dirty="0"/>
                        <a:t>1</a:t>
                      </a:r>
                    </a:p>
                  </a:txBody>
                  <a:tcPr/>
                </a:tc>
                <a:tc>
                  <a:txBody>
                    <a:bodyPr/>
                    <a:lstStyle/>
                    <a:p>
                      <a:pPr algn="ctr"/>
                      <a:r>
                        <a:rPr lang="en-US" dirty="0"/>
                        <a:t>1.2062</a:t>
                      </a:r>
                    </a:p>
                  </a:txBody>
                  <a:tcPr/>
                </a:tc>
                <a:extLst>
                  <a:ext uri="{0D108BD9-81ED-4DB2-BD59-A6C34878D82A}">
                    <a16:rowId xmlns:a16="http://schemas.microsoft.com/office/drawing/2014/main" val="2823071710"/>
                  </a:ext>
                </a:extLst>
              </a:tr>
              <a:tr h="370840">
                <a:tc>
                  <a:txBody>
                    <a:bodyPr/>
                    <a:lstStyle/>
                    <a:p>
                      <a:pPr algn="ctr"/>
                      <a:r>
                        <a:rPr lang="en-US" dirty="0"/>
                        <a:t>2</a:t>
                      </a:r>
                    </a:p>
                  </a:txBody>
                  <a:tcPr/>
                </a:tc>
                <a:tc>
                  <a:txBody>
                    <a:bodyPr/>
                    <a:lstStyle/>
                    <a:p>
                      <a:pPr algn="ctr"/>
                      <a:r>
                        <a:rPr lang="en-US" dirty="0"/>
                        <a:t>1.6820</a:t>
                      </a:r>
                    </a:p>
                  </a:txBody>
                  <a:tcPr/>
                </a:tc>
                <a:extLst>
                  <a:ext uri="{0D108BD9-81ED-4DB2-BD59-A6C34878D82A}">
                    <a16:rowId xmlns:a16="http://schemas.microsoft.com/office/drawing/2014/main" val="3189132377"/>
                  </a:ext>
                </a:extLst>
              </a:tr>
              <a:tr h="370840">
                <a:tc>
                  <a:txBody>
                    <a:bodyPr/>
                    <a:lstStyle/>
                    <a:p>
                      <a:pPr algn="ct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dirty="0"/>
                    </a:p>
                  </a:txBody>
                  <a:tcPr/>
                </a:tc>
                <a:extLst>
                  <a:ext uri="{0D108BD9-81ED-4DB2-BD59-A6C34878D82A}">
                    <a16:rowId xmlns:a16="http://schemas.microsoft.com/office/drawing/2014/main" val="87177652"/>
                  </a:ext>
                </a:extLst>
              </a:tr>
              <a:tr h="370840">
                <a:tc>
                  <a:txBody>
                    <a:bodyPr/>
                    <a:lstStyle/>
                    <a:p>
                      <a:pPr algn="ct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dirty="0"/>
                    </a:p>
                  </a:txBody>
                  <a:tcPr/>
                </a:tc>
                <a:extLst>
                  <a:ext uri="{0D108BD9-81ED-4DB2-BD59-A6C34878D82A}">
                    <a16:rowId xmlns:a16="http://schemas.microsoft.com/office/drawing/2014/main" val="4173375689"/>
                  </a:ext>
                </a:extLst>
              </a:tr>
            </a:tbl>
          </a:graphicData>
        </a:graphic>
      </p:graphicFrame>
      <p:sp>
        <p:nvSpPr>
          <p:cNvPr id="6" name="Content Placeholder 5">
            <a:extLst>
              <a:ext uri="{FF2B5EF4-FFF2-40B4-BE49-F238E27FC236}">
                <a16:creationId xmlns:a16="http://schemas.microsoft.com/office/drawing/2014/main" id="{89A5E106-C7B3-5744-BB22-3623DFA1D42E}"/>
              </a:ext>
            </a:extLst>
          </p:cNvPr>
          <p:cNvSpPr>
            <a:spLocks noGrp="1"/>
          </p:cNvSpPr>
          <p:nvPr>
            <p:ph sz="half" idx="2"/>
          </p:nvPr>
        </p:nvSpPr>
        <p:spPr/>
        <p:txBody>
          <a:bodyPr/>
          <a:lstStyle/>
          <a:p>
            <a:pPr marL="0" indent="0">
              <a:buNone/>
            </a:pPr>
            <a:r>
              <a:rPr lang="en-US" dirty="0"/>
              <a:t>The k closest neighbors are kept</a:t>
            </a:r>
          </a:p>
        </p:txBody>
      </p:sp>
    </p:spTree>
    <p:extLst>
      <p:ext uri="{BB962C8B-B14F-4D97-AF65-F5344CB8AC3E}">
        <p14:creationId xmlns:p14="http://schemas.microsoft.com/office/powerpoint/2010/main" val="40868947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28A90CE-1ABC-FB4B-8D5D-9B5944DF11CD}"/>
              </a:ext>
            </a:extLst>
          </p:cNvPr>
          <p:cNvSpPr>
            <a:spLocks noGrp="1"/>
          </p:cNvSpPr>
          <p:nvPr>
            <p:ph type="title"/>
          </p:nvPr>
        </p:nvSpPr>
        <p:spPr/>
        <p:txBody>
          <a:bodyPr/>
          <a:lstStyle/>
          <a:p>
            <a:r>
              <a:rPr lang="en-US" b="1" dirty="0"/>
              <a:t>Step 3: Find the k-closest neighbors</a:t>
            </a:r>
          </a:p>
        </p:txBody>
      </p:sp>
      <p:graphicFrame>
        <p:nvGraphicFramePr>
          <p:cNvPr id="4" name="Content Placeholder 3">
            <a:extLst>
              <a:ext uri="{FF2B5EF4-FFF2-40B4-BE49-F238E27FC236}">
                <a16:creationId xmlns:a16="http://schemas.microsoft.com/office/drawing/2014/main" id="{78DE0D87-C4D2-F145-859C-6FFCBE26FDAF}"/>
              </a:ext>
            </a:extLst>
          </p:cNvPr>
          <p:cNvGraphicFramePr>
            <a:graphicFrameLocks noGrp="1"/>
          </p:cNvGraphicFramePr>
          <p:nvPr>
            <p:ph sz="half" idx="1"/>
            <p:extLst>
              <p:ext uri="{D42A27DB-BD31-4B8C-83A1-F6EECF244321}">
                <p14:modId xmlns:p14="http://schemas.microsoft.com/office/powerpoint/2010/main" val="213988250"/>
              </p:ext>
            </p:extLst>
          </p:nvPr>
        </p:nvGraphicFramePr>
        <p:xfrm>
          <a:off x="838200" y="1825625"/>
          <a:ext cx="5181600" cy="2494280"/>
        </p:xfrm>
        <a:graphic>
          <a:graphicData uri="http://schemas.openxmlformats.org/drawingml/2006/table">
            <a:tbl>
              <a:tblPr firstRow="1" bandRow="1">
                <a:tableStyleId>{5940675A-B579-460E-94D1-54222C63F5DA}</a:tableStyleId>
              </a:tblPr>
              <a:tblGrid>
                <a:gridCol w="2590800">
                  <a:extLst>
                    <a:ext uri="{9D8B030D-6E8A-4147-A177-3AD203B41FA5}">
                      <a16:colId xmlns:a16="http://schemas.microsoft.com/office/drawing/2014/main" val="3442811767"/>
                    </a:ext>
                  </a:extLst>
                </a:gridCol>
                <a:gridCol w="2590800">
                  <a:extLst>
                    <a:ext uri="{9D8B030D-6E8A-4147-A177-3AD203B41FA5}">
                      <a16:colId xmlns:a16="http://schemas.microsoft.com/office/drawing/2014/main" val="1695224136"/>
                    </a:ext>
                  </a:extLst>
                </a:gridCol>
              </a:tblGrid>
              <a:tr h="370840">
                <a:tc>
                  <a:txBody>
                    <a:bodyPr/>
                    <a:lstStyle/>
                    <a:p>
                      <a:pPr algn="ctr"/>
                      <a:r>
                        <a:rPr lang="en-US" b="1" dirty="0"/>
                        <a:t>Index of reference data point in the training set</a:t>
                      </a:r>
                    </a:p>
                  </a:txBody>
                  <a:tcPr/>
                </a:tc>
                <a:tc>
                  <a:txBody>
                    <a:bodyPr/>
                    <a:lstStyle/>
                    <a:p>
                      <a:pPr algn="ctr"/>
                      <a:r>
                        <a:rPr lang="en-US" b="1" dirty="0"/>
                        <a:t>Distance</a:t>
                      </a:r>
                    </a:p>
                  </a:txBody>
                  <a:tcPr/>
                </a:tc>
                <a:extLst>
                  <a:ext uri="{0D108BD9-81ED-4DB2-BD59-A6C34878D82A}">
                    <a16:rowId xmlns:a16="http://schemas.microsoft.com/office/drawing/2014/main" val="4051681193"/>
                  </a:ext>
                </a:extLst>
              </a:tr>
              <a:tr h="370840">
                <a:tc>
                  <a:txBody>
                    <a:bodyPr/>
                    <a:lstStyle/>
                    <a:p>
                      <a:pPr algn="ctr"/>
                      <a:r>
                        <a:rPr lang="en-US" dirty="0"/>
                        <a:t>4</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dirty="0"/>
                    </a:p>
                  </a:txBody>
                  <a:tcPr/>
                </a:tc>
                <a:extLst>
                  <a:ext uri="{0D108BD9-81ED-4DB2-BD59-A6C34878D82A}">
                    <a16:rowId xmlns:a16="http://schemas.microsoft.com/office/drawing/2014/main" val="1221612007"/>
                  </a:ext>
                </a:extLst>
              </a:tr>
              <a:tr h="370840">
                <a:tc>
                  <a:txBody>
                    <a:bodyPr/>
                    <a:lstStyle/>
                    <a:p>
                      <a:pPr algn="ctr"/>
                      <a:r>
                        <a:rPr lang="en-US" dirty="0"/>
                        <a:t>1</a:t>
                      </a:r>
                    </a:p>
                  </a:txBody>
                  <a:tcPr/>
                </a:tc>
                <a:tc>
                  <a:txBody>
                    <a:bodyPr/>
                    <a:lstStyle/>
                    <a:p>
                      <a:pPr algn="ctr"/>
                      <a:endParaRPr lang="en-US" dirty="0"/>
                    </a:p>
                  </a:txBody>
                  <a:tcPr/>
                </a:tc>
                <a:extLst>
                  <a:ext uri="{0D108BD9-81ED-4DB2-BD59-A6C34878D82A}">
                    <a16:rowId xmlns:a16="http://schemas.microsoft.com/office/drawing/2014/main" val="2823071710"/>
                  </a:ext>
                </a:extLst>
              </a:tr>
              <a:tr h="370840">
                <a:tc>
                  <a:txBody>
                    <a:bodyPr/>
                    <a:lstStyle/>
                    <a:p>
                      <a:pPr algn="ctr"/>
                      <a:r>
                        <a:rPr lang="en-US" dirty="0"/>
                        <a:t>2</a:t>
                      </a:r>
                    </a:p>
                  </a:txBody>
                  <a:tcPr/>
                </a:tc>
                <a:tc>
                  <a:txBody>
                    <a:bodyPr/>
                    <a:lstStyle/>
                    <a:p>
                      <a:pPr algn="ctr"/>
                      <a:endParaRPr lang="en-US" dirty="0"/>
                    </a:p>
                  </a:txBody>
                  <a:tcPr/>
                </a:tc>
                <a:extLst>
                  <a:ext uri="{0D108BD9-81ED-4DB2-BD59-A6C34878D82A}">
                    <a16:rowId xmlns:a16="http://schemas.microsoft.com/office/drawing/2014/main" val="3189132377"/>
                  </a:ext>
                </a:extLst>
              </a:tr>
              <a:tr h="370840">
                <a:tc>
                  <a:txBody>
                    <a:bodyPr/>
                    <a:lstStyle/>
                    <a:p>
                      <a:pPr algn="ct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dirty="0"/>
                    </a:p>
                  </a:txBody>
                  <a:tcPr/>
                </a:tc>
                <a:extLst>
                  <a:ext uri="{0D108BD9-81ED-4DB2-BD59-A6C34878D82A}">
                    <a16:rowId xmlns:a16="http://schemas.microsoft.com/office/drawing/2014/main" val="87177652"/>
                  </a:ext>
                </a:extLst>
              </a:tr>
              <a:tr h="370840">
                <a:tc>
                  <a:txBody>
                    <a:bodyPr/>
                    <a:lstStyle/>
                    <a:p>
                      <a:pPr algn="ct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dirty="0"/>
                    </a:p>
                  </a:txBody>
                  <a:tcPr/>
                </a:tc>
                <a:extLst>
                  <a:ext uri="{0D108BD9-81ED-4DB2-BD59-A6C34878D82A}">
                    <a16:rowId xmlns:a16="http://schemas.microsoft.com/office/drawing/2014/main" val="4173375689"/>
                  </a:ext>
                </a:extLst>
              </a:tr>
            </a:tbl>
          </a:graphicData>
        </a:graphic>
      </p:graphicFrame>
      <p:sp>
        <p:nvSpPr>
          <p:cNvPr id="6" name="Content Placeholder 5">
            <a:extLst>
              <a:ext uri="{FF2B5EF4-FFF2-40B4-BE49-F238E27FC236}">
                <a16:creationId xmlns:a16="http://schemas.microsoft.com/office/drawing/2014/main" id="{89A5E106-C7B3-5744-BB22-3623DFA1D42E}"/>
              </a:ext>
            </a:extLst>
          </p:cNvPr>
          <p:cNvSpPr>
            <a:spLocks noGrp="1"/>
          </p:cNvSpPr>
          <p:nvPr>
            <p:ph sz="half" idx="2"/>
          </p:nvPr>
        </p:nvSpPr>
        <p:spPr/>
        <p:txBody>
          <a:bodyPr/>
          <a:lstStyle/>
          <a:p>
            <a:pPr marL="0" indent="0">
              <a:buNone/>
            </a:pPr>
            <a:r>
              <a:rPr lang="en-US" dirty="0"/>
              <a:t>We no longer use the distances</a:t>
            </a:r>
          </a:p>
          <a:p>
            <a:pPr marL="0" indent="0">
              <a:buNone/>
            </a:pPr>
            <a:r>
              <a:rPr lang="en-US" dirty="0"/>
              <a:t>We can just drop them</a:t>
            </a:r>
          </a:p>
        </p:txBody>
      </p:sp>
    </p:spTree>
    <p:extLst>
      <p:ext uri="{BB962C8B-B14F-4D97-AF65-F5344CB8AC3E}">
        <p14:creationId xmlns:p14="http://schemas.microsoft.com/office/powerpoint/2010/main" val="148761212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28A90CE-1ABC-FB4B-8D5D-9B5944DF11CD}"/>
              </a:ext>
            </a:extLst>
          </p:cNvPr>
          <p:cNvSpPr>
            <a:spLocks noGrp="1"/>
          </p:cNvSpPr>
          <p:nvPr>
            <p:ph type="title"/>
          </p:nvPr>
        </p:nvSpPr>
        <p:spPr/>
        <p:txBody>
          <a:bodyPr/>
          <a:lstStyle/>
          <a:p>
            <a:r>
              <a:rPr lang="en-US" b="1" dirty="0"/>
              <a:t>Step 4: Grab Labels for Neighbors</a:t>
            </a:r>
          </a:p>
        </p:txBody>
      </p:sp>
      <p:graphicFrame>
        <p:nvGraphicFramePr>
          <p:cNvPr id="4" name="Content Placeholder 3">
            <a:extLst>
              <a:ext uri="{FF2B5EF4-FFF2-40B4-BE49-F238E27FC236}">
                <a16:creationId xmlns:a16="http://schemas.microsoft.com/office/drawing/2014/main" id="{78DE0D87-C4D2-F145-859C-6FFCBE26FDAF}"/>
              </a:ext>
            </a:extLst>
          </p:cNvPr>
          <p:cNvGraphicFramePr>
            <a:graphicFrameLocks noGrp="1"/>
          </p:cNvGraphicFramePr>
          <p:nvPr>
            <p:ph sz="half" idx="1"/>
            <p:extLst>
              <p:ext uri="{D42A27DB-BD31-4B8C-83A1-F6EECF244321}">
                <p14:modId xmlns:p14="http://schemas.microsoft.com/office/powerpoint/2010/main" val="2076363133"/>
              </p:ext>
            </p:extLst>
          </p:nvPr>
        </p:nvGraphicFramePr>
        <p:xfrm>
          <a:off x="838200" y="1825625"/>
          <a:ext cx="5181600" cy="2494280"/>
        </p:xfrm>
        <a:graphic>
          <a:graphicData uri="http://schemas.openxmlformats.org/drawingml/2006/table">
            <a:tbl>
              <a:tblPr firstRow="1" bandRow="1">
                <a:tableStyleId>{5940675A-B579-460E-94D1-54222C63F5DA}</a:tableStyleId>
              </a:tblPr>
              <a:tblGrid>
                <a:gridCol w="2590800">
                  <a:extLst>
                    <a:ext uri="{9D8B030D-6E8A-4147-A177-3AD203B41FA5}">
                      <a16:colId xmlns:a16="http://schemas.microsoft.com/office/drawing/2014/main" val="3442811767"/>
                    </a:ext>
                  </a:extLst>
                </a:gridCol>
                <a:gridCol w="2590800">
                  <a:extLst>
                    <a:ext uri="{9D8B030D-6E8A-4147-A177-3AD203B41FA5}">
                      <a16:colId xmlns:a16="http://schemas.microsoft.com/office/drawing/2014/main" val="1695224136"/>
                    </a:ext>
                  </a:extLst>
                </a:gridCol>
              </a:tblGrid>
              <a:tr h="370840">
                <a:tc>
                  <a:txBody>
                    <a:bodyPr/>
                    <a:lstStyle/>
                    <a:p>
                      <a:pPr algn="ctr"/>
                      <a:r>
                        <a:rPr lang="en-US" b="1" dirty="0"/>
                        <a:t>Index of reference data point in the training set</a:t>
                      </a:r>
                    </a:p>
                  </a:txBody>
                  <a:tcPr/>
                </a:tc>
                <a:tc>
                  <a:txBody>
                    <a:bodyPr/>
                    <a:lstStyle/>
                    <a:p>
                      <a:pPr algn="ctr"/>
                      <a:r>
                        <a:rPr lang="en-US" b="1" dirty="0"/>
                        <a:t>Labels</a:t>
                      </a:r>
                    </a:p>
                  </a:txBody>
                  <a:tcPr/>
                </a:tc>
                <a:extLst>
                  <a:ext uri="{0D108BD9-81ED-4DB2-BD59-A6C34878D82A}">
                    <a16:rowId xmlns:a16="http://schemas.microsoft.com/office/drawing/2014/main" val="4051681193"/>
                  </a:ext>
                </a:extLst>
              </a:tr>
              <a:tr h="370840">
                <a:tc>
                  <a:txBody>
                    <a:bodyPr/>
                    <a:lstStyle/>
                    <a:p>
                      <a:pPr algn="ctr"/>
                      <a:r>
                        <a:rPr lang="en-US" dirty="0"/>
                        <a:t>4</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dirty="0"/>
                    </a:p>
                  </a:txBody>
                  <a:tcPr/>
                </a:tc>
                <a:extLst>
                  <a:ext uri="{0D108BD9-81ED-4DB2-BD59-A6C34878D82A}">
                    <a16:rowId xmlns:a16="http://schemas.microsoft.com/office/drawing/2014/main" val="1221612007"/>
                  </a:ext>
                </a:extLst>
              </a:tr>
              <a:tr h="370840">
                <a:tc>
                  <a:txBody>
                    <a:bodyPr/>
                    <a:lstStyle/>
                    <a:p>
                      <a:pPr algn="ctr"/>
                      <a:r>
                        <a:rPr lang="en-US" dirty="0"/>
                        <a:t>1</a:t>
                      </a:r>
                    </a:p>
                  </a:txBody>
                  <a:tcPr/>
                </a:tc>
                <a:tc>
                  <a:txBody>
                    <a:bodyPr/>
                    <a:lstStyle/>
                    <a:p>
                      <a:pPr algn="ctr"/>
                      <a:endParaRPr lang="en-US" dirty="0"/>
                    </a:p>
                  </a:txBody>
                  <a:tcPr/>
                </a:tc>
                <a:extLst>
                  <a:ext uri="{0D108BD9-81ED-4DB2-BD59-A6C34878D82A}">
                    <a16:rowId xmlns:a16="http://schemas.microsoft.com/office/drawing/2014/main" val="2823071710"/>
                  </a:ext>
                </a:extLst>
              </a:tr>
              <a:tr h="370840">
                <a:tc>
                  <a:txBody>
                    <a:bodyPr/>
                    <a:lstStyle/>
                    <a:p>
                      <a:pPr algn="ctr"/>
                      <a:r>
                        <a:rPr lang="en-US" dirty="0"/>
                        <a:t>2</a:t>
                      </a:r>
                    </a:p>
                  </a:txBody>
                  <a:tcPr/>
                </a:tc>
                <a:tc>
                  <a:txBody>
                    <a:bodyPr/>
                    <a:lstStyle/>
                    <a:p>
                      <a:pPr algn="ctr"/>
                      <a:endParaRPr lang="en-US" dirty="0"/>
                    </a:p>
                  </a:txBody>
                  <a:tcPr/>
                </a:tc>
                <a:extLst>
                  <a:ext uri="{0D108BD9-81ED-4DB2-BD59-A6C34878D82A}">
                    <a16:rowId xmlns:a16="http://schemas.microsoft.com/office/drawing/2014/main" val="3189132377"/>
                  </a:ext>
                </a:extLst>
              </a:tr>
              <a:tr h="370840">
                <a:tc>
                  <a:txBody>
                    <a:bodyPr/>
                    <a:lstStyle/>
                    <a:p>
                      <a:pPr algn="ct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dirty="0"/>
                    </a:p>
                  </a:txBody>
                  <a:tcPr/>
                </a:tc>
                <a:extLst>
                  <a:ext uri="{0D108BD9-81ED-4DB2-BD59-A6C34878D82A}">
                    <a16:rowId xmlns:a16="http://schemas.microsoft.com/office/drawing/2014/main" val="87177652"/>
                  </a:ext>
                </a:extLst>
              </a:tr>
              <a:tr h="370840">
                <a:tc>
                  <a:txBody>
                    <a:bodyPr/>
                    <a:lstStyle/>
                    <a:p>
                      <a:pPr algn="ct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dirty="0"/>
                    </a:p>
                  </a:txBody>
                  <a:tcPr/>
                </a:tc>
                <a:extLst>
                  <a:ext uri="{0D108BD9-81ED-4DB2-BD59-A6C34878D82A}">
                    <a16:rowId xmlns:a16="http://schemas.microsoft.com/office/drawing/2014/main" val="4173375689"/>
                  </a:ext>
                </a:extLst>
              </a:tr>
            </a:tbl>
          </a:graphicData>
        </a:graphic>
      </p:graphicFrame>
      <p:pic>
        <p:nvPicPr>
          <p:cNvPr id="7" name="Content Placeholder 6">
            <a:extLst>
              <a:ext uri="{FF2B5EF4-FFF2-40B4-BE49-F238E27FC236}">
                <a16:creationId xmlns:a16="http://schemas.microsoft.com/office/drawing/2014/main" id="{CAFFECDB-4B06-D441-882C-E9F0E3BBADCF}"/>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8397461" y="1825625"/>
            <a:ext cx="999150" cy="3657600"/>
          </a:xfrm>
        </p:spPr>
      </p:pic>
    </p:spTree>
    <p:extLst>
      <p:ext uri="{BB962C8B-B14F-4D97-AF65-F5344CB8AC3E}">
        <p14:creationId xmlns:p14="http://schemas.microsoft.com/office/powerpoint/2010/main" val="29396328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28A90CE-1ABC-FB4B-8D5D-9B5944DF11CD}"/>
              </a:ext>
            </a:extLst>
          </p:cNvPr>
          <p:cNvSpPr>
            <a:spLocks noGrp="1"/>
          </p:cNvSpPr>
          <p:nvPr>
            <p:ph type="title"/>
          </p:nvPr>
        </p:nvSpPr>
        <p:spPr/>
        <p:txBody>
          <a:bodyPr/>
          <a:lstStyle/>
          <a:p>
            <a:r>
              <a:rPr lang="en-US" b="1" dirty="0"/>
              <a:t>Step 4: Grab Labels for Neighbors</a:t>
            </a:r>
          </a:p>
        </p:txBody>
      </p:sp>
      <p:graphicFrame>
        <p:nvGraphicFramePr>
          <p:cNvPr id="4" name="Content Placeholder 3">
            <a:extLst>
              <a:ext uri="{FF2B5EF4-FFF2-40B4-BE49-F238E27FC236}">
                <a16:creationId xmlns:a16="http://schemas.microsoft.com/office/drawing/2014/main" id="{78DE0D87-C4D2-F145-859C-6FFCBE26FDAF}"/>
              </a:ext>
            </a:extLst>
          </p:cNvPr>
          <p:cNvGraphicFramePr>
            <a:graphicFrameLocks noGrp="1"/>
          </p:cNvGraphicFramePr>
          <p:nvPr>
            <p:ph sz="half" idx="1"/>
            <p:extLst>
              <p:ext uri="{D42A27DB-BD31-4B8C-83A1-F6EECF244321}">
                <p14:modId xmlns:p14="http://schemas.microsoft.com/office/powerpoint/2010/main" val="3163038882"/>
              </p:ext>
            </p:extLst>
          </p:nvPr>
        </p:nvGraphicFramePr>
        <p:xfrm>
          <a:off x="838200" y="1825625"/>
          <a:ext cx="5181600" cy="2225040"/>
        </p:xfrm>
        <a:graphic>
          <a:graphicData uri="http://schemas.openxmlformats.org/drawingml/2006/table">
            <a:tbl>
              <a:tblPr firstRow="1" bandRow="1">
                <a:tableStyleId>{5940675A-B579-460E-94D1-54222C63F5DA}</a:tableStyleId>
              </a:tblPr>
              <a:tblGrid>
                <a:gridCol w="2590800">
                  <a:extLst>
                    <a:ext uri="{9D8B030D-6E8A-4147-A177-3AD203B41FA5}">
                      <a16:colId xmlns:a16="http://schemas.microsoft.com/office/drawing/2014/main" val="3442811767"/>
                    </a:ext>
                  </a:extLst>
                </a:gridCol>
                <a:gridCol w="2590800">
                  <a:extLst>
                    <a:ext uri="{9D8B030D-6E8A-4147-A177-3AD203B41FA5}">
                      <a16:colId xmlns:a16="http://schemas.microsoft.com/office/drawing/2014/main" val="1695224136"/>
                    </a:ext>
                  </a:extLst>
                </a:gridCol>
              </a:tblGrid>
              <a:tr h="370840">
                <a:tc>
                  <a:txBody>
                    <a:bodyPr/>
                    <a:lstStyle/>
                    <a:p>
                      <a:pPr algn="ctr"/>
                      <a:r>
                        <a:rPr lang="en-US" b="1" dirty="0"/>
                        <a:t>Index</a:t>
                      </a:r>
                    </a:p>
                  </a:txBody>
                  <a:tcPr/>
                </a:tc>
                <a:tc>
                  <a:txBody>
                    <a:bodyPr/>
                    <a:lstStyle/>
                    <a:p>
                      <a:pPr algn="ctr"/>
                      <a:r>
                        <a:rPr lang="en-US" b="1" dirty="0"/>
                        <a:t>Labels</a:t>
                      </a:r>
                    </a:p>
                  </a:txBody>
                  <a:tcPr/>
                </a:tc>
                <a:extLst>
                  <a:ext uri="{0D108BD9-81ED-4DB2-BD59-A6C34878D82A}">
                    <a16:rowId xmlns:a16="http://schemas.microsoft.com/office/drawing/2014/main" val="4051681193"/>
                  </a:ext>
                </a:extLst>
              </a:tr>
              <a:tr h="370840">
                <a:tc>
                  <a:txBody>
                    <a:bodyPr/>
                    <a:lstStyle/>
                    <a:p>
                      <a:pPr algn="ctr"/>
                      <a:r>
                        <a:rPr lang="en-US" dirty="0"/>
                        <a:t>4</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dirty="0"/>
                    </a:p>
                  </a:txBody>
                  <a:tcPr/>
                </a:tc>
                <a:extLst>
                  <a:ext uri="{0D108BD9-81ED-4DB2-BD59-A6C34878D82A}">
                    <a16:rowId xmlns:a16="http://schemas.microsoft.com/office/drawing/2014/main" val="1221612007"/>
                  </a:ext>
                </a:extLst>
              </a:tr>
              <a:tr h="370840">
                <a:tc>
                  <a:txBody>
                    <a:bodyPr/>
                    <a:lstStyle/>
                    <a:p>
                      <a:pPr algn="ctr"/>
                      <a:r>
                        <a:rPr lang="en-US" dirty="0"/>
                        <a:t>1</a:t>
                      </a:r>
                    </a:p>
                  </a:txBody>
                  <a:tcPr/>
                </a:tc>
                <a:tc>
                  <a:txBody>
                    <a:bodyPr/>
                    <a:lstStyle/>
                    <a:p>
                      <a:pPr algn="ctr"/>
                      <a:endParaRPr lang="en-US" dirty="0"/>
                    </a:p>
                  </a:txBody>
                  <a:tcPr/>
                </a:tc>
                <a:extLst>
                  <a:ext uri="{0D108BD9-81ED-4DB2-BD59-A6C34878D82A}">
                    <a16:rowId xmlns:a16="http://schemas.microsoft.com/office/drawing/2014/main" val="2823071710"/>
                  </a:ext>
                </a:extLst>
              </a:tr>
              <a:tr h="370840">
                <a:tc>
                  <a:txBody>
                    <a:bodyPr/>
                    <a:lstStyle/>
                    <a:p>
                      <a:pPr algn="ctr"/>
                      <a:r>
                        <a:rPr lang="en-US" dirty="0"/>
                        <a:t>2</a:t>
                      </a:r>
                    </a:p>
                  </a:txBody>
                  <a:tcPr/>
                </a:tc>
                <a:tc>
                  <a:txBody>
                    <a:bodyPr/>
                    <a:lstStyle/>
                    <a:p>
                      <a:pPr algn="ctr"/>
                      <a:endParaRPr lang="en-US" dirty="0"/>
                    </a:p>
                  </a:txBody>
                  <a:tcPr/>
                </a:tc>
                <a:extLst>
                  <a:ext uri="{0D108BD9-81ED-4DB2-BD59-A6C34878D82A}">
                    <a16:rowId xmlns:a16="http://schemas.microsoft.com/office/drawing/2014/main" val="3189132377"/>
                  </a:ext>
                </a:extLst>
              </a:tr>
              <a:tr h="370840">
                <a:tc>
                  <a:txBody>
                    <a:bodyPr/>
                    <a:lstStyle/>
                    <a:p>
                      <a:pPr algn="ct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dirty="0"/>
                    </a:p>
                  </a:txBody>
                  <a:tcPr/>
                </a:tc>
                <a:extLst>
                  <a:ext uri="{0D108BD9-81ED-4DB2-BD59-A6C34878D82A}">
                    <a16:rowId xmlns:a16="http://schemas.microsoft.com/office/drawing/2014/main" val="87177652"/>
                  </a:ext>
                </a:extLst>
              </a:tr>
              <a:tr h="370840">
                <a:tc>
                  <a:txBody>
                    <a:bodyPr/>
                    <a:lstStyle/>
                    <a:p>
                      <a:pPr algn="ct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dirty="0"/>
                    </a:p>
                  </a:txBody>
                  <a:tcPr/>
                </a:tc>
                <a:extLst>
                  <a:ext uri="{0D108BD9-81ED-4DB2-BD59-A6C34878D82A}">
                    <a16:rowId xmlns:a16="http://schemas.microsoft.com/office/drawing/2014/main" val="4173375689"/>
                  </a:ext>
                </a:extLst>
              </a:tr>
            </a:tbl>
          </a:graphicData>
        </a:graphic>
      </p:graphicFrame>
      <p:pic>
        <p:nvPicPr>
          <p:cNvPr id="7" name="Content Placeholder 6">
            <a:extLst>
              <a:ext uri="{FF2B5EF4-FFF2-40B4-BE49-F238E27FC236}">
                <a16:creationId xmlns:a16="http://schemas.microsoft.com/office/drawing/2014/main" id="{CAFFECDB-4B06-D441-882C-E9F0E3BBADCF}"/>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8397461" y="1825625"/>
            <a:ext cx="999150" cy="3657600"/>
          </a:xfrm>
        </p:spPr>
      </p:pic>
      <p:sp>
        <p:nvSpPr>
          <p:cNvPr id="19" name="Donut 18">
            <a:extLst>
              <a:ext uri="{FF2B5EF4-FFF2-40B4-BE49-F238E27FC236}">
                <a16:creationId xmlns:a16="http://schemas.microsoft.com/office/drawing/2014/main" id="{6F2A51F4-4796-1040-98D3-F1F19391C6A6}"/>
              </a:ext>
            </a:extLst>
          </p:cNvPr>
          <p:cNvSpPr/>
          <p:nvPr/>
        </p:nvSpPr>
        <p:spPr>
          <a:xfrm rot="5400000">
            <a:off x="6323263" y="3280657"/>
            <a:ext cx="5080000" cy="747536"/>
          </a:xfrm>
          <a:prstGeom prst="donut">
            <a:avLst>
              <a:gd name="adj" fmla="val 233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20" name="Straight Arrow Connector 19">
            <a:extLst>
              <a:ext uri="{FF2B5EF4-FFF2-40B4-BE49-F238E27FC236}">
                <a16:creationId xmlns:a16="http://schemas.microsoft.com/office/drawing/2014/main" id="{AEFBA53B-3C19-8147-A1A2-4165FE46FB09}"/>
              </a:ext>
            </a:extLst>
          </p:cNvPr>
          <p:cNvCxnSpPr>
            <a:cxnSpLocks/>
            <a:endCxn id="21" idx="3"/>
          </p:cNvCxnSpPr>
          <p:nvPr/>
        </p:nvCxnSpPr>
        <p:spPr>
          <a:xfrm flipH="1">
            <a:off x="5787632" y="4672874"/>
            <a:ext cx="2609850" cy="943856"/>
          </a:xfrm>
          <a:prstGeom prst="straightConnector1">
            <a:avLst/>
          </a:prstGeom>
          <a:ln w="50800">
            <a:headEnd type="triangle" w="lg" len="med"/>
            <a:tailEnd type="non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E7A42D39-FEBB-D745-A1F3-972EDAB96A63}"/>
              </a:ext>
            </a:extLst>
          </p:cNvPr>
          <p:cNvSpPr txBox="1"/>
          <p:nvPr/>
        </p:nvSpPr>
        <p:spPr>
          <a:xfrm>
            <a:off x="838200" y="4831900"/>
            <a:ext cx="4949432" cy="1569660"/>
          </a:xfrm>
          <a:prstGeom prst="rect">
            <a:avLst/>
          </a:prstGeom>
          <a:noFill/>
        </p:spPr>
        <p:txBody>
          <a:bodyPr wrap="none" rtlCol="0">
            <a:spAutoFit/>
          </a:bodyPr>
          <a:lstStyle/>
          <a:p>
            <a:r>
              <a:rPr lang="en-US" sz="2400" dirty="0"/>
              <a:t>Label vector for the reference points.</a:t>
            </a:r>
            <a:br>
              <a:rPr lang="en-US" sz="2400" dirty="0"/>
            </a:br>
            <a:r>
              <a:rPr lang="en-US" sz="2400" dirty="0"/>
              <a:t>Stores the class for each point as an</a:t>
            </a:r>
            <a:br>
              <a:rPr lang="en-US" sz="2400" dirty="0"/>
            </a:br>
            <a:r>
              <a:rPr lang="en-US" sz="2400" dirty="0"/>
              <a:t>integer.  Indices match rows of feature</a:t>
            </a:r>
            <a:br>
              <a:rPr lang="en-US" sz="2400" dirty="0"/>
            </a:br>
            <a:r>
              <a:rPr lang="en-US" sz="2400" dirty="0"/>
              <a:t>matrix.</a:t>
            </a:r>
          </a:p>
        </p:txBody>
      </p:sp>
    </p:spTree>
    <p:extLst>
      <p:ext uri="{BB962C8B-B14F-4D97-AF65-F5344CB8AC3E}">
        <p14:creationId xmlns:p14="http://schemas.microsoft.com/office/powerpoint/2010/main" val="40529587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28A90CE-1ABC-FB4B-8D5D-9B5944DF11CD}"/>
              </a:ext>
            </a:extLst>
          </p:cNvPr>
          <p:cNvSpPr>
            <a:spLocks noGrp="1"/>
          </p:cNvSpPr>
          <p:nvPr>
            <p:ph type="title"/>
          </p:nvPr>
        </p:nvSpPr>
        <p:spPr/>
        <p:txBody>
          <a:bodyPr/>
          <a:lstStyle/>
          <a:p>
            <a:r>
              <a:rPr lang="en-US" b="1" dirty="0"/>
              <a:t>Step 4: Grab Labels for Neighbors</a:t>
            </a:r>
          </a:p>
        </p:txBody>
      </p:sp>
      <p:graphicFrame>
        <p:nvGraphicFramePr>
          <p:cNvPr id="4" name="Content Placeholder 3">
            <a:extLst>
              <a:ext uri="{FF2B5EF4-FFF2-40B4-BE49-F238E27FC236}">
                <a16:creationId xmlns:a16="http://schemas.microsoft.com/office/drawing/2014/main" id="{78DE0D87-C4D2-F145-859C-6FFCBE26FDAF}"/>
              </a:ext>
            </a:extLst>
          </p:cNvPr>
          <p:cNvGraphicFramePr>
            <a:graphicFrameLocks noGrp="1"/>
          </p:cNvGraphicFramePr>
          <p:nvPr>
            <p:ph sz="half" idx="1"/>
          </p:nvPr>
        </p:nvGraphicFramePr>
        <p:xfrm>
          <a:off x="838200" y="1825625"/>
          <a:ext cx="5181600" cy="2225040"/>
        </p:xfrm>
        <a:graphic>
          <a:graphicData uri="http://schemas.openxmlformats.org/drawingml/2006/table">
            <a:tbl>
              <a:tblPr firstRow="1" bandRow="1">
                <a:tableStyleId>{5940675A-B579-460E-94D1-54222C63F5DA}</a:tableStyleId>
              </a:tblPr>
              <a:tblGrid>
                <a:gridCol w="2590800">
                  <a:extLst>
                    <a:ext uri="{9D8B030D-6E8A-4147-A177-3AD203B41FA5}">
                      <a16:colId xmlns:a16="http://schemas.microsoft.com/office/drawing/2014/main" val="3442811767"/>
                    </a:ext>
                  </a:extLst>
                </a:gridCol>
                <a:gridCol w="2590800">
                  <a:extLst>
                    <a:ext uri="{9D8B030D-6E8A-4147-A177-3AD203B41FA5}">
                      <a16:colId xmlns:a16="http://schemas.microsoft.com/office/drawing/2014/main" val="1695224136"/>
                    </a:ext>
                  </a:extLst>
                </a:gridCol>
              </a:tblGrid>
              <a:tr h="370840">
                <a:tc>
                  <a:txBody>
                    <a:bodyPr/>
                    <a:lstStyle/>
                    <a:p>
                      <a:pPr algn="ctr"/>
                      <a:r>
                        <a:rPr lang="en-US" b="1" dirty="0"/>
                        <a:t>Index</a:t>
                      </a:r>
                    </a:p>
                  </a:txBody>
                  <a:tcPr/>
                </a:tc>
                <a:tc>
                  <a:txBody>
                    <a:bodyPr/>
                    <a:lstStyle/>
                    <a:p>
                      <a:pPr algn="ctr"/>
                      <a:r>
                        <a:rPr lang="en-US" b="1" dirty="0"/>
                        <a:t>Labels</a:t>
                      </a:r>
                    </a:p>
                  </a:txBody>
                  <a:tcPr/>
                </a:tc>
                <a:extLst>
                  <a:ext uri="{0D108BD9-81ED-4DB2-BD59-A6C34878D82A}">
                    <a16:rowId xmlns:a16="http://schemas.microsoft.com/office/drawing/2014/main" val="4051681193"/>
                  </a:ext>
                </a:extLst>
              </a:tr>
              <a:tr h="370840">
                <a:tc>
                  <a:txBody>
                    <a:bodyPr/>
                    <a:lstStyle/>
                    <a:p>
                      <a:pPr algn="ctr"/>
                      <a:r>
                        <a:rPr lang="en-US" dirty="0"/>
                        <a:t>4</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dirty="0"/>
                    </a:p>
                  </a:txBody>
                  <a:tcPr/>
                </a:tc>
                <a:extLst>
                  <a:ext uri="{0D108BD9-81ED-4DB2-BD59-A6C34878D82A}">
                    <a16:rowId xmlns:a16="http://schemas.microsoft.com/office/drawing/2014/main" val="1221612007"/>
                  </a:ext>
                </a:extLst>
              </a:tr>
              <a:tr h="370840">
                <a:tc>
                  <a:txBody>
                    <a:bodyPr/>
                    <a:lstStyle/>
                    <a:p>
                      <a:pPr algn="ctr"/>
                      <a:r>
                        <a:rPr lang="en-US" dirty="0"/>
                        <a:t>1</a:t>
                      </a:r>
                    </a:p>
                  </a:txBody>
                  <a:tcPr/>
                </a:tc>
                <a:tc>
                  <a:txBody>
                    <a:bodyPr/>
                    <a:lstStyle/>
                    <a:p>
                      <a:pPr algn="ctr"/>
                      <a:endParaRPr lang="en-US" dirty="0"/>
                    </a:p>
                  </a:txBody>
                  <a:tcPr/>
                </a:tc>
                <a:extLst>
                  <a:ext uri="{0D108BD9-81ED-4DB2-BD59-A6C34878D82A}">
                    <a16:rowId xmlns:a16="http://schemas.microsoft.com/office/drawing/2014/main" val="2823071710"/>
                  </a:ext>
                </a:extLst>
              </a:tr>
              <a:tr h="370840">
                <a:tc>
                  <a:txBody>
                    <a:bodyPr/>
                    <a:lstStyle/>
                    <a:p>
                      <a:pPr algn="ctr"/>
                      <a:r>
                        <a:rPr lang="en-US" dirty="0"/>
                        <a:t>2</a:t>
                      </a:r>
                    </a:p>
                  </a:txBody>
                  <a:tcPr/>
                </a:tc>
                <a:tc>
                  <a:txBody>
                    <a:bodyPr/>
                    <a:lstStyle/>
                    <a:p>
                      <a:pPr algn="ctr"/>
                      <a:endParaRPr lang="en-US" dirty="0"/>
                    </a:p>
                  </a:txBody>
                  <a:tcPr/>
                </a:tc>
                <a:extLst>
                  <a:ext uri="{0D108BD9-81ED-4DB2-BD59-A6C34878D82A}">
                    <a16:rowId xmlns:a16="http://schemas.microsoft.com/office/drawing/2014/main" val="3189132377"/>
                  </a:ext>
                </a:extLst>
              </a:tr>
              <a:tr h="370840">
                <a:tc>
                  <a:txBody>
                    <a:bodyPr/>
                    <a:lstStyle/>
                    <a:p>
                      <a:pPr algn="ct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dirty="0"/>
                    </a:p>
                  </a:txBody>
                  <a:tcPr/>
                </a:tc>
                <a:extLst>
                  <a:ext uri="{0D108BD9-81ED-4DB2-BD59-A6C34878D82A}">
                    <a16:rowId xmlns:a16="http://schemas.microsoft.com/office/drawing/2014/main" val="87177652"/>
                  </a:ext>
                </a:extLst>
              </a:tr>
              <a:tr h="370840">
                <a:tc>
                  <a:txBody>
                    <a:bodyPr/>
                    <a:lstStyle/>
                    <a:p>
                      <a:pPr algn="ct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dirty="0"/>
                    </a:p>
                  </a:txBody>
                  <a:tcPr/>
                </a:tc>
                <a:extLst>
                  <a:ext uri="{0D108BD9-81ED-4DB2-BD59-A6C34878D82A}">
                    <a16:rowId xmlns:a16="http://schemas.microsoft.com/office/drawing/2014/main" val="4173375689"/>
                  </a:ext>
                </a:extLst>
              </a:tr>
            </a:tbl>
          </a:graphicData>
        </a:graphic>
      </p:graphicFrame>
      <p:pic>
        <p:nvPicPr>
          <p:cNvPr id="7" name="Content Placeholder 6">
            <a:extLst>
              <a:ext uri="{FF2B5EF4-FFF2-40B4-BE49-F238E27FC236}">
                <a16:creationId xmlns:a16="http://schemas.microsoft.com/office/drawing/2014/main" id="{CAFFECDB-4B06-D441-882C-E9F0E3BBADCF}"/>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8397461" y="1825625"/>
            <a:ext cx="999150" cy="3657600"/>
          </a:xfrm>
        </p:spPr>
      </p:pic>
      <p:sp>
        <p:nvSpPr>
          <p:cNvPr id="2" name="TextBox 1">
            <a:extLst>
              <a:ext uri="{FF2B5EF4-FFF2-40B4-BE49-F238E27FC236}">
                <a16:creationId xmlns:a16="http://schemas.microsoft.com/office/drawing/2014/main" id="{734A5144-C4F4-3F49-A351-8C867F8B4753}"/>
              </a:ext>
            </a:extLst>
          </p:cNvPr>
          <p:cNvSpPr txBox="1"/>
          <p:nvPr/>
        </p:nvSpPr>
        <p:spPr>
          <a:xfrm>
            <a:off x="1103243" y="4959626"/>
            <a:ext cx="3376117" cy="646331"/>
          </a:xfrm>
          <a:prstGeom prst="rect">
            <a:avLst/>
          </a:prstGeom>
          <a:noFill/>
        </p:spPr>
        <p:txBody>
          <a:bodyPr wrap="none" rtlCol="0">
            <a:spAutoFit/>
          </a:bodyPr>
          <a:lstStyle/>
          <a:p>
            <a:r>
              <a:rPr lang="en-US" dirty="0"/>
              <a:t>Use the indices to get labels for</a:t>
            </a:r>
            <a:br>
              <a:rPr lang="en-US" dirty="0"/>
            </a:br>
            <a:r>
              <a:rPr lang="en-US" dirty="0"/>
              <a:t>reference points from label vector</a:t>
            </a:r>
          </a:p>
        </p:txBody>
      </p:sp>
      <p:cxnSp>
        <p:nvCxnSpPr>
          <p:cNvPr id="8" name="Straight Arrow Connector 7">
            <a:extLst>
              <a:ext uri="{FF2B5EF4-FFF2-40B4-BE49-F238E27FC236}">
                <a16:creationId xmlns:a16="http://schemas.microsoft.com/office/drawing/2014/main" id="{1CB090E4-CC04-7B45-BE58-E441057E8AC0}"/>
              </a:ext>
            </a:extLst>
          </p:cNvPr>
          <p:cNvCxnSpPr>
            <a:cxnSpLocks/>
          </p:cNvCxnSpPr>
          <p:nvPr/>
        </p:nvCxnSpPr>
        <p:spPr>
          <a:xfrm>
            <a:off x="6096000" y="2345635"/>
            <a:ext cx="2531165" cy="96409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89BE5336-2D52-5244-9527-E429DA6C4368}"/>
              </a:ext>
            </a:extLst>
          </p:cNvPr>
          <p:cNvCxnSpPr>
            <a:cxnSpLocks/>
          </p:cNvCxnSpPr>
          <p:nvPr/>
        </p:nvCxnSpPr>
        <p:spPr>
          <a:xfrm flipV="1">
            <a:off x="6019800" y="2345635"/>
            <a:ext cx="2607365" cy="41744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E2E18A09-3562-6140-ADCA-74784ACC45DD}"/>
              </a:ext>
            </a:extLst>
          </p:cNvPr>
          <p:cNvCxnSpPr>
            <a:cxnSpLocks/>
          </p:cNvCxnSpPr>
          <p:nvPr/>
        </p:nvCxnSpPr>
        <p:spPr>
          <a:xfrm flipV="1">
            <a:off x="6019800" y="2653748"/>
            <a:ext cx="2607365" cy="49695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773936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28A90CE-1ABC-FB4B-8D5D-9B5944DF11CD}"/>
              </a:ext>
            </a:extLst>
          </p:cNvPr>
          <p:cNvSpPr>
            <a:spLocks noGrp="1"/>
          </p:cNvSpPr>
          <p:nvPr>
            <p:ph type="title"/>
          </p:nvPr>
        </p:nvSpPr>
        <p:spPr/>
        <p:txBody>
          <a:bodyPr/>
          <a:lstStyle/>
          <a:p>
            <a:r>
              <a:rPr lang="en-US" b="1" dirty="0"/>
              <a:t>Step 4: Grab Labels for Neighbors</a:t>
            </a:r>
          </a:p>
        </p:txBody>
      </p:sp>
      <p:graphicFrame>
        <p:nvGraphicFramePr>
          <p:cNvPr id="4" name="Content Placeholder 3">
            <a:extLst>
              <a:ext uri="{FF2B5EF4-FFF2-40B4-BE49-F238E27FC236}">
                <a16:creationId xmlns:a16="http://schemas.microsoft.com/office/drawing/2014/main" id="{78DE0D87-C4D2-F145-859C-6FFCBE26FDAF}"/>
              </a:ext>
            </a:extLst>
          </p:cNvPr>
          <p:cNvGraphicFramePr>
            <a:graphicFrameLocks noGrp="1"/>
          </p:cNvGraphicFramePr>
          <p:nvPr>
            <p:ph sz="half" idx="1"/>
            <p:extLst>
              <p:ext uri="{D42A27DB-BD31-4B8C-83A1-F6EECF244321}">
                <p14:modId xmlns:p14="http://schemas.microsoft.com/office/powerpoint/2010/main" val="1462607243"/>
              </p:ext>
            </p:extLst>
          </p:nvPr>
        </p:nvGraphicFramePr>
        <p:xfrm>
          <a:off x="838200" y="1825625"/>
          <a:ext cx="5181600" cy="2225040"/>
        </p:xfrm>
        <a:graphic>
          <a:graphicData uri="http://schemas.openxmlformats.org/drawingml/2006/table">
            <a:tbl>
              <a:tblPr firstRow="1" bandRow="1">
                <a:tableStyleId>{5940675A-B579-460E-94D1-54222C63F5DA}</a:tableStyleId>
              </a:tblPr>
              <a:tblGrid>
                <a:gridCol w="2590800">
                  <a:extLst>
                    <a:ext uri="{9D8B030D-6E8A-4147-A177-3AD203B41FA5}">
                      <a16:colId xmlns:a16="http://schemas.microsoft.com/office/drawing/2014/main" val="3442811767"/>
                    </a:ext>
                  </a:extLst>
                </a:gridCol>
                <a:gridCol w="2590800">
                  <a:extLst>
                    <a:ext uri="{9D8B030D-6E8A-4147-A177-3AD203B41FA5}">
                      <a16:colId xmlns:a16="http://schemas.microsoft.com/office/drawing/2014/main" val="1695224136"/>
                    </a:ext>
                  </a:extLst>
                </a:gridCol>
              </a:tblGrid>
              <a:tr h="370840">
                <a:tc>
                  <a:txBody>
                    <a:bodyPr/>
                    <a:lstStyle/>
                    <a:p>
                      <a:pPr algn="ctr"/>
                      <a:r>
                        <a:rPr lang="en-US" b="1" dirty="0"/>
                        <a:t>Index</a:t>
                      </a:r>
                    </a:p>
                  </a:txBody>
                  <a:tcPr/>
                </a:tc>
                <a:tc>
                  <a:txBody>
                    <a:bodyPr/>
                    <a:lstStyle/>
                    <a:p>
                      <a:pPr algn="ctr"/>
                      <a:r>
                        <a:rPr lang="en-US" b="1" dirty="0"/>
                        <a:t>Labels</a:t>
                      </a:r>
                    </a:p>
                  </a:txBody>
                  <a:tcPr/>
                </a:tc>
                <a:extLst>
                  <a:ext uri="{0D108BD9-81ED-4DB2-BD59-A6C34878D82A}">
                    <a16:rowId xmlns:a16="http://schemas.microsoft.com/office/drawing/2014/main" val="4051681193"/>
                  </a:ext>
                </a:extLst>
              </a:tr>
              <a:tr h="370840">
                <a:tc>
                  <a:txBody>
                    <a:bodyPr/>
                    <a:lstStyle/>
                    <a:p>
                      <a:pPr algn="ctr"/>
                      <a:r>
                        <a:rPr lang="en-US" dirty="0"/>
                        <a:t>4</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0</a:t>
                      </a:r>
                    </a:p>
                  </a:txBody>
                  <a:tcPr/>
                </a:tc>
                <a:extLst>
                  <a:ext uri="{0D108BD9-81ED-4DB2-BD59-A6C34878D82A}">
                    <a16:rowId xmlns:a16="http://schemas.microsoft.com/office/drawing/2014/main" val="1221612007"/>
                  </a:ext>
                </a:extLst>
              </a:tr>
              <a:tr h="370840">
                <a:tc>
                  <a:txBody>
                    <a:bodyPr/>
                    <a:lstStyle/>
                    <a:p>
                      <a:pPr algn="ctr"/>
                      <a:r>
                        <a:rPr lang="en-US" dirty="0"/>
                        <a:t>1</a:t>
                      </a:r>
                    </a:p>
                  </a:txBody>
                  <a:tcPr/>
                </a:tc>
                <a:tc>
                  <a:txBody>
                    <a:bodyPr/>
                    <a:lstStyle/>
                    <a:p>
                      <a:pPr algn="ctr"/>
                      <a:r>
                        <a:rPr lang="en-US" dirty="0"/>
                        <a:t>2</a:t>
                      </a:r>
                    </a:p>
                  </a:txBody>
                  <a:tcPr/>
                </a:tc>
                <a:extLst>
                  <a:ext uri="{0D108BD9-81ED-4DB2-BD59-A6C34878D82A}">
                    <a16:rowId xmlns:a16="http://schemas.microsoft.com/office/drawing/2014/main" val="2823071710"/>
                  </a:ext>
                </a:extLst>
              </a:tr>
              <a:tr h="370840">
                <a:tc>
                  <a:txBody>
                    <a:bodyPr/>
                    <a:lstStyle/>
                    <a:p>
                      <a:pPr algn="ctr"/>
                      <a:r>
                        <a:rPr lang="en-US" dirty="0"/>
                        <a:t>2</a:t>
                      </a:r>
                    </a:p>
                  </a:txBody>
                  <a:tcPr/>
                </a:tc>
                <a:tc>
                  <a:txBody>
                    <a:bodyPr/>
                    <a:lstStyle/>
                    <a:p>
                      <a:pPr algn="ctr"/>
                      <a:r>
                        <a:rPr lang="en-US" dirty="0"/>
                        <a:t>0</a:t>
                      </a:r>
                    </a:p>
                  </a:txBody>
                  <a:tcPr/>
                </a:tc>
                <a:extLst>
                  <a:ext uri="{0D108BD9-81ED-4DB2-BD59-A6C34878D82A}">
                    <a16:rowId xmlns:a16="http://schemas.microsoft.com/office/drawing/2014/main" val="3189132377"/>
                  </a:ext>
                </a:extLst>
              </a:tr>
              <a:tr h="370840">
                <a:tc>
                  <a:txBody>
                    <a:bodyPr/>
                    <a:lstStyle/>
                    <a:p>
                      <a:pPr algn="ct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dirty="0"/>
                    </a:p>
                  </a:txBody>
                  <a:tcPr/>
                </a:tc>
                <a:extLst>
                  <a:ext uri="{0D108BD9-81ED-4DB2-BD59-A6C34878D82A}">
                    <a16:rowId xmlns:a16="http://schemas.microsoft.com/office/drawing/2014/main" val="87177652"/>
                  </a:ext>
                </a:extLst>
              </a:tr>
              <a:tr h="370840">
                <a:tc>
                  <a:txBody>
                    <a:bodyPr/>
                    <a:lstStyle/>
                    <a:p>
                      <a:pPr algn="ct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dirty="0"/>
                    </a:p>
                  </a:txBody>
                  <a:tcPr/>
                </a:tc>
                <a:extLst>
                  <a:ext uri="{0D108BD9-81ED-4DB2-BD59-A6C34878D82A}">
                    <a16:rowId xmlns:a16="http://schemas.microsoft.com/office/drawing/2014/main" val="4173375689"/>
                  </a:ext>
                </a:extLst>
              </a:tr>
            </a:tbl>
          </a:graphicData>
        </a:graphic>
      </p:graphicFrame>
      <p:pic>
        <p:nvPicPr>
          <p:cNvPr id="7" name="Content Placeholder 6">
            <a:extLst>
              <a:ext uri="{FF2B5EF4-FFF2-40B4-BE49-F238E27FC236}">
                <a16:creationId xmlns:a16="http://schemas.microsoft.com/office/drawing/2014/main" id="{CAFFECDB-4B06-D441-882C-E9F0E3BBADCF}"/>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8397461" y="1825625"/>
            <a:ext cx="999150" cy="3657600"/>
          </a:xfrm>
        </p:spPr>
      </p:pic>
      <p:sp>
        <p:nvSpPr>
          <p:cNvPr id="2" name="TextBox 1">
            <a:extLst>
              <a:ext uri="{FF2B5EF4-FFF2-40B4-BE49-F238E27FC236}">
                <a16:creationId xmlns:a16="http://schemas.microsoft.com/office/drawing/2014/main" id="{734A5144-C4F4-3F49-A351-8C867F8B4753}"/>
              </a:ext>
            </a:extLst>
          </p:cNvPr>
          <p:cNvSpPr txBox="1"/>
          <p:nvPr/>
        </p:nvSpPr>
        <p:spPr>
          <a:xfrm>
            <a:off x="1103243" y="4959626"/>
            <a:ext cx="3376117" cy="646331"/>
          </a:xfrm>
          <a:prstGeom prst="rect">
            <a:avLst/>
          </a:prstGeom>
          <a:noFill/>
        </p:spPr>
        <p:txBody>
          <a:bodyPr wrap="none" rtlCol="0">
            <a:spAutoFit/>
          </a:bodyPr>
          <a:lstStyle/>
          <a:p>
            <a:r>
              <a:rPr lang="en-US" dirty="0"/>
              <a:t>Use the indices to get labels for</a:t>
            </a:r>
            <a:br>
              <a:rPr lang="en-US" dirty="0"/>
            </a:br>
            <a:r>
              <a:rPr lang="en-US" dirty="0"/>
              <a:t>reference points from label vector</a:t>
            </a:r>
          </a:p>
        </p:txBody>
      </p:sp>
      <p:cxnSp>
        <p:nvCxnSpPr>
          <p:cNvPr id="8" name="Straight Arrow Connector 7">
            <a:extLst>
              <a:ext uri="{FF2B5EF4-FFF2-40B4-BE49-F238E27FC236}">
                <a16:creationId xmlns:a16="http://schemas.microsoft.com/office/drawing/2014/main" id="{1CB090E4-CC04-7B45-BE58-E441057E8AC0}"/>
              </a:ext>
            </a:extLst>
          </p:cNvPr>
          <p:cNvCxnSpPr>
            <a:cxnSpLocks/>
          </p:cNvCxnSpPr>
          <p:nvPr/>
        </p:nvCxnSpPr>
        <p:spPr>
          <a:xfrm>
            <a:off x="6096000" y="2345635"/>
            <a:ext cx="2531165" cy="96409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89BE5336-2D52-5244-9527-E429DA6C4368}"/>
              </a:ext>
            </a:extLst>
          </p:cNvPr>
          <p:cNvCxnSpPr>
            <a:cxnSpLocks/>
          </p:cNvCxnSpPr>
          <p:nvPr/>
        </p:nvCxnSpPr>
        <p:spPr>
          <a:xfrm flipV="1">
            <a:off x="6019800" y="2345635"/>
            <a:ext cx="2607365" cy="41744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E2E18A09-3562-6140-ADCA-74784ACC45DD}"/>
              </a:ext>
            </a:extLst>
          </p:cNvPr>
          <p:cNvCxnSpPr>
            <a:cxnSpLocks/>
          </p:cNvCxnSpPr>
          <p:nvPr/>
        </p:nvCxnSpPr>
        <p:spPr>
          <a:xfrm flipV="1">
            <a:off x="6019800" y="2653748"/>
            <a:ext cx="2607365" cy="49695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299355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28A90CE-1ABC-FB4B-8D5D-9B5944DF11CD}"/>
              </a:ext>
            </a:extLst>
          </p:cNvPr>
          <p:cNvSpPr>
            <a:spLocks noGrp="1"/>
          </p:cNvSpPr>
          <p:nvPr>
            <p:ph type="title"/>
          </p:nvPr>
        </p:nvSpPr>
        <p:spPr/>
        <p:txBody>
          <a:bodyPr/>
          <a:lstStyle/>
          <a:p>
            <a:r>
              <a:rPr lang="en-US" b="1" dirty="0"/>
              <a:t>Step 5: Aggregate the Output Values</a:t>
            </a:r>
          </a:p>
        </p:txBody>
      </p:sp>
      <p:graphicFrame>
        <p:nvGraphicFramePr>
          <p:cNvPr id="4" name="Content Placeholder 3">
            <a:extLst>
              <a:ext uri="{FF2B5EF4-FFF2-40B4-BE49-F238E27FC236}">
                <a16:creationId xmlns:a16="http://schemas.microsoft.com/office/drawing/2014/main" id="{78DE0D87-C4D2-F145-859C-6FFCBE26FDAF}"/>
              </a:ext>
            </a:extLst>
          </p:cNvPr>
          <p:cNvGraphicFramePr>
            <a:graphicFrameLocks noGrp="1"/>
          </p:cNvGraphicFramePr>
          <p:nvPr>
            <p:ph sz="half" idx="1"/>
            <p:extLst>
              <p:ext uri="{D42A27DB-BD31-4B8C-83A1-F6EECF244321}">
                <p14:modId xmlns:p14="http://schemas.microsoft.com/office/powerpoint/2010/main" val="487095802"/>
              </p:ext>
            </p:extLst>
          </p:nvPr>
        </p:nvGraphicFramePr>
        <p:xfrm>
          <a:off x="838200" y="1825625"/>
          <a:ext cx="5181600" cy="2225040"/>
        </p:xfrm>
        <a:graphic>
          <a:graphicData uri="http://schemas.openxmlformats.org/drawingml/2006/table">
            <a:tbl>
              <a:tblPr firstRow="1" bandRow="1">
                <a:tableStyleId>{5940675A-B579-460E-94D1-54222C63F5DA}</a:tableStyleId>
              </a:tblPr>
              <a:tblGrid>
                <a:gridCol w="2590800">
                  <a:extLst>
                    <a:ext uri="{9D8B030D-6E8A-4147-A177-3AD203B41FA5}">
                      <a16:colId xmlns:a16="http://schemas.microsoft.com/office/drawing/2014/main" val="3442811767"/>
                    </a:ext>
                  </a:extLst>
                </a:gridCol>
                <a:gridCol w="2590800">
                  <a:extLst>
                    <a:ext uri="{9D8B030D-6E8A-4147-A177-3AD203B41FA5}">
                      <a16:colId xmlns:a16="http://schemas.microsoft.com/office/drawing/2014/main" val="1695224136"/>
                    </a:ext>
                  </a:extLst>
                </a:gridCol>
              </a:tblGrid>
              <a:tr h="370840">
                <a:tc>
                  <a:txBody>
                    <a:bodyPr/>
                    <a:lstStyle/>
                    <a:p>
                      <a:pPr algn="ctr"/>
                      <a:r>
                        <a:rPr lang="en-US" b="1" dirty="0"/>
                        <a:t>Index</a:t>
                      </a:r>
                    </a:p>
                  </a:txBody>
                  <a:tcPr/>
                </a:tc>
                <a:tc>
                  <a:txBody>
                    <a:bodyPr/>
                    <a:lstStyle/>
                    <a:p>
                      <a:pPr algn="ctr"/>
                      <a:r>
                        <a:rPr lang="en-US" b="1" dirty="0"/>
                        <a:t>Labels</a:t>
                      </a:r>
                    </a:p>
                  </a:txBody>
                  <a:tcPr/>
                </a:tc>
                <a:extLst>
                  <a:ext uri="{0D108BD9-81ED-4DB2-BD59-A6C34878D82A}">
                    <a16:rowId xmlns:a16="http://schemas.microsoft.com/office/drawing/2014/main" val="4051681193"/>
                  </a:ext>
                </a:extLst>
              </a:tr>
              <a:tr h="370840">
                <a:tc>
                  <a:txBody>
                    <a:bodyPr/>
                    <a:lstStyle/>
                    <a:p>
                      <a:pPr algn="ctr"/>
                      <a:r>
                        <a:rPr lang="en-US" dirty="0"/>
                        <a:t>4</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0</a:t>
                      </a:r>
                    </a:p>
                  </a:txBody>
                  <a:tcPr/>
                </a:tc>
                <a:extLst>
                  <a:ext uri="{0D108BD9-81ED-4DB2-BD59-A6C34878D82A}">
                    <a16:rowId xmlns:a16="http://schemas.microsoft.com/office/drawing/2014/main" val="1221612007"/>
                  </a:ext>
                </a:extLst>
              </a:tr>
              <a:tr h="370840">
                <a:tc>
                  <a:txBody>
                    <a:bodyPr/>
                    <a:lstStyle/>
                    <a:p>
                      <a:pPr algn="ctr"/>
                      <a:r>
                        <a:rPr lang="en-US" dirty="0"/>
                        <a:t>1</a:t>
                      </a:r>
                    </a:p>
                  </a:txBody>
                  <a:tcPr/>
                </a:tc>
                <a:tc>
                  <a:txBody>
                    <a:bodyPr/>
                    <a:lstStyle/>
                    <a:p>
                      <a:pPr algn="ctr"/>
                      <a:r>
                        <a:rPr lang="en-US" dirty="0"/>
                        <a:t>2</a:t>
                      </a:r>
                    </a:p>
                  </a:txBody>
                  <a:tcPr/>
                </a:tc>
                <a:extLst>
                  <a:ext uri="{0D108BD9-81ED-4DB2-BD59-A6C34878D82A}">
                    <a16:rowId xmlns:a16="http://schemas.microsoft.com/office/drawing/2014/main" val="2823071710"/>
                  </a:ext>
                </a:extLst>
              </a:tr>
              <a:tr h="370840">
                <a:tc>
                  <a:txBody>
                    <a:bodyPr/>
                    <a:lstStyle/>
                    <a:p>
                      <a:pPr algn="ctr"/>
                      <a:r>
                        <a:rPr lang="en-US" dirty="0"/>
                        <a:t>2</a:t>
                      </a:r>
                    </a:p>
                  </a:txBody>
                  <a:tcPr/>
                </a:tc>
                <a:tc>
                  <a:txBody>
                    <a:bodyPr/>
                    <a:lstStyle/>
                    <a:p>
                      <a:pPr algn="ctr"/>
                      <a:r>
                        <a:rPr lang="en-US" dirty="0"/>
                        <a:t>0</a:t>
                      </a:r>
                    </a:p>
                  </a:txBody>
                  <a:tcPr/>
                </a:tc>
                <a:extLst>
                  <a:ext uri="{0D108BD9-81ED-4DB2-BD59-A6C34878D82A}">
                    <a16:rowId xmlns:a16="http://schemas.microsoft.com/office/drawing/2014/main" val="3189132377"/>
                  </a:ext>
                </a:extLst>
              </a:tr>
              <a:tr h="370840">
                <a:tc>
                  <a:txBody>
                    <a:bodyPr/>
                    <a:lstStyle/>
                    <a:p>
                      <a:pPr algn="ct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dirty="0"/>
                    </a:p>
                  </a:txBody>
                  <a:tcPr/>
                </a:tc>
                <a:extLst>
                  <a:ext uri="{0D108BD9-81ED-4DB2-BD59-A6C34878D82A}">
                    <a16:rowId xmlns:a16="http://schemas.microsoft.com/office/drawing/2014/main" val="87177652"/>
                  </a:ext>
                </a:extLst>
              </a:tr>
              <a:tr h="370840">
                <a:tc>
                  <a:txBody>
                    <a:bodyPr/>
                    <a:lstStyle/>
                    <a:p>
                      <a:pPr algn="ctr"/>
                      <a:r>
                        <a:rPr lang="en-US" dirty="0"/>
                        <a:t>Predicted Value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dirty="0"/>
                    </a:p>
                  </a:txBody>
                  <a:tcPr/>
                </a:tc>
                <a:extLst>
                  <a:ext uri="{0D108BD9-81ED-4DB2-BD59-A6C34878D82A}">
                    <a16:rowId xmlns:a16="http://schemas.microsoft.com/office/drawing/2014/main" val="4173375689"/>
                  </a:ext>
                </a:extLst>
              </a:tr>
            </a:tbl>
          </a:graphicData>
        </a:graphic>
      </p:graphicFrame>
      <p:sp>
        <p:nvSpPr>
          <p:cNvPr id="6" name="Content Placeholder 5">
            <a:extLst>
              <a:ext uri="{FF2B5EF4-FFF2-40B4-BE49-F238E27FC236}">
                <a16:creationId xmlns:a16="http://schemas.microsoft.com/office/drawing/2014/main" id="{89A5E106-C7B3-5744-BB22-3623DFA1D42E}"/>
              </a:ext>
            </a:extLst>
          </p:cNvPr>
          <p:cNvSpPr>
            <a:spLocks noGrp="1"/>
          </p:cNvSpPr>
          <p:nvPr>
            <p:ph sz="half" idx="2"/>
          </p:nvPr>
        </p:nvSpPr>
        <p:spPr/>
        <p:txBody>
          <a:bodyPr/>
          <a:lstStyle/>
          <a:p>
            <a:r>
              <a:rPr lang="en-US" dirty="0"/>
              <a:t>Classification:</a:t>
            </a:r>
          </a:p>
          <a:p>
            <a:pPr lvl="1"/>
            <a:r>
              <a:rPr lang="en-US" dirty="0"/>
              <a:t>Mode – most common value (majority vote)</a:t>
            </a:r>
          </a:p>
          <a:p>
            <a:r>
              <a:rPr lang="en-US" dirty="0"/>
              <a:t>Regression:</a:t>
            </a:r>
          </a:p>
          <a:p>
            <a:pPr lvl="1"/>
            <a:r>
              <a:rPr lang="en-US" dirty="0"/>
              <a:t>Mean</a:t>
            </a:r>
          </a:p>
          <a:p>
            <a:pPr lvl="1"/>
            <a:r>
              <a:rPr lang="en-US" dirty="0"/>
              <a:t>Median</a:t>
            </a:r>
          </a:p>
        </p:txBody>
      </p:sp>
    </p:spTree>
    <p:extLst>
      <p:ext uri="{BB962C8B-B14F-4D97-AF65-F5344CB8AC3E}">
        <p14:creationId xmlns:p14="http://schemas.microsoft.com/office/powerpoint/2010/main" val="13524840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28A90CE-1ABC-FB4B-8D5D-9B5944DF11CD}"/>
              </a:ext>
            </a:extLst>
          </p:cNvPr>
          <p:cNvSpPr>
            <a:spLocks noGrp="1"/>
          </p:cNvSpPr>
          <p:nvPr>
            <p:ph type="title"/>
          </p:nvPr>
        </p:nvSpPr>
        <p:spPr/>
        <p:txBody>
          <a:bodyPr/>
          <a:lstStyle/>
          <a:p>
            <a:r>
              <a:rPr lang="en-US" b="1" dirty="0"/>
              <a:t>Step 5: Aggregate the Output Values</a:t>
            </a:r>
          </a:p>
        </p:txBody>
      </p:sp>
      <p:graphicFrame>
        <p:nvGraphicFramePr>
          <p:cNvPr id="4" name="Content Placeholder 3">
            <a:extLst>
              <a:ext uri="{FF2B5EF4-FFF2-40B4-BE49-F238E27FC236}">
                <a16:creationId xmlns:a16="http://schemas.microsoft.com/office/drawing/2014/main" id="{78DE0D87-C4D2-F145-859C-6FFCBE26FDAF}"/>
              </a:ext>
            </a:extLst>
          </p:cNvPr>
          <p:cNvGraphicFramePr>
            <a:graphicFrameLocks noGrp="1"/>
          </p:cNvGraphicFramePr>
          <p:nvPr>
            <p:ph sz="half" idx="1"/>
          </p:nvPr>
        </p:nvGraphicFramePr>
        <p:xfrm>
          <a:off x="838200" y="1825625"/>
          <a:ext cx="5181600" cy="2225040"/>
        </p:xfrm>
        <a:graphic>
          <a:graphicData uri="http://schemas.openxmlformats.org/drawingml/2006/table">
            <a:tbl>
              <a:tblPr firstRow="1" bandRow="1">
                <a:tableStyleId>{5940675A-B579-460E-94D1-54222C63F5DA}</a:tableStyleId>
              </a:tblPr>
              <a:tblGrid>
                <a:gridCol w="2590800">
                  <a:extLst>
                    <a:ext uri="{9D8B030D-6E8A-4147-A177-3AD203B41FA5}">
                      <a16:colId xmlns:a16="http://schemas.microsoft.com/office/drawing/2014/main" val="3442811767"/>
                    </a:ext>
                  </a:extLst>
                </a:gridCol>
                <a:gridCol w="2590800">
                  <a:extLst>
                    <a:ext uri="{9D8B030D-6E8A-4147-A177-3AD203B41FA5}">
                      <a16:colId xmlns:a16="http://schemas.microsoft.com/office/drawing/2014/main" val="1695224136"/>
                    </a:ext>
                  </a:extLst>
                </a:gridCol>
              </a:tblGrid>
              <a:tr h="370840">
                <a:tc>
                  <a:txBody>
                    <a:bodyPr/>
                    <a:lstStyle/>
                    <a:p>
                      <a:pPr algn="ctr"/>
                      <a:r>
                        <a:rPr lang="en-US" b="1" dirty="0"/>
                        <a:t>Index</a:t>
                      </a:r>
                    </a:p>
                  </a:txBody>
                  <a:tcPr/>
                </a:tc>
                <a:tc>
                  <a:txBody>
                    <a:bodyPr/>
                    <a:lstStyle/>
                    <a:p>
                      <a:pPr algn="ctr"/>
                      <a:r>
                        <a:rPr lang="en-US" b="1" dirty="0"/>
                        <a:t>Labels</a:t>
                      </a:r>
                    </a:p>
                  </a:txBody>
                  <a:tcPr/>
                </a:tc>
                <a:extLst>
                  <a:ext uri="{0D108BD9-81ED-4DB2-BD59-A6C34878D82A}">
                    <a16:rowId xmlns:a16="http://schemas.microsoft.com/office/drawing/2014/main" val="4051681193"/>
                  </a:ext>
                </a:extLst>
              </a:tr>
              <a:tr h="370840">
                <a:tc>
                  <a:txBody>
                    <a:bodyPr/>
                    <a:lstStyle/>
                    <a:p>
                      <a:pPr algn="ctr"/>
                      <a:r>
                        <a:rPr lang="en-US" dirty="0"/>
                        <a:t>4</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0</a:t>
                      </a:r>
                    </a:p>
                  </a:txBody>
                  <a:tcPr/>
                </a:tc>
                <a:extLst>
                  <a:ext uri="{0D108BD9-81ED-4DB2-BD59-A6C34878D82A}">
                    <a16:rowId xmlns:a16="http://schemas.microsoft.com/office/drawing/2014/main" val="1221612007"/>
                  </a:ext>
                </a:extLst>
              </a:tr>
              <a:tr h="370840">
                <a:tc>
                  <a:txBody>
                    <a:bodyPr/>
                    <a:lstStyle/>
                    <a:p>
                      <a:pPr algn="ctr"/>
                      <a:r>
                        <a:rPr lang="en-US" dirty="0"/>
                        <a:t>1</a:t>
                      </a:r>
                    </a:p>
                  </a:txBody>
                  <a:tcPr/>
                </a:tc>
                <a:tc>
                  <a:txBody>
                    <a:bodyPr/>
                    <a:lstStyle/>
                    <a:p>
                      <a:pPr algn="ctr"/>
                      <a:r>
                        <a:rPr lang="en-US" dirty="0"/>
                        <a:t>2</a:t>
                      </a:r>
                    </a:p>
                  </a:txBody>
                  <a:tcPr/>
                </a:tc>
                <a:extLst>
                  <a:ext uri="{0D108BD9-81ED-4DB2-BD59-A6C34878D82A}">
                    <a16:rowId xmlns:a16="http://schemas.microsoft.com/office/drawing/2014/main" val="2823071710"/>
                  </a:ext>
                </a:extLst>
              </a:tr>
              <a:tr h="370840">
                <a:tc>
                  <a:txBody>
                    <a:bodyPr/>
                    <a:lstStyle/>
                    <a:p>
                      <a:pPr algn="ctr"/>
                      <a:r>
                        <a:rPr lang="en-US" dirty="0"/>
                        <a:t>2</a:t>
                      </a:r>
                    </a:p>
                  </a:txBody>
                  <a:tcPr/>
                </a:tc>
                <a:tc>
                  <a:txBody>
                    <a:bodyPr/>
                    <a:lstStyle/>
                    <a:p>
                      <a:pPr algn="ctr"/>
                      <a:r>
                        <a:rPr lang="en-US" dirty="0"/>
                        <a:t>0</a:t>
                      </a:r>
                    </a:p>
                  </a:txBody>
                  <a:tcPr/>
                </a:tc>
                <a:extLst>
                  <a:ext uri="{0D108BD9-81ED-4DB2-BD59-A6C34878D82A}">
                    <a16:rowId xmlns:a16="http://schemas.microsoft.com/office/drawing/2014/main" val="3189132377"/>
                  </a:ext>
                </a:extLst>
              </a:tr>
              <a:tr h="370840">
                <a:tc>
                  <a:txBody>
                    <a:bodyPr/>
                    <a:lstStyle/>
                    <a:p>
                      <a:pPr algn="ct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dirty="0"/>
                    </a:p>
                  </a:txBody>
                  <a:tcPr/>
                </a:tc>
                <a:extLst>
                  <a:ext uri="{0D108BD9-81ED-4DB2-BD59-A6C34878D82A}">
                    <a16:rowId xmlns:a16="http://schemas.microsoft.com/office/drawing/2014/main" val="87177652"/>
                  </a:ext>
                </a:extLst>
              </a:tr>
              <a:tr h="370840">
                <a:tc>
                  <a:txBody>
                    <a:bodyPr/>
                    <a:lstStyle/>
                    <a:p>
                      <a:pPr algn="ctr"/>
                      <a:r>
                        <a:rPr lang="en-US" dirty="0"/>
                        <a:t>Predicted Value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dirty="0"/>
                    </a:p>
                  </a:txBody>
                  <a:tcPr/>
                </a:tc>
                <a:extLst>
                  <a:ext uri="{0D108BD9-81ED-4DB2-BD59-A6C34878D82A}">
                    <a16:rowId xmlns:a16="http://schemas.microsoft.com/office/drawing/2014/main" val="4173375689"/>
                  </a:ext>
                </a:extLst>
              </a:tr>
            </a:tbl>
          </a:graphicData>
        </a:graphic>
      </p:graphicFrame>
      <p:sp>
        <p:nvSpPr>
          <p:cNvPr id="6" name="Content Placeholder 5">
            <a:extLst>
              <a:ext uri="{FF2B5EF4-FFF2-40B4-BE49-F238E27FC236}">
                <a16:creationId xmlns:a16="http://schemas.microsoft.com/office/drawing/2014/main" id="{89A5E106-C7B3-5744-BB22-3623DFA1D42E}"/>
              </a:ext>
            </a:extLst>
          </p:cNvPr>
          <p:cNvSpPr>
            <a:spLocks noGrp="1"/>
          </p:cNvSpPr>
          <p:nvPr>
            <p:ph sz="half" idx="2"/>
          </p:nvPr>
        </p:nvSpPr>
        <p:spPr/>
        <p:txBody>
          <a:bodyPr/>
          <a:lstStyle/>
          <a:p>
            <a:r>
              <a:rPr lang="en-US" dirty="0"/>
              <a:t>Classification:</a:t>
            </a:r>
          </a:p>
          <a:p>
            <a:pPr lvl="1"/>
            <a:r>
              <a:rPr lang="en-US" dirty="0"/>
              <a:t>Mode – most common value</a:t>
            </a:r>
          </a:p>
          <a:p>
            <a:r>
              <a:rPr lang="en-US" dirty="0"/>
              <a:t>Regression:</a:t>
            </a:r>
          </a:p>
          <a:p>
            <a:pPr lvl="1"/>
            <a:r>
              <a:rPr lang="en-US" dirty="0"/>
              <a:t>Mean</a:t>
            </a:r>
          </a:p>
          <a:p>
            <a:pPr lvl="1"/>
            <a:r>
              <a:rPr lang="en-US" dirty="0"/>
              <a:t>Median</a:t>
            </a:r>
          </a:p>
        </p:txBody>
      </p:sp>
      <p:sp>
        <p:nvSpPr>
          <p:cNvPr id="7" name="Donut 6">
            <a:extLst>
              <a:ext uri="{FF2B5EF4-FFF2-40B4-BE49-F238E27FC236}">
                <a16:creationId xmlns:a16="http://schemas.microsoft.com/office/drawing/2014/main" id="{6336642E-E279-FC46-9762-FDEF1961CE01}"/>
              </a:ext>
            </a:extLst>
          </p:cNvPr>
          <p:cNvSpPr/>
          <p:nvPr/>
        </p:nvSpPr>
        <p:spPr>
          <a:xfrm>
            <a:off x="6172200" y="2107482"/>
            <a:ext cx="5080000" cy="747536"/>
          </a:xfrm>
          <a:prstGeom prst="donut">
            <a:avLst>
              <a:gd name="adj" fmla="val 233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45091541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28A90CE-1ABC-FB4B-8D5D-9B5944DF11CD}"/>
              </a:ext>
            </a:extLst>
          </p:cNvPr>
          <p:cNvSpPr>
            <a:spLocks noGrp="1"/>
          </p:cNvSpPr>
          <p:nvPr>
            <p:ph type="title"/>
          </p:nvPr>
        </p:nvSpPr>
        <p:spPr/>
        <p:txBody>
          <a:bodyPr/>
          <a:lstStyle/>
          <a:p>
            <a:r>
              <a:rPr lang="en-US" b="1" dirty="0"/>
              <a:t>Step 5: Aggregate the Output Values</a:t>
            </a:r>
          </a:p>
        </p:txBody>
      </p:sp>
      <p:graphicFrame>
        <p:nvGraphicFramePr>
          <p:cNvPr id="4" name="Content Placeholder 3">
            <a:extLst>
              <a:ext uri="{FF2B5EF4-FFF2-40B4-BE49-F238E27FC236}">
                <a16:creationId xmlns:a16="http://schemas.microsoft.com/office/drawing/2014/main" id="{78DE0D87-C4D2-F145-859C-6FFCBE26FDAF}"/>
              </a:ext>
            </a:extLst>
          </p:cNvPr>
          <p:cNvGraphicFramePr>
            <a:graphicFrameLocks noGrp="1"/>
          </p:cNvGraphicFramePr>
          <p:nvPr>
            <p:ph sz="half" idx="1"/>
            <p:extLst>
              <p:ext uri="{D42A27DB-BD31-4B8C-83A1-F6EECF244321}">
                <p14:modId xmlns:p14="http://schemas.microsoft.com/office/powerpoint/2010/main" val="2942278094"/>
              </p:ext>
            </p:extLst>
          </p:nvPr>
        </p:nvGraphicFramePr>
        <p:xfrm>
          <a:off x="838200" y="1825625"/>
          <a:ext cx="5181600" cy="2225040"/>
        </p:xfrm>
        <a:graphic>
          <a:graphicData uri="http://schemas.openxmlformats.org/drawingml/2006/table">
            <a:tbl>
              <a:tblPr firstRow="1" bandRow="1">
                <a:tableStyleId>{5940675A-B579-460E-94D1-54222C63F5DA}</a:tableStyleId>
              </a:tblPr>
              <a:tblGrid>
                <a:gridCol w="2590800">
                  <a:extLst>
                    <a:ext uri="{9D8B030D-6E8A-4147-A177-3AD203B41FA5}">
                      <a16:colId xmlns:a16="http://schemas.microsoft.com/office/drawing/2014/main" val="3442811767"/>
                    </a:ext>
                  </a:extLst>
                </a:gridCol>
                <a:gridCol w="2590800">
                  <a:extLst>
                    <a:ext uri="{9D8B030D-6E8A-4147-A177-3AD203B41FA5}">
                      <a16:colId xmlns:a16="http://schemas.microsoft.com/office/drawing/2014/main" val="1695224136"/>
                    </a:ext>
                  </a:extLst>
                </a:gridCol>
              </a:tblGrid>
              <a:tr h="370840">
                <a:tc>
                  <a:txBody>
                    <a:bodyPr/>
                    <a:lstStyle/>
                    <a:p>
                      <a:pPr algn="ctr"/>
                      <a:r>
                        <a:rPr lang="en-US" b="1" dirty="0"/>
                        <a:t>Index</a:t>
                      </a:r>
                    </a:p>
                  </a:txBody>
                  <a:tcPr/>
                </a:tc>
                <a:tc>
                  <a:txBody>
                    <a:bodyPr/>
                    <a:lstStyle/>
                    <a:p>
                      <a:pPr algn="ctr"/>
                      <a:r>
                        <a:rPr lang="en-US" b="1" dirty="0"/>
                        <a:t>Labels</a:t>
                      </a:r>
                    </a:p>
                  </a:txBody>
                  <a:tcPr/>
                </a:tc>
                <a:extLst>
                  <a:ext uri="{0D108BD9-81ED-4DB2-BD59-A6C34878D82A}">
                    <a16:rowId xmlns:a16="http://schemas.microsoft.com/office/drawing/2014/main" val="4051681193"/>
                  </a:ext>
                </a:extLst>
              </a:tr>
              <a:tr h="370840">
                <a:tc>
                  <a:txBody>
                    <a:bodyPr/>
                    <a:lstStyle/>
                    <a:p>
                      <a:pPr algn="ctr"/>
                      <a:r>
                        <a:rPr lang="en-US" dirty="0"/>
                        <a:t>4</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0</a:t>
                      </a:r>
                    </a:p>
                  </a:txBody>
                  <a:tcPr/>
                </a:tc>
                <a:extLst>
                  <a:ext uri="{0D108BD9-81ED-4DB2-BD59-A6C34878D82A}">
                    <a16:rowId xmlns:a16="http://schemas.microsoft.com/office/drawing/2014/main" val="1221612007"/>
                  </a:ext>
                </a:extLst>
              </a:tr>
              <a:tr h="370840">
                <a:tc>
                  <a:txBody>
                    <a:bodyPr/>
                    <a:lstStyle/>
                    <a:p>
                      <a:pPr algn="ctr"/>
                      <a:r>
                        <a:rPr lang="en-US" dirty="0"/>
                        <a:t>1</a:t>
                      </a:r>
                    </a:p>
                  </a:txBody>
                  <a:tcPr/>
                </a:tc>
                <a:tc>
                  <a:txBody>
                    <a:bodyPr/>
                    <a:lstStyle/>
                    <a:p>
                      <a:pPr algn="ctr"/>
                      <a:r>
                        <a:rPr lang="en-US" dirty="0"/>
                        <a:t>2</a:t>
                      </a:r>
                    </a:p>
                  </a:txBody>
                  <a:tcPr/>
                </a:tc>
                <a:extLst>
                  <a:ext uri="{0D108BD9-81ED-4DB2-BD59-A6C34878D82A}">
                    <a16:rowId xmlns:a16="http://schemas.microsoft.com/office/drawing/2014/main" val="2823071710"/>
                  </a:ext>
                </a:extLst>
              </a:tr>
              <a:tr h="370840">
                <a:tc>
                  <a:txBody>
                    <a:bodyPr/>
                    <a:lstStyle/>
                    <a:p>
                      <a:pPr algn="ctr"/>
                      <a:r>
                        <a:rPr lang="en-US" dirty="0"/>
                        <a:t>2</a:t>
                      </a:r>
                    </a:p>
                  </a:txBody>
                  <a:tcPr/>
                </a:tc>
                <a:tc>
                  <a:txBody>
                    <a:bodyPr/>
                    <a:lstStyle/>
                    <a:p>
                      <a:pPr algn="ctr"/>
                      <a:r>
                        <a:rPr lang="en-US" dirty="0"/>
                        <a:t>0</a:t>
                      </a:r>
                    </a:p>
                  </a:txBody>
                  <a:tcPr/>
                </a:tc>
                <a:extLst>
                  <a:ext uri="{0D108BD9-81ED-4DB2-BD59-A6C34878D82A}">
                    <a16:rowId xmlns:a16="http://schemas.microsoft.com/office/drawing/2014/main" val="3189132377"/>
                  </a:ext>
                </a:extLst>
              </a:tr>
              <a:tr h="370840">
                <a:tc>
                  <a:txBody>
                    <a:bodyPr/>
                    <a:lstStyle/>
                    <a:p>
                      <a:pPr algn="ct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dirty="0"/>
                    </a:p>
                  </a:txBody>
                  <a:tcPr/>
                </a:tc>
                <a:extLst>
                  <a:ext uri="{0D108BD9-81ED-4DB2-BD59-A6C34878D82A}">
                    <a16:rowId xmlns:a16="http://schemas.microsoft.com/office/drawing/2014/main" val="87177652"/>
                  </a:ext>
                </a:extLst>
              </a:tr>
              <a:tr h="370840">
                <a:tc>
                  <a:txBody>
                    <a:bodyPr/>
                    <a:lstStyle/>
                    <a:p>
                      <a:pPr algn="ctr"/>
                      <a:r>
                        <a:rPr lang="en-US" dirty="0"/>
                        <a:t>Predicted Value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0</a:t>
                      </a:r>
                    </a:p>
                  </a:txBody>
                  <a:tcPr/>
                </a:tc>
                <a:extLst>
                  <a:ext uri="{0D108BD9-81ED-4DB2-BD59-A6C34878D82A}">
                    <a16:rowId xmlns:a16="http://schemas.microsoft.com/office/drawing/2014/main" val="4173375689"/>
                  </a:ext>
                </a:extLst>
              </a:tr>
            </a:tbl>
          </a:graphicData>
        </a:graphic>
      </p:graphicFrame>
      <p:sp>
        <p:nvSpPr>
          <p:cNvPr id="6" name="Content Placeholder 5">
            <a:extLst>
              <a:ext uri="{FF2B5EF4-FFF2-40B4-BE49-F238E27FC236}">
                <a16:creationId xmlns:a16="http://schemas.microsoft.com/office/drawing/2014/main" id="{89A5E106-C7B3-5744-BB22-3623DFA1D42E}"/>
              </a:ext>
            </a:extLst>
          </p:cNvPr>
          <p:cNvSpPr>
            <a:spLocks noGrp="1"/>
          </p:cNvSpPr>
          <p:nvPr>
            <p:ph sz="half" idx="2"/>
          </p:nvPr>
        </p:nvSpPr>
        <p:spPr/>
        <p:txBody>
          <a:bodyPr/>
          <a:lstStyle/>
          <a:p>
            <a:r>
              <a:rPr lang="en-US" dirty="0"/>
              <a:t>Classification:</a:t>
            </a:r>
          </a:p>
          <a:p>
            <a:pPr lvl="1"/>
            <a:r>
              <a:rPr lang="en-US" dirty="0"/>
              <a:t>Mode – most common value</a:t>
            </a:r>
          </a:p>
          <a:p>
            <a:r>
              <a:rPr lang="en-US" dirty="0"/>
              <a:t>Regression:</a:t>
            </a:r>
          </a:p>
          <a:p>
            <a:pPr lvl="1"/>
            <a:r>
              <a:rPr lang="en-US" dirty="0"/>
              <a:t>Mean</a:t>
            </a:r>
          </a:p>
          <a:p>
            <a:pPr lvl="1"/>
            <a:r>
              <a:rPr lang="en-US" dirty="0"/>
              <a:t>Median</a:t>
            </a:r>
          </a:p>
        </p:txBody>
      </p:sp>
    </p:spTree>
    <p:extLst>
      <p:ext uri="{BB962C8B-B14F-4D97-AF65-F5344CB8AC3E}">
        <p14:creationId xmlns:p14="http://schemas.microsoft.com/office/powerpoint/2010/main" val="329094121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5F4DAA4-99EF-49C8-9C9F-DA40441C6377}"/>
              </a:ext>
            </a:extLst>
          </p:cNvPr>
          <p:cNvSpPr>
            <a:spLocks noGrp="1"/>
          </p:cNvSpPr>
          <p:nvPr>
            <p:ph type="title"/>
          </p:nvPr>
        </p:nvSpPr>
        <p:spPr/>
        <p:txBody>
          <a:bodyPr/>
          <a:lstStyle/>
          <a:p>
            <a:r>
              <a:rPr lang="en-US" b="1" dirty="0"/>
              <a:t>Run time and Space Complexity</a:t>
            </a:r>
          </a:p>
        </p:txBody>
      </p:sp>
    </p:spTree>
    <p:extLst>
      <p:ext uri="{BB962C8B-B14F-4D97-AF65-F5344CB8AC3E}">
        <p14:creationId xmlns:p14="http://schemas.microsoft.com/office/powerpoint/2010/main" val="177697448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99E4F-1147-AB4F-B7B7-5098918B665E}"/>
              </a:ext>
            </a:extLst>
          </p:cNvPr>
          <p:cNvSpPr>
            <a:spLocks noGrp="1"/>
          </p:cNvSpPr>
          <p:nvPr>
            <p:ph type="title"/>
          </p:nvPr>
        </p:nvSpPr>
        <p:spPr/>
        <p:txBody>
          <a:bodyPr/>
          <a:lstStyle/>
          <a:p>
            <a:r>
              <a:rPr lang="en-US" b="1" dirty="0"/>
              <a:t>Run Time Complexity</a:t>
            </a:r>
          </a:p>
        </p:txBody>
      </p:sp>
      <p:sp>
        <p:nvSpPr>
          <p:cNvPr id="3" name="Content Placeholder 2">
            <a:extLst>
              <a:ext uri="{FF2B5EF4-FFF2-40B4-BE49-F238E27FC236}">
                <a16:creationId xmlns:a16="http://schemas.microsoft.com/office/drawing/2014/main" id="{47F8DE11-CFA7-7143-891C-E41371CB187B}"/>
              </a:ext>
            </a:extLst>
          </p:cNvPr>
          <p:cNvSpPr>
            <a:spLocks noGrp="1"/>
          </p:cNvSpPr>
          <p:nvPr>
            <p:ph idx="1"/>
          </p:nvPr>
        </p:nvSpPr>
        <p:spPr/>
        <p:txBody>
          <a:bodyPr>
            <a:noAutofit/>
          </a:bodyPr>
          <a:lstStyle/>
          <a:p>
            <a:pPr marL="0" indent="0">
              <a:lnSpc>
                <a:spcPct val="110000"/>
              </a:lnSpc>
              <a:buNone/>
            </a:pPr>
            <a:r>
              <a:rPr lang="en-US" sz="2400" dirty="0"/>
              <a:t>Assume there are </a:t>
            </a:r>
            <a:r>
              <a:rPr lang="en-US" sz="2400" b="1" dirty="0"/>
              <a:t>n</a:t>
            </a:r>
            <a:r>
              <a:rPr lang="en-US" sz="2400" dirty="0"/>
              <a:t> reference points, 1 query point, and </a:t>
            </a:r>
            <a:r>
              <a:rPr lang="en-US" sz="2400" b="1" dirty="0"/>
              <a:t>m</a:t>
            </a:r>
            <a:r>
              <a:rPr lang="en-US" sz="2400" dirty="0"/>
              <a:t> features that you will use the </a:t>
            </a:r>
            <a:r>
              <a:rPr lang="en-US" sz="2400" b="1" dirty="0"/>
              <a:t>k</a:t>
            </a:r>
            <a:r>
              <a:rPr lang="en-US" sz="2400" dirty="0"/>
              <a:t> closest neighbors</a:t>
            </a:r>
            <a:br>
              <a:rPr lang="en-US" sz="2400" dirty="0"/>
            </a:br>
            <a:endParaRPr lang="en-US" sz="2400" dirty="0"/>
          </a:p>
          <a:p>
            <a:pPr>
              <a:lnSpc>
                <a:spcPct val="110000"/>
              </a:lnSpc>
            </a:pPr>
            <a:r>
              <a:rPr lang="en-US" sz="2400" dirty="0"/>
              <a:t>Step 1: Compute distances: </a:t>
            </a:r>
          </a:p>
          <a:p>
            <a:pPr>
              <a:lnSpc>
                <a:spcPct val="110000"/>
              </a:lnSpc>
            </a:pPr>
            <a:r>
              <a:rPr lang="en-US" sz="2400" dirty="0"/>
              <a:t>Step 2: Sorting the neighbor list (using a heap): </a:t>
            </a:r>
          </a:p>
          <a:p>
            <a:pPr>
              <a:lnSpc>
                <a:spcPct val="110000"/>
              </a:lnSpc>
            </a:pPr>
            <a:r>
              <a:rPr lang="en-US" sz="2400" dirty="0"/>
              <a:t>Step 3: Get known labels: </a:t>
            </a:r>
          </a:p>
          <a:p>
            <a:pPr>
              <a:lnSpc>
                <a:spcPct val="110000"/>
              </a:lnSpc>
            </a:pPr>
            <a:r>
              <a:rPr lang="en-US" sz="2400" dirty="0"/>
              <a:t>Step 4: Aggregation: </a:t>
            </a:r>
          </a:p>
          <a:p>
            <a:pPr>
              <a:lnSpc>
                <a:spcPct val="110000"/>
              </a:lnSpc>
            </a:pPr>
            <a:endParaRPr lang="en-US" sz="2400" dirty="0"/>
          </a:p>
          <a:p>
            <a:pPr marL="0" indent="0">
              <a:lnSpc>
                <a:spcPct val="110000"/>
              </a:lnSpc>
              <a:buNone/>
            </a:pPr>
            <a:br>
              <a:rPr lang="en-US" sz="2400" dirty="0"/>
            </a:br>
            <a:endParaRPr lang="en-US" sz="2400" dirty="0"/>
          </a:p>
          <a:p>
            <a:pPr>
              <a:lnSpc>
                <a:spcPct val="110000"/>
              </a:lnSpc>
            </a:pPr>
            <a:endParaRPr lang="en-US" sz="2400" dirty="0"/>
          </a:p>
          <a:p>
            <a:pPr>
              <a:lnSpc>
                <a:spcPct val="110000"/>
              </a:lnSpc>
            </a:pPr>
            <a:endParaRPr lang="en-US" sz="2400" dirty="0"/>
          </a:p>
        </p:txBody>
      </p:sp>
    </p:spTree>
    <p:extLst>
      <p:ext uri="{BB962C8B-B14F-4D97-AF65-F5344CB8AC3E}">
        <p14:creationId xmlns:p14="http://schemas.microsoft.com/office/powerpoint/2010/main" val="264612586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99E4F-1147-AB4F-B7B7-5098918B665E}"/>
              </a:ext>
            </a:extLst>
          </p:cNvPr>
          <p:cNvSpPr>
            <a:spLocks noGrp="1"/>
          </p:cNvSpPr>
          <p:nvPr>
            <p:ph type="title"/>
          </p:nvPr>
        </p:nvSpPr>
        <p:spPr/>
        <p:txBody>
          <a:bodyPr/>
          <a:lstStyle/>
          <a:p>
            <a:r>
              <a:rPr lang="en-US" b="1" dirty="0"/>
              <a:t>Run Time Complexity</a:t>
            </a:r>
          </a:p>
        </p:txBody>
      </p:sp>
      <p:sp>
        <p:nvSpPr>
          <p:cNvPr id="3" name="Content Placeholder 2">
            <a:extLst>
              <a:ext uri="{FF2B5EF4-FFF2-40B4-BE49-F238E27FC236}">
                <a16:creationId xmlns:a16="http://schemas.microsoft.com/office/drawing/2014/main" id="{47F8DE11-CFA7-7143-891C-E41371CB187B}"/>
              </a:ext>
            </a:extLst>
          </p:cNvPr>
          <p:cNvSpPr>
            <a:spLocks noGrp="1"/>
          </p:cNvSpPr>
          <p:nvPr>
            <p:ph idx="1"/>
          </p:nvPr>
        </p:nvSpPr>
        <p:spPr/>
        <p:txBody>
          <a:bodyPr>
            <a:noAutofit/>
          </a:bodyPr>
          <a:lstStyle/>
          <a:p>
            <a:pPr marL="0" indent="0">
              <a:lnSpc>
                <a:spcPct val="110000"/>
              </a:lnSpc>
              <a:buNone/>
            </a:pPr>
            <a:r>
              <a:rPr lang="en-US" sz="2400" dirty="0"/>
              <a:t>Assume there are </a:t>
            </a:r>
            <a:r>
              <a:rPr lang="en-US" sz="2400" b="1" dirty="0"/>
              <a:t>n</a:t>
            </a:r>
            <a:r>
              <a:rPr lang="en-US" sz="2400" dirty="0"/>
              <a:t> reference points, 1 query point, and </a:t>
            </a:r>
            <a:r>
              <a:rPr lang="en-US" sz="2400" b="1" dirty="0"/>
              <a:t>m</a:t>
            </a:r>
            <a:r>
              <a:rPr lang="en-US" sz="2400" dirty="0"/>
              <a:t> features that you will use the </a:t>
            </a:r>
            <a:r>
              <a:rPr lang="en-US" sz="2400" b="1" dirty="0"/>
              <a:t>k</a:t>
            </a:r>
            <a:r>
              <a:rPr lang="en-US" sz="2400" dirty="0"/>
              <a:t> closest neighbors:</a:t>
            </a:r>
          </a:p>
          <a:p>
            <a:pPr>
              <a:lnSpc>
                <a:spcPct val="110000"/>
              </a:lnSpc>
            </a:pPr>
            <a:r>
              <a:rPr lang="en-US" sz="2400" dirty="0"/>
              <a:t>Step 1: Compute distances: O(nm)</a:t>
            </a:r>
          </a:p>
          <a:p>
            <a:pPr>
              <a:lnSpc>
                <a:spcPct val="110000"/>
              </a:lnSpc>
            </a:pPr>
            <a:r>
              <a:rPr lang="en-US" sz="2400" dirty="0"/>
              <a:t>Step 2: Sorting the neighbor list (using a heap): O(n log k) </a:t>
            </a:r>
            <a:r>
              <a:rPr lang="en-US" sz="2000" dirty="0"/>
              <a:t>(if using max-heap) </a:t>
            </a:r>
          </a:p>
          <a:p>
            <a:pPr>
              <a:lnSpc>
                <a:spcPct val="110000"/>
              </a:lnSpc>
            </a:pPr>
            <a:r>
              <a:rPr lang="en-US" sz="2400" dirty="0"/>
              <a:t>Step 3: Get known labels: O(k)</a:t>
            </a:r>
          </a:p>
          <a:p>
            <a:pPr>
              <a:lnSpc>
                <a:spcPct val="110000"/>
              </a:lnSpc>
            </a:pPr>
            <a:r>
              <a:rPr lang="en-US" sz="2400" dirty="0"/>
              <a:t>Step 4: Aggregation: O(k)</a:t>
            </a:r>
          </a:p>
          <a:p>
            <a:pPr marL="0" indent="0">
              <a:lnSpc>
                <a:spcPct val="110000"/>
              </a:lnSpc>
              <a:buNone/>
            </a:pPr>
            <a:endParaRPr lang="en-US" sz="2400" dirty="0"/>
          </a:p>
          <a:p>
            <a:pPr marL="0" indent="0">
              <a:lnSpc>
                <a:spcPct val="110000"/>
              </a:lnSpc>
              <a:buNone/>
            </a:pPr>
            <a:r>
              <a:rPr lang="en-US" sz="2400" dirty="0"/>
              <a:t>Total run time: O(nm + n log k + k) = O(nm)</a:t>
            </a:r>
            <a:br>
              <a:rPr lang="en-US" sz="2400" dirty="0"/>
            </a:br>
            <a:endParaRPr lang="en-US" sz="2400" dirty="0"/>
          </a:p>
          <a:p>
            <a:pPr>
              <a:lnSpc>
                <a:spcPct val="110000"/>
              </a:lnSpc>
            </a:pPr>
            <a:endParaRPr lang="en-US" sz="2400" dirty="0"/>
          </a:p>
        </p:txBody>
      </p:sp>
    </p:spTree>
    <p:extLst>
      <p:ext uri="{BB962C8B-B14F-4D97-AF65-F5344CB8AC3E}">
        <p14:creationId xmlns:p14="http://schemas.microsoft.com/office/powerpoint/2010/main" val="311465490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99E4F-1147-AB4F-B7B7-5098918B665E}"/>
              </a:ext>
            </a:extLst>
          </p:cNvPr>
          <p:cNvSpPr>
            <a:spLocks noGrp="1"/>
          </p:cNvSpPr>
          <p:nvPr>
            <p:ph type="title"/>
          </p:nvPr>
        </p:nvSpPr>
        <p:spPr/>
        <p:txBody>
          <a:bodyPr/>
          <a:lstStyle/>
          <a:p>
            <a:r>
              <a:rPr lang="en-US" b="1" dirty="0"/>
              <a:t>Space Complexity</a:t>
            </a:r>
          </a:p>
        </p:txBody>
      </p:sp>
      <p:sp>
        <p:nvSpPr>
          <p:cNvPr id="3" name="Content Placeholder 2">
            <a:extLst>
              <a:ext uri="{FF2B5EF4-FFF2-40B4-BE49-F238E27FC236}">
                <a16:creationId xmlns:a16="http://schemas.microsoft.com/office/drawing/2014/main" id="{47F8DE11-CFA7-7143-891C-E41371CB187B}"/>
              </a:ext>
            </a:extLst>
          </p:cNvPr>
          <p:cNvSpPr>
            <a:spLocks noGrp="1"/>
          </p:cNvSpPr>
          <p:nvPr>
            <p:ph idx="1"/>
          </p:nvPr>
        </p:nvSpPr>
        <p:spPr/>
        <p:txBody>
          <a:bodyPr>
            <a:normAutofit/>
          </a:bodyPr>
          <a:lstStyle/>
          <a:p>
            <a:pPr marL="0" indent="0">
              <a:lnSpc>
                <a:spcPct val="100000"/>
              </a:lnSpc>
              <a:buNone/>
            </a:pPr>
            <a:r>
              <a:rPr lang="en-US" dirty="0"/>
              <a:t>Assume there are n reference points, 1 query point, and m features that you will use the k closest neighbors</a:t>
            </a:r>
            <a:br>
              <a:rPr lang="en-US" dirty="0"/>
            </a:br>
            <a:endParaRPr lang="en-US" dirty="0"/>
          </a:p>
          <a:p>
            <a:pPr marL="0" indent="0">
              <a:lnSpc>
                <a:spcPct val="100000"/>
              </a:lnSpc>
              <a:buNone/>
            </a:pPr>
            <a:r>
              <a:rPr lang="en-US" dirty="0"/>
              <a:t>The "training" step of KNN merely involves storing the n x m feature matrix and n-length label for the reference points.</a:t>
            </a:r>
          </a:p>
          <a:p>
            <a:pPr marL="0" indent="0">
              <a:lnSpc>
                <a:spcPct val="100000"/>
              </a:lnSpc>
              <a:buNone/>
            </a:pPr>
            <a:endParaRPr lang="en-US" dirty="0"/>
          </a:p>
          <a:p>
            <a:pPr marL="0" indent="0">
              <a:lnSpc>
                <a:spcPct val="100000"/>
              </a:lnSpc>
              <a:buNone/>
            </a:pPr>
            <a:r>
              <a:rPr lang="en-US" dirty="0"/>
              <a:t>Space complexity: O(nm + n) = O(nm)</a:t>
            </a:r>
            <a:br>
              <a:rPr lang="en-US" dirty="0"/>
            </a:br>
            <a:endParaRPr lang="en-US" dirty="0"/>
          </a:p>
          <a:p>
            <a:pPr>
              <a:lnSpc>
                <a:spcPct val="100000"/>
              </a:lnSpc>
            </a:pPr>
            <a:endParaRPr lang="en-US" dirty="0"/>
          </a:p>
          <a:p>
            <a:pPr>
              <a:lnSpc>
                <a:spcPct val="100000"/>
              </a:lnSpc>
            </a:pPr>
            <a:endParaRPr lang="en-US" dirty="0"/>
          </a:p>
        </p:txBody>
      </p:sp>
    </p:spTree>
    <p:extLst>
      <p:ext uri="{BB962C8B-B14F-4D97-AF65-F5344CB8AC3E}">
        <p14:creationId xmlns:p14="http://schemas.microsoft.com/office/powerpoint/2010/main" val="250178825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889A7D5-D5D4-49EF-9ADC-A69134CE3F67}"/>
              </a:ext>
            </a:extLst>
          </p:cNvPr>
          <p:cNvSpPr>
            <a:spLocks noGrp="1"/>
          </p:cNvSpPr>
          <p:nvPr>
            <p:ph type="title"/>
          </p:nvPr>
        </p:nvSpPr>
        <p:spPr/>
        <p:txBody>
          <a:bodyPr/>
          <a:lstStyle/>
          <a:p>
            <a:r>
              <a:rPr lang="en-US" b="1" dirty="0"/>
              <a:t>How do we choose k?</a:t>
            </a:r>
          </a:p>
        </p:txBody>
      </p:sp>
      <p:sp>
        <p:nvSpPr>
          <p:cNvPr id="6" name="Text Placeholder 5">
            <a:extLst>
              <a:ext uri="{FF2B5EF4-FFF2-40B4-BE49-F238E27FC236}">
                <a16:creationId xmlns:a16="http://schemas.microsoft.com/office/drawing/2014/main" id="{04E67FC2-AF0F-43A8-A526-B45D1150B6A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36516286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7AD5A9-EDD6-47A5-9D33-750FF566F5B4}"/>
              </a:ext>
            </a:extLst>
          </p:cNvPr>
          <p:cNvSpPr>
            <a:spLocks noGrp="1"/>
          </p:cNvSpPr>
          <p:nvPr>
            <p:ph type="title"/>
          </p:nvPr>
        </p:nvSpPr>
        <p:spPr/>
        <p:txBody>
          <a:bodyPr/>
          <a:lstStyle/>
          <a:p>
            <a:r>
              <a:rPr lang="en-US" b="1" dirty="0"/>
              <a:t>Choice of K</a:t>
            </a:r>
          </a:p>
        </p:txBody>
      </p:sp>
      <p:sp>
        <p:nvSpPr>
          <p:cNvPr id="5" name="Content Placeholder 4">
            <a:extLst>
              <a:ext uri="{FF2B5EF4-FFF2-40B4-BE49-F238E27FC236}">
                <a16:creationId xmlns:a16="http://schemas.microsoft.com/office/drawing/2014/main" id="{60E34660-8F6B-42FA-BA2A-EF073C546D73}"/>
              </a:ext>
            </a:extLst>
          </p:cNvPr>
          <p:cNvSpPr>
            <a:spLocks noGrp="1"/>
          </p:cNvSpPr>
          <p:nvPr>
            <p:ph idx="1"/>
          </p:nvPr>
        </p:nvSpPr>
        <p:spPr>
          <a:xfrm>
            <a:off x="214746" y="1800687"/>
            <a:ext cx="3700549" cy="4351338"/>
          </a:xfrm>
        </p:spPr>
        <p:txBody>
          <a:bodyPr>
            <a:normAutofit lnSpcReduction="10000"/>
          </a:bodyPr>
          <a:lstStyle/>
          <a:p>
            <a:pPr>
              <a:lnSpc>
                <a:spcPct val="100000"/>
              </a:lnSpc>
            </a:pPr>
            <a:r>
              <a:rPr lang="en-US" sz="2000" dirty="0"/>
              <a:t>Choosing the right k is about finding a good balance between overfitting and underfitting.</a:t>
            </a:r>
          </a:p>
          <a:p>
            <a:pPr>
              <a:lnSpc>
                <a:spcPct val="100000"/>
              </a:lnSpc>
            </a:pPr>
            <a:endParaRPr lang="en-US" sz="2000" dirty="0"/>
          </a:p>
          <a:p>
            <a:pPr>
              <a:lnSpc>
                <a:spcPct val="100000"/>
              </a:lnSpc>
            </a:pPr>
            <a:r>
              <a:rPr lang="en-US" sz="2000" dirty="0"/>
              <a:t>Note: k is a hyperparameter</a:t>
            </a:r>
          </a:p>
          <a:p>
            <a:pPr lvl="1">
              <a:lnSpc>
                <a:spcPct val="100000"/>
              </a:lnSpc>
            </a:pPr>
            <a:r>
              <a:rPr lang="en-US" sz="1600" dirty="0"/>
              <a:t>a hyperparameter is a setting in your model that you need to adjust (using cross-validation): model tuning, hyperparameter tuning</a:t>
            </a:r>
          </a:p>
          <a:p>
            <a:pPr lvl="1">
              <a:lnSpc>
                <a:spcPct val="100000"/>
              </a:lnSpc>
            </a:pPr>
            <a:r>
              <a:rPr lang="en-US" sz="1600" dirty="0"/>
              <a:t>parameters are what define a model (building blocks). The goal of model training is to find the parameters while fixing its hyperparameters.</a:t>
            </a:r>
          </a:p>
          <a:p>
            <a:pPr>
              <a:lnSpc>
                <a:spcPct val="100000"/>
              </a:lnSpc>
            </a:pPr>
            <a:endParaRPr lang="en-US" sz="2000" dirty="0"/>
          </a:p>
        </p:txBody>
      </p:sp>
      <p:pic>
        <p:nvPicPr>
          <p:cNvPr id="7" name="Picture 6" descr="Chart, map, scatter chart&#10;&#10;Description automatically generated">
            <a:extLst>
              <a:ext uri="{FF2B5EF4-FFF2-40B4-BE49-F238E27FC236}">
                <a16:creationId xmlns:a16="http://schemas.microsoft.com/office/drawing/2014/main" id="{EA06D146-553A-484C-83B8-B2F1633804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12736" y="1388225"/>
            <a:ext cx="7927942" cy="4875833"/>
          </a:xfrm>
          <a:prstGeom prst="rect">
            <a:avLst/>
          </a:prstGeom>
        </p:spPr>
      </p:pic>
    </p:spTree>
    <p:extLst>
      <p:ext uri="{BB962C8B-B14F-4D97-AF65-F5344CB8AC3E}">
        <p14:creationId xmlns:p14="http://schemas.microsoft.com/office/powerpoint/2010/main" val="261061894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7AD5A9-EDD6-47A5-9D33-750FF566F5B4}"/>
              </a:ext>
            </a:extLst>
          </p:cNvPr>
          <p:cNvSpPr>
            <a:spLocks noGrp="1"/>
          </p:cNvSpPr>
          <p:nvPr>
            <p:ph type="title"/>
          </p:nvPr>
        </p:nvSpPr>
        <p:spPr/>
        <p:txBody>
          <a:bodyPr/>
          <a:lstStyle/>
          <a:p>
            <a:r>
              <a:rPr lang="en-US" b="1" dirty="0"/>
              <a:t>Choice of K</a:t>
            </a:r>
          </a:p>
        </p:txBody>
      </p:sp>
      <p:sp>
        <p:nvSpPr>
          <p:cNvPr id="3" name="Content Placeholder 2">
            <a:extLst>
              <a:ext uri="{FF2B5EF4-FFF2-40B4-BE49-F238E27FC236}">
                <a16:creationId xmlns:a16="http://schemas.microsoft.com/office/drawing/2014/main" id="{835F7F0B-A54A-4DE6-9B7C-D33F89B01BCB}"/>
              </a:ext>
            </a:extLst>
          </p:cNvPr>
          <p:cNvSpPr>
            <a:spLocks noGrp="1"/>
          </p:cNvSpPr>
          <p:nvPr>
            <p:ph idx="1"/>
          </p:nvPr>
        </p:nvSpPr>
        <p:spPr/>
        <p:txBody>
          <a:bodyPr/>
          <a:lstStyle/>
          <a:p>
            <a:pPr>
              <a:lnSpc>
                <a:spcPct val="100000"/>
              </a:lnSpc>
            </a:pPr>
            <a:r>
              <a:rPr lang="en-US" dirty="0"/>
              <a:t>For very small values of k, the model can be sensitive to data noise, and thus can have high variance and can be prone to overfitting. </a:t>
            </a:r>
          </a:p>
          <a:p>
            <a:pPr>
              <a:lnSpc>
                <a:spcPct val="100000"/>
              </a:lnSpc>
            </a:pPr>
            <a:endParaRPr lang="en-US" dirty="0"/>
          </a:p>
          <a:p>
            <a:pPr>
              <a:lnSpc>
                <a:spcPct val="100000"/>
              </a:lnSpc>
            </a:pPr>
            <a:r>
              <a:rPr lang="en-US" dirty="0"/>
              <a:t>For very large values of k, the model considers far points as neighbors which will lead to a model with high errors, and thus high bias or underfitting.</a:t>
            </a:r>
          </a:p>
        </p:txBody>
      </p:sp>
    </p:spTree>
    <p:extLst>
      <p:ext uri="{BB962C8B-B14F-4D97-AF65-F5344CB8AC3E}">
        <p14:creationId xmlns:p14="http://schemas.microsoft.com/office/powerpoint/2010/main" val="214317587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320C3-AD42-48DC-BEE8-7B01C46ABF9A}"/>
              </a:ext>
            </a:extLst>
          </p:cNvPr>
          <p:cNvSpPr>
            <a:spLocks noGrp="1"/>
          </p:cNvSpPr>
          <p:nvPr>
            <p:ph type="title"/>
          </p:nvPr>
        </p:nvSpPr>
        <p:spPr/>
        <p:txBody>
          <a:bodyPr/>
          <a:lstStyle/>
          <a:p>
            <a:r>
              <a:rPr lang="en-US" b="1" dirty="0"/>
              <a:t>Choice of K : use k-fold cross validation</a:t>
            </a:r>
          </a:p>
        </p:txBody>
      </p:sp>
      <p:sp>
        <p:nvSpPr>
          <p:cNvPr id="7" name="Content Placeholder 6">
            <a:extLst>
              <a:ext uri="{FF2B5EF4-FFF2-40B4-BE49-F238E27FC236}">
                <a16:creationId xmlns:a16="http://schemas.microsoft.com/office/drawing/2014/main" id="{6846DB90-6024-4BC8-9C2B-8351DC22F42A}"/>
              </a:ext>
            </a:extLst>
          </p:cNvPr>
          <p:cNvSpPr>
            <a:spLocks noGrp="1"/>
          </p:cNvSpPr>
          <p:nvPr>
            <p:ph idx="1"/>
          </p:nvPr>
        </p:nvSpPr>
        <p:spPr/>
        <p:txBody>
          <a:bodyPr/>
          <a:lstStyle/>
          <a:p>
            <a:r>
              <a:rPr lang="en-US" dirty="0"/>
              <a:t>For each K, we compute the model’s response using cross validation.</a:t>
            </a:r>
          </a:p>
        </p:txBody>
      </p:sp>
      <p:pic>
        <p:nvPicPr>
          <p:cNvPr id="4" name="Content Placeholder 5">
            <a:extLst>
              <a:ext uri="{FF2B5EF4-FFF2-40B4-BE49-F238E27FC236}">
                <a16:creationId xmlns:a16="http://schemas.microsoft.com/office/drawing/2014/main" id="{32BD86B4-D833-4EF7-A116-F74F52B1784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25411" y="2479040"/>
            <a:ext cx="5181599" cy="3454400"/>
          </a:xfrm>
          <a:prstGeom prst="rect">
            <a:avLst/>
          </a:prstGeom>
        </p:spPr>
      </p:pic>
      <p:pic>
        <p:nvPicPr>
          <p:cNvPr id="5" name="Content Placeholder 14">
            <a:extLst>
              <a:ext uri="{FF2B5EF4-FFF2-40B4-BE49-F238E27FC236}">
                <a16:creationId xmlns:a16="http://schemas.microsoft.com/office/drawing/2014/main" id="{DF90E7B3-93AF-44FF-8FE9-7F1C51EB3893}"/>
              </a:ext>
            </a:extLst>
          </p:cNvPr>
          <p:cNvPicPr>
            <a:picLocks noChangeAspect="1"/>
          </p:cNvPicPr>
          <p:nvPr/>
        </p:nvPicPr>
        <p:blipFill>
          <a:blip r:embed="rId3"/>
          <a:stretch>
            <a:fillRect/>
          </a:stretch>
        </p:blipFill>
        <p:spPr>
          <a:xfrm>
            <a:off x="6019799" y="2729345"/>
            <a:ext cx="6022735" cy="3532909"/>
          </a:xfrm>
          <a:prstGeom prst="rect">
            <a:avLst/>
          </a:prstGeom>
        </p:spPr>
      </p:pic>
      <p:sp>
        <p:nvSpPr>
          <p:cNvPr id="6" name="TextBox 5">
            <a:extLst>
              <a:ext uri="{FF2B5EF4-FFF2-40B4-BE49-F238E27FC236}">
                <a16:creationId xmlns:a16="http://schemas.microsoft.com/office/drawing/2014/main" id="{2BA7F43C-0F7B-48EF-B98A-42B2F480C7E4}"/>
              </a:ext>
            </a:extLst>
          </p:cNvPr>
          <p:cNvSpPr txBox="1"/>
          <p:nvPr/>
        </p:nvSpPr>
        <p:spPr>
          <a:xfrm>
            <a:off x="1337310" y="4206240"/>
            <a:ext cx="2068830" cy="830997"/>
          </a:xfrm>
          <a:prstGeom prst="rect">
            <a:avLst/>
          </a:prstGeom>
          <a:noFill/>
        </p:spPr>
        <p:txBody>
          <a:bodyPr wrap="square" rtlCol="0">
            <a:spAutoFit/>
          </a:bodyPr>
          <a:lstStyle/>
          <a:p>
            <a:r>
              <a:rPr lang="en-US" sz="1600" dirty="0"/>
              <a:t>The best average accuracy was obtained for k=3</a:t>
            </a:r>
          </a:p>
        </p:txBody>
      </p:sp>
    </p:spTree>
    <p:extLst>
      <p:ext uri="{BB962C8B-B14F-4D97-AF65-F5344CB8AC3E}">
        <p14:creationId xmlns:p14="http://schemas.microsoft.com/office/powerpoint/2010/main" val="263453756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58EE130-D915-41BC-80EC-ED1719D383D5}"/>
              </a:ext>
            </a:extLst>
          </p:cNvPr>
          <p:cNvSpPr>
            <a:spLocks noGrp="1"/>
          </p:cNvSpPr>
          <p:nvPr>
            <p:ph type="title"/>
          </p:nvPr>
        </p:nvSpPr>
        <p:spPr/>
        <p:txBody>
          <a:bodyPr/>
          <a:lstStyle/>
          <a:p>
            <a:r>
              <a:rPr lang="en-US" b="1" dirty="0"/>
              <a:t>Importance of Scaling</a:t>
            </a:r>
          </a:p>
        </p:txBody>
      </p:sp>
      <p:sp>
        <p:nvSpPr>
          <p:cNvPr id="5" name="Text Placeholder 4">
            <a:extLst>
              <a:ext uri="{FF2B5EF4-FFF2-40B4-BE49-F238E27FC236}">
                <a16:creationId xmlns:a16="http://schemas.microsoft.com/office/drawing/2014/main" id="{F8F414B1-A552-4092-B1FC-72C06AED1B2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65373651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71584-2C1F-B742-BD81-4B8D4C02B320}"/>
              </a:ext>
            </a:extLst>
          </p:cNvPr>
          <p:cNvSpPr>
            <a:spLocks noGrp="1"/>
          </p:cNvSpPr>
          <p:nvPr>
            <p:ph type="title"/>
          </p:nvPr>
        </p:nvSpPr>
        <p:spPr/>
        <p:txBody>
          <a:bodyPr/>
          <a:lstStyle/>
          <a:p>
            <a:r>
              <a:rPr lang="en-US" b="1" dirty="0"/>
              <a:t>Feature Scaling </a:t>
            </a:r>
          </a:p>
        </p:txBody>
      </p:sp>
      <p:pic>
        <p:nvPicPr>
          <p:cNvPr id="10" name="Content Placeholder 9" descr="Chart, scatter chart&#10;&#10;Description automatically generated">
            <a:extLst>
              <a:ext uri="{FF2B5EF4-FFF2-40B4-BE49-F238E27FC236}">
                <a16:creationId xmlns:a16="http://schemas.microsoft.com/office/drawing/2014/main" id="{B8C8B387-6801-4793-936D-7CCA22CAD3E0}"/>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838200" y="2274094"/>
            <a:ext cx="5181600" cy="3454400"/>
          </a:xfrm>
        </p:spPr>
      </p:pic>
      <p:pic>
        <p:nvPicPr>
          <p:cNvPr id="12" name="Content Placeholder 11" descr="Map&#10;&#10;Description automatically generated">
            <a:extLst>
              <a:ext uri="{FF2B5EF4-FFF2-40B4-BE49-F238E27FC236}">
                <a16:creationId xmlns:a16="http://schemas.microsoft.com/office/drawing/2014/main" id="{6B52C826-9C72-46A6-82B0-4AE5EEAD5046}"/>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2274094"/>
            <a:ext cx="5181600" cy="3454400"/>
          </a:xfrm>
        </p:spPr>
      </p:pic>
      <p:pic>
        <p:nvPicPr>
          <p:cNvPr id="16" name="Picture 15" descr="Chart, scatter chart&#10;&#10;Description automatically generated">
            <a:extLst>
              <a:ext uri="{FF2B5EF4-FFF2-40B4-BE49-F238E27FC236}">
                <a16:creationId xmlns:a16="http://schemas.microsoft.com/office/drawing/2014/main" id="{9023D7FC-BBDE-4D61-9294-B46DC427C02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45730" y="-153425"/>
            <a:ext cx="3848793" cy="2565862"/>
          </a:xfrm>
          <a:prstGeom prst="rect">
            <a:avLst/>
          </a:prstGeom>
        </p:spPr>
      </p:pic>
      <p:sp>
        <p:nvSpPr>
          <p:cNvPr id="17" name="TextBox 16">
            <a:extLst>
              <a:ext uri="{FF2B5EF4-FFF2-40B4-BE49-F238E27FC236}">
                <a16:creationId xmlns:a16="http://schemas.microsoft.com/office/drawing/2014/main" id="{CBB968C2-812F-4F9D-AC25-28E579E172D7}"/>
              </a:ext>
            </a:extLst>
          </p:cNvPr>
          <p:cNvSpPr txBox="1"/>
          <p:nvPr/>
        </p:nvSpPr>
        <p:spPr>
          <a:xfrm>
            <a:off x="8121535" y="5952619"/>
            <a:ext cx="3053542" cy="369332"/>
          </a:xfrm>
          <a:prstGeom prst="rect">
            <a:avLst/>
          </a:prstGeom>
          <a:noFill/>
        </p:spPr>
        <p:txBody>
          <a:bodyPr wrap="square" rtlCol="0">
            <a:spAutoFit/>
          </a:bodyPr>
          <a:lstStyle/>
          <a:p>
            <a:r>
              <a:rPr lang="en-US" dirty="0"/>
              <a:t>After Scaling</a:t>
            </a:r>
          </a:p>
        </p:txBody>
      </p:sp>
      <p:sp>
        <p:nvSpPr>
          <p:cNvPr id="18" name="TextBox 17">
            <a:extLst>
              <a:ext uri="{FF2B5EF4-FFF2-40B4-BE49-F238E27FC236}">
                <a16:creationId xmlns:a16="http://schemas.microsoft.com/office/drawing/2014/main" id="{4E80413F-514B-45A6-BC60-8B3673551339}"/>
              </a:ext>
            </a:extLst>
          </p:cNvPr>
          <p:cNvSpPr txBox="1"/>
          <p:nvPr/>
        </p:nvSpPr>
        <p:spPr>
          <a:xfrm>
            <a:off x="2902528" y="5952619"/>
            <a:ext cx="3117272" cy="369332"/>
          </a:xfrm>
          <a:prstGeom prst="rect">
            <a:avLst/>
          </a:prstGeom>
          <a:noFill/>
        </p:spPr>
        <p:txBody>
          <a:bodyPr wrap="square" rtlCol="0">
            <a:spAutoFit/>
          </a:bodyPr>
          <a:lstStyle/>
          <a:p>
            <a:r>
              <a:rPr lang="en-US" dirty="0"/>
              <a:t>No Scaling</a:t>
            </a:r>
          </a:p>
        </p:txBody>
      </p:sp>
    </p:spTree>
    <p:extLst>
      <p:ext uri="{BB962C8B-B14F-4D97-AF65-F5344CB8AC3E}">
        <p14:creationId xmlns:p14="http://schemas.microsoft.com/office/powerpoint/2010/main" val="96508183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55C9619-7C8B-4A78-BE04-FB038255C916}"/>
              </a:ext>
            </a:extLst>
          </p:cNvPr>
          <p:cNvSpPr>
            <a:spLocks noGrp="1"/>
          </p:cNvSpPr>
          <p:nvPr>
            <p:ph type="title"/>
          </p:nvPr>
        </p:nvSpPr>
        <p:spPr/>
        <p:txBody>
          <a:bodyPr/>
          <a:lstStyle/>
          <a:p>
            <a:r>
              <a:rPr lang="en-US" b="1" dirty="0"/>
              <a:t>Feature Scaling</a:t>
            </a:r>
          </a:p>
        </p:txBody>
      </p:sp>
      <p:sp>
        <p:nvSpPr>
          <p:cNvPr id="6" name="Content Placeholder 5">
            <a:extLst>
              <a:ext uri="{FF2B5EF4-FFF2-40B4-BE49-F238E27FC236}">
                <a16:creationId xmlns:a16="http://schemas.microsoft.com/office/drawing/2014/main" id="{08CE25DF-FFB7-4F73-AF8A-06A843EBB6E2}"/>
              </a:ext>
            </a:extLst>
          </p:cNvPr>
          <p:cNvSpPr>
            <a:spLocks noGrp="1"/>
          </p:cNvSpPr>
          <p:nvPr>
            <p:ph idx="1"/>
          </p:nvPr>
        </p:nvSpPr>
        <p:spPr/>
        <p:txBody>
          <a:bodyPr>
            <a:normAutofit/>
          </a:bodyPr>
          <a:lstStyle/>
          <a:p>
            <a:pPr>
              <a:lnSpc>
                <a:spcPct val="100000"/>
              </a:lnSpc>
            </a:pPr>
            <a:r>
              <a:rPr lang="en-US" sz="2400" dirty="0"/>
              <a:t>If one feature has much bigger range of values than others, this feature will end up contributing to the total distance more than the other features. </a:t>
            </a:r>
          </a:p>
          <a:p>
            <a:pPr>
              <a:lnSpc>
                <a:spcPct val="100000"/>
              </a:lnSpc>
            </a:pPr>
            <a:r>
              <a:rPr lang="en-US" sz="2400" dirty="0"/>
              <a:t>Euclidean distance squares the difference between the values of features, so that variations in the values of the features with greater range of values will be magnified more than those of other features.</a:t>
            </a:r>
          </a:p>
          <a:p>
            <a:pPr>
              <a:lnSpc>
                <a:spcPct val="100000"/>
              </a:lnSpc>
            </a:pPr>
            <a:r>
              <a:rPr lang="en-US" sz="2400" dirty="0"/>
              <a:t>This means that small variations in the feature with greater range of values will have more effect on the distance than the large variations in other features. The model will end up choosing the wrong neighbors.</a:t>
            </a:r>
          </a:p>
        </p:txBody>
      </p:sp>
    </p:spTree>
    <p:extLst>
      <p:ext uri="{BB962C8B-B14F-4D97-AF65-F5344CB8AC3E}">
        <p14:creationId xmlns:p14="http://schemas.microsoft.com/office/powerpoint/2010/main" val="369341066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4BEDA82-4433-47A7-8997-AFE3E9CA1267}"/>
              </a:ext>
            </a:extLst>
          </p:cNvPr>
          <p:cNvSpPr>
            <a:spLocks noGrp="1"/>
          </p:cNvSpPr>
          <p:nvPr>
            <p:ph type="title"/>
          </p:nvPr>
        </p:nvSpPr>
        <p:spPr/>
        <p:txBody>
          <a:bodyPr/>
          <a:lstStyle/>
          <a:p>
            <a:r>
              <a:rPr lang="en-US" b="1" dirty="0"/>
              <a:t>KNN Advantages &amp; Limitations</a:t>
            </a:r>
          </a:p>
        </p:txBody>
      </p:sp>
      <p:sp>
        <p:nvSpPr>
          <p:cNvPr id="8" name="Text Placeholder 7">
            <a:extLst>
              <a:ext uri="{FF2B5EF4-FFF2-40B4-BE49-F238E27FC236}">
                <a16:creationId xmlns:a16="http://schemas.microsoft.com/office/drawing/2014/main" id="{9AC67819-2032-46E5-943B-D8D6E2AAAC2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04760485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DB1DD9D-5BB6-46D3-9961-CA950DDA77C6}"/>
              </a:ext>
            </a:extLst>
          </p:cNvPr>
          <p:cNvSpPr>
            <a:spLocks noGrp="1"/>
          </p:cNvSpPr>
          <p:nvPr>
            <p:ph type="title"/>
          </p:nvPr>
        </p:nvSpPr>
        <p:spPr/>
        <p:txBody>
          <a:bodyPr/>
          <a:lstStyle/>
          <a:p>
            <a:r>
              <a:rPr lang="en-US" b="1" dirty="0"/>
              <a:t>KNN Advantages</a:t>
            </a:r>
          </a:p>
        </p:txBody>
      </p:sp>
      <p:sp>
        <p:nvSpPr>
          <p:cNvPr id="5" name="Content Placeholder 4">
            <a:extLst>
              <a:ext uri="{FF2B5EF4-FFF2-40B4-BE49-F238E27FC236}">
                <a16:creationId xmlns:a16="http://schemas.microsoft.com/office/drawing/2014/main" id="{3B358B2F-2987-4B64-A9AA-7F7F15AF510F}"/>
              </a:ext>
            </a:extLst>
          </p:cNvPr>
          <p:cNvSpPr>
            <a:spLocks noGrp="1"/>
          </p:cNvSpPr>
          <p:nvPr>
            <p:ph idx="1"/>
          </p:nvPr>
        </p:nvSpPr>
        <p:spPr/>
        <p:txBody>
          <a:bodyPr>
            <a:normAutofit fontScale="70000" lnSpcReduction="20000"/>
          </a:bodyPr>
          <a:lstStyle/>
          <a:p>
            <a:pPr>
              <a:lnSpc>
                <a:spcPct val="110000"/>
              </a:lnSpc>
            </a:pPr>
            <a:r>
              <a:rPr lang="en-US" b="1" dirty="0"/>
              <a:t>Simple model</a:t>
            </a:r>
            <a:r>
              <a:rPr lang="en-US" dirty="0"/>
              <a:t>: The model has no training step and the prediction phase of the algorithm is easy to implement. The model requires few hyperparameters: choice of k and distance metric. </a:t>
            </a:r>
          </a:p>
          <a:p>
            <a:pPr>
              <a:lnSpc>
                <a:spcPct val="110000"/>
              </a:lnSpc>
            </a:pPr>
            <a:r>
              <a:rPr lang="en-US" b="1" dirty="0"/>
              <a:t>Non-linear model</a:t>
            </a:r>
            <a:r>
              <a:rPr lang="en-US" dirty="0"/>
              <a:t>: The model does not assume any specific functional form, which results in more flexible decision boundaries (classification) or model’s response (regression) than those of linear models.</a:t>
            </a:r>
          </a:p>
          <a:p>
            <a:pPr>
              <a:lnSpc>
                <a:spcPct val="110000"/>
              </a:lnSpc>
            </a:pPr>
            <a:r>
              <a:rPr lang="en-US" b="1" dirty="0"/>
              <a:t>Adapts easily to new training samples</a:t>
            </a:r>
            <a:r>
              <a:rPr lang="en-US" dirty="0"/>
              <a:t>: Since the training sample is the model itself, the model adjusts easily to new training samples. The new samples needs to be added to the old training samples and both stored in memory.</a:t>
            </a:r>
          </a:p>
          <a:p>
            <a:pPr>
              <a:lnSpc>
                <a:spcPct val="110000"/>
              </a:lnSpc>
            </a:pPr>
            <a:r>
              <a:rPr lang="en-US" b="1" dirty="0"/>
              <a:t>Extends easily to multi-class problem</a:t>
            </a:r>
            <a:r>
              <a:rPr lang="en-US" dirty="0"/>
              <a:t>: The prediction algorithm of KNN works no matter how any classes to classify, it does not only work for binary classification. When predicting the label of a query point, we choose the majority vote label from its nearest neighbors.</a:t>
            </a:r>
          </a:p>
        </p:txBody>
      </p:sp>
    </p:spTree>
    <p:extLst>
      <p:ext uri="{BB962C8B-B14F-4D97-AF65-F5344CB8AC3E}">
        <p14:creationId xmlns:p14="http://schemas.microsoft.com/office/powerpoint/2010/main" val="398907115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E74A2-FFBF-4363-A1E1-C4492A4B1D7B}"/>
              </a:ext>
            </a:extLst>
          </p:cNvPr>
          <p:cNvSpPr>
            <a:spLocks noGrp="1"/>
          </p:cNvSpPr>
          <p:nvPr>
            <p:ph type="title"/>
          </p:nvPr>
        </p:nvSpPr>
        <p:spPr/>
        <p:txBody>
          <a:bodyPr/>
          <a:lstStyle/>
          <a:p>
            <a:r>
              <a:rPr lang="en-US" b="1" dirty="0"/>
              <a:t>KNN Disadvantages</a:t>
            </a:r>
          </a:p>
        </p:txBody>
      </p:sp>
      <p:sp>
        <p:nvSpPr>
          <p:cNvPr id="3" name="Content Placeholder 2">
            <a:extLst>
              <a:ext uri="{FF2B5EF4-FFF2-40B4-BE49-F238E27FC236}">
                <a16:creationId xmlns:a16="http://schemas.microsoft.com/office/drawing/2014/main" id="{DE468D40-FFBB-445D-B673-38CFC1896917}"/>
              </a:ext>
            </a:extLst>
          </p:cNvPr>
          <p:cNvSpPr>
            <a:spLocks noGrp="1"/>
          </p:cNvSpPr>
          <p:nvPr>
            <p:ph idx="1"/>
          </p:nvPr>
        </p:nvSpPr>
        <p:spPr/>
        <p:txBody>
          <a:bodyPr>
            <a:normAutofit fontScale="70000" lnSpcReduction="20000"/>
          </a:bodyPr>
          <a:lstStyle/>
          <a:p>
            <a:pPr>
              <a:lnSpc>
                <a:spcPct val="120000"/>
              </a:lnSpc>
            </a:pPr>
            <a:r>
              <a:rPr lang="en-US" b="1" dirty="0"/>
              <a:t>Memory and computation costly</a:t>
            </a:r>
            <a:r>
              <a:rPr lang="en-US" dirty="0"/>
              <a:t>: Since KNN is a lazy learning, the training data needs to be entirely stored, which might not be efficient from memory and storage perspective. Moreover, the prediction run time is slower than many other models.</a:t>
            </a:r>
          </a:p>
          <a:p>
            <a:pPr>
              <a:lnSpc>
                <a:spcPct val="120000"/>
              </a:lnSpc>
            </a:pPr>
            <a:r>
              <a:rPr lang="en-US" b="1" dirty="0"/>
              <a:t>Curse of dimensionality: </a:t>
            </a:r>
            <a:r>
              <a:rPr lang="en-US" dirty="0"/>
              <a:t>In high-dimensional feature space, the data points become more sparse or scattered (especially if we don’t have lots of training samples), so that the nearest points to a given query point might be too far.</a:t>
            </a:r>
          </a:p>
          <a:p>
            <a:pPr>
              <a:lnSpc>
                <a:spcPct val="120000"/>
              </a:lnSpc>
            </a:pPr>
            <a:r>
              <a:rPr lang="en-US" b="1" dirty="0"/>
              <a:t>Sensitive to feature scaling</a:t>
            </a:r>
            <a:r>
              <a:rPr lang="en-US" dirty="0"/>
              <a:t>: The performance of KNN is also affected if features have different scales, this is why it is important to make sure that features are scaled before applying KNN algorithm.</a:t>
            </a:r>
          </a:p>
          <a:p>
            <a:pPr>
              <a:lnSpc>
                <a:spcPct val="120000"/>
              </a:lnSpc>
            </a:pPr>
            <a:r>
              <a:rPr lang="en-US" b="1" dirty="0"/>
              <a:t>Interpretability</a:t>
            </a:r>
            <a:r>
              <a:rPr lang="en-US" dirty="0"/>
              <a:t>: Linear models are considered interpretable model because the weights can give us insight into the contribution of each feature to the model. However, KNN is not able to do this. When computing the distance between two data points, all features are considered</a:t>
            </a:r>
          </a:p>
        </p:txBody>
      </p:sp>
    </p:spTree>
    <p:extLst>
      <p:ext uri="{BB962C8B-B14F-4D97-AF65-F5344CB8AC3E}">
        <p14:creationId xmlns:p14="http://schemas.microsoft.com/office/powerpoint/2010/main" val="22034293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40862</TotalTime>
  <Words>3065</Words>
  <Application>Microsoft Macintosh PowerPoint</Application>
  <PresentationFormat>Widescreen</PresentationFormat>
  <Paragraphs>466</Paragraphs>
  <Slides>68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68</vt:i4>
      </vt:variant>
    </vt:vector>
  </HeadingPairs>
  <TitlesOfParts>
    <vt:vector size="74" baseType="lpstr">
      <vt:lpstr>Arial</vt:lpstr>
      <vt:lpstr>Calibri</vt:lpstr>
      <vt:lpstr>Calibri Light</vt:lpstr>
      <vt:lpstr>Cambria Math</vt:lpstr>
      <vt:lpstr>Courier New</vt:lpstr>
      <vt:lpstr>Office Theme</vt:lpstr>
      <vt:lpstr>Bias, Variance, and K-Nearest Neighbors</vt:lpstr>
      <vt:lpstr>Overview</vt:lpstr>
      <vt:lpstr>No-Free-Lunch theorem</vt:lpstr>
      <vt:lpstr>Model Evaluation</vt:lpstr>
      <vt:lpstr>Model Evaluation</vt:lpstr>
      <vt:lpstr>Evaluation Metrics (you may have used)</vt:lpstr>
      <vt:lpstr>Model Evaluation</vt:lpstr>
      <vt:lpstr>Model Evaluation – Final Model</vt:lpstr>
      <vt:lpstr>Train-Test Data Splitting</vt:lpstr>
      <vt:lpstr>Train-Test Data Splitting</vt:lpstr>
      <vt:lpstr>Model Evaluation – Is train-test splitting enough?</vt:lpstr>
      <vt:lpstr>Validation Set</vt:lpstr>
      <vt:lpstr>Validation Set</vt:lpstr>
      <vt:lpstr>Validation Set – K-fold cross-validation</vt:lpstr>
      <vt:lpstr>Underfitting, Overfitting</vt:lpstr>
      <vt:lpstr>Model Evaluation</vt:lpstr>
      <vt:lpstr>Possible Scenarios</vt:lpstr>
      <vt:lpstr>Possible Scenarios</vt:lpstr>
      <vt:lpstr>Possible Scenarios</vt:lpstr>
      <vt:lpstr>Bias</vt:lpstr>
      <vt:lpstr>Variance</vt:lpstr>
      <vt:lpstr>How do we know if a given trained model is underfit or overfit?</vt:lpstr>
      <vt:lpstr>Bias-Variance Tradeoff</vt:lpstr>
      <vt:lpstr>Bias-Variance Tradeoff</vt:lpstr>
      <vt:lpstr>What is KNN?  Who is KNN?  Where is KNN?</vt:lpstr>
      <vt:lpstr>K-Nearest Neighbors (KNN)</vt:lpstr>
      <vt:lpstr>KNN</vt:lpstr>
      <vt:lpstr>KNN</vt:lpstr>
      <vt:lpstr>KNN</vt:lpstr>
      <vt:lpstr>KNN</vt:lpstr>
      <vt:lpstr>KNN Overview</vt:lpstr>
      <vt:lpstr>KNN Overview</vt:lpstr>
      <vt:lpstr>Training Phase </vt:lpstr>
      <vt:lpstr>Training Phase of KNN</vt:lpstr>
      <vt:lpstr>What are the parameters of KNN? </vt:lpstr>
      <vt:lpstr>Prediction phase of KNN</vt:lpstr>
      <vt:lpstr>Terminology</vt:lpstr>
      <vt:lpstr>KNN Algorithm Flowchart</vt:lpstr>
      <vt:lpstr>Step 1: Calculate Distances</vt:lpstr>
      <vt:lpstr>Step 1: Calculate Distances</vt:lpstr>
      <vt:lpstr>Step 1: Calculate Distances</vt:lpstr>
      <vt:lpstr>Step 1: Calculate Distances</vt:lpstr>
      <vt:lpstr>Step 2: Sort by Distance</vt:lpstr>
      <vt:lpstr>Step 2: Sort by Distance</vt:lpstr>
      <vt:lpstr>Step 3: Find the k-closest neighbors</vt:lpstr>
      <vt:lpstr>Step 3: Find the k-closest neighbors</vt:lpstr>
      <vt:lpstr>Step 3: Find the k-closest neighbors</vt:lpstr>
      <vt:lpstr>Step 4: Grab Labels for Neighbors</vt:lpstr>
      <vt:lpstr>Step 4: Grab Labels for Neighbors</vt:lpstr>
      <vt:lpstr>Step 4: Grab Labels for Neighbors</vt:lpstr>
      <vt:lpstr>Step 4: Grab Labels for Neighbors</vt:lpstr>
      <vt:lpstr>Step 5: Aggregate the Output Values</vt:lpstr>
      <vt:lpstr>Step 5: Aggregate the Output Values</vt:lpstr>
      <vt:lpstr>Step 5: Aggregate the Output Values</vt:lpstr>
      <vt:lpstr>Run time and Space Complexity</vt:lpstr>
      <vt:lpstr>Run Time Complexity</vt:lpstr>
      <vt:lpstr>Run Time Complexity</vt:lpstr>
      <vt:lpstr>Space Complexity</vt:lpstr>
      <vt:lpstr>How do we choose k?</vt:lpstr>
      <vt:lpstr>Choice of K</vt:lpstr>
      <vt:lpstr>Choice of K</vt:lpstr>
      <vt:lpstr>Choice of K : use k-fold cross validation</vt:lpstr>
      <vt:lpstr>Importance of Scaling</vt:lpstr>
      <vt:lpstr>Feature Scaling </vt:lpstr>
      <vt:lpstr>Feature Scaling</vt:lpstr>
      <vt:lpstr>KNN Advantages &amp; Limitations</vt:lpstr>
      <vt:lpstr>KNN Advantages</vt:lpstr>
      <vt:lpstr>KNN Disadvantages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CS4981 Data Science</dc:title>
  <dc:creator>Nowling, RJ</dc:creator>
  <cp:lastModifiedBy>Bukowy, John</cp:lastModifiedBy>
  <cp:revision>343</cp:revision>
  <dcterms:created xsi:type="dcterms:W3CDTF">2018-08-24T15:44:19Z</dcterms:created>
  <dcterms:modified xsi:type="dcterms:W3CDTF">2024-02-04T16:45:32Z</dcterms:modified>
</cp:coreProperties>
</file>