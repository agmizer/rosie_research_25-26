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8" r:id="rId3"/>
    <p:sldId id="259" r:id="rId4"/>
    <p:sldId id="670" r:id="rId5"/>
    <p:sldId id="671" r:id="rId6"/>
    <p:sldId id="672" r:id="rId7"/>
    <p:sldId id="673" r:id="rId8"/>
    <p:sldId id="674" r:id="rId9"/>
    <p:sldId id="684" r:id="rId10"/>
    <p:sldId id="265" r:id="rId11"/>
    <p:sldId id="261" r:id="rId12"/>
    <p:sldId id="663" r:id="rId13"/>
    <p:sldId id="664" r:id="rId14"/>
    <p:sldId id="662" r:id="rId15"/>
    <p:sldId id="665" r:id="rId16"/>
    <p:sldId id="657" r:id="rId17"/>
    <p:sldId id="653" r:id="rId18"/>
    <p:sldId id="675" r:id="rId19"/>
    <p:sldId id="690" r:id="rId20"/>
    <p:sldId id="691" r:id="rId21"/>
    <p:sldId id="689" r:id="rId22"/>
    <p:sldId id="692" r:id="rId23"/>
    <p:sldId id="693" r:id="rId24"/>
    <p:sldId id="694" r:id="rId25"/>
    <p:sldId id="676" r:id="rId26"/>
    <p:sldId id="272" r:id="rId27"/>
    <p:sldId id="686" r:id="rId28"/>
    <p:sldId id="685" r:id="rId29"/>
    <p:sldId id="688" r:id="rId30"/>
    <p:sldId id="687" r:id="rId31"/>
    <p:sldId id="683" r:id="rId32"/>
    <p:sldId id="268" r:id="rId33"/>
    <p:sldId id="269" r:id="rId34"/>
    <p:sldId id="270" r:id="rId35"/>
    <p:sldId id="682" r:id="rId36"/>
    <p:sldId id="655" r:id="rId37"/>
    <p:sldId id="666" r:id="rId38"/>
    <p:sldId id="66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7201B3-772C-4B3A-850E-4A534ED22FA3}" v="71" dt="2022-10-25T05:23:23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93"/>
    <p:restoredTop sz="94694"/>
  </p:normalViewPr>
  <p:slideViewPr>
    <p:cSldViewPr snapToGrid="0" snapToObjects="1">
      <p:cViewPr varScale="1">
        <p:scale>
          <a:sx n="90" d="100"/>
          <a:sy n="90" d="100"/>
        </p:scale>
        <p:origin x="216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9AA50A-8BD0-48B7-A06D-FFB80BF7CF61}" type="datetimeFigureOut">
              <a:rPr lang="en-US" smtClean="0"/>
              <a:t>11/11/24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9D2989-AFC1-4CE5-AD36-15A8CCAD1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2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D2989-AFC1-4CE5-AD36-15A8CCAD16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6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5F7E-8F7B-0EE1-4541-60DDA98A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BF91B-E70D-9A7F-218F-8D056A2E2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5BC90-A7E0-0CFB-BA7E-AFECB6DE1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B1DF9-162C-3643-E2BA-56677C7CE9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D2989-AFC1-4CE5-AD36-15A8CCAD16C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94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6AEA-7916-ECB5-3EE6-B4DC4C066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C3A9D-2606-E3E0-3143-78162656A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D18AF-322A-59E9-5C00-FCC002F36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D6BD6-18CA-36E2-8D21-221CF8C42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D2989-AFC1-4CE5-AD36-15A8CCAD16C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15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D2989-AFC1-4CE5-AD36-15A8CCAD16C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33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5E78A-5784-FDDC-AB19-8A39A48D3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C2901-E6CF-4A19-A42C-28F899A35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7B6BEC-8501-A577-C1AA-175853EE7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5CBF2-D561-E3C6-18D6-87CEA63D2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D2989-AFC1-4CE5-AD36-15A8CCAD16C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54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CE329-30D8-0071-0F8F-6A319B22E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15313-82EA-17DD-3C4E-B7200BBBD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48A4C-A0F8-0AB0-BCF2-4D26A299E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309E4-CA12-59F5-FE2C-AD60FFCF7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D2989-AFC1-4CE5-AD36-15A8CCAD16C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05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D2989-AFC1-4CE5-AD36-15A8CCAD16C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37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CD8F-B950-7349-8F39-B02D9D466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A1DB6B-5622-7F46-96E4-530AD0F2A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C67CF-DD2E-E44C-B767-5765A291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08E70-1A44-774F-AFFE-AA086C9F5DD2}" type="datetimeFigureOut">
              <a:rPr lang="en-US" smtClean="0"/>
              <a:t>11/11/24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69679-9654-6145-AC41-83219DED5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E71B4-297D-CB4C-91FF-BBA4A0C2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35125-3B0B-B648-94EA-0F1795DC7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36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1EDA-38C7-014C-B281-69F3A7A0A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F2DC6-42D4-7541-8AA5-1D49016E5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3918B-FD7B-9F42-A5FA-FC3311E9C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08E70-1A44-774F-AFFE-AA086C9F5DD2}" type="datetimeFigureOut">
              <a:rPr lang="en-US" smtClean="0"/>
              <a:t>11/11/24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11617-47BB-F246-A151-73ACA2CF4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341DB-F816-AA4F-B110-3D0E08468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35125-3B0B-B648-94EA-0F1795DC7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589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C0153-3F0D-A24B-9875-A84EAC06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D0600-DC3C-A842-8440-E64B0816C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D615F-F153-CE41-B8DB-F4CA88440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08E70-1A44-774F-AFFE-AA086C9F5DD2}" type="datetimeFigureOut">
              <a:rPr lang="en-US" smtClean="0"/>
              <a:t>11/11/24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F0110-549E-2B4F-B404-1355693B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4857E-FD56-F04F-A531-605A1DC8E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35125-3B0B-B648-94EA-0F1795DC7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23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4774-7C1E-B44E-9DD4-2A3F7EB84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B96F4-1DD6-5449-93CE-123247D6D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F73B6-D81D-8740-BCFF-D2213ABB6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1C32C-C488-774C-93A8-D792ECDFB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08E70-1A44-774F-AFFE-AA086C9F5DD2}" type="datetimeFigureOut">
              <a:rPr lang="en-US" smtClean="0"/>
              <a:t>11/11/24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CEB6A-3BA5-E049-8F0B-6890FF621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EC903-FCC0-1D48-A3C9-917441116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35125-3B0B-B648-94EA-0F1795DC7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10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39E5-4BAD-0347-9855-1E0E32442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9EA2B-B579-9E42-92DF-FBC923ECC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A94BE-8972-2F4F-A2A8-712CADFA2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C40789-A6FF-2546-8FCF-8AFEAA70B8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0B0FD-F353-DA4A-AC9A-A3256EA44A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E55E37-F009-3F4B-8E4E-12CE355F0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08E70-1A44-774F-AFFE-AA086C9F5DD2}" type="datetimeFigureOut">
              <a:rPr lang="en-US" smtClean="0"/>
              <a:t>11/11/24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3A52F-D7E8-2847-8A9E-B48C83A3F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C96C9-1E1A-6E43-83E8-3A7E1593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35125-3B0B-B648-94EA-0F1795DC7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005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40D0B-E399-6A4A-B77B-9F06D6BC6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791EA-8EA8-BA4E-8629-C1CDDFBD8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08E70-1A44-774F-AFFE-AA086C9F5DD2}" type="datetimeFigureOut">
              <a:rPr lang="en-US" smtClean="0"/>
              <a:t>11/11/24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E5B89-A669-BA43-A213-0D8F65EC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CEBE4-58FD-6D41-A741-3AE8FFAD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35125-3B0B-B648-94EA-0F1795DC7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21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B3191-51BE-A041-8891-62065BFF4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08E70-1A44-774F-AFFE-AA086C9F5DD2}" type="datetimeFigureOut">
              <a:rPr lang="en-US" smtClean="0"/>
              <a:t>11/11/24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57F4EB-A47B-354D-8A15-64CDD46E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DECC1-BCC8-F946-BE7F-06646D53E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35125-3B0B-B648-94EA-0F1795DC7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29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4F82-F3A0-E145-9366-7B973E4B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29DED-4111-8F44-ADBE-49FCA37B4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E7F28D-8F69-2C4F-8A8F-16F1A5075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0DE77-772C-6E48-8B91-6403B7D09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08E70-1A44-774F-AFFE-AA086C9F5DD2}" type="datetimeFigureOut">
              <a:rPr lang="en-US" smtClean="0"/>
              <a:t>11/11/24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A8442-102D-BA45-B2E8-CCDDB7E40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B0427-DFF3-4A43-98C7-B91BC7E8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35125-3B0B-B648-94EA-0F1795DC7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0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C081B-2F51-6246-9D91-10B40C0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3E2303-6576-F645-BEC4-AF5345A502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94AAE-E08E-0E46-A97D-65F190A4F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6D41D-1B7D-634E-A018-D32605E8E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08E70-1A44-774F-AFFE-AA086C9F5DD2}" type="datetimeFigureOut">
              <a:rPr lang="en-US" smtClean="0"/>
              <a:t>11/11/24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5D263-F70B-8A48-BB27-541A76F5B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85202-3DF6-6D4C-9DE0-233C97D6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35125-3B0B-B648-94EA-0F1795DC7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64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0DD55-ED8B-944C-A34A-FBE0405E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93AEF-01EC-0B40-891A-49C5342CE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26D5F-67C0-5049-BC6B-36B36DEA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08E70-1A44-774F-AFFE-AA086C9F5DD2}" type="datetimeFigureOut">
              <a:rPr lang="en-US" smtClean="0"/>
              <a:t>11/11/24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8B8E0-414B-1D45-963A-A974BBADC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19BD7-8A65-C647-891F-7EC28E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35125-3B0B-B648-94EA-0F1795DC7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6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DF1648-00E1-3C40-B4E9-88D7EF1FB5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3EB3E-3300-4848-A8FE-1A360BC77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14113-AE66-C848-8785-AABF1A3E1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08E70-1A44-774F-AFFE-AA086C9F5DD2}" type="datetimeFigureOut">
              <a:rPr lang="en-US" smtClean="0"/>
              <a:t>11/11/24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FE93D-6CFB-2740-A463-DF474504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F1E01-7FEE-8547-8BF0-20AEA24A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35125-3B0B-B648-94EA-0F1795DC7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76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6A50AB-57B6-E744-85EA-6D0A19DC5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AFF88-4C45-FE4B-A410-5ADC7085B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A196B-F302-D94C-B173-02056425F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08E70-1A44-774F-AFFE-AA086C9F5DD2}" type="datetimeFigureOut">
              <a:rPr lang="en-US" smtClean="0"/>
              <a:t>11/11/24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DCE76-E154-7042-BF41-5D6294ED0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629D5-044C-B748-BF2A-2F37F91FC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35125-3B0B-B648-94EA-0F1795DC7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25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clas.sa.ucsb.edu/staff/lee/Secant,%20Tangent,%20and%20Derivatives.htm" TargetMode="External"/><Relationship Id="rId4" Type="http://schemas.openxmlformats.org/officeDocument/2006/relationships/image" Target="../media/image4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umerical_differentiation#Step_size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A15A2-144A-3F45-8C6B-EEC5358F69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Numerical Differentiation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A1FB8-401D-604E-8E31-BCAB918AAA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CSC4601 </a:t>
            </a:r>
            <a:r>
              <a:rPr lang="en-US" dirty="0"/>
              <a:t>Theory of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537055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8D3E-8832-9A47-996D-B4E67AB8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Derivatives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8C44C-1E1D-8548-80A7-5DB2D6682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derivatives to find local minima and maxima</a:t>
            </a:r>
          </a:p>
          <a:p>
            <a:r>
              <a:rPr lang="en-US" dirty="0"/>
              <a:t>In other words, to optimize functions</a:t>
            </a:r>
          </a:p>
          <a:p>
            <a:r>
              <a:rPr lang="en-US" dirty="0"/>
              <a:t>The models and loss functions we use can get quite complicated</a:t>
            </a:r>
          </a:p>
          <a:p>
            <a:r>
              <a:rPr lang="en-US" dirty="0"/>
              <a:t>Calculating derivatives by hand can be tedious and error prone</a:t>
            </a:r>
          </a:p>
        </p:txBody>
      </p:sp>
    </p:spTree>
    <p:extLst>
      <p:ext uri="{BB962C8B-B14F-4D97-AF65-F5344CB8AC3E}">
        <p14:creationId xmlns:p14="http://schemas.microsoft.com/office/powerpoint/2010/main" val="2432585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468FC-878E-2C49-ADAE-906A5285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Numerical Differentiation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909E5-9E37-3342-8D4A-21DFB061F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Numerical differentiation is an alternative to analytical derivatives</a:t>
            </a:r>
          </a:p>
          <a:p>
            <a:r>
              <a:rPr lang="en-US" dirty="0"/>
              <a:t>Instead of finding a derivative function, we estimate the derivative function's value at each point</a:t>
            </a:r>
          </a:p>
          <a:p>
            <a:r>
              <a:rPr lang="en-US" dirty="0"/>
              <a:t>Conceptually, it's a direct application of the derivative formula from calculus</a:t>
            </a:r>
          </a:p>
        </p:txBody>
      </p:sp>
    </p:spTree>
    <p:extLst>
      <p:ext uri="{BB962C8B-B14F-4D97-AF65-F5344CB8AC3E}">
        <p14:creationId xmlns:p14="http://schemas.microsoft.com/office/powerpoint/2010/main" val="3616706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E1F1-EB19-458C-BD73-C9E7BE2D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568D3-5E68-419A-9F8D-3B11B1A843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Let’s take this quantity: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does it represent graphically?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568D3-5E68-419A-9F8D-3B11B1A843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859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E1F1-EB19-458C-BD73-C9E7BE2D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568D3-5E68-419A-9F8D-3B11B1A843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Let’s take this quantity: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does it represent graphically? </a:t>
                </a:r>
              </a:p>
              <a:p>
                <a:pPr marL="0" indent="0">
                  <a:buNone/>
                </a:pPr>
                <a:r>
                  <a:rPr lang="en-US" dirty="0"/>
                  <a:t>Slope of the secant line.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if we make h small?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568D3-5E68-419A-9F8D-3B11B1A843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E4FFAB0-345A-418D-8A35-65CAF8D7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026" y="1825625"/>
            <a:ext cx="6096528" cy="3657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490A0C-48A3-40F9-96A7-C4C5A342DC8D}"/>
              </a:ext>
            </a:extLst>
          </p:cNvPr>
          <p:cNvSpPr txBox="1"/>
          <p:nvPr/>
        </p:nvSpPr>
        <p:spPr>
          <a:xfrm>
            <a:off x="9000162" y="3914454"/>
            <a:ext cx="53425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A2B3C-4380-441D-81C2-29F658E091D6}"/>
              </a:ext>
            </a:extLst>
          </p:cNvPr>
          <p:cNvSpPr txBox="1"/>
          <p:nvPr/>
        </p:nvSpPr>
        <p:spPr>
          <a:xfrm>
            <a:off x="9909853" y="3914454"/>
            <a:ext cx="84719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x +h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95550-E50D-43B0-BD90-7C92385C0B2D}"/>
              </a:ext>
            </a:extLst>
          </p:cNvPr>
          <p:cNvSpPr txBox="1"/>
          <p:nvPr/>
        </p:nvSpPr>
        <p:spPr>
          <a:xfrm>
            <a:off x="5815173" y="2334703"/>
            <a:ext cx="100686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f(</a:t>
            </a:r>
            <a:r>
              <a:rPr lang="en-US" sz="2400" dirty="0" err="1"/>
              <a:t>x+h</a:t>
            </a:r>
            <a:r>
              <a:rPr lang="en-US" sz="2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4E1B3B-B4F5-4251-A126-03A091CEDCAD}"/>
              </a:ext>
            </a:extLst>
          </p:cNvPr>
          <p:cNvSpPr txBox="1"/>
          <p:nvPr/>
        </p:nvSpPr>
        <p:spPr>
          <a:xfrm>
            <a:off x="5984698" y="3330878"/>
            <a:ext cx="73947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f(x)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D3534E-25BA-4DED-BA7C-7C793546B919}"/>
              </a:ext>
            </a:extLst>
          </p:cNvPr>
          <p:cNvSpPr txBox="1"/>
          <p:nvPr/>
        </p:nvSpPr>
        <p:spPr>
          <a:xfrm>
            <a:off x="6096000" y="3305446"/>
            <a:ext cx="73947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f(x)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B93DF1-A592-4216-A29B-4A13C3E05120}"/>
              </a:ext>
            </a:extLst>
          </p:cNvPr>
          <p:cNvCxnSpPr>
            <a:cxnSpLocks/>
          </p:cNvCxnSpPr>
          <p:nvPr/>
        </p:nvCxnSpPr>
        <p:spPr>
          <a:xfrm flipH="1">
            <a:off x="8681664" y="2334703"/>
            <a:ext cx="1756880" cy="166659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901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E1F1-EB19-458C-BD73-C9E7BE2D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568D3-5E68-419A-9F8D-3B11B1A843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Let’s take this quantity: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568D3-5E68-419A-9F8D-3B11B1A843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E4FFAB0-345A-418D-8A35-65CAF8D7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026" y="1825625"/>
            <a:ext cx="6096528" cy="3657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490A0C-48A3-40F9-96A7-C4C5A342DC8D}"/>
              </a:ext>
            </a:extLst>
          </p:cNvPr>
          <p:cNvSpPr txBox="1"/>
          <p:nvPr/>
        </p:nvSpPr>
        <p:spPr>
          <a:xfrm>
            <a:off x="9000162" y="3914454"/>
            <a:ext cx="53425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A2B3C-4380-441D-81C2-29F658E091D6}"/>
              </a:ext>
            </a:extLst>
          </p:cNvPr>
          <p:cNvSpPr txBox="1"/>
          <p:nvPr/>
        </p:nvSpPr>
        <p:spPr>
          <a:xfrm>
            <a:off x="9323213" y="3914453"/>
            <a:ext cx="84719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x +h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95550-E50D-43B0-BD90-7C92385C0B2D}"/>
              </a:ext>
            </a:extLst>
          </p:cNvPr>
          <p:cNvSpPr txBox="1"/>
          <p:nvPr/>
        </p:nvSpPr>
        <p:spPr>
          <a:xfrm>
            <a:off x="5815173" y="2334703"/>
            <a:ext cx="100686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f(</a:t>
            </a:r>
            <a:r>
              <a:rPr lang="en-US" sz="2400" dirty="0" err="1"/>
              <a:t>x+h</a:t>
            </a:r>
            <a:r>
              <a:rPr lang="en-US" sz="2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4E1B3B-B4F5-4251-A126-03A091CEDCAD}"/>
              </a:ext>
            </a:extLst>
          </p:cNvPr>
          <p:cNvSpPr txBox="1"/>
          <p:nvPr/>
        </p:nvSpPr>
        <p:spPr>
          <a:xfrm>
            <a:off x="5984698" y="3330878"/>
            <a:ext cx="73947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f(x)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D3534E-25BA-4DED-BA7C-7C793546B919}"/>
              </a:ext>
            </a:extLst>
          </p:cNvPr>
          <p:cNvSpPr txBox="1"/>
          <p:nvPr/>
        </p:nvSpPr>
        <p:spPr>
          <a:xfrm>
            <a:off x="6096000" y="3305446"/>
            <a:ext cx="73947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f(x)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B93DF1-A592-4216-A29B-4A13C3E05120}"/>
              </a:ext>
            </a:extLst>
          </p:cNvPr>
          <p:cNvCxnSpPr>
            <a:cxnSpLocks/>
          </p:cNvCxnSpPr>
          <p:nvPr/>
        </p:nvCxnSpPr>
        <p:spPr>
          <a:xfrm flipH="1">
            <a:off x="8640566" y="2852424"/>
            <a:ext cx="1529837" cy="100166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9AA6A-0C99-425C-B012-3658164D7180}"/>
              </a:ext>
            </a:extLst>
          </p:cNvPr>
          <p:cNvSpPr/>
          <p:nvPr/>
        </p:nvSpPr>
        <p:spPr>
          <a:xfrm>
            <a:off x="5712431" y="2334703"/>
            <a:ext cx="1006867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2CA644-7693-4AF7-BDEC-38E0A1FECA61}"/>
              </a:ext>
            </a:extLst>
          </p:cNvPr>
          <p:cNvSpPr txBox="1"/>
          <p:nvPr/>
        </p:nvSpPr>
        <p:spPr>
          <a:xfrm>
            <a:off x="9959197" y="3923016"/>
            <a:ext cx="84719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34DF1E2-FC64-41B9-BDF7-988FC6B7300C}"/>
              </a:ext>
            </a:extLst>
          </p:cNvPr>
          <p:cNvCxnSpPr/>
          <p:nvPr/>
        </p:nvCxnSpPr>
        <p:spPr>
          <a:xfrm>
            <a:off x="9616611" y="3305445"/>
            <a:ext cx="0" cy="54864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57F767-413C-401F-8FF4-E220CC17643C}"/>
              </a:ext>
            </a:extLst>
          </p:cNvPr>
          <p:cNvCxnSpPr>
            <a:cxnSpLocks/>
          </p:cNvCxnSpPr>
          <p:nvPr/>
        </p:nvCxnSpPr>
        <p:spPr>
          <a:xfrm rot="5400000">
            <a:off x="8299978" y="2045132"/>
            <a:ext cx="0" cy="246888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D32D678A-DF80-4FE6-8EA3-4EDB8E9A7735}"/>
              </a:ext>
            </a:extLst>
          </p:cNvPr>
          <p:cNvSpPr/>
          <p:nvPr/>
        </p:nvSpPr>
        <p:spPr>
          <a:xfrm>
            <a:off x="9525171" y="3245077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8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E1F1-EB19-458C-BD73-C9E7BE2D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568D3-5E68-419A-9F8D-3B11B1A843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Let’s take this quantity: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568D3-5E68-419A-9F8D-3B11B1A843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E4FFAB0-345A-418D-8A35-65CAF8D7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026" y="1825625"/>
            <a:ext cx="6096528" cy="3657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490A0C-48A3-40F9-96A7-C4C5A342DC8D}"/>
              </a:ext>
            </a:extLst>
          </p:cNvPr>
          <p:cNvSpPr txBox="1"/>
          <p:nvPr/>
        </p:nvSpPr>
        <p:spPr>
          <a:xfrm>
            <a:off x="9000162" y="3914454"/>
            <a:ext cx="53425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A2B3C-4380-441D-81C2-29F658E091D6}"/>
              </a:ext>
            </a:extLst>
          </p:cNvPr>
          <p:cNvSpPr txBox="1"/>
          <p:nvPr/>
        </p:nvSpPr>
        <p:spPr>
          <a:xfrm>
            <a:off x="9323213" y="3914453"/>
            <a:ext cx="84719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x +h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95550-E50D-43B0-BD90-7C92385C0B2D}"/>
              </a:ext>
            </a:extLst>
          </p:cNvPr>
          <p:cNvSpPr txBox="1"/>
          <p:nvPr/>
        </p:nvSpPr>
        <p:spPr>
          <a:xfrm>
            <a:off x="5815173" y="2334703"/>
            <a:ext cx="100686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f(</a:t>
            </a:r>
            <a:r>
              <a:rPr lang="en-US" sz="2400" dirty="0" err="1"/>
              <a:t>x+h</a:t>
            </a:r>
            <a:r>
              <a:rPr lang="en-US" sz="2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4E1B3B-B4F5-4251-A126-03A091CEDCAD}"/>
              </a:ext>
            </a:extLst>
          </p:cNvPr>
          <p:cNvSpPr txBox="1"/>
          <p:nvPr/>
        </p:nvSpPr>
        <p:spPr>
          <a:xfrm>
            <a:off x="5984698" y="3330878"/>
            <a:ext cx="73947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f(x)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D3534E-25BA-4DED-BA7C-7C793546B919}"/>
              </a:ext>
            </a:extLst>
          </p:cNvPr>
          <p:cNvSpPr txBox="1"/>
          <p:nvPr/>
        </p:nvSpPr>
        <p:spPr>
          <a:xfrm>
            <a:off x="6096000" y="3305446"/>
            <a:ext cx="73947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f(x)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B93DF1-A592-4216-A29B-4A13C3E05120}"/>
              </a:ext>
            </a:extLst>
          </p:cNvPr>
          <p:cNvCxnSpPr>
            <a:cxnSpLocks/>
          </p:cNvCxnSpPr>
          <p:nvPr/>
        </p:nvCxnSpPr>
        <p:spPr>
          <a:xfrm flipH="1">
            <a:off x="8558373" y="3082247"/>
            <a:ext cx="1484538" cy="83220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9AA6A-0C99-425C-B012-3658164D7180}"/>
              </a:ext>
            </a:extLst>
          </p:cNvPr>
          <p:cNvSpPr/>
          <p:nvPr/>
        </p:nvSpPr>
        <p:spPr>
          <a:xfrm>
            <a:off x="5712431" y="2334703"/>
            <a:ext cx="1006867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2CA644-7693-4AF7-BDEC-38E0A1FECA61}"/>
              </a:ext>
            </a:extLst>
          </p:cNvPr>
          <p:cNvSpPr txBox="1"/>
          <p:nvPr/>
        </p:nvSpPr>
        <p:spPr>
          <a:xfrm>
            <a:off x="9959197" y="3923016"/>
            <a:ext cx="84719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34DF1E2-FC64-41B9-BDF7-988FC6B7300C}"/>
              </a:ext>
            </a:extLst>
          </p:cNvPr>
          <p:cNvCxnSpPr/>
          <p:nvPr/>
        </p:nvCxnSpPr>
        <p:spPr>
          <a:xfrm>
            <a:off x="9359757" y="3471703"/>
            <a:ext cx="0" cy="36576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57F767-413C-401F-8FF4-E220CC17643C}"/>
              </a:ext>
            </a:extLst>
          </p:cNvPr>
          <p:cNvCxnSpPr>
            <a:cxnSpLocks/>
          </p:cNvCxnSpPr>
          <p:nvPr/>
        </p:nvCxnSpPr>
        <p:spPr>
          <a:xfrm rot="5400000">
            <a:off x="8088773" y="2217224"/>
            <a:ext cx="0" cy="246888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D32D678A-DF80-4FE6-8EA3-4EDB8E9A7735}"/>
              </a:ext>
            </a:extLst>
          </p:cNvPr>
          <p:cNvSpPr/>
          <p:nvPr/>
        </p:nvSpPr>
        <p:spPr>
          <a:xfrm>
            <a:off x="9312939" y="3401362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06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E1F1-EB19-458C-BD73-C9E7BE2D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568D3-5E68-419A-9F8D-3B11B1A843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Let’s take this quantity: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does it represent </a:t>
                </a:r>
                <a:r>
                  <a:rPr lang="en-US"/>
                  <a:t>graphically?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568D3-5E68-419A-9F8D-3B11B1A843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E4FFAB0-345A-418D-8A35-65CAF8D7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52" y="1825625"/>
            <a:ext cx="6096528" cy="3657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490A0C-48A3-40F9-96A7-C4C5A342DC8D}"/>
              </a:ext>
            </a:extLst>
          </p:cNvPr>
          <p:cNvSpPr txBox="1"/>
          <p:nvPr/>
        </p:nvSpPr>
        <p:spPr>
          <a:xfrm>
            <a:off x="9000162" y="3914454"/>
            <a:ext cx="53425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A2B3C-4380-441D-81C2-29F658E091D6}"/>
              </a:ext>
            </a:extLst>
          </p:cNvPr>
          <p:cNvSpPr txBox="1"/>
          <p:nvPr/>
        </p:nvSpPr>
        <p:spPr>
          <a:xfrm>
            <a:off x="9323213" y="3914453"/>
            <a:ext cx="84719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x +h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95550-E50D-43B0-BD90-7C92385C0B2D}"/>
              </a:ext>
            </a:extLst>
          </p:cNvPr>
          <p:cNvSpPr txBox="1"/>
          <p:nvPr/>
        </p:nvSpPr>
        <p:spPr>
          <a:xfrm>
            <a:off x="5815173" y="2334703"/>
            <a:ext cx="100686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f(</a:t>
            </a:r>
            <a:r>
              <a:rPr lang="en-US" sz="2400" dirty="0" err="1"/>
              <a:t>x+h</a:t>
            </a:r>
            <a:r>
              <a:rPr lang="en-US" sz="2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4E1B3B-B4F5-4251-A126-03A091CEDCAD}"/>
              </a:ext>
            </a:extLst>
          </p:cNvPr>
          <p:cNvSpPr txBox="1"/>
          <p:nvPr/>
        </p:nvSpPr>
        <p:spPr>
          <a:xfrm>
            <a:off x="5984698" y="3330878"/>
            <a:ext cx="73947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f(x)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D3534E-25BA-4DED-BA7C-7C793546B919}"/>
              </a:ext>
            </a:extLst>
          </p:cNvPr>
          <p:cNvSpPr txBox="1"/>
          <p:nvPr/>
        </p:nvSpPr>
        <p:spPr>
          <a:xfrm>
            <a:off x="6096000" y="3305446"/>
            <a:ext cx="73947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f(x)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B93DF1-A592-4216-A29B-4A13C3E05120}"/>
              </a:ext>
            </a:extLst>
          </p:cNvPr>
          <p:cNvCxnSpPr>
            <a:cxnSpLocks/>
          </p:cNvCxnSpPr>
          <p:nvPr/>
        </p:nvCxnSpPr>
        <p:spPr>
          <a:xfrm flipH="1">
            <a:off x="8606830" y="3084492"/>
            <a:ext cx="1432766" cy="78939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9AA6A-0C99-425C-B012-3658164D7180}"/>
              </a:ext>
            </a:extLst>
          </p:cNvPr>
          <p:cNvSpPr/>
          <p:nvPr/>
        </p:nvSpPr>
        <p:spPr>
          <a:xfrm>
            <a:off x="5712431" y="2334703"/>
            <a:ext cx="1006867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2CA644-7693-4AF7-BDEC-38E0A1FECA61}"/>
              </a:ext>
            </a:extLst>
          </p:cNvPr>
          <p:cNvSpPr txBox="1"/>
          <p:nvPr/>
        </p:nvSpPr>
        <p:spPr>
          <a:xfrm>
            <a:off x="9959197" y="3923016"/>
            <a:ext cx="84719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34DF1E2-FC64-41B9-BDF7-988FC6B7300C}"/>
              </a:ext>
            </a:extLst>
          </p:cNvPr>
          <p:cNvCxnSpPr>
            <a:cxnSpLocks/>
          </p:cNvCxnSpPr>
          <p:nvPr/>
        </p:nvCxnSpPr>
        <p:spPr>
          <a:xfrm>
            <a:off x="9221499" y="3559008"/>
            <a:ext cx="0" cy="27432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57F767-413C-401F-8FF4-E220CC17643C}"/>
              </a:ext>
            </a:extLst>
          </p:cNvPr>
          <p:cNvCxnSpPr>
            <a:cxnSpLocks/>
          </p:cNvCxnSpPr>
          <p:nvPr/>
        </p:nvCxnSpPr>
        <p:spPr>
          <a:xfrm rot="5400000">
            <a:off x="8022434" y="2369407"/>
            <a:ext cx="0" cy="228600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D32D678A-DF80-4FE6-8EA3-4EDB8E9A7735}"/>
              </a:ext>
            </a:extLst>
          </p:cNvPr>
          <p:cNvSpPr/>
          <p:nvPr/>
        </p:nvSpPr>
        <p:spPr>
          <a:xfrm>
            <a:off x="9165434" y="348767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92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E1F1-EB19-458C-BD73-C9E7BE2D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Derivative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568D3-5E68-419A-9F8D-3B11B1A843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Let’s take this quantity: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does it represent graphically?</a:t>
                </a:r>
              </a:p>
              <a:p>
                <a:pPr marL="0" indent="0">
                  <a:buNone/>
                </a:pPr>
                <a:r>
                  <a:rPr lang="en-US" dirty="0"/>
                  <a:t>As h becomes smaller, the secant line approximates the tangent:</a:t>
                </a:r>
              </a:p>
              <a:p>
                <a:r>
                  <a:rPr lang="en-US" dirty="0"/>
                  <a:t> in this case the slope of the secant line approximates the slope of the tangent, i.e., the derivate of f at the point x.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0568D3-5E68-419A-9F8D-3B11B1A843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E4FFAB0-345A-418D-8A35-65CAF8D7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52" y="1825625"/>
            <a:ext cx="6096528" cy="3657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490A0C-48A3-40F9-96A7-C4C5A342DC8D}"/>
              </a:ext>
            </a:extLst>
          </p:cNvPr>
          <p:cNvSpPr txBox="1"/>
          <p:nvPr/>
        </p:nvSpPr>
        <p:spPr>
          <a:xfrm>
            <a:off x="9000162" y="3914454"/>
            <a:ext cx="53425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A2B3C-4380-441D-81C2-29F658E091D6}"/>
              </a:ext>
            </a:extLst>
          </p:cNvPr>
          <p:cNvSpPr txBox="1"/>
          <p:nvPr/>
        </p:nvSpPr>
        <p:spPr>
          <a:xfrm>
            <a:off x="9323213" y="3914453"/>
            <a:ext cx="84719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x +h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95550-E50D-43B0-BD90-7C92385C0B2D}"/>
              </a:ext>
            </a:extLst>
          </p:cNvPr>
          <p:cNvSpPr txBox="1"/>
          <p:nvPr/>
        </p:nvSpPr>
        <p:spPr>
          <a:xfrm>
            <a:off x="5815173" y="2334703"/>
            <a:ext cx="100686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f(</a:t>
            </a:r>
            <a:r>
              <a:rPr lang="en-US" sz="2400" dirty="0" err="1"/>
              <a:t>x+h</a:t>
            </a:r>
            <a:r>
              <a:rPr lang="en-US" sz="2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4E1B3B-B4F5-4251-A126-03A091CEDCAD}"/>
              </a:ext>
            </a:extLst>
          </p:cNvPr>
          <p:cNvSpPr txBox="1"/>
          <p:nvPr/>
        </p:nvSpPr>
        <p:spPr>
          <a:xfrm>
            <a:off x="5984698" y="3330878"/>
            <a:ext cx="73947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f(x)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D3534E-25BA-4DED-BA7C-7C793546B919}"/>
              </a:ext>
            </a:extLst>
          </p:cNvPr>
          <p:cNvSpPr txBox="1"/>
          <p:nvPr/>
        </p:nvSpPr>
        <p:spPr>
          <a:xfrm>
            <a:off x="6096000" y="3305446"/>
            <a:ext cx="73947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f(x)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B93DF1-A592-4216-A29B-4A13C3E05120}"/>
              </a:ext>
            </a:extLst>
          </p:cNvPr>
          <p:cNvCxnSpPr>
            <a:cxnSpLocks/>
          </p:cNvCxnSpPr>
          <p:nvPr/>
        </p:nvCxnSpPr>
        <p:spPr>
          <a:xfrm flipH="1">
            <a:off x="8606830" y="3084492"/>
            <a:ext cx="1432766" cy="78939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9AA6A-0C99-425C-B012-3658164D7180}"/>
              </a:ext>
            </a:extLst>
          </p:cNvPr>
          <p:cNvSpPr/>
          <p:nvPr/>
        </p:nvSpPr>
        <p:spPr>
          <a:xfrm>
            <a:off x="5712431" y="2334703"/>
            <a:ext cx="1006867" cy="46166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2CA644-7693-4AF7-BDEC-38E0A1FECA61}"/>
              </a:ext>
            </a:extLst>
          </p:cNvPr>
          <p:cNvSpPr txBox="1"/>
          <p:nvPr/>
        </p:nvSpPr>
        <p:spPr>
          <a:xfrm>
            <a:off x="9959197" y="3923016"/>
            <a:ext cx="84719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34DF1E2-FC64-41B9-BDF7-988FC6B7300C}"/>
              </a:ext>
            </a:extLst>
          </p:cNvPr>
          <p:cNvCxnSpPr>
            <a:cxnSpLocks/>
          </p:cNvCxnSpPr>
          <p:nvPr/>
        </p:nvCxnSpPr>
        <p:spPr>
          <a:xfrm>
            <a:off x="9221499" y="3559008"/>
            <a:ext cx="0" cy="27432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57F767-413C-401F-8FF4-E220CC17643C}"/>
              </a:ext>
            </a:extLst>
          </p:cNvPr>
          <p:cNvCxnSpPr>
            <a:cxnSpLocks/>
          </p:cNvCxnSpPr>
          <p:nvPr/>
        </p:nvCxnSpPr>
        <p:spPr>
          <a:xfrm rot="5400000">
            <a:off x="8022434" y="2369407"/>
            <a:ext cx="0" cy="228600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dash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D32D678A-DF80-4FE6-8EA3-4EDB8E9A7735}"/>
              </a:ext>
            </a:extLst>
          </p:cNvPr>
          <p:cNvSpPr/>
          <p:nvPr/>
        </p:nvSpPr>
        <p:spPr>
          <a:xfrm>
            <a:off x="9165434" y="348767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32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F2F9-292B-9047-9C40-12ABF191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Approximating the Slope with the slope a Secant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15790FA-5440-B84B-8637-5D7CA3B5CED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With calculus, we can take the limit.</a:t>
                </a:r>
              </a:p>
              <a:p>
                <a:r>
                  <a:rPr lang="en-US" dirty="0"/>
                  <a:t>As h approaches 0, the slope of the secant becomes the slope of the tangent line at x.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15790FA-5440-B84B-8637-5D7CA3B5CE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118" r="-2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F3F7B1-C21A-1741-B989-782556DDB6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071616" y="2172494"/>
            <a:ext cx="6096000" cy="36576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410E03-7BF1-F740-B4D6-3C11CCED2259}"/>
              </a:ext>
            </a:extLst>
          </p:cNvPr>
          <p:cNvSpPr txBox="1"/>
          <p:nvPr/>
        </p:nvSpPr>
        <p:spPr>
          <a:xfrm>
            <a:off x="1133856" y="6464808"/>
            <a:ext cx="61180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5"/>
              </a:rPr>
              <a:t>http://</a:t>
            </a:r>
            <a:r>
              <a:rPr lang="en-US" sz="1400" dirty="0" err="1">
                <a:hlinkClick r:id="rId5"/>
              </a:rPr>
              <a:t>clas.sa.ucsb.edu</a:t>
            </a:r>
            <a:r>
              <a:rPr lang="en-US" sz="1400" dirty="0">
                <a:hlinkClick r:id="rId5"/>
              </a:rPr>
              <a:t>/staff/lee/Secant,%20Tangent,%20and%20Derivatives.htm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84371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69D7-8F53-9142-ACF7-25BBE1A88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Numerical Differentiation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8A045-0CD4-5B4E-9170-DE66902E0C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apply the same idea for numerical differentiation</a:t>
            </a:r>
          </a:p>
          <a:p>
            <a:r>
              <a:rPr lang="en-US" dirty="0"/>
              <a:t>To find the derivative at x: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f(x)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f(</a:t>
            </a:r>
            <a:r>
              <a:rPr lang="en-US" dirty="0" err="1"/>
              <a:t>x+h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a line from the two points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Estimate f'(x) using the slope of the line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0EE7BA-21E8-964C-9A1A-F6D2C4B083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274094"/>
            <a:ext cx="5181600" cy="3454400"/>
          </a:xfrm>
        </p:spPr>
      </p:pic>
    </p:spTree>
    <p:extLst>
      <p:ext uri="{BB962C8B-B14F-4D97-AF65-F5344CB8AC3E}">
        <p14:creationId xmlns:p14="http://schemas.microsoft.com/office/powerpoint/2010/main" val="3917940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69D7-8F53-9142-ACF7-25BBE1A88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Numerical Differentiation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8A045-0CD4-5B4E-9170-DE66902E0C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apply the same idea for numerical differentiation</a:t>
            </a:r>
          </a:p>
          <a:p>
            <a:r>
              <a:rPr lang="en-US" dirty="0"/>
              <a:t>To find the derivative at x: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f(x)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f(</a:t>
            </a:r>
            <a:r>
              <a:rPr lang="en-US" dirty="0" err="1"/>
              <a:t>x+h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a line from the two points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Estimate f'(x) using the slope of the line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0EE7BA-21E8-964C-9A1A-F6D2C4B083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6172200" y="2274094"/>
            <a:ext cx="5181600" cy="3454400"/>
          </a:xfrm>
        </p:spPr>
      </p:pic>
    </p:spTree>
    <p:extLst>
      <p:ext uri="{BB962C8B-B14F-4D97-AF65-F5344CB8AC3E}">
        <p14:creationId xmlns:p14="http://schemas.microsoft.com/office/powerpoint/2010/main" val="3759433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69D7-8F53-9142-ACF7-25BBE1A88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Numerical Differentiation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8A045-0CD4-5B4E-9170-DE66902E0CB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We apply the same idea for numerical differentiation</a:t>
                </a:r>
              </a:p>
              <a:p>
                <a:r>
                  <a:rPr lang="en-US" dirty="0"/>
                  <a:t>To find the derivative at x: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f(x)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f(</a:t>
                </a:r>
                <a:r>
                  <a:rPr lang="en-US" dirty="0" err="1"/>
                  <a:t>x+h</a:t>
                </a:r>
                <a:r>
                  <a:rPr lang="en-US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a line from the two points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Estimate f'(x) using the slope of the line:</a:t>
                </a:r>
              </a:p>
              <a:p>
                <a:pPr marL="0" indent="0">
                  <a:buNone/>
                </a:pP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8A045-0CD4-5B4E-9170-DE66902E0C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3081" r="-1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0EE7BA-21E8-964C-9A1A-F6D2C4B083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6172200" y="2274094"/>
            <a:ext cx="5181600" cy="3454400"/>
          </a:xfrm>
        </p:spPr>
      </p:pic>
    </p:spTree>
    <p:extLst>
      <p:ext uri="{BB962C8B-B14F-4D97-AF65-F5344CB8AC3E}">
        <p14:creationId xmlns:p14="http://schemas.microsoft.com/office/powerpoint/2010/main" val="835664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69D7-8F53-9142-ACF7-25BBE1A88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Numerical Differentiation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8A045-0CD4-5B4E-9170-DE66902E0CB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We apply the same idea for numerical differentiation</a:t>
                </a:r>
              </a:p>
              <a:p>
                <a:r>
                  <a:rPr lang="en-US" dirty="0"/>
                  <a:t>To find the derivative at x: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f(x)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f(</a:t>
                </a:r>
                <a:r>
                  <a:rPr lang="en-US" dirty="0" err="1"/>
                  <a:t>x+h</a:t>
                </a:r>
                <a:r>
                  <a:rPr lang="en-US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a line from the two points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Estimate f'(x) using the slope of the line:</a:t>
                </a:r>
              </a:p>
              <a:p>
                <a:pPr marL="0" indent="0">
                  <a:buNone/>
                </a:pPr>
                <a:r>
                  <a:rPr lang="en-US" dirty="0"/>
                  <a:t>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8A045-0CD4-5B4E-9170-DE66902E0C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3081" r="-1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3CEDBCE-0FA9-FB46-B1DC-2C56E31545F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From a numerical perspective, we directly apply the derivative formula: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3CEDBCE-0FA9-FB46-B1DC-2C56E31545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18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572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69D7-8F53-9142-ACF7-25BBE1A88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Numerical Differentiation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8A045-0CD4-5B4E-9170-DE66902E0CB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We apply the same idea for numerical differentiation</a:t>
                </a:r>
              </a:p>
              <a:p>
                <a:r>
                  <a:rPr lang="en-US" dirty="0"/>
                  <a:t>To find the derivative at x: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f(x)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f(</a:t>
                </a:r>
                <a:r>
                  <a:rPr lang="en-US" dirty="0" err="1"/>
                  <a:t>x+h</a:t>
                </a:r>
                <a:r>
                  <a:rPr lang="en-US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Find a line from the two points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Estimate f'(x) using the slope of the line: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8A045-0CD4-5B4E-9170-DE66902E0C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3081" r="-1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3CEDBCE-0FA9-FB46-B1DC-2C56E31545F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Let's say we want to find the derivative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at x = 1</a:t>
                </a:r>
              </a:p>
              <a:p>
                <a:r>
                  <a:rPr lang="en-US" dirty="0"/>
                  <a:t>We choose an offset h = 0.1</a:t>
                </a:r>
              </a:p>
              <a:p>
                <a:r>
                  <a:rPr lang="en-US" dirty="0"/>
                  <a:t>And then plug and chug: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1+0.1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</m:den>
                      </m:f>
                    </m:oMath>
                  </m:oMathPara>
                </a14:m>
                <a:br>
                  <a:rPr lang="en-US" b="0" dirty="0">
                    <a:ea typeface="Cambria Math" panose="02040503050406030204" pitchFamily="18" charset="0"/>
                  </a:rPr>
                </a:b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3CEDBCE-0FA9-FB46-B1DC-2C56E31545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18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5739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69923-D5F4-004D-8D72-8B714099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16BC6-3887-4C4F-96FA-AAE26AD22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Roboto Mono Medium" pitchFamily="49" charset="0"/>
                <a:cs typeface="Calibri" panose="020F0502020204030204" pitchFamily="34" charset="0"/>
              </a:rPr>
              <a:t>The example on the previous slide translates directly to code: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Roboto Mono Medium" pitchFamily="49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Roboto Mono Medium" pitchFamily="49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D6776-8CDB-5E11-0DC7-70CCAB18B4B0}"/>
              </a:ext>
            </a:extLst>
          </p:cNvPr>
          <p:cNvSpPr txBox="1"/>
          <p:nvPr/>
        </p:nvSpPr>
        <p:spPr>
          <a:xfrm>
            <a:off x="1062446" y="3065417"/>
            <a:ext cx="4093028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x**</a:t>
            </a:r>
            <a:r>
              <a:rPr lang="en-US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2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fp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h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(f(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x+h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)-f(x))/h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169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69D7-8F53-9142-ACF7-25BBE1A88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Estimating the Derivative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8A045-0CD4-5B4E-9170-DE66902E0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446222" cy="4351338"/>
          </a:xfrm>
        </p:spPr>
        <p:txBody>
          <a:bodyPr/>
          <a:lstStyle/>
          <a:p>
            <a:r>
              <a:rPr lang="en-US" dirty="0"/>
              <a:t>What if we want to plot the derivative function?</a:t>
            </a:r>
          </a:p>
          <a:p>
            <a:r>
              <a:rPr lang="en-US" dirty="0"/>
              <a:t>We simply evaluate at a bunch of points!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07E332-ECE8-C24B-9A49-D9FB1834EACA}"/>
              </a:ext>
            </a:extLst>
          </p:cNvPr>
          <p:cNvSpPr txBox="1"/>
          <p:nvPr/>
        </p:nvSpPr>
        <p:spPr>
          <a:xfrm>
            <a:off x="237309" y="4001294"/>
            <a:ext cx="6503125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 = 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np.linspace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-4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 = </a:t>
            </a:r>
            <a:r>
              <a:rPr lang="en-US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0.05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plt.plot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(x, f(x), label = 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"function"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plt.plot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(x, 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(x, h), label = 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"h: 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+ </a:t>
            </a:r>
            <a:r>
              <a:rPr lang="en-US" b="0" dirty="0">
                <a:solidFill>
                  <a:srgbClr val="267F99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(h))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plt.xlabel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"x"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plt.legend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572F10-0515-CAB5-A371-C12AD1B019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96668" y="2107727"/>
            <a:ext cx="4695701" cy="332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93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58726C-14E4-441D-BFE2-50CCA1CA1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Numerical Differentiation – Other Approximations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51E4E6F-2EA9-4F9F-9D08-8FBCD043D2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Forward difference method: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It turns out (using Taylor’s series expansion), we  can show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51E4E6F-2EA9-4F9F-9D08-8FBCD043D2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8C169AA-6920-86A9-C43F-30BCF0CC1E93}"/>
              </a:ext>
            </a:extLst>
          </p:cNvPr>
          <p:cNvSpPr/>
          <p:nvPr/>
        </p:nvSpPr>
        <p:spPr>
          <a:xfrm>
            <a:off x="7348451" y="4497185"/>
            <a:ext cx="1047403" cy="847900"/>
          </a:xfrm>
          <a:prstGeom prst="rect">
            <a:avLst/>
          </a:prstGeom>
          <a:solidFill>
            <a:schemeClr val="accent4">
              <a:alpha val="49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112B88-61ED-C070-371E-872713E0CEA2}"/>
              </a:ext>
            </a:extLst>
          </p:cNvPr>
          <p:cNvSpPr txBox="1"/>
          <p:nvPr/>
        </p:nvSpPr>
        <p:spPr>
          <a:xfrm>
            <a:off x="8562109" y="5345085"/>
            <a:ext cx="2626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Formula error (approximation error)</a:t>
            </a:r>
          </a:p>
        </p:txBody>
      </p:sp>
    </p:spTree>
    <p:extLst>
      <p:ext uri="{BB962C8B-B14F-4D97-AF65-F5344CB8AC3E}">
        <p14:creationId xmlns:p14="http://schemas.microsoft.com/office/powerpoint/2010/main" val="2741276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9D624-FDBF-418C-685A-EAC7F4D00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226EF-CF3F-528E-4579-226FB617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Revisiting the Taylor Series Expansion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0807E7-C9B5-7EE1-6CCF-6EB72C845B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When we expand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0+2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using Taylor series, we get: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0807E7-C9B5-7EE1-6CCF-6EB72C845B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0118AF7-F46E-E8D6-584C-986E0A6E9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314" y="3211513"/>
            <a:ext cx="9477372" cy="7897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BF23CB-F388-668E-430E-58E19D585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597401"/>
            <a:ext cx="10725426" cy="78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75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84479-07E9-FB54-B368-C514D9379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DE29-8070-89F8-1616-1E0DF243D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Error Analysis for Forward Difference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E4A78-CBC3-CBF7-4862-A989ED274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forward difference formula: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From the Taylor series expansion: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Dividing by h: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B5A919-6319-01B9-7BE4-761F048A3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00" y="2378869"/>
            <a:ext cx="3509058" cy="647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094249-86EA-C946-594A-6C857E126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954066"/>
            <a:ext cx="7772400" cy="647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81AAEA-C26E-6954-0772-CBA48F5F84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5595146"/>
            <a:ext cx="7772400" cy="57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912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47A1C-E9AA-0B1C-EF7C-B3FD4B797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Error Analysis for Forward Difference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F907B-DA44-F1A9-5ABB-283D49C9E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Error Term</a:t>
            </a:r>
            <a:r>
              <a:rPr lang="en-US" dirty="0"/>
              <a:t>: The leading error term in this approximation is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indicating that the forward difference method is </a:t>
            </a:r>
            <a:r>
              <a:rPr lang="en-US" b="1" dirty="0"/>
              <a:t>first-order accurate</a:t>
            </a:r>
            <a:r>
              <a:rPr lang="en-US" dirty="0"/>
              <a:t> with a truncation error proportional to h.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D0391A-1850-1066-90A1-F4AA86267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047880"/>
            <a:ext cx="7772400" cy="5786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CF0B4F-603B-71A2-9790-7A0DA93DC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335" y="3547268"/>
            <a:ext cx="959329" cy="57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63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3DE48-70A8-FB89-6D97-6C9CE918A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BADBA-41BD-091D-E06C-B521FE598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Error Analysis for Central Difference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B9DE5-6811-D9D8-3B08-80F1E4262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central difference formula: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From the Taylor series expansion: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AF3838-C1B3-A30E-2552-752DC0A1B4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49775" y="2486536"/>
            <a:ext cx="3509058" cy="5634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2F4A9C-1FFD-AFBD-8679-A5AEDCF65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4001294"/>
            <a:ext cx="7772400" cy="647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805119-A7A5-52EB-69A1-9806044C36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5004791"/>
            <a:ext cx="77724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579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A7C1D-7C4D-1670-159B-A8C4A2E57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1747F-59F5-B6E6-7DA6-B30CD80B7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Error Analysis for Central Difference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34DC1-1782-BBE6-5639-51071A22F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sz="2400" dirty="0"/>
              <a:t>Subtracting: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Dividing by 2h: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Error Term</a:t>
            </a:r>
            <a:r>
              <a:rPr lang="en-US" sz="2400" dirty="0"/>
              <a:t>: The central difference method has a leading error term of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making it </a:t>
            </a:r>
            <a:r>
              <a:rPr lang="en-US" sz="2400" b="1" dirty="0"/>
              <a:t>second-order accurate</a:t>
            </a:r>
            <a:r>
              <a:rPr lang="en-US" sz="2400" dirty="0"/>
              <a:t> with an error proportional to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7885FC-68CA-8401-897E-701D62706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2064742"/>
            <a:ext cx="7772400" cy="7162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853E65-F863-E560-BA7E-68A70D9D9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799" y="3106146"/>
            <a:ext cx="7772400" cy="6457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B5D37B-8D7A-E8EE-C29E-F28C9AC375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0037" y="5089571"/>
            <a:ext cx="1192213" cy="6395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FB1525-944F-430D-5724-EBB32E94E7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12" y="5998587"/>
            <a:ext cx="277813" cy="28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38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68200-E87B-4031-5587-FCF662ECA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Order of Accuracy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51A4B-B479-B1B8-4C1B-5A8BA46A8F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In the context of numerical methods – order of accuracy – describes how the error decreases relative to the step size h. If a method is said to be </a:t>
                </a:r>
                <a:r>
                  <a:rPr lang="en-US" b="1" dirty="0"/>
                  <a:t>p-</a:t>
                </a:r>
                <a:r>
                  <a:rPr lang="en-US" b="1" dirty="0" err="1"/>
                  <a:t>th</a:t>
                </a:r>
                <a:r>
                  <a:rPr lang="en-US" b="1" dirty="0"/>
                  <a:t> order accurate</a:t>
                </a:r>
                <a:r>
                  <a:rPr lang="en-US" dirty="0"/>
                  <a:t>, it means that the leading error term is proportional to: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First-order accurate</a:t>
                </a:r>
                <a:r>
                  <a:rPr lang="en-US" dirty="0"/>
                  <a:t>: The error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behaves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This means that if the step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halved, the error approximately halves as well. The error decreases linearly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b="1" dirty="0"/>
                  <a:t>Second-order accurate</a:t>
                </a:r>
                <a:r>
                  <a:rPr lang="en-US" dirty="0"/>
                  <a:t>: The error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behaves as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This means that if the step size h is halved, the error is approximately reduced by a factor of 4 </a:t>
                </a:r>
                <a:br>
                  <a:rPr lang="en-US" dirty="0"/>
                </a:br>
                <a:r>
                  <a:rPr lang="en-US" dirty="0"/>
                  <a:t>(i.e.,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=1/4</m:t>
                    </m:r>
                  </m:oMath>
                </a14:m>
                <a:r>
                  <a:rPr lang="en-US" dirty="0"/>
                  <a:t> ). The error decreases quadratically with h.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51A4B-B479-B1B8-4C1B-5A8BA46A8F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3198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FCE0FB9-76BD-F2EC-B088-46B8537BB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0" y="2900362"/>
            <a:ext cx="4318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87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58726C-14E4-441D-BFE2-50CCA1CA1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Numerical Differentiation – Other Approximations (Extra)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51E4E6F-2EA9-4F9F-9D08-8FBCD043D2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Forward difference method: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Backward difference method: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</a:p>
              <a:p>
                <a:pPr marL="0" indent="0" algn="ctr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Centered difference method: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51E4E6F-2EA9-4F9F-9D08-8FBCD043D2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741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F6385-BE69-AF4F-B631-0BE751F0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Choosing the step size (h)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51AA6-B342-2143-8004-34E422BDCA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Remember that numerical differentiation is an </a:t>
            </a:r>
            <a:r>
              <a:rPr lang="en-US" i="1" dirty="0"/>
              <a:t>approximation.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The error in the derivative approximation largely depends on the perturbation, h</a:t>
            </a:r>
          </a:p>
          <a:p>
            <a:pPr>
              <a:lnSpc>
                <a:spcPct val="100000"/>
              </a:lnSpc>
            </a:pPr>
            <a:r>
              <a:rPr lang="en-US" dirty="0"/>
              <a:t>The smaller the h, the better the approximation is.</a:t>
            </a:r>
          </a:p>
          <a:p>
            <a:pPr>
              <a:lnSpc>
                <a:spcPct val="100000"/>
              </a:lnSpc>
            </a:pPr>
            <a:r>
              <a:rPr lang="en-US" dirty="0"/>
              <a:t>How small can we make h?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8B3F44-C559-0542-ADD9-22F04982AE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274094"/>
            <a:ext cx="5181600" cy="3454400"/>
          </a:xfrm>
        </p:spPr>
      </p:pic>
    </p:spTree>
    <p:extLst>
      <p:ext uri="{BB962C8B-B14F-4D97-AF65-F5344CB8AC3E}">
        <p14:creationId xmlns:p14="http://schemas.microsoft.com/office/powerpoint/2010/main" val="3826575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3248AD-0980-C8BC-D1FB-4D6B25F9F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Decreasing h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89BFA6-83F9-71DC-7A95-9B2FA5A4B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1690688"/>
            <a:ext cx="352425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874EA5-65C4-CE94-FB5D-3C4450F3E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690688"/>
            <a:ext cx="3524250" cy="249555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F3736AD-5587-B980-4819-25649EC97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602" y="1690688"/>
            <a:ext cx="352425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2961F09-F0BF-8925-5D87-95B6F9801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515" y="4264026"/>
            <a:ext cx="352425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DF87E7F4-8C88-B42A-639F-2ED4DE9F0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682" y="4264026"/>
            <a:ext cx="3524250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38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100F-4290-6D8D-6C26-A0BCF8B6E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Choosing the step size 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D684299-529E-0721-1A42-9F75DC77F1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Decreasing h decreases the approximation error : this is what we want.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However, when h is too small, we start to introduce round-off error:</a:t>
                </a:r>
              </a:p>
              <a:p>
                <a:pPr marL="457200" lvl="1" indent="0">
                  <a:lnSpc>
                    <a:spcPct val="110000"/>
                  </a:lnSpc>
                  <a:buNone/>
                </a:pPr>
                <a:endParaRPr lang="en-US" dirty="0"/>
              </a:p>
              <a:p>
                <a:pPr lvl="1">
                  <a:lnSpc>
                    <a:spcPct val="110000"/>
                  </a:lnSpc>
                  <a:buFont typeface="Courier New" panose="02070309020205020404" pitchFamily="49" charset="0"/>
                  <a:buChar char="o"/>
                </a:pPr>
                <a:endParaRPr lang="en-US" dirty="0"/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D684299-529E-0721-1A42-9F75DC77F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D74E3958-182B-CC51-353D-A13F8813F81D}"/>
              </a:ext>
            </a:extLst>
          </p:cNvPr>
          <p:cNvSpPr/>
          <p:nvPr/>
        </p:nvSpPr>
        <p:spPr>
          <a:xfrm>
            <a:off x="7235240" y="1821630"/>
            <a:ext cx="1047403" cy="847900"/>
          </a:xfrm>
          <a:prstGeom prst="rect">
            <a:avLst/>
          </a:prstGeom>
          <a:solidFill>
            <a:schemeClr val="accent4">
              <a:alpha val="49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2DADC3-1525-B232-0A58-6ADCA0F15781}"/>
              </a:ext>
            </a:extLst>
          </p:cNvPr>
          <p:cNvSpPr txBox="1"/>
          <p:nvPr/>
        </p:nvSpPr>
        <p:spPr>
          <a:xfrm>
            <a:off x="8561416" y="2023199"/>
            <a:ext cx="2626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Formula error (approximation error)</a:t>
            </a:r>
          </a:p>
        </p:txBody>
      </p:sp>
    </p:spTree>
    <p:extLst>
      <p:ext uri="{BB962C8B-B14F-4D97-AF65-F5344CB8AC3E}">
        <p14:creationId xmlns:p14="http://schemas.microsoft.com/office/powerpoint/2010/main" val="995820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100F-4290-6D8D-6C26-A0BCF8B6E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Choosing the step size 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D684299-529E-0721-1A42-9F75DC77F1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Decreasing h decreases the approximation error : this is what we want.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However, when h is too small, we start to introduce round-off error:</a:t>
                </a:r>
              </a:p>
              <a:p>
                <a:pPr lvl="1">
                  <a:lnSpc>
                    <a:spcPct val="110000"/>
                  </a:lnSpc>
                  <a:buFont typeface="Courier New" panose="02070309020205020404" pitchFamily="49" charset="0"/>
                  <a:buChar char="o"/>
                </a:pPr>
                <a:r>
                  <a:rPr lang="en-US" dirty="0"/>
                  <a:t>When h is too small, the difference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might become a very small number for which we don’t have enough precision to represent.</a:t>
                </a:r>
              </a:p>
              <a:p>
                <a:pPr lvl="1">
                  <a:lnSpc>
                    <a:spcPct val="110000"/>
                  </a:lnSpc>
                  <a:buFont typeface="Courier New" panose="02070309020205020404" pitchFamily="49" charset="0"/>
                  <a:buChar char="o"/>
                </a:pPr>
                <a:endParaRPr lang="en-US" dirty="0"/>
              </a:p>
              <a:p>
                <a:pPr lvl="1">
                  <a:lnSpc>
                    <a:spcPct val="110000"/>
                  </a:lnSpc>
                  <a:buFont typeface="Courier New" panose="02070309020205020404" pitchFamily="49" charset="0"/>
                  <a:buChar char="o"/>
                </a:pPr>
                <a:endParaRPr lang="en-US" dirty="0"/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D684299-529E-0721-1A42-9F75DC77F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D74E3958-182B-CC51-353D-A13F8813F81D}"/>
              </a:ext>
            </a:extLst>
          </p:cNvPr>
          <p:cNvSpPr/>
          <p:nvPr/>
        </p:nvSpPr>
        <p:spPr>
          <a:xfrm>
            <a:off x="7235240" y="1821630"/>
            <a:ext cx="1047403" cy="847900"/>
          </a:xfrm>
          <a:prstGeom prst="rect">
            <a:avLst/>
          </a:prstGeom>
          <a:solidFill>
            <a:schemeClr val="accent4">
              <a:alpha val="49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2DADC3-1525-B232-0A58-6ADCA0F15781}"/>
              </a:ext>
            </a:extLst>
          </p:cNvPr>
          <p:cNvSpPr txBox="1"/>
          <p:nvPr/>
        </p:nvSpPr>
        <p:spPr>
          <a:xfrm>
            <a:off x="8561416" y="2023199"/>
            <a:ext cx="2626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Formula error (approximation error)</a:t>
            </a:r>
          </a:p>
        </p:txBody>
      </p:sp>
    </p:spTree>
    <p:extLst>
      <p:ext uri="{BB962C8B-B14F-4D97-AF65-F5344CB8AC3E}">
        <p14:creationId xmlns:p14="http://schemas.microsoft.com/office/powerpoint/2010/main" val="760532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100F-4290-6D8D-6C26-A0BCF8B6E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Choosing the step size 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D684299-529E-0721-1A42-9F75DC77F1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We want to use an h that is small enough to gives us low approximation error but large enough to avoid </a:t>
                </a:r>
                <a:r>
                  <a:rPr lang="en-US" b="1" i="1" dirty="0"/>
                  <a:t>round-off errors.</a:t>
                </a:r>
                <a:endParaRPr lang="en-US" dirty="0"/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  <a:p>
                <a:pPr lvl="1">
                  <a:lnSpc>
                    <a:spcPct val="110000"/>
                  </a:lnSpc>
                  <a:buFont typeface="Courier New" panose="02070309020205020404" pitchFamily="49" charset="0"/>
                  <a:buChar char="o"/>
                </a:pPr>
                <a:endParaRPr lang="en-US" dirty="0"/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D684299-529E-0721-1A42-9F75DC77F1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D74E3958-182B-CC51-353D-A13F8813F81D}"/>
              </a:ext>
            </a:extLst>
          </p:cNvPr>
          <p:cNvSpPr/>
          <p:nvPr/>
        </p:nvSpPr>
        <p:spPr>
          <a:xfrm>
            <a:off x="7348451" y="1825625"/>
            <a:ext cx="1047403" cy="847900"/>
          </a:xfrm>
          <a:prstGeom prst="rect">
            <a:avLst/>
          </a:prstGeom>
          <a:solidFill>
            <a:schemeClr val="accent4">
              <a:alpha val="49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2DADC3-1525-B232-0A58-6ADCA0F15781}"/>
              </a:ext>
            </a:extLst>
          </p:cNvPr>
          <p:cNvSpPr txBox="1"/>
          <p:nvPr/>
        </p:nvSpPr>
        <p:spPr>
          <a:xfrm>
            <a:off x="8561416" y="2023199"/>
            <a:ext cx="2626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Formula error (approximation error)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9FA575-03DE-DBDB-AD79-2C43BC9A6E68}"/>
              </a:ext>
            </a:extLst>
          </p:cNvPr>
          <p:cNvSpPr/>
          <p:nvPr/>
        </p:nvSpPr>
        <p:spPr>
          <a:xfrm>
            <a:off x="5410794" y="1915886"/>
            <a:ext cx="1625732" cy="346156"/>
          </a:xfrm>
          <a:prstGeom prst="rect">
            <a:avLst/>
          </a:prstGeom>
          <a:solidFill>
            <a:schemeClr val="accent2">
              <a:alpha val="49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2A022-9ADA-6BCC-C8A5-A82F77E0FF6D}"/>
              </a:ext>
            </a:extLst>
          </p:cNvPr>
          <p:cNvSpPr txBox="1"/>
          <p:nvPr/>
        </p:nvSpPr>
        <p:spPr>
          <a:xfrm>
            <a:off x="5410794" y="1535949"/>
            <a:ext cx="2626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Roundoff  error</a:t>
            </a:r>
          </a:p>
        </p:txBody>
      </p:sp>
    </p:spTree>
    <p:extLst>
      <p:ext uri="{BB962C8B-B14F-4D97-AF65-F5344CB8AC3E}">
        <p14:creationId xmlns:p14="http://schemas.microsoft.com/office/powerpoint/2010/main" val="2306811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8F0CE-7674-4CA8-AFB3-7F9A5DD1D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Choosing the step size - Extra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09591-484B-4C11-A801-F40457F9C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132" y="1555659"/>
            <a:ext cx="4450079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Simulation: approximating f’(x) at x = 1 where f is the exponential function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F40CE-089E-29BE-C5F5-2DD38327A01A}"/>
              </a:ext>
            </a:extLst>
          </p:cNvPr>
          <p:cNvSpPr txBox="1"/>
          <p:nvPr/>
        </p:nvSpPr>
        <p:spPr>
          <a:xfrm>
            <a:off x="313509" y="2395561"/>
            <a:ext cx="3701142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np.exp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(x)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fp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h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(f(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x+h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)-f(x))/h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fpt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np.exp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FBE333-C46D-6553-3A6D-672673F9C38E}"/>
              </a:ext>
            </a:extLst>
          </p:cNvPr>
          <p:cNvSpPr txBox="1"/>
          <p:nvPr/>
        </p:nvSpPr>
        <p:spPr>
          <a:xfrm>
            <a:off x="235132" y="4386466"/>
            <a:ext cx="4136571" cy="24622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 = </a:t>
            </a:r>
            <a:r>
              <a:rPr lang="en-US" sz="1400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1</a:t>
            </a:r>
            <a:b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 = </a:t>
            </a:r>
            <a:r>
              <a:rPr lang="en-US" sz="1400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0.125</a:t>
            </a:r>
            <a:endParaRPr 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[]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dfs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[]</a:t>
            </a:r>
          </a:p>
          <a:p>
            <a:r>
              <a:rPr lang="en-US" sz="14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50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=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fp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(x, h)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hs.append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(h)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dfs.append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print (</a:t>
            </a:r>
            <a:r>
              <a:rPr 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"h="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h, </a:t>
            </a:r>
            <a:r>
              <a:rPr 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="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h = h/</a:t>
            </a:r>
            <a:r>
              <a:rPr lang="en-US" sz="1400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2.0</a:t>
            </a:r>
            <a:endParaRPr 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793A6C-95AF-72D4-F40E-388557B0D523}"/>
              </a:ext>
            </a:extLst>
          </p:cNvPr>
          <p:cNvSpPr txBox="1"/>
          <p:nvPr/>
        </p:nvSpPr>
        <p:spPr>
          <a:xfrm>
            <a:off x="4996543" y="1535818"/>
            <a:ext cx="7125788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plt.plot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abs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dfs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)-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fpt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(x)))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plt.xticks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51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[::</a:t>
            </a:r>
            <a:r>
              <a:rPr lang="en-US" sz="1400" b="0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 rotation=</a:t>
            </a:r>
            <a:r>
              <a:rPr 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'vertical'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plt.ylabel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"Absolute error"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);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B994268-F2C2-B90E-84B2-814D422E4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151" y="2614816"/>
            <a:ext cx="4136571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4C8657-961C-08F5-38D9-7A538FCD220D}"/>
              </a:ext>
            </a:extLst>
          </p:cNvPr>
          <p:cNvSpPr txBox="1"/>
          <p:nvPr/>
        </p:nvSpPr>
        <p:spPr>
          <a:xfrm>
            <a:off x="8499565" y="6158116"/>
            <a:ext cx="362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 values</a:t>
            </a:r>
          </a:p>
        </p:txBody>
      </p:sp>
    </p:spTree>
    <p:extLst>
      <p:ext uri="{BB962C8B-B14F-4D97-AF65-F5344CB8AC3E}">
        <p14:creationId xmlns:p14="http://schemas.microsoft.com/office/powerpoint/2010/main" val="24942961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047B-CAB5-164B-A602-369C8AAE9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Picking h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66594A-1405-E141-812F-F45B86945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0FB6BB-50C9-054F-83D8-9E854C3375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628107"/>
            <a:ext cx="5157787" cy="3438524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2A8AC5-343E-EA4D-8944-A91BB9849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Derivative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92F7F3A-E9B4-804A-A89E-B9CB47B05BF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619640"/>
            <a:ext cx="5183188" cy="3455458"/>
          </a:xfrm>
        </p:spPr>
      </p:pic>
    </p:spTree>
    <p:extLst>
      <p:ext uri="{BB962C8B-B14F-4D97-AF65-F5344CB8AC3E}">
        <p14:creationId xmlns:p14="http://schemas.microsoft.com/office/powerpoint/2010/main" val="36958251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4B32BB7-3CE4-654B-ABC6-7D24BE25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Picking 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FE4481-98FF-9742-9C7E-A5884C1A4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54696"/>
            <a:ext cx="4114800" cy="274320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4BF0D28-C2EF-0547-A4E0-A8EEF5532769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7726680" y="1754696"/>
            <a:ext cx="4114800" cy="2743200"/>
          </a:xfrm>
        </p:spPr>
      </p:pic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CD1C42CC-E8D0-7847-A583-9263A8AAFF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63340" y="4114800"/>
            <a:ext cx="4114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009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CA0CC0-DC8B-6D45-AC83-1340CBAA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Picking h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58D1A84-90DC-2B49-A1C2-D531B6E5F0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274094"/>
            <a:ext cx="5181600" cy="3454400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72D74B6-14C0-5240-AB6D-6CE4C246AE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274094"/>
            <a:ext cx="5181600" cy="3454400"/>
          </a:xfrm>
        </p:spPr>
      </p:pic>
    </p:spTree>
    <p:extLst>
      <p:ext uri="{BB962C8B-B14F-4D97-AF65-F5344CB8AC3E}">
        <p14:creationId xmlns:p14="http://schemas.microsoft.com/office/powerpoint/2010/main" val="28040413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8D0283-F504-42B4-8FC5-B74F3E36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But we don’t know the true derivative!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BE4A01-06FD-405C-812B-616831479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890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exist </a:t>
            </a:r>
            <a:r>
              <a:rPr lang="en-US" dirty="0">
                <a:solidFill>
                  <a:srgbClr val="202122"/>
                </a:solidFill>
              </a:rPr>
              <a:t>a </a:t>
            </a:r>
            <a:r>
              <a:rPr lang="en-US" b="0" i="0" dirty="0">
                <a:solidFill>
                  <a:srgbClr val="202122"/>
                </a:solidFill>
                <a:effectLst/>
              </a:rPr>
              <a:t>formula for </a:t>
            </a:r>
            <a:r>
              <a:rPr lang="en-US" b="0" i="1" dirty="0">
                <a:solidFill>
                  <a:srgbClr val="202122"/>
                </a:solidFill>
                <a:effectLst/>
              </a:rPr>
              <a:t>h</a:t>
            </a:r>
            <a:r>
              <a:rPr lang="en-US" b="0" i="0" dirty="0">
                <a:solidFill>
                  <a:srgbClr val="202122"/>
                </a:solidFill>
                <a:effectLst/>
              </a:rPr>
              <a:t> that balances the rounding error against the </a:t>
            </a:r>
            <a:r>
              <a:rPr lang="en-US" dirty="0">
                <a:solidFill>
                  <a:srgbClr val="202122"/>
                </a:solidFill>
              </a:rPr>
              <a:t>approximation</a:t>
            </a:r>
            <a:r>
              <a:rPr lang="en-US" b="0" i="0" dirty="0">
                <a:solidFill>
                  <a:srgbClr val="202122"/>
                </a:solidFill>
                <a:effectLst/>
              </a:rPr>
              <a:t> error for optimum accuracy:</a:t>
            </a:r>
            <a:endParaRPr lang="en-US" dirty="0">
              <a:solidFill>
                <a:srgbClr val="202122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6788CB-C879-F7CA-AE53-3E9B69C60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036" y="2733674"/>
            <a:ext cx="6281738" cy="370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122865-2007-4E16-5007-04118204EBD3}"/>
              </a:ext>
            </a:extLst>
          </p:cNvPr>
          <p:cNvSpPr txBox="1"/>
          <p:nvPr/>
        </p:nvSpPr>
        <p:spPr>
          <a:xfrm>
            <a:off x="7122318" y="6492875"/>
            <a:ext cx="61007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2122"/>
                </a:solidFill>
                <a:hlinkClick r:id="rId3"/>
              </a:rPr>
              <a:t>https://en.wikipedia.org/wiki/Numerical_differentiation#Step_size</a:t>
            </a:r>
            <a:endParaRPr lang="en-US" sz="1400" dirty="0">
              <a:solidFill>
                <a:srgbClr val="2021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3734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5D1B-B571-3247-9F28-FC20C5464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Numerical Differentiation with Multiple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E0BCA-9361-E541-98DB-CD728A09A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models in machine learning have more than one parameter</a:t>
            </a:r>
          </a:p>
          <a:p>
            <a:r>
              <a:rPr lang="en-US" dirty="0"/>
              <a:t>They are functions of multiple variables: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f(w</a:t>
            </a:r>
            <a:r>
              <a:rPr lang="en-US" baseline="-25000" dirty="0"/>
              <a:t>0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/>
              <a:t>w</a:t>
            </a:r>
            <a:r>
              <a:rPr lang="en-US" baseline="-25000" dirty="0"/>
              <a:t>1</a:t>
            </a:r>
            <a:r>
              <a:rPr lang="en-US" dirty="0"/>
              <a:t>,</a:t>
            </a:r>
            <a:r>
              <a:rPr lang="en-US" baseline="-25000" dirty="0"/>
              <a:t> </a:t>
            </a:r>
            <a:r>
              <a:rPr lang="en-US" dirty="0"/>
              <a:t>w</a:t>
            </a:r>
            <a:r>
              <a:rPr lang="en-US" baseline="-25000" dirty="0"/>
              <a:t>2 </a:t>
            </a:r>
            <a:r>
              <a:rPr lang="en-US" dirty="0"/>
              <a:t>,w</a:t>
            </a:r>
            <a:r>
              <a:rPr lang="en-US" baseline="-25000" dirty="0"/>
              <a:t>3</a:t>
            </a:r>
            <a:r>
              <a:rPr lang="en-US" dirty="0"/>
              <a:t>) = w</a:t>
            </a:r>
            <a:r>
              <a:rPr lang="en-US" baseline="-25000" dirty="0"/>
              <a:t>0</a:t>
            </a:r>
            <a:r>
              <a:rPr lang="en-US" dirty="0"/>
              <a:t> + w</a:t>
            </a:r>
            <a:r>
              <a:rPr lang="en-US" baseline="-25000" dirty="0"/>
              <a:t>1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+ w</a:t>
            </a:r>
            <a:r>
              <a:rPr lang="en-US" baseline="-25000" dirty="0"/>
              <a:t>2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 + w</a:t>
            </a:r>
            <a:r>
              <a:rPr lang="en-US" baseline="-25000" dirty="0"/>
              <a:t>3</a:t>
            </a:r>
            <a:r>
              <a:rPr lang="en-US" dirty="0"/>
              <a:t>x</a:t>
            </a:r>
            <a:r>
              <a:rPr lang="en-US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827004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5D1B-B571-3247-9F28-FC20C5464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Numerical Differentiation with Multiple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FE0BCA-9361-E541-98DB-CD728A09A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Most models in machine learning have more than one parameter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They are functions of multiple variables:</a:t>
                </a:r>
                <a:br>
                  <a:rPr lang="en-US" dirty="0"/>
                </a:br>
                <a:r>
                  <a:rPr lang="en-US" dirty="0"/>
                  <a:t>f(w</a:t>
                </a:r>
                <a:r>
                  <a:rPr lang="en-US" baseline="-25000" dirty="0"/>
                  <a:t>0</a:t>
                </a:r>
                <a:r>
                  <a:rPr lang="en-US" dirty="0"/>
                  <a:t>,</a:t>
                </a:r>
                <a:r>
                  <a:rPr lang="en-US" baseline="-25000" dirty="0"/>
                  <a:t> </a:t>
                </a:r>
                <a:r>
                  <a:rPr lang="en-US" dirty="0"/>
                  <a:t>w</a:t>
                </a:r>
                <a:r>
                  <a:rPr lang="en-US" baseline="-25000" dirty="0"/>
                  <a:t>1</a:t>
                </a:r>
                <a:r>
                  <a:rPr lang="en-US" dirty="0"/>
                  <a:t>,</a:t>
                </a:r>
                <a:r>
                  <a:rPr lang="en-US" baseline="-25000" dirty="0"/>
                  <a:t> </a:t>
                </a:r>
                <a:r>
                  <a:rPr lang="en-US" dirty="0"/>
                  <a:t>w</a:t>
                </a:r>
                <a:r>
                  <a:rPr lang="en-US" baseline="-25000" dirty="0"/>
                  <a:t>2 </a:t>
                </a:r>
                <a:r>
                  <a:rPr lang="en-US" dirty="0"/>
                  <a:t>,w</a:t>
                </a:r>
                <a:r>
                  <a:rPr lang="en-US" baseline="-25000" dirty="0"/>
                  <a:t>3</a:t>
                </a:r>
                <a:r>
                  <a:rPr lang="en-US" dirty="0"/>
                  <a:t>) = w</a:t>
                </a:r>
                <a:r>
                  <a:rPr lang="en-US" baseline="-25000" dirty="0"/>
                  <a:t>0</a:t>
                </a:r>
                <a:r>
                  <a:rPr lang="en-US" dirty="0"/>
                  <a:t> + w</a:t>
                </a:r>
                <a:r>
                  <a:rPr lang="en-US" baseline="-25000" dirty="0"/>
                  <a:t>1</a:t>
                </a:r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  <a:r>
                  <a:rPr lang="en-US" dirty="0"/>
                  <a:t> + w</a:t>
                </a:r>
                <a:r>
                  <a:rPr lang="en-US" baseline="-25000" dirty="0"/>
                  <a:t>2</a:t>
                </a:r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  <a:r>
                  <a:rPr lang="en-US" dirty="0"/>
                  <a:t> + w</a:t>
                </a:r>
                <a:r>
                  <a:rPr lang="en-US" baseline="-25000" dirty="0"/>
                  <a:t>3</a:t>
                </a:r>
                <a:r>
                  <a:rPr lang="en-US" dirty="0"/>
                  <a:t>x</a:t>
                </a:r>
                <a:r>
                  <a:rPr lang="en-US" baseline="-25000" dirty="0"/>
                  <a:t>3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Analytically, we would take partial derivatives:</a:t>
                </a: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FE0BCA-9361-E541-98DB-CD728A09A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55355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5D1B-B571-3247-9F28-FC20C5464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Numerical Differentiation with Multiple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FE0BCA-9361-E541-98DB-CD728A09A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Numerically, we have to calculate the derivative for each variable: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FE0BCA-9361-E541-98DB-CD728A09A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316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7293</TotalTime>
  <Words>1790</Words>
  <Application>Microsoft Macintosh PowerPoint</Application>
  <PresentationFormat>Widescreen</PresentationFormat>
  <Paragraphs>292</Paragraphs>
  <Slides>38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Courier New</vt:lpstr>
      <vt:lpstr>Office Theme</vt:lpstr>
      <vt:lpstr>Numerical Differentiation</vt:lpstr>
      <vt:lpstr>Derivatives</vt:lpstr>
      <vt:lpstr>Numerical Differentiation</vt:lpstr>
      <vt:lpstr>Derivative</vt:lpstr>
      <vt:lpstr>Derivative</vt:lpstr>
      <vt:lpstr>Derivative</vt:lpstr>
      <vt:lpstr>Derivative</vt:lpstr>
      <vt:lpstr>Derivative</vt:lpstr>
      <vt:lpstr>Derivative</vt:lpstr>
      <vt:lpstr>Approximating the Slope with the slope a Secant Line</vt:lpstr>
      <vt:lpstr>Numerical Differentiation</vt:lpstr>
      <vt:lpstr>Numerical Differentiation</vt:lpstr>
      <vt:lpstr>Numerical Differentiation</vt:lpstr>
      <vt:lpstr>Numerical Differentiation</vt:lpstr>
      <vt:lpstr>Numerical Differentiation</vt:lpstr>
      <vt:lpstr>In Code</vt:lpstr>
      <vt:lpstr>Estimating the Derivative Function</vt:lpstr>
      <vt:lpstr>Numerical Differentiation – Other Approximations</vt:lpstr>
      <vt:lpstr>Revisiting the Taylor Series Expansion</vt:lpstr>
      <vt:lpstr>Error Analysis for Forward Difference Method</vt:lpstr>
      <vt:lpstr>Error Analysis for Forward Difference Method</vt:lpstr>
      <vt:lpstr>Error Analysis for Central Difference Method</vt:lpstr>
      <vt:lpstr>Error Analysis for Central Difference Method</vt:lpstr>
      <vt:lpstr>Order of Accuracy</vt:lpstr>
      <vt:lpstr>Numerical Differentiation – Other Approximations (Extra)</vt:lpstr>
      <vt:lpstr>Choosing the step size (h)</vt:lpstr>
      <vt:lpstr>Decreasing h</vt:lpstr>
      <vt:lpstr>Choosing the step size h</vt:lpstr>
      <vt:lpstr>Choosing the step size h</vt:lpstr>
      <vt:lpstr>Choosing the step size h</vt:lpstr>
      <vt:lpstr>Choosing the step size - Extra</vt:lpstr>
      <vt:lpstr>Picking h</vt:lpstr>
      <vt:lpstr>Picking h</vt:lpstr>
      <vt:lpstr>Picking h</vt:lpstr>
      <vt:lpstr>But we don’t know the true derivative!</vt:lpstr>
      <vt:lpstr>Numerical Differentiation with Multiple Variables</vt:lpstr>
      <vt:lpstr>Numerical Differentiation with Multiple Variables</vt:lpstr>
      <vt:lpstr>Numerical Differentiation with Multiple Variables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Differentiation</dc:title>
  <dc:creator>Nowling, RJ</dc:creator>
  <cp:lastModifiedBy>Bukowy, John</cp:lastModifiedBy>
  <cp:revision>35</cp:revision>
  <dcterms:created xsi:type="dcterms:W3CDTF">2020-10-21T13:58:07Z</dcterms:created>
  <dcterms:modified xsi:type="dcterms:W3CDTF">2024-11-11T18:58:37Z</dcterms:modified>
</cp:coreProperties>
</file>