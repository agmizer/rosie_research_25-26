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632" r:id="rId3"/>
    <p:sldId id="647" r:id="rId4"/>
    <p:sldId id="633" r:id="rId5"/>
    <p:sldId id="648" r:id="rId6"/>
    <p:sldId id="659" r:id="rId7"/>
    <p:sldId id="660" r:id="rId8"/>
    <p:sldId id="651" r:id="rId9"/>
    <p:sldId id="661" r:id="rId10"/>
    <p:sldId id="663" r:id="rId11"/>
    <p:sldId id="656" r:id="rId12"/>
    <p:sldId id="635" r:id="rId13"/>
    <p:sldId id="642" r:id="rId14"/>
    <p:sldId id="644" r:id="rId15"/>
    <p:sldId id="664" r:id="rId16"/>
    <p:sldId id="637" r:id="rId17"/>
    <p:sldId id="665" r:id="rId18"/>
    <p:sldId id="666" r:id="rId19"/>
    <p:sldId id="64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48" autoAdjust="0"/>
    <p:restoredTop sz="91224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1CACB-5971-45D4-9C67-FB657E8DB397}" type="datetimeFigureOut">
              <a:rPr lang="en-US" smtClean="0"/>
              <a:t>3/17/24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EE3EA-2FAB-47B0-973D-F2F6D641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7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22BE-D8B2-4F97-A3D1-FE7DFE35C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5642A-E4AB-4CF5-9AB6-6A4BC016B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720D7-F72E-4BD6-859F-9172BDC6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AAFE3-326B-434C-8868-85AE4FFA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31746-7841-4C25-A242-3ECCD984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3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BB3D-6C5E-44E6-AA4B-5A6B8E84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B805-8BE6-4E29-9C78-3D8B73E0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62477-D5B5-4DDD-A5D9-50198EEF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9E22-7F5C-4AC5-81DE-D70CB1A2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27337-FA8A-4FC9-98C8-16D02D9A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9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F0DA-C526-440C-9E25-118EE569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6A23D-1BCE-46E9-BDE5-038B070DF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14AE8-A89F-4AF0-A124-627C96C5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E007E-3A0E-4314-BE35-65A00B25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07654-312A-49F9-A8A7-E041AEF0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2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EA80-9157-46B9-9B6C-866ECB4F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55512-1E79-417B-AF52-B96755488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F5347-824F-45BB-94BB-795BE001F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BD165-3FD6-4EDC-B038-27B6FAB5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670DF-7097-4D69-8812-83D8CD27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3A0B-7540-4059-9843-355929D0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7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D613-E280-44CA-A770-834C432C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27B75-DC09-433C-9F55-300EC8F8B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BA939-CA30-4F17-87B7-760951DEA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6A096-3BC1-45BF-BC50-E43A20C28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9EAD1-F304-43E7-9440-3CD09AEE5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91FD4-5E10-4382-843A-45EC2E7A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C9640-D6E4-47BC-95C6-821D6A3F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57401-4351-40E8-A5AE-99EC9008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9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B5DB-477C-48A9-82E4-9F106960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4A002-3405-414C-BD0D-4E02A8A1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94212-8BB5-49D0-AB4B-36DC204B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984A2-C0C8-4E8D-87D6-271599DD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0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BCF15-D505-48CD-8264-FE5C9795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1F9DB-CAA2-4020-9012-9F1EF528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059D5-D7B0-4AB1-9375-2C4F7761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1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2E85-C239-4C22-AD11-10405385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5B297-510E-493F-8C06-041D0A662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C91D9-41B8-4112-9C50-627E91714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FF5DB-1613-4DC5-87A3-86E6BE1B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C033E-2E39-4F20-B20C-5C24BC11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31C63-D410-40AA-9340-9A312220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6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796E-E2C7-4318-8EF7-93A7D84F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B41617-2F37-4AC2-B419-EAA8C0AD4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A429-F83D-4DB8-8195-20270AE28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8AEFC-C38F-4B3B-AA22-980F0C1C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D791E-3787-4F78-872B-58723CBB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02F8-480F-486B-BD94-412196AC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2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179B-500A-496D-B4D9-F977820B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7EB8F-B4BA-44E5-88AC-88224F298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44613-DC20-4985-BA9F-FD9160A7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1043-1250-4111-B31D-F06A98BF5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98D8-E6A2-4106-AC9E-C128165D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3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BD81D-1246-4B00-A010-388321FE0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597C9-E1FA-4D61-92BB-630BE2C98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6A213-7C75-4546-8719-20901677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AC16E-47A1-48CF-BC45-6C8B3231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F7EC8-FCC5-49F8-95FE-501140C2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2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B2CB8-2FD9-4E31-B363-89615416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99CE-A21C-4684-93F1-A267B39C4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8A116-D6CC-4CC6-9E36-248C5BB1D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86882-1CF3-4E21-89BE-C5CEB3924659}" type="datetimeFigureOut">
              <a:rPr lang="en-US" smtClean="0"/>
              <a:t>3/17/24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686ED-4DCF-44D7-AC26-E894F4A17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59EE5-4619-4AE1-8C4A-7E25B4066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983F6-BBDA-4E85-87CF-33C01B42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5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B932-E397-4929-95D5-E688161E3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Calculus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E6D2B-55C7-4A2B-B516-E6D8FFBE9A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CSC4601 Theory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5313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F322-E45F-E445-A3C5-5FEEDF74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1E7EA-8FCB-A24D-9F9D-976434CA0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second half of the term, we are going to focus on fitting models</a:t>
            </a:r>
          </a:p>
          <a:p>
            <a:r>
              <a:rPr lang="en-US" dirty="0"/>
              <a:t>In short, fitting involves:</a:t>
            </a:r>
          </a:p>
          <a:p>
            <a:pPr lvl="1"/>
            <a:r>
              <a:rPr lang="en-US" dirty="0"/>
              <a:t>Defining an objective function</a:t>
            </a:r>
          </a:p>
          <a:p>
            <a:pPr lvl="1"/>
            <a:r>
              <a:rPr lang="en-US" dirty="0"/>
              <a:t>Finding a set of parameters that optimize the output of the objective function</a:t>
            </a:r>
          </a:p>
          <a:p>
            <a:r>
              <a:rPr lang="en-US" dirty="0"/>
              <a:t>Optimization employs techniques from calculus</a:t>
            </a:r>
          </a:p>
          <a:p>
            <a:r>
              <a:rPr lang="en-US" dirty="0"/>
              <a:t>We're going to quickly review key concepts from calculus</a:t>
            </a:r>
          </a:p>
        </p:txBody>
      </p:sp>
    </p:spTree>
    <p:extLst>
      <p:ext uri="{BB962C8B-B14F-4D97-AF65-F5344CB8AC3E}">
        <p14:creationId xmlns:p14="http://schemas.microsoft.com/office/powerpoint/2010/main" val="292010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2441-6D00-4F45-BDCB-182F5943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5EE835-5692-D848-AE75-367903AC3F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178"/>
            <a:ext cx="5181600" cy="3950231"/>
          </a:xfrm>
        </p:spPr>
      </p:pic>
    </p:spTree>
    <p:extLst>
      <p:ext uri="{BB962C8B-B14F-4D97-AF65-F5344CB8AC3E}">
        <p14:creationId xmlns:p14="http://schemas.microsoft.com/office/powerpoint/2010/main" val="155402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2441-6D00-4F45-BDCB-182F5943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5EE835-5692-D848-AE75-367903AC3F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178"/>
            <a:ext cx="5181600" cy="3950231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D25602-A3EA-D64A-934C-D58F01B191F7}"/>
              </a:ext>
            </a:extLst>
          </p:cNvPr>
          <p:cNvCxnSpPr/>
          <p:nvPr/>
        </p:nvCxnSpPr>
        <p:spPr>
          <a:xfrm>
            <a:off x="9596387" y="3429000"/>
            <a:ext cx="0" cy="8061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3CCE7-8DB7-524D-8C23-B7C6E4D32EB8}"/>
              </a:ext>
            </a:extLst>
          </p:cNvPr>
          <p:cNvCxnSpPr>
            <a:cxnSpLocks/>
          </p:cNvCxnSpPr>
          <p:nvPr/>
        </p:nvCxnSpPr>
        <p:spPr>
          <a:xfrm flipH="1">
            <a:off x="8756375" y="4235116"/>
            <a:ext cx="8400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9FEE87-E302-9A40-8A31-3D4075A95016}"/>
                  </a:ext>
                </a:extLst>
              </p:cNvPr>
              <p:cNvSpPr txBox="1"/>
              <p:nvPr/>
            </p:nvSpPr>
            <p:spPr>
              <a:xfrm>
                <a:off x="9677413" y="3631961"/>
                <a:ext cx="1071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rise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9FEE87-E302-9A40-8A31-3D4075A95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13" y="3631961"/>
                <a:ext cx="1071255" cy="369332"/>
              </a:xfrm>
              <a:prstGeom prst="rect">
                <a:avLst/>
              </a:prstGeom>
              <a:blipFill>
                <a:blip r:embed="rId4"/>
                <a:stretch>
                  <a:fillRect l="-7059" t="-6897" r="-5882" b="-4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6F8B4-077A-CA46-B997-E1FBA65BE845}"/>
                  </a:ext>
                </a:extLst>
              </p:cNvPr>
              <p:cNvSpPr txBox="1"/>
              <p:nvPr/>
            </p:nvSpPr>
            <p:spPr>
              <a:xfrm>
                <a:off x="8756375" y="4385940"/>
                <a:ext cx="1041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run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6F8B4-077A-CA46-B997-E1FBA65BE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75" y="4385940"/>
                <a:ext cx="1041632" cy="369332"/>
              </a:xfrm>
              <a:prstGeom prst="rect">
                <a:avLst/>
              </a:prstGeom>
              <a:blipFill>
                <a:blip r:embed="rId5"/>
                <a:stretch>
                  <a:fillRect l="-3614" t="-6667" r="-2410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10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2441-6D00-4F45-BDCB-182F5943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1−0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5EE835-5692-D848-AE75-367903AC3F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178"/>
            <a:ext cx="5181600" cy="3950231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D25602-A3EA-D64A-934C-D58F01B191F7}"/>
              </a:ext>
            </a:extLst>
          </p:cNvPr>
          <p:cNvCxnSpPr/>
          <p:nvPr/>
        </p:nvCxnSpPr>
        <p:spPr>
          <a:xfrm>
            <a:off x="9596387" y="3429000"/>
            <a:ext cx="0" cy="8061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E3CCE7-8DB7-524D-8C23-B7C6E4D32EB8}"/>
              </a:ext>
            </a:extLst>
          </p:cNvPr>
          <p:cNvCxnSpPr>
            <a:cxnSpLocks/>
          </p:cNvCxnSpPr>
          <p:nvPr/>
        </p:nvCxnSpPr>
        <p:spPr>
          <a:xfrm flipH="1">
            <a:off x="8756375" y="4235116"/>
            <a:ext cx="8400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9FEE87-E302-9A40-8A31-3D4075A95016}"/>
                  </a:ext>
                </a:extLst>
              </p:cNvPr>
              <p:cNvSpPr txBox="1"/>
              <p:nvPr/>
            </p:nvSpPr>
            <p:spPr>
              <a:xfrm>
                <a:off x="9677413" y="3631961"/>
                <a:ext cx="1071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rise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9FEE87-E302-9A40-8A31-3D4075A95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13" y="3631961"/>
                <a:ext cx="1071255" cy="369332"/>
              </a:xfrm>
              <a:prstGeom prst="rect">
                <a:avLst/>
              </a:prstGeom>
              <a:blipFill>
                <a:blip r:embed="rId4"/>
                <a:stretch>
                  <a:fillRect l="-7059" t="-6897" r="-5882" b="-4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6F8B4-077A-CA46-B997-E1FBA65BE845}"/>
                  </a:ext>
                </a:extLst>
              </p:cNvPr>
              <p:cNvSpPr txBox="1"/>
              <p:nvPr/>
            </p:nvSpPr>
            <p:spPr>
              <a:xfrm>
                <a:off x="8756375" y="4385940"/>
                <a:ext cx="1041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run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6F8B4-077A-CA46-B997-E1FBA65BE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375" y="4385940"/>
                <a:ext cx="1041632" cy="369332"/>
              </a:xfrm>
              <a:prstGeom prst="rect">
                <a:avLst/>
              </a:prstGeom>
              <a:blipFill>
                <a:blip r:embed="rId5"/>
                <a:stretch>
                  <a:fillRect l="-3614" t="-6667" r="-2410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933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2441-6D00-4F45-BDCB-182F5943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0 −−1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−1−−2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63E5FF-1840-CB4B-A8BC-BF1912AB7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5EE835-5692-D848-AE75-367903AC3F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178"/>
            <a:ext cx="5181600" cy="3950231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7CC56CA-2F1C-A541-AFD3-3DC87DB7F076}"/>
              </a:ext>
            </a:extLst>
          </p:cNvPr>
          <p:cNvGrpSpPr/>
          <p:nvPr/>
        </p:nvGrpSpPr>
        <p:grpSpPr>
          <a:xfrm>
            <a:off x="8756375" y="3429000"/>
            <a:ext cx="840012" cy="806116"/>
            <a:chOff x="8756375" y="3429000"/>
            <a:chExt cx="840012" cy="80611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D25602-A3EA-D64A-934C-D58F01B191F7}"/>
                </a:ext>
              </a:extLst>
            </p:cNvPr>
            <p:cNvCxnSpPr/>
            <p:nvPr/>
          </p:nvCxnSpPr>
          <p:spPr>
            <a:xfrm>
              <a:off x="9596387" y="3429000"/>
              <a:ext cx="0" cy="8061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FE3CCE7-8DB7-524D-8C23-B7C6E4D32E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375" y="4235116"/>
              <a:ext cx="84001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5A3B7B-06C7-5143-8C00-5DA5B14A5128}"/>
              </a:ext>
            </a:extLst>
          </p:cNvPr>
          <p:cNvGrpSpPr/>
          <p:nvPr/>
        </p:nvGrpSpPr>
        <p:grpSpPr>
          <a:xfrm>
            <a:off x="7089914" y="5054662"/>
            <a:ext cx="1992293" cy="1326272"/>
            <a:chOff x="8756375" y="3429000"/>
            <a:chExt cx="1992293" cy="132627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50DB4A-BE61-1749-993F-FD11498B61EF}"/>
                </a:ext>
              </a:extLst>
            </p:cNvPr>
            <p:cNvCxnSpPr/>
            <p:nvPr/>
          </p:nvCxnSpPr>
          <p:spPr>
            <a:xfrm>
              <a:off x="9596387" y="3429000"/>
              <a:ext cx="0" cy="806116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20B5D0-4F14-A847-BD60-41BE2989F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375" y="4235116"/>
              <a:ext cx="840012" cy="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E347D-55B7-A442-A88B-0B285ADFD13A}"/>
                    </a:ext>
                  </a:extLst>
                </p:cNvPr>
                <p:cNvSpPr txBox="1"/>
                <p:nvPr/>
              </p:nvSpPr>
              <p:spPr>
                <a:xfrm>
                  <a:off x="9677413" y="3631961"/>
                  <a:ext cx="10712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rise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E347D-55B7-A442-A88B-0B285ADFD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7413" y="3631961"/>
                  <a:ext cx="107125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5814" t="-6452" r="-4651" b="-35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DF4D35-DE26-0944-A002-069B518E4C88}"/>
                    </a:ext>
                  </a:extLst>
                </p:cNvPr>
                <p:cNvSpPr txBox="1"/>
                <p:nvPr/>
              </p:nvSpPr>
              <p:spPr>
                <a:xfrm>
                  <a:off x="8756375" y="4385940"/>
                  <a:ext cx="104163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run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DF4D35-DE26-0944-A002-069B518E4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375" y="4385940"/>
                  <a:ext cx="104163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614" t="-6667" r="-2410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807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2441-6D00-4F45-BDCB-182F5943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3E5FF-1840-CB4B-A8BC-BF1912AB71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0" dirty="0"/>
              <a:t>The slope is constant</a:t>
            </a:r>
          </a:p>
          <a:p>
            <a:pPr marL="0" indent="0" algn="ctr">
              <a:buNone/>
            </a:pPr>
            <a:r>
              <a:rPr lang="en-US" b="0" dirty="0"/>
              <a:t>for all parts of the line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5EE835-5692-D848-AE75-367903AC3F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178"/>
            <a:ext cx="5181600" cy="3950231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7CC56CA-2F1C-A541-AFD3-3DC87DB7F076}"/>
              </a:ext>
            </a:extLst>
          </p:cNvPr>
          <p:cNvGrpSpPr/>
          <p:nvPr/>
        </p:nvGrpSpPr>
        <p:grpSpPr>
          <a:xfrm>
            <a:off x="8756375" y="3429000"/>
            <a:ext cx="840012" cy="806116"/>
            <a:chOff x="8756375" y="3429000"/>
            <a:chExt cx="840012" cy="80611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D25602-A3EA-D64A-934C-D58F01B191F7}"/>
                </a:ext>
              </a:extLst>
            </p:cNvPr>
            <p:cNvCxnSpPr/>
            <p:nvPr/>
          </p:nvCxnSpPr>
          <p:spPr>
            <a:xfrm>
              <a:off x="9596387" y="3429000"/>
              <a:ext cx="0" cy="8061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FE3CCE7-8DB7-524D-8C23-B7C6E4D32E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375" y="4235116"/>
              <a:ext cx="84001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5A3B7B-06C7-5143-8C00-5DA5B14A5128}"/>
              </a:ext>
            </a:extLst>
          </p:cNvPr>
          <p:cNvGrpSpPr/>
          <p:nvPr/>
        </p:nvGrpSpPr>
        <p:grpSpPr>
          <a:xfrm>
            <a:off x="7089914" y="5054662"/>
            <a:ext cx="1992293" cy="1326272"/>
            <a:chOff x="8756375" y="3429000"/>
            <a:chExt cx="1992293" cy="132627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50DB4A-BE61-1749-993F-FD11498B61EF}"/>
                </a:ext>
              </a:extLst>
            </p:cNvPr>
            <p:cNvCxnSpPr/>
            <p:nvPr/>
          </p:nvCxnSpPr>
          <p:spPr>
            <a:xfrm>
              <a:off x="9596387" y="3429000"/>
              <a:ext cx="0" cy="806116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20B5D0-4F14-A847-BD60-41BE2989F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375" y="4235116"/>
              <a:ext cx="840012" cy="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E347D-55B7-A442-A88B-0B285ADFD13A}"/>
                    </a:ext>
                  </a:extLst>
                </p:cNvPr>
                <p:cNvSpPr txBox="1"/>
                <p:nvPr/>
              </p:nvSpPr>
              <p:spPr>
                <a:xfrm>
                  <a:off x="9677413" y="3631961"/>
                  <a:ext cx="10712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rise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E347D-55B7-A442-A88B-0B285ADFD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7413" y="3631961"/>
                  <a:ext cx="107125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5814" t="-6452" r="-4651" b="-35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DF4D35-DE26-0944-A002-069B518E4C88}"/>
                    </a:ext>
                  </a:extLst>
                </p:cNvPr>
                <p:cNvSpPr txBox="1"/>
                <p:nvPr/>
              </p:nvSpPr>
              <p:spPr>
                <a:xfrm>
                  <a:off x="8756375" y="4385940"/>
                  <a:ext cx="104163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run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DF4D35-DE26-0944-A002-069B518E4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375" y="4385940"/>
                  <a:ext cx="104163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614" t="-6667" r="-2410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0520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46F3-AFB4-7346-8945-28724F6B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Parabola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F057C-BBB8-5048-BF82-5E91EFE5686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4−3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F057C-BBB8-5048-BF82-5E91EFE56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5197B-84F3-494D-A92B-D51C571049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71656"/>
            <a:ext cx="5181600" cy="4259275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0D6C2A-203B-024F-8632-06A3F4F22B79}"/>
              </a:ext>
            </a:extLst>
          </p:cNvPr>
          <p:cNvCxnSpPr>
            <a:cxnSpLocks/>
          </p:cNvCxnSpPr>
          <p:nvPr/>
        </p:nvCxnSpPr>
        <p:spPr>
          <a:xfrm>
            <a:off x="9656022" y="2702397"/>
            <a:ext cx="0" cy="16647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FD90-E355-EA46-BFF3-113053A4052F}"/>
                  </a:ext>
                </a:extLst>
              </p:cNvPr>
              <p:cNvSpPr txBox="1"/>
              <p:nvPr/>
            </p:nvSpPr>
            <p:spPr>
              <a:xfrm>
                <a:off x="9729267" y="3429000"/>
                <a:ext cx="1071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rise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FD90-E355-EA46-BFF3-113053A40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9267" y="3429000"/>
                <a:ext cx="1071255" cy="369332"/>
              </a:xfrm>
              <a:prstGeom prst="rect">
                <a:avLst/>
              </a:prstGeom>
              <a:blipFill>
                <a:blip r:embed="rId4"/>
                <a:stretch>
                  <a:fillRect l="-7059" t="-6667" r="-4706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1DA6FB-4680-FD42-BF62-9169749AF6F6}"/>
                  </a:ext>
                </a:extLst>
              </p:cNvPr>
              <p:cNvSpPr txBox="1"/>
              <p:nvPr/>
            </p:nvSpPr>
            <p:spPr>
              <a:xfrm>
                <a:off x="9393313" y="4548077"/>
                <a:ext cx="1041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run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1DA6FB-4680-FD42-BF62-9169749AF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313" y="4548077"/>
                <a:ext cx="1041632" cy="369332"/>
              </a:xfrm>
              <a:prstGeom prst="rect">
                <a:avLst/>
              </a:prstGeom>
              <a:blipFill>
                <a:blip r:embed="rId5"/>
                <a:stretch>
                  <a:fillRect l="-3614" t="-6667" r="-2410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D1B5FE-7AC6-B34A-B082-BCD27C59D5AA}"/>
              </a:ext>
            </a:extLst>
          </p:cNvPr>
          <p:cNvCxnSpPr>
            <a:cxnSpLocks/>
          </p:cNvCxnSpPr>
          <p:nvPr/>
        </p:nvCxnSpPr>
        <p:spPr>
          <a:xfrm flipH="1">
            <a:off x="9277191" y="4367109"/>
            <a:ext cx="3788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15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46F3-AFB4-7346-8945-28724F6B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Parabola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F057C-BBB8-5048-BF82-5E91EFE5686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−2−−1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DF057C-BBB8-5048-BF82-5E91EFE56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5197B-84F3-494D-A92B-D51C571049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71656"/>
            <a:ext cx="5181600" cy="4259275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0D6C2A-203B-024F-8632-06A3F4F22B79}"/>
              </a:ext>
            </a:extLst>
          </p:cNvPr>
          <p:cNvCxnSpPr>
            <a:cxnSpLocks/>
          </p:cNvCxnSpPr>
          <p:nvPr/>
        </p:nvCxnSpPr>
        <p:spPr>
          <a:xfrm>
            <a:off x="7652300" y="2702397"/>
            <a:ext cx="0" cy="1664712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FD90-E355-EA46-BFF3-113053A4052F}"/>
                  </a:ext>
                </a:extLst>
              </p:cNvPr>
              <p:cNvSpPr txBox="1"/>
              <p:nvPr/>
            </p:nvSpPr>
            <p:spPr>
              <a:xfrm>
                <a:off x="6428645" y="3419061"/>
                <a:ext cx="1071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rise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FD90-E355-EA46-BFF3-113053A40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45" y="3419061"/>
                <a:ext cx="1071255" cy="369332"/>
              </a:xfrm>
              <a:prstGeom prst="rect">
                <a:avLst/>
              </a:prstGeom>
              <a:blipFill>
                <a:blip r:embed="rId4"/>
                <a:stretch>
                  <a:fillRect l="-5882" t="-6667" r="-5882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1DA6FB-4680-FD42-BF62-9169749AF6F6}"/>
                  </a:ext>
                </a:extLst>
              </p:cNvPr>
              <p:cNvSpPr txBox="1"/>
              <p:nvPr/>
            </p:nvSpPr>
            <p:spPr>
              <a:xfrm>
                <a:off x="6595603" y="4590330"/>
                <a:ext cx="1041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run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1DA6FB-4680-FD42-BF62-9169749AF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03" y="4590330"/>
                <a:ext cx="1041632" cy="369332"/>
              </a:xfrm>
              <a:prstGeom prst="rect">
                <a:avLst/>
              </a:prstGeom>
              <a:blipFill>
                <a:blip r:embed="rId5"/>
                <a:stretch>
                  <a:fillRect l="-3614" t="-6667" r="-241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D1B5FE-7AC6-B34A-B082-BCD27C59D5AA}"/>
              </a:ext>
            </a:extLst>
          </p:cNvPr>
          <p:cNvCxnSpPr>
            <a:cxnSpLocks/>
          </p:cNvCxnSpPr>
          <p:nvPr/>
        </p:nvCxnSpPr>
        <p:spPr>
          <a:xfrm flipH="1">
            <a:off x="7637235" y="4367109"/>
            <a:ext cx="378831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05958B-6E04-7E4F-A994-1CA1D5FB2DDD}"/>
              </a:ext>
            </a:extLst>
          </p:cNvPr>
          <p:cNvCxnSpPr>
            <a:cxnSpLocks/>
          </p:cNvCxnSpPr>
          <p:nvPr/>
        </p:nvCxnSpPr>
        <p:spPr>
          <a:xfrm>
            <a:off x="9656022" y="2702397"/>
            <a:ext cx="0" cy="16647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DAAE3-D495-AC49-96D5-A875A8097C41}"/>
              </a:ext>
            </a:extLst>
          </p:cNvPr>
          <p:cNvCxnSpPr>
            <a:cxnSpLocks/>
          </p:cNvCxnSpPr>
          <p:nvPr/>
        </p:nvCxnSpPr>
        <p:spPr>
          <a:xfrm flipH="1">
            <a:off x="9277191" y="4367109"/>
            <a:ext cx="3788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665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46F3-AFB4-7346-8945-28724F6B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of a Parabola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F057C-BBB8-5048-BF82-5E91EFE568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The slope of a parabola</a:t>
            </a:r>
          </a:p>
          <a:p>
            <a:pPr marL="0" indent="0" algn="ctr">
              <a:buNone/>
            </a:pPr>
            <a:r>
              <a:rPr lang="en-US" dirty="0"/>
              <a:t>is not constant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It changes for each point</a:t>
            </a:r>
          </a:p>
          <a:p>
            <a:pPr marL="0" indent="0" algn="ctr">
              <a:buNone/>
            </a:pPr>
            <a:r>
              <a:rPr lang="en-US" dirty="0"/>
              <a:t>on the curve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5197B-84F3-494D-A92B-D51C571049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71656"/>
            <a:ext cx="5181600" cy="4259275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0D6C2A-203B-024F-8632-06A3F4F22B79}"/>
              </a:ext>
            </a:extLst>
          </p:cNvPr>
          <p:cNvCxnSpPr>
            <a:cxnSpLocks/>
          </p:cNvCxnSpPr>
          <p:nvPr/>
        </p:nvCxnSpPr>
        <p:spPr>
          <a:xfrm>
            <a:off x="7652300" y="2702397"/>
            <a:ext cx="0" cy="1664712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FD90-E355-EA46-BFF3-113053A4052F}"/>
                  </a:ext>
                </a:extLst>
              </p:cNvPr>
              <p:cNvSpPr txBox="1"/>
              <p:nvPr/>
            </p:nvSpPr>
            <p:spPr>
              <a:xfrm>
                <a:off x="6428645" y="3419061"/>
                <a:ext cx="1071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rise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FD90-E355-EA46-BFF3-113053A40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45" y="3419061"/>
                <a:ext cx="1071255" cy="369332"/>
              </a:xfrm>
              <a:prstGeom prst="rect">
                <a:avLst/>
              </a:prstGeom>
              <a:blipFill>
                <a:blip r:embed="rId3"/>
                <a:stretch>
                  <a:fillRect l="-5882" t="-6667" r="-5882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1DA6FB-4680-FD42-BF62-9169749AF6F6}"/>
                  </a:ext>
                </a:extLst>
              </p:cNvPr>
              <p:cNvSpPr txBox="1"/>
              <p:nvPr/>
            </p:nvSpPr>
            <p:spPr>
              <a:xfrm>
                <a:off x="6595603" y="4590330"/>
                <a:ext cx="1041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run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1DA6FB-4680-FD42-BF62-9169749AF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03" y="4590330"/>
                <a:ext cx="1041632" cy="369332"/>
              </a:xfrm>
              <a:prstGeom prst="rect">
                <a:avLst/>
              </a:prstGeom>
              <a:blipFill>
                <a:blip r:embed="rId4"/>
                <a:stretch>
                  <a:fillRect l="-3614" t="-6667" r="-241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D1B5FE-7AC6-B34A-B082-BCD27C59D5AA}"/>
              </a:ext>
            </a:extLst>
          </p:cNvPr>
          <p:cNvCxnSpPr>
            <a:cxnSpLocks/>
          </p:cNvCxnSpPr>
          <p:nvPr/>
        </p:nvCxnSpPr>
        <p:spPr>
          <a:xfrm flipH="1">
            <a:off x="7637235" y="4367109"/>
            <a:ext cx="378831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05958B-6E04-7E4F-A994-1CA1D5FB2DDD}"/>
              </a:ext>
            </a:extLst>
          </p:cNvPr>
          <p:cNvCxnSpPr>
            <a:cxnSpLocks/>
          </p:cNvCxnSpPr>
          <p:nvPr/>
        </p:nvCxnSpPr>
        <p:spPr>
          <a:xfrm>
            <a:off x="9656022" y="2702397"/>
            <a:ext cx="0" cy="16647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DAAE3-D495-AC49-96D5-A875A8097C41}"/>
              </a:ext>
            </a:extLst>
          </p:cNvPr>
          <p:cNvCxnSpPr>
            <a:cxnSpLocks/>
          </p:cNvCxnSpPr>
          <p:nvPr/>
        </p:nvCxnSpPr>
        <p:spPr>
          <a:xfrm flipH="1">
            <a:off x="9277191" y="4367109"/>
            <a:ext cx="3788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21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1F8C-7128-354D-A5EC-6A0FF8AC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A8A665-D492-3F4C-88BB-D48ACE925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Derivatives are functions that give us the slope of other functions</a:t>
                </a:r>
              </a:p>
              <a:p>
                <a:r>
                  <a:rPr lang="en-US" dirty="0"/>
                  <a:t>For example, the parabola in the previous slides is given by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Its derivative is: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Which gives us slopes of: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3.5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−1.5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A8A665-D492-3F4C-88BB-D48ACE925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864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0CC1-BD81-9743-8387-340F0056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E4E728-A38C-C942-95A2-50CA87CE6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formal definition of a derivative is given by: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calculates the slope as "rise over run" but makes the distance of the two points infinitely small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E4E728-A38C-C942-95A2-50CA87CE6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16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6B2E-124B-1749-9D68-29C51DA7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with Multiple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C2AD1-F074-C74D-A34E-2F0EE7252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can compute partial derivatives for each input variable of a multiple variable function: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C2AD1-F074-C74D-A34E-2F0EE7252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41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68A4-E733-4D40-88C3-7F4CCC02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12F53A-B11A-E247-8E24-3E1B67835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gradient is a vector of all the partial derivatives of a multiple variable function</a:t>
                </a:r>
              </a:p>
              <a:p>
                <a:r>
                  <a:rPr lang="en-US" dirty="0"/>
                  <a:t>The "</a:t>
                </a:r>
                <a:r>
                  <a:rPr lang="en-US" dirty="0" err="1"/>
                  <a:t>nabla</a:t>
                </a:r>
                <a:r>
                  <a:rPr lang="en-US" dirty="0"/>
                  <a:t>" operator indicates that we want to compute the gradient of a function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12F53A-B11A-E247-8E24-3E1B67835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190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68C4-6771-5F48-A8CC-FC322787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B96E-E3B0-7246-83F7-0C8DB172D6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want to find a value x* that minimizes or maximizes the output of a function:</a:t>
            </a:r>
          </a:p>
          <a:p>
            <a:r>
              <a:rPr lang="en-US" dirty="0"/>
              <a:t>f(x*)</a:t>
            </a:r>
          </a:p>
          <a:p>
            <a:r>
              <a:rPr lang="en-US" dirty="0"/>
              <a:t>Stated more formally,</a:t>
            </a:r>
          </a:p>
          <a:p>
            <a:r>
              <a:rPr lang="en-US" dirty="0"/>
              <a:t>f(x*) &lt;= f(x) for all x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0D84CA-17E3-484A-A101-97CCD83F74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71656"/>
            <a:ext cx="5181600" cy="4259275"/>
          </a:xfr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CB1E08-E99C-1348-93B6-3011305DAC19}"/>
              </a:ext>
            </a:extLst>
          </p:cNvPr>
          <p:cNvCxnSpPr>
            <a:cxnSpLocks/>
          </p:cNvCxnSpPr>
          <p:nvPr/>
        </p:nvCxnSpPr>
        <p:spPr>
          <a:xfrm>
            <a:off x="7533861" y="5675243"/>
            <a:ext cx="1123122" cy="0"/>
          </a:xfrm>
          <a:prstGeom prst="straightConnector1">
            <a:avLst/>
          </a:prstGeom>
          <a:ln w="38100">
            <a:solidFill>
              <a:srgbClr val="FF0000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89030D-E7FA-4F42-9B46-D397457A632F}"/>
              </a:ext>
            </a:extLst>
          </p:cNvPr>
          <p:cNvSpPr txBox="1"/>
          <p:nvPr/>
        </p:nvSpPr>
        <p:spPr>
          <a:xfrm>
            <a:off x="5293055" y="5174639"/>
            <a:ext cx="2240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x* = 1 minimizes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 function</a:t>
            </a:r>
          </a:p>
        </p:txBody>
      </p:sp>
    </p:spTree>
    <p:extLst>
      <p:ext uri="{BB962C8B-B14F-4D97-AF65-F5344CB8AC3E}">
        <p14:creationId xmlns:p14="http://schemas.microsoft.com/office/powerpoint/2010/main" val="464156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68C4-6771-5F48-A8CC-FC322787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Minimums and Maximums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3B96E-E3B0-7246-83F7-0C8DB172D6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derivatives to find minima and maxima</a:t>
                </a:r>
              </a:p>
              <a:p>
                <a:r>
                  <a:rPr lang="en-US" dirty="0"/>
                  <a:t>Values xi for which the derivative f'(xi) = 0 are minima and maxima</a:t>
                </a:r>
              </a:p>
              <a:p>
                <a:r>
                  <a:rPr lang="en-US" dirty="0"/>
                  <a:t>For example, the parabola in the previous slides is given by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Its derivative is: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When x </a:t>
                </a:r>
                <a:r>
                  <a:rPr lang="en-US"/>
                  <a:t>= 1, </a:t>
                </a:r>
                <a:r>
                  <a:rPr lang="en-US" dirty="0"/>
                  <a:t>f'(-1) = 0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3B96E-E3B0-7246-83F7-0C8DB172D6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656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56F4-B7B9-ED4C-909C-1EF10D8B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Cubic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4F002-5942-B445-96B8-12A8DB1F80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/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/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=−2.374, 0.374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D4F002-5942-B445-96B8-12A8DB1F8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BF0F9A-F252-CB4B-824E-E23F95E712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7C2085-928D-7945-96F9-D211F1E4ED12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9383728" y="5764696"/>
            <a:ext cx="567466" cy="316372"/>
          </a:xfrm>
          <a:prstGeom prst="straightConnector1">
            <a:avLst/>
          </a:prstGeom>
          <a:ln w="38100">
            <a:solidFill>
              <a:schemeClr val="accent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385835-C63F-6047-943E-D75953207AA4}"/>
              </a:ext>
            </a:extLst>
          </p:cNvPr>
          <p:cNvSpPr txBox="1"/>
          <p:nvPr/>
        </p:nvSpPr>
        <p:spPr>
          <a:xfrm>
            <a:off x="9951194" y="5480903"/>
            <a:ext cx="17171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x* = 0.374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minimizes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the function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26C4C0-195D-2747-8C0E-60A21726E6F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731945" y="1614196"/>
            <a:ext cx="70272" cy="1904256"/>
          </a:xfrm>
          <a:prstGeom prst="straightConnector1">
            <a:avLst/>
          </a:prstGeom>
          <a:ln w="38100">
            <a:solidFill>
              <a:schemeClr val="accent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FD1D95-D414-7542-984A-5B3346E75A8F}"/>
              </a:ext>
            </a:extLst>
          </p:cNvPr>
          <p:cNvSpPr txBox="1"/>
          <p:nvPr/>
        </p:nvSpPr>
        <p:spPr>
          <a:xfrm>
            <a:off x="6873376" y="413867"/>
            <a:ext cx="17171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x* = -2.374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maximizes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the function</a:t>
            </a:r>
          </a:p>
        </p:txBody>
      </p:sp>
    </p:spTree>
    <p:extLst>
      <p:ext uri="{BB962C8B-B14F-4D97-AF65-F5344CB8AC3E}">
        <p14:creationId xmlns:p14="http://schemas.microsoft.com/office/powerpoint/2010/main" val="1761661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56F4-B7B9-ED4C-909C-1EF10D8B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 Local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F002-5942-B445-96B8-12A8DB1F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BF0F9A-F252-CB4B-824E-E23F95E71207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072" y="1825625"/>
            <a:ext cx="4352925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7C2085-928D-7945-96F9-D211F1E4ED1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351104" y="5761465"/>
            <a:ext cx="2001726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385835-C63F-6047-943E-D75953207AA4}"/>
              </a:ext>
            </a:extLst>
          </p:cNvPr>
          <p:cNvSpPr txBox="1"/>
          <p:nvPr/>
        </p:nvSpPr>
        <p:spPr>
          <a:xfrm>
            <a:off x="8352830" y="5345966"/>
            <a:ext cx="1385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Local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minimum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26C4C0-195D-2747-8C0E-60A21726E6F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976879" y="2653447"/>
            <a:ext cx="1764302" cy="865005"/>
          </a:xfrm>
          <a:prstGeom prst="straightConnector1">
            <a:avLst/>
          </a:prstGeom>
          <a:ln w="38100">
            <a:solidFill>
              <a:schemeClr val="accent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FD1D95-D414-7542-984A-5B3346E75A8F}"/>
              </a:ext>
            </a:extLst>
          </p:cNvPr>
          <p:cNvSpPr txBox="1"/>
          <p:nvPr/>
        </p:nvSpPr>
        <p:spPr>
          <a:xfrm>
            <a:off x="2261619" y="1822450"/>
            <a:ext cx="14305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Local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maximum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595C12-F64E-F146-9095-57753518F9D8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496229" y="1853141"/>
            <a:ext cx="1194820" cy="253046"/>
          </a:xfrm>
          <a:prstGeom prst="straightConnector1">
            <a:avLst/>
          </a:prstGeom>
          <a:ln w="38100">
            <a:solidFill>
              <a:schemeClr val="accent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9338B6-DF32-6145-ABF5-EE0AA3877ABE}"/>
              </a:ext>
            </a:extLst>
          </p:cNvPr>
          <p:cNvSpPr txBox="1"/>
          <p:nvPr/>
        </p:nvSpPr>
        <p:spPr>
          <a:xfrm>
            <a:off x="8691049" y="1690688"/>
            <a:ext cx="14305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Global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maximum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035DF5-5E62-234F-8C95-C2085B2A7110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725430" y="5466130"/>
            <a:ext cx="1103724" cy="611247"/>
          </a:xfrm>
          <a:prstGeom prst="straightConnector1">
            <a:avLst/>
          </a:prstGeom>
          <a:ln w="38100">
            <a:solidFill>
              <a:schemeClr val="accent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CCEA617-FF31-9E4B-9814-877BD600EC7A}"/>
              </a:ext>
            </a:extLst>
          </p:cNvPr>
          <p:cNvSpPr txBox="1"/>
          <p:nvPr/>
        </p:nvSpPr>
        <p:spPr>
          <a:xfrm>
            <a:off x="2032772" y="4635133"/>
            <a:ext cx="1385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Global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minimum</a:t>
            </a:r>
          </a:p>
        </p:txBody>
      </p:sp>
    </p:spTree>
    <p:extLst>
      <p:ext uri="{BB962C8B-B14F-4D97-AF65-F5344CB8AC3E}">
        <p14:creationId xmlns:p14="http://schemas.microsoft.com/office/powerpoint/2010/main" val="1354750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2B02-0DB4-4043-9095-8B07E787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Paraboloid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0BBE0F-4801-4F46-AD34-51B0B1FD4F4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function is minimized when x* = 0 and y* = 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0BBE0F-4801-4F46-AD34-51B0B1FD4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9ECDDE-510C-A242-9591-A28B1EB704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775"/>
          <a:stretch/>
        </p:blipFill>
        <p:spPr>
          <a:xfrm>
            <a:off x="7275444" y="1715294"/>
            <a:ext cx="3340885" cy="4572000"/>
          </a:xfrm>
        </p:spPr>
      </p:pic>
    </p:spTree>
    <p:extLst>
      <p:ext uri="{BB962C8B-B14F-4D97-AF65-F5344CB8AC3E}">
        <p14:creationId xmlns:p14="http://schemas.microsoft.com/office/powerpoint/2010/main" val="357387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2999</TotalTime>
  <Words>600</Words>
  <Application>Microsoft Macintosh PowerPoint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Calculus Review</vt:lpstr>
      <vt:lpstr>Introduction</vt:lpstr>
      <vt:lpstr>Slope of a Line</vt:lpstr>
      <vt:lpstr>Slope of a Line</vt:lpstr>
      <vt:lpstr>Slope of a Line</vt:lpstr>
      <vt:lpstr>Slope of a Line</vt:lpstr>
      <vt:lpstr>Slope of a Line</vt:lpstr>
      <vt:lpstr>Slope of a Parabola</vt:lpstr>
      <vt:lpstr>Slope of a Parabola</vt:lpstr>
      <vt:lpstr>Slope of a Parabola</vt:lpstr>
      <vt:lpstr>Derivative</vt:lpstr>
      <vt:lpstr>Derivatives</vt:lpstr>
      <vt:lpstr>Functions with Multiple Variables</vt:lpstr>
      <vt:lpstr>Gradient</vt:lpstr>
      <vt:lpstr>Optimization</vt:lpstr>
      <vt:lpstr>Minimums and Maximums</vt:lpstr>
      <vt:lpstr>Cubic Example</vt:lpstr>
      <vt:lpstr>Global vs Local</vt:lpstr>
      <vt:lpstr>Elliptic Paraboloid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Nowling, RJ</dc:creator>
  <cp:lastModifiedBy>Bukowy, John</cp:lastModifiedBy>
  <cp:revision>113</cp:revision>
  <dcterms:created xsi:type="dcterms:W3CDTF">2018-10-01T16:21:54Z</dcterms:created>
  <dcterms:modified xsi:type="dcterms:W3CDTF">2024-03-17T20:08:23Z</dcterms:modified>
</cp:coreProperties>
</file>