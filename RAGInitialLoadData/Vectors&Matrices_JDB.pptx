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660" r:id="rId3"/>
    <p:sldId id="661" r:id="rId4"/>
    <p:sldId id="646" r:id="rId5"/>
    <p:sldId id="664" r:id="rId6"/>
    <p:sldId id="670" r:id="rId7"/>
    <p:sldId id="666" r:id="rId8"/>
    <p:sldId id="645" r:id="rId9"/>
    <p:sldId id="639" r:id="rId10"/>
    <p:sldId id="640" r:id="rId11"/>
    <p:sldId id="671" r:id="rId12"/>
    <p:sldId id="659" r:id="rId13"/>
    <p:sldId id="672" r:id="rId14"/>
    <p:sldId id="667" r:id="rId15"/>
    <p:sldId id="653" r:id="rId16"/>
    <p:sldId id="654" r:id="rId17"/>
    <p:sldId id="674" r:id="rId18"/>
    <p:sldId id="668" r:id="rId19"/>
    <p:sldId id="657" r:id="rId20"/>
    <p:sldId id="621" r:id="rId21"/>
    <p:sldId id="669" r:id="rId22"/>
    <p:sldId id="675" r:id="rId23"/>
    <p:sldId id="676" r:id="rId24"/>
    <p:sldId id="623" r:id="rId25"/>
    <p:sldId id="626" r:id="rId26"/>
    <p:sldId id="643" r:id="rId27"/>
    <p:sldId id="677" r:id="rId28"/>
    <p:sldId id="678" r:id="rId29"/>
    <p:sldId id="679" r:id="rId30"/>
    <p:sldId id="680" r:id="rId31"/>
    <p:sldId id="681" r:id="rId32"/>
    <p:sldId id="683" r:id="rId33"/>
    <p:sldId id="641" r:id="rId34"/>
    <p:sldId id="684" r:id="rId35"/>
    <p:sldId id="685" r:id="rId36"/>
    <p:sldId id="687" r:id="rId37"/>
    <p:sldId id="688" r:id="rId38"/>
    <p:sldId id="689" r:id="rId39"/>
    <p:sldId id="690" r:id="rId40"/>
    <p:sldId id="691" r:id="rId41"/>
    <p:sldId id="692" r:id="rId42"/>
    <p:sldId id="693" r:id="rId43"/>
    <p:sldId id="694" r:id="rId44"/>
    <p:sldId id="695" r:id="rId45"/>
    <p:sldId id="696" r:id="rId46"/>
    <p:sldId id="697" r:id="rId47"/>
    <p:sldId id="698" r:id="rId48"/>
    <p:sldId id="701" r:id="rId49"/>
    <p:sldId id="702" r:id="rId50"/>
    <p:sldId id="703" r:id="rId51"/>
    <p:sldId id="603" r:id="rId52"/>
    <p:sldId id="704" r:id="rId53"/>
    <p:sldId id="620" r:id="rId54"/>
    <p:sldId id="628" r:id="rId55"/>
    <p:sldId id="630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22BE-D8B2-4F97-A3D1-FE7DFE35C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5642A-E4AB-4CF5-9AB6-6A4BC016B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720D7-F72E-4BD6-859F-9172BDC6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AAFE3-326B-434C-8868-85AE4FFA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31746-7841-4C25-A242-3ECCD984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4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BB3D-6C5E-44E6-AA4B-5A6B8E84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B805-8BE6-4E29-9C78-3D8B73E0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62477-D5B5-4DDD-A5D9-50198EEF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F9E22-7F5C-4AC5-81DE-D70CB1A2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27337-FA8A-4FC9-98C8-16D02D9A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F0DA-C526-440C-9E25-118EE569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6A23D-1BCE-46E9-BDE5-038B070DF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14AE8-A89F-4AF0-A124-627C96C5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E007E-3A0E-4314-BE35-65A00B25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07654-312A-49F9-A8A7-E041AEF0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82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EA80-9157-46B9-9B6C-866ECB4F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55512-1E79-417B-AF52-B96755488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F5347-824F-45BB-94BB-795BE001F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BD165-3FD6-4EDC-B038-27B6FAB5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670DF-7097-4D69-8812-83D8CD27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3A0B-7540-4059-9843-355929D0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3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D613-E280-44CA-A770-834C432C7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27B75-DC09-433C-9F55-300EC8F8B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BA939-CA30-4F17-87B7-760951DEA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56A096-3BC1-45BF-BC50-E43A20C28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9EAD1-F304-43E7-9440-3CD09AEE5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91FD4-5E10-4382-843A-45EC2E7A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C9640-D6E4-47BC-95C6-821D6A3F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57401-4351-40E8-A5AE-99EC9008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33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B5DB-477C-48A9-82E4-9F106960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14A002-3405-414C-BD0D-4E02A8A1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94212-8BB5-49D0-AB4B-36DC204B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984A2-C0C8-4E8D-87D6-271599DD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2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BCF15-D505-48CD-8264-FE5C9795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1F9DB-CAA2-4020-9012-9F1EF528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059D5-D7B0-4AB1-9375-2C4F7761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7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2E85-C239-4C22-AD11-10405385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5B297-510E-493F-8C06-041D0A662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C91D9-41B8-4112-9C50-627E91714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FF5DB-1613-4DC5-87A3-86E6BE1B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C033E-2E39-4F20-B20C-5C24BC11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31C63-D410-40AA-9340-9A312220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0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796E-E2C7-4318-8EF7-93A7D84F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B41617-2F37-4AC2-B419-EAA8C0AD4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A429-F83D-4DB8-8195-20270AE28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8AEFC-C38F-4B3B-AA22-980F0C1C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D791E-3787-4F78-872B-58723CBB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202F8-480F-486B-BD94-412196AC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8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179B-500A-496D-B4D9-F977820B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7EB8F-B4BA-44E5-88AC-88224F298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44613-DC20-4985-BA9F-FD9160A7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1043-1250-4111-B31D-F06A98BF5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098D8-E6A2-4106-AC9E-C128165D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9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BD81D-1246-4B00-A010-388321FE0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597C9-E1FA-4D61-92BB-630BE2C98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6A213-7C75-4546-8719-20901677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AC16E-47A1-48CF-BC45-6C8B3231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F7EC8-FCC5-49F8-95FE-501140C2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3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B2CB8-2FD9-4E31-B363-89615416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99CE-A21C-4684-93F1-A267B39C4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8A116-D6CC-4CC6-9E36-248C5BB1D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86882-1CF3-4E21-89BE-C5CEB3924659}" type="datetimeFigureOut">
              <a:rPr lang="en-US" smtClean="0"/>
              <a:t>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686ED-4DCF-44D7-AC26-E894F4A17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59EE5-4619-4AE1-8C4A-7E25B4066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2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rgosum.co/cooking-across-latitudes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62.png"/><Relationship Id="rId3" Type="http://schemas.openxmlformats.org/officeDocument/2006/relationships/image" Target="../media/image27.png"/><Relationship Id="rId12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9" Type="http://schemas.openxmlformats.org/officeDocument/2006/relationships/image" Target="../media/image17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7.png"/><Relationship Id="rId7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7.png"/><Relationship Id="rId7" Type="http://schemas.openxmlformats.org/officeDocument/2006/relationships/image" Target="../media/image6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73.png"/><Relationship Id="rId7" Type="http://schemas.openxmlformats.org/officeDocument/2006/relationships/image" Target="../media/image131.png"/><Relationship Id="rId12" Type="http://schemas.openxmlformats.org/officeDocument/2006/relationships/image" Target="../media/image7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9" Type="http://schemas.openxmlformats.org/officeDocument/2006/relationships/image" Target="../media/image170.png"/><Relationship Id="rId1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76.png"/><Relationship Id="rId7" Type="http://schemas.openxmlformats.org/officeDocument/2006/relationships/image" Target="../media/image131.png"/><Relationship Id="rId12" Type="http://schemas.openxmlformats.org/officeDocument/2006/relationships/image" Target="../media/image75.png"/><Relationship Id="rId2" Type="http://schemas.openxmlformats.org/officeDocument/2006/relationships/image" Target="../media/image27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0.png"/><Relationship Id="rId15" Type="http://schemas.openxmlformats.org/officeDocument/2006/relationships/image" Target="../media/image78.png"/><Relationship Id="rId10" Type="http://schemas.openxmlformats.org/officeDocument/2006/relationships/image" Target="../media/image59.png"/><Relationship Id="rId9" Type="http://schemas.openxmlformats.org/officeDocument/2006/relationships/image" Target="../media/image170.png"/><Relationship Id="rId14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8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5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82.png"/><Relationship Id="rId4" Type="http://schemas.openxmlformats.org/officeDocument/2006/relationships/image" Target="../media/image5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8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8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B932-E397-4929-95D5-E688161E3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Vectors &amp; Matrices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E6D2B-55C7-4A2B-B516-E6D8FFBE9A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CSC4601 Theory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5313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F1B4-9E50-4829-BE25-493D8F93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5685-53E8-4BCA-AD86-EC84E36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In this lecture, we’ll review the basics of linear algebra: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Vectors &amp; their geometric interpretation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Dot products &amp; vector norms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Matrices &amp; operations on matrices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We will also revisit the equation of Line (Plane, Hyperplane) &amp; the definition of normal vectors. 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1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 &amp; Matrices in Machine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B32A19-F2AC-4585-83F1-3FDFB28C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In machine learning, we use vectors and matrices to organize data: see them as data containers/structures.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/>
              <a:t>They make notation much easier and more concise: Python </a:t>
            </a:r>
            <a:r>
              <a:rPr lang="en-US" sz="2800" b="0" i="0" u="none" strike="noStrike" baseline="0" dirty="0">
                <a:latin typeface="CMR10"/>
              </a:rPr>
              <a:t>supports the use of vector notations which can </a:t>
            </a:r>
            <a:r>
              <a:rPr lang="en-US" dirty="0">
                <a:latin typeface="CMR10"/>
              </a:rPr>
              <a:t>make computations </a:t>
            </a:r>
            <a:r>
              <a:rPr lang="en-US" sz="2800" b="0" i="0" u="none" strike="noStrike" baseline="0" dirty="0">
                <a:latin typeface="CMR10"/>
              </a:rPr>
              <a:t>more efficient.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We can use many tools from linear algebra in order to perform training, prediction, dimensionality reduction.</a:t>
            </a:r>
          </a:p>
        </p:txBody>
      </p:sp>
    </p:spTree>
    <p:extLst>
      <p:ext uri="{BB962C8B-B14F-4D97-AF65-F5344CB8AC3E}">
        <p14:creationId xmlns:p14="http://schemas.microsoft.com/office/powerpoint/2010/main" val="2579745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8512BA-4BFE-4973-8048-21D74D0A7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</p:spTree>
    <p:extLst>
      <p:ext uri="{BB962C8B-B14F-4D97-AF65-F5344CB8AC3E}">
        <p14:creationId xmlns:p14="http://schemas.microsoft.com/office/powerpoint/2010/main" val="140051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2800" b="0" i="0" u="none" strike="noStrike" baseline="0" dirty="0">
                    <a:latin typeface="CMR10"/>
                  </a:rPr>
                  <a:t>A vector is an array of numerical values. It collects an ordered list of numbers to represent one entity or one mathematical object.</a:t>
                </a:r>
              </a:p>
              <a:p>
                <a:pPr algn="l">
                  <a:lnSpc>
                    <a:spcPct val="120000"/>
                  </a:lnSpc>
                </a:pPr>
                <a:r>
                  <a:rPr lang="en-US" sz="2800" b="0" i="0" u="none" strike="noStrike" baseline="0" dirty="0">
                    <a:latin typeface="CMR10"/>
                  </a:rPr>
                  <a:t>Vectors are usually represented in one of the following form:</a:t>
                </a:r>
              </a:p>
              <a:p>
                <a:pPr marL="0" indent="0" algn="l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u="none" strike="noStrike" baseline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800" b="0" i="1" u="none" strike="noStrike" baseline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1" u="none" strike="noStrike" baseline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eqArr>
                        </m:e>
                      </m:d>
                      <m:r>
                        <a:rPr lang="en-US" sz="2800" b="0" i="0" u="none" strike="noStrike" baseline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8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u="none" strike="noStrike" baseline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eqArr>
                                <m:eqArrPr>
                                  <m:ctrlPr>
                                    <a:rPr lang="en-US" sz="2800" b="0" i="1" u="none" strike="noStrike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 b="0" i="1" u="none" strike="noStrike" baseline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800" b="0" i="1" u="none" strike="noStrike" baseline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eqArr>
                            </m:den>
                          </m:f>
                        </m:e>
                      </m:d>
                      <m:r>
                        <a:rPr lang="en-US" sz="2800" b="0" i="1" u="none" strike="noStrike" baseline="0" smtClean="0">
                          <a:latin typeface="Cambria Math" panose="02040503050406030204" pitchFamily="18" charset="0"/>
                        </a:rPr>
                        <m:t>, (5, 2, 6)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Notations: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a vector with 2 real entries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a vector with 3 real entries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a vector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real entries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91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99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a vector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real entries/elements/components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size/length of the vector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is denoted as follows: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AF5FD-CA73-5A57-8509-A2B2CA851384}"/>
                  </a:ext>
                </a:extLst>
              </p:cNvPr>
              <p:cNvSpPr txBox="1"/>
              <p:nvPr/>
            </p:nvSpPr>
            <p:spPr>
              <a:xfrm>
                <a:off x="5296510" y="4543334"/>
                <a:ext cx="1224053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eqArr>
                                <m:eqArr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eqArr>
                                    <m:eqArr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AF5FD-CA73-5A57-8509-A2B2CA851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510" y="4543334"/>
                <a:ext cx="1224053" cy="1360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91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Geometric Interpretation of Vectors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B32A19-F2AC-4585-83F1-3FDFB28C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0" i="0" u="none" strike="noStrike" baseline="0" dirty="0"/>
              <a:t>A vector can be interpreted geometrically as:  a point in space or a geometric vector (an object with direction and magnitude).</a:t>
            </a:r>
            <a:endParaRPr lang="en-US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CF9E33-5439-48C1-8D00-BEAD782544D3}"/>
              </a:ext>
            </a:extLst>
          </p:cNvPr>
          <p:cNvCxnSpPr/>
          <p:nvPr/>
        </p:nvCxnSpPr>
        <p:spPr>
          <a:xfrm>
            <a:off x="2414587" y="4767263"/>
            <a:ext cx="2524125" cy="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6E029C-6B65-4A0A-B380-37643AE75A7C}"/>
              </a:ext>
            </a:extLst>
          </p:cNvPr>
          <p:cNvCxnSpPr>
            <a:cxnSpLocks/>
          </p:cNvCxnSpPr>
          <p:nvPr/>
        </p:nvCxnSpPr>
        <p:spPr>
          <a:xfrm flipH="1" flipV="1">
            <a:off x="2914651" y="3429000"/>
            <a:ext cx="2" cy="1519238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33C0C98-4E8C-4DB6-B03A-CD11D546079E}"/>
              </a:ext>
            </a:extLst>
          </p:cNvPr>
          <p:cNvSpPr/>
          <p:nvPr/>
        </p:nvSpPr>
        <p:spPr>
          <a:xfrm>
            <a:off x="3839814" y="4414839"/>
            <a:ext cx="91440" cy="914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05F926-2B1D-464B-BDDB-ACF5968FB1D2}"/>
              </a:ext>
            </a:extLst>
          </p:cNvPr>
          <p:cNvCxnSpPr/>
          <p:nvPr/>
        </p:nvCxnSpPr>
        <p:spPr>
          <a:xfrm>
            <a:off x="6243637" y="4767263"/>
            <a:ext cx="2524125" cy="0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E2FFFF-2FEB-43EB-8BDD-5E7D636C8E65}"/>
              </a:ext>
            </a:extLst>
          </p:cNvPr>
          <p:cNvCxnSpPr>
            <a:cxnSpLocks/>
          </p:cNvCxnSpPr>
          <p:nvPr/>
        </p:nvCxnSpPr>
        <p:spPr>
          <a:xfrm flipH="1" flipV="1">
            <a:off x="6743701" y="3429000"/>
            <a:ext cx="2" cy="1519238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D2BC967-0A6B-48D4-AAB7-8B278C6D2E03}"/>
              </a:ext>
            </a:extLst>
          </p:cNvPr>
          <p:cNvSpPr/>
          <p:nvPr/>
        </p:nvSpPr>
        <p:spPr>
          <a:xfrm>
            <a:off x="7668864" y="4414839"/>
            <a:ext cx="91440" cy="914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E13C153-9692-4A14-B59F-504224DB3DE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6743701" y="4460559"/>
            <a:ext cx="925163" cy="30670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6E8305-5F5F-4FDF-A96F-EAC85B682514}"/>
              </a:ext>
            </a:extLst>
          </p:cNvPr>
          <p:cNvSpPr txBox="1"/>
          <p:nvPr/>
        </p:nvSpPr>
        <p:spPr>
          <a:xfrm>
            <a:off x="3839814" y="4034155"/>
            <a:ext cx="695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(3, 1)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DA19E5-9C15-4FE2-ADF6-1DCF706E8E50}"/>
              </a:ext>
            </a:extLst>
          </p:cNvPr>
          <p:cNvSpPr txBox="1"/>
          <p:nvPr/>
        </p:nvSpPr>
        <p:spPr>
          <a:xfrm>
            <a:off x="7714584" y="4003953"/>
            <a:ext cx="695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(3, 1)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CDC720-6781-48BA-B8BD-0B18C65E373C}"/>
              </a:ext>
            </a:extLst>
          </p:cNvPr>
          <p:cNvSpPr txBox="1"/>
          <p:nvPr/>
        </p:nvSpPr>
        <p:spPr>
          <a:xfrm>
            <a:off x="2790825" y="5044321"/>
            <a:ext cx="214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1. Point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815DB-727E-4162-B796-83F2843BB92B}"/>
              </a:ext>
            </a:extLst>
          </p:cNvPr>
          <p:cNvSpPr txBox="1"/>
          <p:nvPr/>
        </p:nvSpPr>
        <p:spPr>
          <a:xfrm>
            <a:off x="6332935" y="5051704"/>
            <a:ext cx="4211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Geometric vector: </a:t>
            </a:r>
          </a:p>
          <a:p>
            <a:pPr lvl="1"/>
            <a:r>
              <a:rPr lang="en-US" dirty="0"/>
              <a:t>object with direction and magnitude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1EC11C-601E-452D-BBBB-3C6972FA8E63}"/>
              </a:ext>
            </a:extLst>
          </p:cNvPr>
          <p:cNvSpPr txBox="1"/>
          <p:nvPr/>
        </p:nvSpPr>
        <p:spPr>
          <a:xfrm>
            <a:off x="5110163" y="5051703"/>
            <a:ext cx="748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OR</a:t>
            </a:r>
          </a:p>
        </p:txBody>
      </p:sp>
    </p:spTree>
    <p:extLst>
      <p:ext uri="{BB962C8B-B14F-4D97-AF65-F5344CB8AC3E}">
        <p14:creationId xmlns:p14="http://schemas.microsoft.com/office/powerpoint/2010/main" val="181812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B521-F9BA-A043-9C18-FAC59C1B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Geometry of Vectors: Points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480727-1131-094B-B213-DC45249441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856" y="1825625"/>
            <a:ext cx="4351338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2DE7B7-8977-6F44-A6B9-4F33B84AE38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2400" b="0" i="0" u="none" strike="noStrike" baseline="0" dirty="0"/>
                  <a:t>The components of a vector of size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b="0" i="0" u="none" strike="noStrike" baseline="0" dirty="0"/>
                  <a:t> can be seen as the coordinates of a point in the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b="0" i="0" u="none" strike="noStrike" baseline="0" dirty="0"/>
                  <a:t>-dimensional</a:t>
                </a:r>
                <a:r>
                  <a:rPr lang="en-US" sz="2400" dirty="0"/>
                  <a:t> space.</a:t>
                </a:r>
              </a:p>
              <a:p>
                <a:pPr algn="l">
                  <a:lnSpc>
                    <a:spcPct val="100000"/>
                  </a:lnSpc>
                </a:pPr>
                <a:endParaRPr lang="en-US" sz="2400" dirty="0"/>
              </a:p>
              <a:p>
                <a:pPr algn="l">
                  <a:lnSpc>
                    <a:spcPct val="100000"/>
                  </a:lnSpc>
                </a:pPr>
                <a:r>
                  <a:rPr lang="en-US" sz="2400" dirty="0"/>
                  <a:t>The way we can distinguish one point from another is by </a:t>
                </a:r>
                <a:r>
                  <a:rPr lang="en-US" sz="2400" b="1" i="1" dirty="0"/>
                  <a:t>their positions </a:t>
                </a:r>
                <a:r>
                  <a:rPr lang="en-US" sz="2400" dirty="0"/>
                  <a:t>in the space.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:endParaRPr lang="en-US" sz="2400" dirty="0"/>
              </a:p>
              <a:p>
                <a:pPr algn="l">
                  <a:lnSpc>
                    <a:spcPct val="100000"/>
                  </a:lnSpc>
                </a:pPr>
                <a:r>
                  <a:rPr lang="en-US" sz="2400" dirty="0"/>
                  <a:t>Examples of 2D points: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(0.75, 0.2)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(1.25, 0)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(1.25, -1.75)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2DE7B7-8977-6F44-A6B9-4F33B84AE3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412" t="-2241" r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558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3737-88CD-DE4A-845C-B7C4949E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2D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5E9C5C-5B78-9945-9393-916D309D4B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33600"/>
            <a:ext cx="5181600" cy="2590800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AD9D82-59DF-554F-80DD-1D0F4CF75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340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Latitude and longitude form a 2D coordinate system or space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Used to describe locations across the globe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MSOE: (43.041070, -87.909420)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Miller Park: (43.011790, -87.967780)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Margate, FL: (26.242530, -80.204920)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45B65-0ED9-6E45-B267-FC4F35B8E22C}"/>
              </a:ext>
            </a:extLst>
          </p:cNvPr>
          <p:cNvSpPr txBox="1"/>
          <p:nvPr/>
        </p:nvSpPr>
        <p:spPr>
          <a:xfrm>
            <a:off x="596348" y="6082748"/>
            <a:ext cx="4987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https://www.ergosum.co/cooking-across-latitudes/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09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3737-88CD-DE4A-845C-B7C4949E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3D Points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AD9D82-59DF-554F-80DD-1D0F4CF756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Each point is the client of an advertising company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coordinates refer to the number advertisements they bought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TV advertisements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radio advertisements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newspaper advertisements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2D6631B8-D7D4-4C42-BB86-F18673E935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5" t="12652" r="14976" b="7476"/>
          <a:stretch/>
        </p:blipFill>
        <p:spPr>
          <a:xfrm>
            <a:off x="216229" y="1690688"/>
            <a:ext cx="5879771" cy="4572000"/>
          </a:xfrm>
        </p:spPr>
      </p:pic>
    </p:spTree>
    <p:extLst>
      <p:ext uri="{BB962C8B-B14F-4D97-AF65-F5344CB8AC3E}">
        <p14:creationId xmlns:p14="http://schemas.microsoft.com/office/powerpoint/2010/main" val="224535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B521-F9BA-A043-9C18-FAC59C1B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Geometry of Vectors: Geometric Vector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2DE7B7-8977-6F44-A6B9-4F33B84AE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1225" y="1949450"/>
            <a:ext cx="5543549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300" dirty="0"/>
              <a:t>A m-vector can be also interpreted as an object that has </a:t>
            </a:r>
            <a:r>
              <a:rPr lang="en-US" sz="2300" b="1" i="1" dirty="0"/>
              <a:t>magnitude and direction</a:t>
            </a:r>
            <a:r>
              <a:rPr lang="en-US" sz="2300" dirty="0"/>
              <a:t>: geometric vector.</a:t>
            </a:r>
          </a:p>
          <a:p>
            <a:pPr>
              <a:lnSpc>
                <a:spcPct val="120000"/>
              </a:lnSpc>
            </a:pPr>
            <a:r>
              <a:rPr lang="en-US" sz="2300" dirty="0"/>
              <a:t>It can be depicted as a directed line segment going from one point to another, where the components of the vector tell us in which direction to go and how far.</a:t>
            </a:r>
          </a:p>
          <a:p>
            <a:pPr algn="l">
              <a:lnSpc>
                <a:spcPct val="120000"/>
              </a:lnSpc>
            </a:pPr>
            <a:r>
              <a:rPr lang="en-US" sz="2300" b="0" i="0" u="none" strike="noStrike" baseline="0" dirty="0"/>
              <a:t>To geometrically represent the vector (2, 3) </a:t>
            </a:r>
            <a:r>
              <a:rPr lang="en-US" sz="2300" dirty="0"/>
              <a:t>, w</a:t>
            </a:r>
            <a:r>
              <a:rPr lang="en-US" sz="2300" b="0" i="0" u="none" strike="noStrike" baseline="0" dirty="0"/>
              <a:t>e can start from any point and then take 2 steps to the right and 3 steps up. Any of the vector drawn in the left figure can represent the vector (2, 3).</a:t>
            </a:r>
            <a:endParaRPr lang="en-US" sz="2300" dirty="0"/>
          </a:p>
          <a:p>
            <a:pPr algn="l">
              <a:lnSpc>
                <a:spcPct val="120000"/>
              </a:lnSpc>
            </a:pPr>
            <a:r>
              <a:rPr lang="en-US" sz="2300" dirty="0"/>
              <a:t>The way we can distinguish one geometric vector from another is </a:t>
            </a:r>
            <a:r>
              <a:rPr lang="en-US" sz="2300" b="1" dirty="0"/>
              <a:t>not by </a:t>
            </a:r>
            <a:r>
              <a:rPr lang="en-US" sz="2300" b="1" i="1" dirty="0"/>
              <a:t>their positions </a:t>
            </a:r>
            <a:r>
              <a:rPr lang="en-US" sz="2300" dirty="0"/>
              <a:t>in the space, but by their direction and magnitude.</a:t>
            </a:r>
          </a:p>
        </p:txBody>
      </p:sp>
      <p:pic>
        <p:nvPicPr>
          <p:cNvPr id="35" name="Content Placeholder 34">
            <a:extLst>
              <a:ext uri="{FF2B5EF4-FFF2-40B4-BE49-F238E27FC236}">
                <a16:creationId xmlns:a16="http://schemas.microsoft.com/office/drawing/2014/main" id="{016B0988-63FD-147F-0FFA-338580C14C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1871" y="1825625"/>
            <a:ext cx="46742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10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069D-DEB5-7F4A-95E0-1D16F377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Geometric Vector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E7237-8BE8-494F-8E75-0B9B905559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0" i="0" u="none" strike="noStrike" baseline="0" dirty="0">
                <a:latin typeface="CMR10"/>
              </a:rPr>
              <a:t>Given the position of two points, we can compute the components of the geometric vector going from one point to another.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CMR10"/>
            </a:endParaRPr>
          </a:p>
          <a:p>
            <a:pPr algn="l">
              <a:lnSpc>
                <a:spcPct val="100000"/>
              </a:lnSpc>
            </a:pPr>
            <a:r>
              <a:rPr lang="en-US" sz="2400" dirty="0">
                <a:latin typeface="CMR10"/>
              </a:rPr>
              <a:t>Example: </a:t>
            </a:r>
            <a:endParaRPr lang="en-US"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1</a:t>
            </a:r>
            <a:r>
              <a:rPr lang="en-US" sz="2400" dirty="0"/>
              <a:t> = (-2, -1)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2</a:t>
            </a:r>
            <a:r>
              <a:rPr lang="en-US" sz="2400" dirty="0"/>
              <a:t> = (2, 3)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33A032-9008-0E55-1CA9-F12BA6FE77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03928" y="1825625"/>
            <a:ext cx="42501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22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069D-DEB5-7F4A-95E0-1D16F377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Geometric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91E7237-8BE8-494F-8E75-0B9B905559E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400" dirty="0"/>
                  <a:t>p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= (-2, -1)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400" dirty="0"/>
                  <a:t>p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= (2, 3)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:endParaRPr lang="en-US" sz="2400" b="0" i="0" u="none" strike="noStrike" baseline="0" dirty="0">
                  <a:latin typeface="CMR1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sz="2400" b="0" i="0" u="none" strike="noStrike" baseline="0" dirty="0">
                    <a:latin typeface="CMR10"/>
                  </a:rPr>
                  <a:t>The components of the vector going from </a:t>
                </a:r>
                <a:r>
                  <a:rPr lang="en-US" sz="2400" dirty="0"/>
                  <a:t>p</a:t>
                </a:r>
                <a:r>
                  <a:rPr lang="en-US" sz="2400" baseline="-25000" dirty="0"/>
                  <a:t>1</a:t>
                </a:r>
                <a:r>
                  <a:rPr lang="en-US" sz="2400" b="0" i="0" u="none" strike="noStrike" baseline="0" dirty="0">
                    <a:latin typeface="CMR10"/>
                  </a:rPr>
                  <a:t> to </a:t>
                </a:r>
                <a:r>
                  <a:rPr lang="en-US" sz="2400" dirty="0"/>
                  <a:t>p</a:t>
                </a:r>
                <a:r>
                  <a:rPr lang="en-US" sz="2400" baseline="-25000" dirty="0"/>
                  <a:t>2</a:t>
                </a:r>
                <a:r>
                  <a:rPr lang="en-US" sz="2400" b="0" i="0" u="none" strike="noStrike" baseline="0" dirty="0">
                    <a:latin typeface="CMR10"/>
                  </a:rPr>
                  <a:t> is given by: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:endParaRPr lang="en-US" sz="2400" dirty="0">
                  <a:latin typeface="CMR10"/>
                </a:endParaRPr>
              </a:p>
              <a:p>
                <a:pPr marL="0" indent="0" algn="l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MR1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91E7237-8BE8-494F-8E75-0B9B90555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647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33A032-9008-0E55-1CA9-F12BA6FE77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303928" y="1825625"/>
            <a:ext cx="4250144" cy="435133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36F93B-8DF9-8F09-7B93-2108E3D52A0B}"/>
              </a:ext>
            </a:extLst>
          </p:cNvPr>
          <p:cNvCxnSpPr/>
          <p:nvPr/>
        </p:nvCxnSpPr>
        <p:spPr>
          <a:xfrm flipV="1">
            <a:off x="2333625" y="2371725"/>
            <a:ext cx="2028825" cy="2019300"/>
          </a:xfrm>
          <a:prstGeom prst="straightConnector1">
            <a:avLst/>
          </a:prstGeom>
          <a:ln w="2540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E43793-62C9-E3FD-6FE7-0021436FE236}"/>
                  </a:ext>
                </a:extLst>
              </p:cNvPr>
              <p:cNvSpPr txBox="1"/>
              <p:nvPr/>
            </p:nvSpPr>
            <p:spPr>
              <a:xfrm>
                <a:off x="3009900" y="2943225"/>
                <a:ext cx="253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E43793-62C9-E3FD-6FE7-0021436FE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900" y="2943225"/>
                <a:ext cx="253274" cy="369332"/>
              </a:xfrm>
              <a:prstGeom prst="rect">
                <a:avLst/>
              </a:prstGeom>
              <a:blipFill>
                <a:blip r:embed="rId4"/>
                <a:stretch>
                  <a:fillRect l="-19512" r="-19512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156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>
                    <a:solidFill>
                      <a:srgbClr val="FF0000"/>
                    </a:solidFill>
                  </a:rPr>
                  <a:t>Note 1:</a:t>
                </a:r>
              </a:p>
              <a:p>
                <a:pPr marL="0" indent="0" algn="l">
                  <a:lnSpc>
                    <a:spcPct val="120000"/>
                  </a:lnSpc>
                  <a:buNone/>
                </a:pPr>
                <a:r>
                  <a:rPr lang="en-US" sz="2400" b="0" i="0" u="none" strike="noStrike" baseline="0" dirty="0"/>
                  <a:t>In machine learning, when we want to interpret a model geometrically, we might treat a given vector as a point or as a geometric vector depending on the application and what the vector represents. </a:t>
                </a:r>
              </a:p>
              <a:p>
                <a:pPr marL="0" indent="0" algn="l">
                  <a:lnSpc>
                    <a:spcPct val="12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b="0" i="0" u="none" strike="noStrike" baseline="0" dirty="0">
                    <a:solidFill>
                      <a:srgbClr val="FF0000"/>
                    </a:solidFill>
                  </a:rPr>
                  <a:t>Note 2: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2000" dirty="0"/>
                  <a:t>In </a:t>
                </a:r>
                <a:r>
                  <a:rPr lang="en-US" sz="2000" b="1" dirty="0"/>
                  <a:t>linear algebra</a:t>
                </a:r>
                <a:r>
                  <a:rPr lang="en-US" sz="2000" dirty="0"/>
                  <a:t>, a vector is also given an orientation: it could be a row vector or column vector.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2000" b="0" i="0" u="none" strike="noStrike" baseline="0" dirty="0"/>
                  <a:t>The convention </a:t>
                </a:r>
                <a:r>
                  <a:rPr lang="en-US" sz="2000" dirty="0"/>
                  <a:t>followed in most linear algebra references is that the default orientation is column vector.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2000" b="0" i="0" u="none" strike="noStrike" baseline="0" dirty="0"/>
                  <a:t>We will try to follow this convention in this class: any vector </a:t>
                </a:r>
                <a14:m>
                  <m:oMath xmlns:m="http://schemas.openxmlformats.org/officeDocument/2006/math">
                    <m:r>
                      <a:rPr lang="en-US" sz="2000" b="1" i="1" u="none" strike="noStrike" baseline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b="0" i="0" u="none" strike="noStrike" baseline="0" dirty="0"/>
                  <a:t> is</a:t>
                </a:r>
                <a:r>
                  <a:rPr lang="en-US" sz="2000" b="0" i="0" u="none" strike="noStrike" dirty="0"/>
                  <a:t> a column vector, unless stated otherwise.</a:t>
                </a:r>
                <a:endParaRPr lang="en-US" sz="2000" b="0" i="0" u="none" strike="noStrike" baseline="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840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45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Scalar Multiplication &amp; Vector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C28955D-30DA-3546-ACF9-0BB186BCCDF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Vectors can be multiplied by a scalar: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If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then: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C28955D-30DA-3546-ACF9-0BB186BCC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36BF272-112C-FC5E-F643-412DE55A22C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Vectors can be added: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If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and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then:</a:t>
                </a:r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latin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36BF272-112C-FC5E-F643-412DE55A2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241" r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170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Dot Product &amp; 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791200" cy="4351338"/>
              </a:xfrm>
            </p:spPr>
            <p:txBody>
              <a:bodyPr>
                <a:normAutofit lnSpcReduction="10000"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en-US" sz="2400" dirty="0">
                    <a:cs typeface="Calibri" panose="020F0502020204030204" pitchFamily="34" charset="0"/>
                  </a:rPr>
                  <a:t>The magnitude or norm of a vector can be computed as </a:t>
                </a:r>
                <a:r>
                  <a:rPr lang="en-US" sz="2400" b="0" i="0" u="none" strike="noStrike" baseline="0" dirty="0">
                    <a:latin typeface="CMR10"/>
                  </a:rPr>
                  <a:t>the square root of the sum of the squares of its elements: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sz="2400" dirty="0"/>
              </a:p>
              <a:p>
                <a:endParaRPr lang="en-US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 , then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b="1" dirty="0"/>
              </a:p>
              <a:p>
                <a:endParaRPr lang="en-US" sz="2400" dirty="0">
                  <a:cs typeface="Courier New" panose="02070309020205020404" pitchFamily="49" charset="0"/>
                </a:endParaRP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How can we solve for the norm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using the dot product? 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791200" cy="4351338"/>
              </a:xfrm>
              <a:blipFill>
                <a:blip r:embed="rId2"/>
                <a:stretch>
                  <a:fillRect l="-1532" t="-1163" r="-1313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01178F-3B45-A54A-9FC5-3F1CB47BD04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dot product is a fundamental operation of linear algebra: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If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  and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then: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1" dirty="0"/>
                  <a:t>   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01178F-3B45-A54A-9FC5-3F1CB47BD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21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Dot Product &amp; 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791200" cy="4351338"/>
              </a:xfrm>
            </p:spPr>
            <p:txBody>
              <a:bodyPr>
                <a:normAutofit lnSpcReduction="10000"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en-US" sz="2400" dirty="0">
                    <a:cs typeface="Calibri" panose="020F0502020204030204" pitchFamily="34" charset="0"/>
                  </a:rPr>
                  <a:t>The magnitude or norm of a vector can be computed as </a:t>
                </a:r>
                <a:r>
                  <a:rPr lang="en-US" sz="2400" b="0" i="0" u="none" strike="noStrike" baseline="0" dirty="0">
                    <a:latin typeface="CMR10"/>
                  </a:rPr>
                  <a:t>the square root of the sum of the squares of its elements: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sz="2400" dirty="0"/>
              </a:p>
              <a:p>
                <a:endParaRPr lang="en-US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 , then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b="1" dirty="0"/>
              </a:p>
              <a:p>
                <a:endParaRPr lang="en-US" sz="2400" dirty="0">
                  <a:cs typeface="Courier New" panose="02070309020205020404" pitchFamily="49" charset="0"/>
                </a:endParaRP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How can we solve for the norm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using the dot product? 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791200" cy="4351338"/>
              </a:xfrm>
              <a:blipFill>
                <a:blip r:embed="rId2"/>
                <a:stretch>
                  <a:fillRect l="-1532" t="-1163" r="-1313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01178F-3B45-A54A-9FC5-3F1CB47BD04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dot product is a fundamental operation of linear algebra: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If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  and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then: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1" dirty="0"/>
                  <a:t>   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01178F-3B45-A54A-9FC5-3F1CB47BD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D1200B-3731-640F-53A3-0F17ABC81938}"/>
                  </a:ext>
                </a:extLst>
              </p:cNvPr>
              <p:cNvSpPr txBox="1"/>
              <p:nvPr/>
            </p:nvSpPr>
            <p:spPr>
              <a:xfrm>
                <a:off x="6572250" y="365125"/>
                <a:ext cx="4371975" cy="720552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Note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are both column vectors, then the dot product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D1200B-3731-640F-53A3-0F17ABC81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0" y="365125"/>
                <a:ext cx="4371975" cy="720552"/>
              </a:xfrm>
              <a:prstGeom prst="roundRect">
                <a:avLst/>
              </a:prstGeom>
              <a:blipFill>
                <a:blip r:embed="rId4"/>
                <a:stretch>
                  <a:fillRect l="-418" b="-7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403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391F87-6CB7-574F-4C07-1A25E35FCB9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Geometrically, the norm of a vector is the length of the line segment that represents the vector.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unit vector is vector with magnitude of 1:</a:t>
                </a:r>
              </a:p>
              <a:p>
                <a:pPr marL="457200" lvl="1" indent="0" algn="just">
                  <a:lnSpc>
                    <a:spcPct val="100000"/>
                  </a:lnSpc>
                  <a:buNone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𝒖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vector, then its unit vector version is:</a:t>
                </a:r>
                <a:endParaRPr lang="en-US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391F87-6CB7-574F-4C07-1A25E35FCB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647" t="-1120" r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Content Placeholder 50">
            <a:extLst>
              <a:ext uri="{FF2B5EF4-FFF2-40B4-BE49-F238E27FC236}">
                <a16:creationId xmlns:a16="http://schemas.microsoft.com/office/drawing/2014/main" id="{E9316510-4515-D1C2-13FF-0F3CA561DC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13428" y="1825625"/>
            <a:ext cx="42501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70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Euclidean Distance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F4FEC2-710E-D58F-2AB6-FEC20A2EDF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128"/>
          <a:stretch/>
        </p:blipFill>
        <p:spPr>
          <a:xfrm>
            <a:off x="6953249" y="1614487"/>
            <a:ext cx="4297680" cy="415583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291F78-4430-CA44-B07F-7D4D126409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900" b="0" i="0" u="none" strike="noStrike" baseline="0" dirty="0">
                    <a:ea typeface="Cambria" panose="02040503050406030204" pitchFamily="18" charset="0"/>
                  </a:rPr>
                  <a:t>The Euclidean distance between two vectors u and v is the norm of their difference:</a:t>
                </a:r>
              </a:p>
              <a:p>
                <a:pPr marL="0" indent="0" algn="l">
                  <a:lnSpc>
                    <a:spcPct val="120000"/>
                  </a:lnSpc>
                  <a:buNone/>
                </a:pPr>
                <a:endParaRPr lang="en-US" sz="1800" b="0" i="0" u="none" strike="noStrike" baseline="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)⋅(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291F78-4430-CA44-B07F-7D4D12640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059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366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C0E2-E95C-A142-A36B-2E13E650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Euclidean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8893EF-E7DA-1E43-973B-A81040C6B9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28904" y="1825625"/>
                <a:ext cx="5854535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You are probably familiar with Euclidean distance: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Distance between 2D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br>
                  <a:rPr lang="en-US" sz="2400" b="0" dirty="0"/>
                </a:br>
                <a:endParaRPr lang="en-US" sz="2400" b="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Distance between 3D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400" b="0" dirty="0"/>
                </a:br>
                <a:br>
                  <a:rPr lang="en-US" sz="2400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br>
                  <a:rPr lang="en-US" sz="2400" dirty="0"/>
                </a:br>
                <a:br>
                  <a:rPr lang="en-US" sz="2400" dirty="0"/>
                </a:br>
                <a:r>
                  <a:rPr lang="en-US" sz="2400" dirty="0"/>
                  <a:t>Euclidean distance can be extended to any number of dimensions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8893EF-E7DA-1E43-973B-A81040C6B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28904" y="1825625"/>
                <a:ext cx="5854535" cy="4351338"/>
              </a:xfrm>
              <a:blipFill>
                <a:blip r:embed="rId2"/>
                <a:stretch>
                  <a:fillRect l="-1353" t="-1681" r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268168-3BAC-435C-BEC5-4C7824441C03}"/>
                  </a:ext>
                </a:extLst>
              </p:cNvPr>
              <p:cNvSpPr txBox="1"/>
              <p:nvPr/>
            </p:nvSpPr>
            <p:spPr>
              <a:xfrm>
                <a:off x="3998917" y="2364895"/>
                <a:ext cx="124752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268168-3BAC-435C-BEC5-4C7824441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917" y="2364895"/>
                <a:ext cx="1247521" cy="276999"/>
              </a:xfrm>
              <a:prstGeom prst="rect">
                <a:avLst/>
              </a:prstGeom>
              <a:blipFill>
                <a:blip r:embed="rId3"/>
                <a:stretch>
                  <a:fillRect l="-2439" t="-2222" r="-6341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B7F152-EC61-4BB4-A91E-0F25BE86DBD1}"/>
                  </a:ext>
                </a:extLst>
              </p:cNvPr>
              <p:cNvSpPr txBox="1"/>
              <p:nvPr/>
            </p:nvSpPr>
            <p:spPr>
              <a:xfrm>
                <a:off x="838200" y="4690479"/>
                <a:ext cx="122949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B7F152-EC61-4BB4-A91E-0F25BE86D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90479"/>
                <a:ext cx="1229490" cy="276999"/>
              </a:xfrm>
              <a:prstGeom prst="rect">
                <a:avLst/>
              </a:prstGeom>
              <a:blipFill>
                <a:blip r:embed="rId4"/>
                <a:stretch>
                  <a:fillRect l="-1990" t="-2174" r="-646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E49F29-7AA1-45D5-B730-98C7D0FAE960}"/>
              </a:ext>
            </a:extLst>
          </p:cNvPr>
          <p:cNvCxnSpPr/>
          <p:nvPr/>
        </p:nvCxnSpPr>
        <p:spPr>
          <a:xfrm flipV="1">
            <a:off x="1939043" y="2945080"/>
            <a:ext cx="2431076" cy="17453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C592AA6-C221-4F4A-BABE-76063C2499F0}"/>
              </a:ext>
            </a:extLst>
          </p:cNvPr>
          <p:cNvSpPr/>
          <p:nvPr/>
        </p:nvSpPr>
        <p:spPr>
          <a:xfrm>
            <a:off x="1884810" y="4583326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C0D12B-2C75-4CFC-9F43-9D5F30088D8E}"/>
              </a:ext>
            </a:extLst>
          </p:cNvPr>
          <p:cNvSpPr/>
          <p:nvPr/>
        </p:nvSpPr>
        <p:spPr>
          <a:xfrm>
            <a:off x="4347752" y="2810143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86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C0E2-E95C-A142-A36B-2E13E650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Euclidean Distance in terms of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8893EF-E7DA-1E43-973B-A81040C6B9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28904" y="3610099"/>
                <a:ext cx="5854535" cy="25668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8893EF-E7DA-1E43-973B-A81040C6B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28904" y="3610099"/>
                <a:ext cx="5854535" cy="25668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268168-3BAC-435C-BEC5-4C7824441C03}"/>
                  </a:ext>
                </a:extLst>
              </p:cNvPr>
              <p:cNvSpPr txBox="1"/>
              <p:nvPr/>
            </p:nvSpPr>
            <p:spPr>
              <a:xfrm>
                <a:off x="3998917" y="2364895"/>
                <a:ext cx="124752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268168-3BAC-435C-BEC5-4C7824441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917" y="2364895"/>
                <a:ext cx="1247521" cy="276999"/>
              </a:xfrm>
              <a:prstGeom prst="rect">
                <a:avLst/>
              </a:prstGeom>
              <a:blipFill>
                <a:blip r:embed="rId3"/>
                <a:stretch>
                  <a:fillRect l="-2439" t="-2222" r="-6341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B7F152-EC61-4BB4-A91E-0F25BE86DBD1}"/>
                  </a:ext>
                </a:extLst>
              </p:cNvPr>
              <p:cNvSpPr txBox="1"/>
              <p:nvPr/>
            </p:nvSpPr>
            <p:spPr>
              <a:xfrm>
                <a:off x="838200" y="4690479"/>
                <a:ext cx="122949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B7F152-EC61-4BB4-A91E-0F25BE86D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90479"/>
                <a:ext cx="1229490" cy="276999"/>
              </a:xfrm>
              <a:prstGeom prst="rect">
                <a:avLst/>
              </a:prstGeom>
              <a:blipFill>
                <a:blip r:embed="rId4"/>
                <a:stretch>
                  <a:fillRect l="-1990" t="-2174" r="-646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E49F29-7AA1-45D5-B730-98C7D0FAE960}"/>
              </a:ext>
            </a:extLst>
          </p:cNvPr>
          <p:cNvCxnSpPr/>
          <p:nvPr/>
        </p:nvCxnSpPr>
        <p:spPr>
          <a:xfrm flipV="1">
            <a:off x="1939043" y="2945080"/>
            <a:ext cx="2431076" cy="17453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C592AA6-C221-4F4A-BABE-76063C2499F0}"/>
              </a:ext>
            </a:extLst>
          </p:cNvPr>
          <p:cNvSpPr/>
          <p:nvPr/>
        </p:nvSpPr>
        <p:spPr>
          <a:xfrm>
            <a:off x="1884810" y="4583326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C0D12B-2C75-4CFC-9F43-9D5F30088D8E}"/>
              </a:ext>
            </a:extLst>
          </p:cNvPr>
          <p:cNvSpPr/>
          <p:nvPr/>
        </p:nvSpPr>
        <p:spPr>
          <a:xfrm>
            <a:off x="4347752" y="2810143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4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902C0A-3EF0-7B31-9F9A-C7335D97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Dot Products &amp; Vector Norms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381F4DA-FA8E-CA33-EFF1-AE026B4AB6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The dot product of vectors </a:t>
                </a:r>
                <a:r>
                  <a:rPr lang="en-US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dirty="0"/>
                  <a:t> and </a:t>
                </a:r>
                <a:r>
                  <a:rPr lang="en-US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dirty="0"/>
                  <a:t>  can be also given by: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381F4DA-FA8E-CA33-EFF1-AE026B4AB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1681" r="-3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DBC4710-B5C5-9A96-4FDD-F19AF30B10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318" y="1825625"/>
            <a:ext cx="4357364" cy="4351338"/>
          </a:xfrm>
        </p:spPr>
      </p:pic>
    </p:spTree>
    <p:extLst>
      <p:ext uri="{BB962C8B-B14F-4D97-AF65-F5344CB8AC3E}">
        <p14:creationId xmlns:p14="http://schemas.microsoft.com/office/powerpoint/2010/main" val="1727030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FBB0-F649-8D32-A3D7-3F36F9E3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Dot Products &amp; Vector Norms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B0198E-97FD-461A-6B12-C80645B5D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093" y="1825625"/>
            <a:ext cx="7535814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FAADD0-3E4A-F0D9-B016-7A9F50FE292A}"/>
                  </a:ext>
                </a:extLst>
              </p:cNvPr>
              <p:cNvSpPr txBox="1"/>
              <p:nvPr/>
            </p:nvSpPr>
            <p:spPr>
              <a:xfrm>
                <a:off x="8839200" y="658574"/>
                <a:ext cx="2514600" cy="408623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FAADD0-3E4A-F0D9-B016-7A9F50FE2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658574"/>
                <a:ext cx="2514600" cy="40862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713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Vectors: Dot Product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9ADCE3-59D5-8146-883E-B60201C9C2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100" y="2068557"/>
            <a:ext cx="4597800" cy="386547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If two vectors are perpendicular (orthogonal), then their dot product is 0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0EDA36-DD9E-D84F-BAB7-DAD1BAF5F874}"/>
              </a:ext>
            </a:extLst>
          </p:cNvPr>
          <p:cNvCxnSpPr/>
          <p:nvPr/>
        </p:nvCxnSpPr>
        <p:spPr>
          <a:xfrm>
            <a:off x="1540565" y="3429000"/>
            <a:ext cx="2166731" cy="1500809"/>
          </a:xfrm>
          <a:prstGeom prst="straightConnector1">
            <a:avLst/>
          </a:prstGeom>
          <a:ln w="63500">
            <a:solidFill>
              <a:srgbClr val="2826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440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Vectors: Dot Product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9ADCE3-59D5-8146-883E-B60201C9C2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100" y="2068557"/>
            <a:ext cx="4597800" cy="386547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If two vectors are anti-parallel, then the dot product of their unit vectors is -1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1261" r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B5B720-E9EE-694B-ADD6-28D528EEDC0D}"/>
              </a:ext>
            </a:extLst>
          </p:cNvPr>
          <p:cNvCxnSpPr>
            <a:cxnSpLocks/>
          </p:cNvCxnSpPr>
          <p:nvPr/>
        </p:nvCxnSpPr>
        <p:spPr>
          <a:xfrm rot="5400000">
            <a:off x="1960695" y="3935627"/>
            <a:ext cx="2166731" cy="1500809"/>
          </a:xfrm>
          <a:prstGeom prst="straightConnector1">
            <a:avLst/>
          </a:prstGeom>
          <a:ln w="63500">
            <a:solidFill>
              <a:srgbClr val="2826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605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9E7-87C5-3C43-B034-39DFB25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Vectors: Dot Product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9ADCE3-59D5-8146-883E-B60201C9C2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100" y="2068557"/>
            <a:ext cx="4597800" cy="386547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If two vectors are parallel, then the dot product of their unit vectors is 1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6CFB22-3DC5-1245-B18F-B4AD2E27C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70C150-B861-A04B-A356-59005CA84673}"/>
              </a:ext>
            </a:extLst>
          </p:cNvPr>
          <p:cNvCxnSpPr>
            <a:cxnSpLocks/>
          </p:cNvCxnSpPr>
          <p:nvPr/>
        </p:nvCxnSpPr>
        <p:spPr>
          <a:xfrm rot="16200000">
            <a:off x="2121332" y="4100260"/>
            <a:ext cx="2166731" cy="1500809"/>
          </a:xfrm>
          <a:prstGeom prst="straightConnector1">
            <a:avLst/>
          </a:prstGeom>
          <a:ln w="63500">
            <a:solidFill>
              <a:srgbClr val="2826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602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9F99F3-3504-5DBF-8C08-64756132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3461486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Matrices are an ordered collection of vectors (either column vectors or row vectors).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Matrices are used to store and perform operations on groups of vectors in one operation.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sz="2400" b="0" i="0" u="none" strike="noStrike" baseline="0" dirty="0"/>
                  <a:t>A matrix is a rectangular array of numbers written between squared brackets:</a:t>
                </a:r>
              </a:p>
              <a:p>
                <a:pPr algn="l"/>
                <a:endParaRPr lang="en-US" sz="2800" b="0" i="1" u="none" strike="noStrike" baseline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823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matrix contain real entries organized into:</a:t>
                </a:r>
              </a:p>
              <a:p>
                <a:pPr lvl="1"/>
                <a:r>
                  <a:rPr lang="en-US" dirty="0"/>
                  <a:t>n rows</a:t>
                </a:r>
              </a:p>
              <a:p>
                <a:pPr lvl="1"/>
                <a:r>
                  <a:rPr lang="en-US" dirty="0"/>
                  <a:t>m columns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AF5FD-CA73-5A57-8509-A2B2CA851384}"/>
                  </a:ext>
                </a:extLst>
              </p:cNvPr>
              <p:cNvSpPr txBox="1"/>
              <p:nvPr/>
            </p:nvSpPr>
            <p:spPr>
              <a:xfrm>
                <a:off x="3606519" y="4363244"/>
                <a:ext cx="4316117" cy="1625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AF5FD-CA73-5A57-8509-A2B2CA851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19" y="4363244"/>
                <a:ext cx="4316117" cy="1625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077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166D-B975-49E4-85E0-A14A3DA4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matrix contain real entries organized into:</a:t>
                </a:r>
              </a:p>
              <a:p>
                <a:pPr lvl="1"/>
                <a:r>
                  <a:rPr lang="en-US" dirty="0"/>
                  <a:t>n rows</a:t>
                </a:r>
              </a:p>
              <a:p>
                <a:pPr lvl="1"/>
                <a:r>
                  <a:rPr lang="en-US" dirty="0"/>
                  <a:t>m columns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B32A19-F2AC-4585-83F1-3FDFB28C9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AF5FD-CA73-5A57-8509-A2B2CA851384}"/>
                  </a:ext>
                </a:extLst>
              </p:cNvPr>
              <p:cNvSpPr txBox="1"/>
              <p:nvPr/>
            </p:nvSpPr>
            <p:spPr>
              <a:xfrm>
                <a:off x="3606519" y="4363244"/>
                <a:ext cx="4316117" cy="1625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AF5FD-CA73-5A57-8509-A2B2CA851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19" y="4363244"/>
                <a:ext cx="4316117" cy="1625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D30F-C75E-32C9-1F9C-22BA73927F5E}"/>
                  </a:ext>
                </a:extLst>
              </p:cNvPr>
              <p:cNvSpPr txBox="1"/>
              <p:nvPr/>
            </p:nvSpPr>
            <p:spPr>
              <a:xfrm>
                <a:off x="8562974" y="4383088"/>
                <a:ext cx="3514725" cy="1222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</a:rPr>
                  <a:t>Matrix elements can be described using indexing like 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FF0000"/>
                    </a:solidFill>
                  </a:rPr>
                  <a:t>.  The </a:t>
                </a:r>
                <a:r>
                  <a:rPr lang="en-US" dirty="0">
                    <a:solidFill>
                      <a:srgbClr val="FF0000"/>
                    </a:solidFill>
                  </a:rPr>
                  <a:t>index</a:t>
                </a: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sz="1800" dirty="0">
                    <a:solidFill>
                      <a:srgbClr val="FF0000"/>
                    </a:solidFill>
                  </a:rPr>
                  <a:t>refers to the row, while the index j refers to the column.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D30F-C75E-32C9-1F9C-22BA73927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974" y="4383088"/>
                <a:ext cx="3514725" cy="1222642"/>
              </a:xfrm>
              <a:prstGeom prst="rect">
                <a:avLst/>
              </a:prstGeom>
              <a:blipFill>
                <a:blip r:embed="rId4"/>
                <a:stretch>
                  <a:fillRect l="-1563" t="-2488" b="-6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101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0D23-1B65-DC20-A7A4-EB716579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5547A-71B1-6EF3-B9F4-B0DE98BC2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b="1" i="0" u="none" strike="noStrike" baseline="0" dirty="0"/>
                  <a:t>Square matrices</a:t>
                </a:r>
                <a:r>
                  <a:rPr lang="en-US" sz="2400" b="0" i="0" u="none" strike="noStrike" baseline="0" dirty="0"/>
                  <a:t>:  A square matrix is a matrix that has an equal number of rows and columns.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b="1" i="0" u="none" strike="noStrike" baseline="0" dirty="0"/>
                  <a:t>Matrix transpose</a:t>
                </a:r>
                <a:r>
                  <a:rPr lang="en-US" sz="2400" dirty="0"/>
                  <a:t>:</a:t>
                </a:r>
                <a:r>
                  <a:rPr lang="en-US" sz="2400" b="0" i="0" u="none" strike="noStrike" baseline="0" dirty="0"/>
                  <a:t> If A is an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b="0" i="0" u="none" strike="noStrike" baseline="0" dirty="0"/>
                  <a:t> matrix, its transpose,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/>
                  <a:t> , is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i="0" u="none" strike="noStrike" baseline="0" dirty="0"/>
                  <a:t>  matrix, where each row in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b="0" i="0" u="none" strike="noStrike" baseline="0" dirty="0"/>
                  <a:t> becomes a column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i="0" u="none" strike="noStrike" baseline="0" dirty="0"/>
                  <a:t> For example,</a:t>
                </a:r>
              </a:p>
              <a:p>
                <a:pPr algn="l">
                  <a:lnSpc>
                    <a:spcPct val="100000"/>
                  </a:lnSpc>
                </a:pPr>
                <a:endParaRPr lang="en-US" sz="2400" b="0" i="1" u="none" strike="noStrike" baseline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b="0" i="1" u="none" strike="noStrike" baseline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u="none" strike="noStrike" baseline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0" i="0" u="none" strike="noStrike" baseline="0" dirty="0"/>
              </a:p>
              <a:p>
                <a:pPr marL="0" indent="0" algn="l">
                  <a:lnSpc>
                    <a:spcPct val="100000"/>
                  </a:lnSpc>
                  <a:buNone/>
                </a:pPr>
                <a:endParaRPr lang="en-US" sz="1800" b="0" i="0" u="none" strike="noStrike" baseline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5547A-71B1-6EF3-B9F4-B0DE98BC2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881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2BEC-4B42-214E-9949-C7BAF676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Matrix-Vector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0AFE6-1CDF-6644-B474-40E5DD9BAC6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0AFE6-1CDF-6644-B474-40E5DD9BA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1DA92-654D-D64D-9710-420C1DE664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Multiplying a matrix and a vector produces a new vector.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To get each element of the new vector: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each row of the matrix is dotted with vector</a:t>
            </a:r>
          </a:p>
          <a:p>
            <a:pPr algn="l"/>
            <a:r>
              <a:rPr lang="en-US" sz="2400" dirty="0"/>
              <a:t>T</a:t>
            </a:r>
            <a:r>
              <a:rPr lang="en-US" sz="2400" b="0" i="0" u="none" strike="noStrike" baseline="0" dirty="0"/>
              <a:t>he number of elements of </a:t>
            </a:r>
            <a:r>
              <a:rPr lang="en-US" sz="2400" b="1" dirty="0"/>
              <a:t>b</a:t>
            </a:r>
            <a:r>
              <a:rPr lang="en-US" sz="2400" b="0" i="0" u="none" strike="noStrike" baseline="0" dirty="0"/>
              <a:t> needs to be equal to the number of columns of A.</a:t>
            </a:r>
            <a:endParaRPr 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7357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2BEC-4B42-214E-9949-C7BAF676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Matrix-Matrix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0AFE6-1CDF-6644-B474-40E5DD9BAC6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0AFE6-1CDF-6644-B474-40E5DD9BA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1DA92-654D-D64D-9710-420C1DE664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We can also multiple two matrices.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To get every element in the output matrix: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dot each row of the first matrix with every column of the second matrix.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595D3-7856-FD0D-1769-38C2F4A353C0}"/>
              </a:ext>
            </a:extLst>
          </p:cNvPr>
          <p:cNvSpPr txBox="1"/>
          <p:nvPr/>
        </p:nvSpPr>
        <p:spPr>
          <a:xfrm>
            <a:off x="6386512" y="4553883"/>
            <a:ext cx="4752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The number of columns in the first matrix must match the number of rows in the second matrix (</a:t>
            </a:r>
            <a:r>
              <a:rPr lang="en-US" sz="2400" b="0" i="0" u="none" strike="noStrike" baseline="0" dirty="0">
                <a:solidFill>
                  <a:srgbClr val="FF0000"/>
                </a:solidFill>
              </a:rPr>
              <a:t>The dimensions of the two matrices must be  compatible</a:t>
            </a:r>
            <a:r>
              <a:rPr lang="en-US" sz="2400" dirty="0">
                <a:solidFill>
                  <a:srgbClr val="FF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92709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2BEC-4B42-214E-9949-C7BAF676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Matrix-Matrix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0AFE6-1CDF-6644-B474-40E5DD9BAC6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0AFE6-1CDF-6644-B474-40E5DD9BA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1DA92-654D-D64D-9710-420C1DE664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We can also multiple two matrices.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To get every element in the output matrix: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dot each row of the first matrix with every column of the second matrix.</a:t>
            </a:r>
          </a:p>
        </p:txBody>
      </p:sp>
    </p:spTree>
    <p:extLst>
      <p:ext uri="{BB962C8B-B14F-4D97-AF65-F5344CB8AC3E}">
        <p14:creationId xmlns:p14="http://schemas.microsoft.com/office/powerpoint/2010/main" val="2495932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BF187B-1A85-49CA-EB20-06E36BDA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Geometric Example of Matrix-Vector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8544BAC-061B-555E-7336-45A5C038CE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2400" b="0" i="0" u="none" strike="noStrike" baseline="0">
                    <a:latin typeface="CMR10"/>
                  </a:rPr>
                  <a:t>Matrix-vector </a:t>
                </a:r>
                <a:r>
                  <a:rPr lang="en-US" sz="2400" b="0" i="0" u="none" strike="noStrike" baseline="0" dirty="0">
                    <a:latin typeface="CMR10"/>
                  </a:rPr>
                  <a:t>multiplication can be seen as vector transformation known as linear mapping.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     </m:t>
                      </m:r>
                      <m:r>
                        <a:rPr lang="en-US" sz="2400" b="1" i="1" u="none" strike="noStrike" baseline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0" i="1" u="none" strike="noStrike" baseline="0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u="none" strike="noStrike" baseline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groupChr>
                      <m:r>
                        <a:rPr lang="en-US" sz="2400" b="1" i="1" u="none" strike="noStrike" baseline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2400" b="0" i="0" u="none" strike="noStrike" baseline="0" dirty="0">
                  <a:latin typeface="CMR1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We say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transforms the vector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sz="2400" dirty="0"/>
                  <a:t> into a new vector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b="0" i="0" u="none" strike="noStrike" baseline="0" dirty="0"/>
                  <a:t>The type/meaning of transformation depends on how we choose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i="0" u="none" strike="noStrike" baseline="0" dirty="0"/>
                  <a:t>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8544BAC-061B-555E-7336-45A5C038CE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163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436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2DF9-BCC4-D849-78C6-90E2B066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1 - Negation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Suppose,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Assume </a:t>
                </a:r>
                <a:r>
                  <a:rPr lang="en-US" b="1" dirty="0"/>
                  <a:t>u</a:t>
                </a:r>
                <a:r>
                  <a:rPr lang="en-US" dirty="0"/>
                  <a:t> is a point in the 2-dimensional space. How would </a:t>
                </a:r>
                <a:r>
                  <a:rPr lang="en-US" b="1" dirty="0"/>
                  <a:t>u </a:t>
                </a:r>
                <a:r>
                  <a:rPr lang="en-US" dirty="0"/>
                  <a:t>change after multiplying it by A?  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4BFFBC-5B7D-2754-CE1C-BB93157C09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37928" y="1825625"/>
            <a:ext cx="42501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63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2DF9-BCC4-D849-78C6-90E2B066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1 - Negation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/>
                  <a:t>Now we want to apply the same transformation to two other vectors: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0" dirty="0"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4BFFBC-5B7D-2754-CE1C-BB93157C09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37928" y="1825625"/>
            <a:ext cx="4250144" cy="435133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94F4966-D1FE-1CF2-C00C-7E3831C7DFBF}"/>
              </a:ext>
            </a:extLst>
          </p:cNvPr>
          <p:cNvSpPr/>
          <p:nvPr/>
        </p:nvSpPr>
        <p:spPr>
          <a:xfrm>
            <a:off x="8134350" y="282892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08FAD5-B88B-9FCF-0159-B51300C6C5F1}"/>
              </a:ext>
            </a:extLst>
          </p:cNvPr>
          <p:cNvSpPr/>
          <p:nvPr/>
        </p:nvSpPr>
        <p:spPr>
          <a:xfrm>
            <a:off x="10172700" y="43434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98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2DF9-BCC4-D849-78C6-90E2B066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1 - Negation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/>
                  <a:t>Now we want to apply the same transformation to two other vectors: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0" dirty="0"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ea typeface="Cambria Math" panose="02040503050406030204" pitchFamily="18" charset="0"/>
                  </a:rPr>
                  <a:t>We can apply the transformation to each vector individually or we can collect the vectors that we want to transform into one matrix to represent a collective transformation: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/>
                              <m:e/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12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4BFFBC-5B7D-2754-CE1C-BB93157C09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37928" y="1825625"/>
            <a:ext cx="4250144" cy="435133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94F4966-D1FE-1CF2-C00C-7E3831C7DFBF}"/>
              </a:ext>
            </a:extLst>
          </p:cNvPr>
          <p:cNvSpPr/>
          <p:nvPr/>
        </p:nvSpPr>
        <p:spPr>
          <a:xfrm>
            <a:off x="8134350" y="282892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08FAD5-B88B-9FCF-0159-B51300C6C5F1}"/>
              </a:ext>
            </a:extLst>
          </p:cNvPr>
          <p:cNvSpPr/>
          <p:nvPr/>
        </p:nvSpPr>
        <p:spPr>
          <a:xfrm>
            <a:off x="10172700" y="43434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074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2DF9-BCC4-D849-78C6-90E2B066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2 - Permutation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/>
                  <a:t>Now we want to apply another transformation to two other vectors: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0" dirty="0"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ea typeface="Cambria Math" panose="02040503050406030204" pitchFamily="18" charset="0"/>
                  </a:rPr>
                  <a:t>How would the points change in this case?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9C063-9886-4F4E-4237-272D43A48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4BFFBC-5B7D-2754-CE1C-BB93157C09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37928" y="1825625"/>
            <a:ext cx="4250144" cy="435133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94F4966-D1FE-1CF2-C00C-7E3831C7DFBF}"/>
              </a:ext>
            </a:extLst>
          </p:cNvPr>
          <p:cNvSpPr/>
          <p:nvPr/>
        </p:nvSpPr>
        <p:spPr>
          <a:xfrm>
            <a:off x="8134350" y="282892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08FAD5-B88B-9FCF-0159-B51300C6C5F1}"/>
              </a:ext>
            </a:extLst>
          </p:cNvPr>
          <p:cNvSpPr/>
          <p:nvPr/>
        </p:nvSpPr>
        <p:spPr>
          <a:xfrm>
            <a:off x="10172700" y="43434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08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C949E4-A903-E5B2-D343-A97417A1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Lines, Planes, Hyperplanes</a:t>
            </a:r>
          </a:p>
        </p:txBody>
      </p:sp>
    </p:spTree>
    <p:extLst>
      <p:ext uri="{BB962C8B-B14F-4D97-AF65-F5344CB8AC3E}">
        <p14:creationId xmlns:p14="http://schemas.microsoft.com/office/powerpoint/2010/main" val="1486069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722627" cy="4351338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You’re familiar with the following form of a line’s equation: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722627" cy="4351338"/>
              </a:xfrm>
              <a:blipFill>
                <a:blip r:embed="rId2"/>
                <a:stretch>
                  <a:fillRect l="-1935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3739405-B048-24F4-CA90-AB4DCB095762}"/>
              </a:ext>
            </a:extLst>
          </p:cNvPr>
          <p:cNvGrpSpPr/>
          <p:nvPr/>
        </p:nvGrpSpPr>
        <p:grpSpPr>
          <a:xfrm>
            <a:off x="6022046" y="104793"/>
            <a:ext cx="6490286" cy="6648413"/>
            <a:chOff x="5458110" y="131563"/>
            <a:chExt cx="6490286" cy="6648413"/>
          </a:xfrm>
        </p:grpSpPr>
        <p:pic>
          <p:nvPicPr>
            <p:cNvPr id="7" name="Content Placeholder 6">
              <a:extLst>
                <a:ext uri="{FF2B5EF4-FFF2-40B4-BE49-F238E27FC236}">
                  <a16:creationId xmlns:a16="http://schemas.microsoft.com/office/drawing/2014/main" id="{9EB37F1A-A1A5-F139-F17E-20300F7DF1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8" name="Content Placeholder 6">
              <a:extLst>
                <a:ext uri="{FF2B5EF4-FFF2-40B4-BE49-F238E27FC236}">
                  <a16:creationId xmlns:a16="http://schemas.microsoft.com/office/drawing/2014/main" id="{EB15D73A-E24F-6291-7A02-82CBEEC21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6EEC3-0A7A-5CF5-A1B1-71C09E5B9AC0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9BA2FD-25E6-1EE7-A3A4-BF96A4406D85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9237AB-588F-3D7A-EAE1-17533D1D4C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49AE08-2138-914E-917E-6901B5232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27516F-BEDD-CD0C-D6C0-1CD1DD2479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51942E-C45C-7B86-6A86-860B099FB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F91A26-EB7F-675C-38A6-C4B778E897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8EB721-7FA2-C7A4-1718-079DB2339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D5585A-589A-DD38-3D4E-5A1647D75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2D5B5B-E3B8-C567-8801-E6C8477EBD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C20AA5-4414-98B7-2408-51946485F0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7015A-045B-E56D-8BAD-3D31559BE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DA8EF8-3F4A-9606-D67C-7042EB803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0608FC-C460-43B7-1AE0-D1FEFB3854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8A77AC8-9DE1-3EF6-B413-ABCDC7DCE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DA5E6A-E92D-3CFC-0285-586526C37EA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6CA0F3-1BB2-FBF7-41B3-4B2B3F805F3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AF126F9-515D-A64E-D0F3-AF919023EA6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3735D8-8320-F734-2496-257F14B1A8C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C592AB8-976F-D84E-91EC-27209295650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C224D5D-D295-FFCB-CCF2-4D6019A8574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0" name="Content Placeholder 6">
              <a:extLst>
                <a:ext uri="{FF2B5EF4-FFF2-40B4-BE49-F238E27FC236}">
                  <a16:creationId xmlns:a16="http://schemas.microsoft.com/office/drawing/2014/main" id="{6988694B-3379-CE8F-B40F-0A5166FB2C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31" name="Content Placeholder 6">
              <a:extLst>
                <a:ext uri="{FF2B5EF4-FFF2-40B4-BE49-F238E27FC236}">
                  <a16:creationId xmlns:a16="http://schemas.microsoft.com/office/drawing/2014/main" id="{24687F3F-E34D-E8B6-FFE6-B53D88FD2E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74C0B4F-695F-D40C-5FAF-751D3A717D37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D6DBE16-685E-4C90-2696-A7CE22EC54E8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958490-B9D0-1AB2-4F77-18DA13E6AC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8043332-4338-D96B-EFC5-59EA6513F65A}"/>
                    </a:ext>
                  </a:extLst>
                </p:cNvPr>
                <p:cNvSpPr txBox="1"/>
                <p:nvPr/>
              </p:nvSpPr>
              <p:spPr>
                <a:xfrm>
                  <a:off x="9738835" y="166299"/>
                  <a:ext cx="166173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+1 </m:t>
                        </m:r>
                      </m:oMath>
                    </m:oMathPara>
                  </a14:m>
                  <a:endParaRPr lang="en-US" sz="28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8043332-4338-D96B-EFC5-59EA6513F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835" y="166299"/>
                  <a:ext cx="1661737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51C3FCD-79C2-19A3-5516-9D5A35AFDF00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51C3FCD-79C2-19A3-5516-9D5A35AFD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C3D3100-030A-FAF8-3A47-5B9E5108861F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C3D3100-030A-FAF8-3A47-5B9E51088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1062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578115" cy="435133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400" dirty="0"/>
                  <a:t>In this class (when we’re going to talk about linear classification), we might need to label the horizontal axes differently: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We want to you to get used to using variables other than y and x when defining a line’s equation.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578115" cy="4351338"/>
              </a:xfrm>
              <a:blipFill>
                <a:blip r:embed="rId2"/>
                <a:stretch>
                  <a:fillRect l="-1729" t="-1120" r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3739405-B048-24F4-CA90-AB4DCB095762}"/>
              </a:ext>
            </a:extLst>
          </p:cNvPr>
          <p:cNvGrpSpPr/>
          <p:nvPr/>
        </p:nvGrpSpPr>
        <p:grpSpPr>
          <a:xfrm>
            <a:off x="6022046" y="104793"/>
            <a:ext cx="6490286" cy="6648413"/>
            <a:chOff x="5458110" y="131563"/>
            <a:chExt cx="6490286" cy="6648413"/>
          </a:xfrm>
        </p:grpSpPr>
        <p:pic>
          <p:nvPicPr>
            <p:cNvPr id="7" name="Content Placeholder 6">
              <a:extLst>
                <a:ext uri="{FF2B5EF4-FFF2-40B4-BE49-F238E27FC236}">
                  <a16:creationId xmlns:a16="http://schemas.microsoft.com/office/drawing/2014/main" id="{9EB37F1A-A1A5-F139-F17E-20300F7DF1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8" name="Content Placeholder 6">
              <a:extLst>
                <a:ext uri="{FF2B5EF4-FFF2-40B4-BE49-F238E27FC236}">
                  <a16:creationId xmlns:a16="http://schemas.microsoft.com/office/drawing/2014/main" id="{EB15D73A-E24F-6291-7A02-82CBEEC21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6EEC3-0A7A-5CF5-A1B1-71C09E5B9AC0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9BA2FD-25E6-1EE7-A3A4-BF96A4406D85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9237AB-588F-3D7A-EAE1-17533D1D4C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49AE08-2138-914E-917E-6901B5232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27516F-BEDD-CD0C-D6C0-1CD1DD2479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51942E-C45C-7B86-6A86-860B099FB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F91A26-EB7F-675C-38A6-C4B778E897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8EB721-7FA2-C7A4-1718-079DB2339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D5585A-589A-DD38-3D4E-5A1647D75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2D5B5B-E3B8-C567-8801-E6C8477EBD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C20AA5-4414-98B7-2408-51946485F0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7015A-045B-E56D-8BAD-3D31559BE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DA8EF8-3F4A-9606-D67C-7042EB803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0608FC-C460-43B7-1AE0-D1FEFB3854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8A77AC8-9DE1-3EF6-B413-ABCDC7DCE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DA5E6A-E92D-3CFC-0285-586526C37EA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6CA0F3-1BB2-FBF7-41B3-4B2B3F805F3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AF126F9-515D-A64E-D0F3-AF919023EA6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3735D8-8320-F734-2496-257F14B1A8C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C592AB8-976F-D84E-91EC-27209295650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C224D5D-D295-FFCB-CCF2-4D6019A8574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0" name="Content Placeholder 6">
              <a:extLst>
                <a:ext uri="{FF2B5EF4-FFF2-40B4-BE49-F238E27FC236}">
                  <a16:creationId xmlns:a16="http://schemas.microsoft.com/office/drawing/2014/main" id="{6988694B-3379-CE8F-B40F-0A5166FB2C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31" name="Content Placeholder 6">
              <a:extLst>
                <a:ext uri="{FF2B5EF4-FFF2-40B4-BE49-F238E27FC236}">
                  <a16:creationId xmlns:a16="http://schemas.microsoft.com/office/drawing/2014/main" id="{24687F3F-E34D-E8B6-FFE6-B53D88FD2E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74C0B4F-695F-D40C-5FAF-751D3A717D37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D6DBE16-685E-4C90-2696-A7CE22EC54E8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958490-B9D0-1AB2-4F77-18DA13E6AC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8043332-4338-D96B-EFC5-59EA6513F65A}"/>
                    </a:ext>
                  </a:extLst>
                </p:cNvPr>
                <p:cNvSpPr txBox="1"/>
                <p:nvPr/>
              </p:nvSpPr>
              <p:spPr>
                <a:xfrm>
                  <a:off x="9738835" y="166299"/>
                  <a:ext cx="195406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+1 </m:t>
                        </m:r>
                      </m:oMath>
                    </m:oMathPara>
                  </a14:m>
                  <a:endParaRPr lang="en-US" sz="28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8043332-4338-D96B-EFC5-59EA6513F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835" y="166299"/>
                  <a:ext cx="1954061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51C3FCD-79C2-19A3-5516-9D5A35AFDF00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51C3FCD-79C2-19A3-5516-9D5A35AFD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C3D3100-030A-FAF8-3A47-5B9E5108861F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C3D3100-030A-FAF8-3A47-5B9E51088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7213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578115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400" dirty="0"/>
                  <a:t>If we re-arrange the terms of the following line’s equation: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400" dirty="0"/>
                  <a:t>we get the standard form of the line’s equation: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10000"/>
                  </a:lnSpc>
                </a:pPr>
                <a:endParaRPr 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More generally speaking, a line’s equation in a 2-dimensional space is given by: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1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578115" cy="4351338"/>
              </a:xfrm>
              <a:blipFill>
                <a:blip r:embed="rId2"/>
                <a:stretch>
                  <a:fillRect l="-1596" t="-840" r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3739405-B048-24F4-CA90-AB4DCB095762}"/>
              </a:ext>
            </a:extLst>
          </p:cNvPr>
          <p:cNvGrpSpPr/>
          <p:nvPr/>
        </p:nvGrpSpPr>
        <p:grpSpPr>
          <a:xfrm>
            <a:off x="6022046" y="104793"/>
            <a:ext cx="6490286" cy="6648413"/>
            <a:chOff x="5458110" y="131563"/>
            <a:chExt cx="6490286" cy="6648413"/>
          </a:xfrm>
        </p:grpSpPr>
        <p:pic>
          <p:nvPicPr>
            <p:cNvPr id="7" name="Content Placeholder 6">
              <a:extLst>
                <a:ext uri="{FF2B5EF4-FFF2-40B4-BE49-F238E27FC236}">
                  <a16:creationId xmlns:a16="http://schemas.microsoft.com/office/drawing/2014/main" id="{9EB37F1A-A1A5-F139-F17E-20300F7DF1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8" name="Content Placeholder 6">
              <a:extLst>
                <a:ext uri="{FF2B5EF4-FFF2-40B4-BE49-F238E27FC236}">
                  <a16:creationId xmlns:a16="http://schemas.microsoft.com/office/drawing/2014/main" id="{EB15D73A-E24F-6291-7A02-82CBEEC21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6EEC3-0A7A-5CF5-A1B1-71C09E5B9AC0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9BA2FD-25E6-1EE7-A3A4-BF96A4406D85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9237AB-588F-3D7A-EAE1-17533D1D4C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49AE08-2138-914E-917E-6901B5232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27516F-BEDD-CD0C-D6C0-1CD1DD2479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51942E-C45C-7B86-6A86-860B099FB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F91A26-EB7F-675C-38A6-C4B778E897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8EB721-7FA2-C7A4-1718-079DB2339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D5585A-589A-DD38-3D4E-5A1647D75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2D5B5B-E3B8-C567-8801-E6C8477EBD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C20AA5-4414-98B7-2408-51946485F0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7015A-045B-E56D-8BAD-3D31559BE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DA8EF8-3F4A-9606-D67C-7042EB803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0608FC-C460-43B7-1AE0-D1FEFB3854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8A77AC8-9DE1-3EF6-B413-ABCDC7DCE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DA5E6A-E92D-3CFC-0285-586526C37EA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6CA0F3-1BB2-FBF7-41B3-4B2B3F805F3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AF126F9-515D-A64E-D0F3-AF919023EA6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3735D8-8320-F734-2496-257F14B1A8C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C592AB8-976F-D84E-91EC-27209295650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C224D5D-D295-FFCB-CCF2-4D6019A8574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0" name="Content Placeholder 6">
              <a:extLst>
                <a:ext uri="{FF2B5EF4-FFF2-40B4-BE49-F238E27FC236}">
                  <a16:creationId xmlns:a16="http://schemas.microsoft.com/office/drawing/2014/main" id="{6988694B-3379-CE8F-B40F-0A5166FB2C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31" name="Content Placeholder 6">
              <a:extLst>
                <a:ext uri="{FF2B5EF4-FFF2-40B4-BE49-F238E27FC236}">
                  <a16:creationId xmlns:a16="http://schemas.microsoft.com/office/drawing/2014/main" id="{24687F3F-E34D-E8B6-FFE6-B53D88FD2E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74C0B4F-695F-D40C-5FAF-751D3A717D37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D6DBE16-685E-4C90-2696-A7CE22EC54E8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958490-B9D0-1AB2-4F77-18DA13E6AC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8043332-4338-D96B-EFC5-59EA6513F65A}"/>
                    </a:ext>
                  </a:extLst>
                </p:cNvPr>
                <p:cNvSpPr txBox="1"/>
                <p:nvPr/>
              </p:nvSpPr>
              <p:spPr>
                <a:xfrm>
                  <a:off x="8686351" y="165582"/>
                  <a:ext cx="2847766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−1=0 </m:t>
                        </m:r>
                      </m:oMath>
                    </m:oMathPara>
                  </a14:m>
                  <a:endParaRPr lang="en-US" sz="28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8043332-4338-D96B-EFC5-59EA6513F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351" y="165582"/>
                  <a:ext cx="2847766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51C3FCD-79C2-19A3-5516-9D5A35AFDF00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51C3FCD-79C2-19A3-5516-9D5A35AFD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C3D3100-030A-FAF8-3A47-5B9E5108861F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C3D3100-030A-FAF8-3A47-5B9E51088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76787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5895976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200" dirty="0"/>
                  <a:t>The standard form of a line’s equation is given by: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10000"/>
                  </a:lnSpc>
                </a:pPr>
                <a:endParaRPr lang="en-US" sz="2200" dirty="0"/>
              </a:p>
              <a:p>
                <a:pPr>
                  <a:lnSpc>
                    <a:spcPct val="110000"/>
                  </a:lnSpc>
                </a:pPr>
                <a:r>
                  <a:rPr lang="en-US" sz="2200" dirty="0"/>
                  <a:t>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represent the components of the line’s normal vector: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b="0" i="0" u="none" strike="noStrike" baseline="0" dirty="0"/>
              </a:p>
              <a:p>
                <a:pPr algn="l">
                  <a:lnSpc>
                    <a:spcPct val="100000"/>
                  </a:lnSpc>
                </a:pPr>
                <a:r>
                  <a:rPr lang="en-US" sz="2200" b="0" i="0" u="none" strike="noStrike" baseline="0" dirty="0"/>
                  <a:t>The normal vector is the vector that is orthogonal to the line, and it is what determines the orientation of the line.</a:t>
                </a:r>
                <a:endParaRPr lang="en-US" sz="22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5895976" cy="4351338"/>
              </a:xfrm>
              <a:blipFill>
                <a:blip r:embed="rId2"/>
                <a:stretch>
                  <a:fillRect l="-1136" t="-560" r="-2169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E85CF4B-1823-CCE9-1E83-D307D88C1E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56796" y="2183773"/>
            <a:ext cx="4938188" cy="347502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AB1105A-D43F-A871-B5F3-22F85EEA456D}"/>
              </a:ext>
            </a:extLst>
          </p:cNvPr>
          <p:cNvSpPr/>
          <p:nvPr/>
        </p:nvSpPr>
        <p:spPr>
          <a:xfrm rot="1437141">
            <a:off x="9509219" y="3282832"/>
            <a:ext cx="91440" cy="91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64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5257801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200" dirty="0"/>
                  <a:t>A line can be determined by its standard equation.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Or it can be determined using a line’s normal vector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200" dirty="0"/>
                  <a:t> and a particular point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200" dirty="0"/>
                  <a:t> that the line goes through.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0" i="0" u="none" strike="noStrike" baseline="0" dirty="0"/>
                  <a:t>   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5257801" cy="4351338"/>
              </a:xfrm>
              <a:blipFill>
                <a:blip r:embed="rId2"/>
                <a:stretch>
                  <a:fillRect l="-1275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AAB1105A-D43F-A871-B5F3-22F85EEA456D}"/>
              </a:ext>
            </a:extLst>
          </p:cNvPr>
          <p:cNvSpPr/>
          <p:nvPr/>
        </p:nvSpPr>
        <p:spPr>
          <a:xfrm rot="1437141">
            <a:off x="9509219" y="3282832"/>
            <a:ext cx="91440" cy="91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34D10D3-4B9E-6ABA-52B1-6AE376F10AE4}"/>
              </a:ext>
            </a:extLst>
          </p:cNvPr>
          <p:cNvGrpSpPr/>
          <p:nvPr/>
        </p:nvGrpSpPr>
        <p:grpSpPr>
          <a:xfrm>
            <a:off x="5998808" y="104793"/>
            <a:ext cx="6490286" cy="6648413"/>
            <a:chOff x="5458110" y="131563"/>
            <a:chExt cx="6490286" cy="6648413"/>
          </a:xfrm>
        </p:grpSpPr>
        <p:pic>
          <p:nvPicPr>
            <p:cNvPr id="50" name="Content Placeholder 6">
              <a:extLst>
                <a:ext uri="{FF2B5EF4-FFF2-40B4-BE49-F238E27FC236}">
                  <a16:creationId xmlns:a16="http://schemas.microsoft.com/office/drawing/2014/main" id="{66B85206-35BA-82C9-87A2-D1C0820276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51" name="Content Placeholder 6">
              <a:extLst>
                <a:ext uri="{FF2B5EF4-FFF2-40B4-BE49-F238E27FC236}">
                  <a16:creationId xmlns:a16="http://schemas.microsoft.com/office/drawing/2014/main" id="{E1F738AD-68A1-94FD-3954-7B8060841C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4E644A-B93F-DA7D-95CD-DD77DEAF211B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029242-6781-AB9F-0BDA-6354FE805BA4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C2B0D40-1F5D-A96A-0007-05A467FC35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4D13B81-2470-6E25-8E88-CFCFCD903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72643E7-AA88-2318-63B8-908D3E17B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2C09C6B-F09B-B51B-1CE0-93069D78F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99FA5D7-48E3-D8FB-C203-132A77E93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90913FE-C55A-3073-F2EB-2798D7347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AC4A4B9-0A24-DF83-54F6-EC2576027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4733700-8F1F-D3F8-7A03-EE0C085D93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F19B09C-1DEF-FD46-DBB2-632F4A7318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5F4F194-5B6D-F404-2B51-4E250B0D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FC001F8-917B-13C8-3965-F1F449DCB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A1DFF42-AF33-20B6-2833-2E6A1041C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22CEC82-2C9B-B592-37AD-062CB8A693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847C0FF-6D5B-4F5D-F9C4-4BB731CE9B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5AD6C0C-CB01-7DA0-03AC-086D5DF421E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8646BF5-58B3-EA8C-B890-D8EDAF0E711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CD2FBD8-8003-D9AA-66DD-EBCADC58FC5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50754C1-346F-4BFD-3F3A-B0C581D52EE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9302058-9CD2-B0B0-5475-9541A967B9D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73" name="Content Placeholder 6">
              <a:extLst>
                <a:ext uri="{FF2B5EF4-FFF2-40B4-BE49-F238E27FC236}">
                  <a16:creationId xmlns:a16="http://schemas.microsoft.com/office/drawing/2014/main" id="{4CB69778-2F50-6BF4-4E64-BFFE96C9E4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74" name="Content Placeholder 6">
              <a:extLst>
                <a:ext uri="{FF2B5EF4-FFF2-40B4-BE49-F238E27FC236}">
                  <a16:creationId xmlns:a16="http://schemas.microsoft.com/office/drawing/2014/main" id="{BF343A71-24F9-8DD4-5AFF-1659ED1445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82DFC0A-E028-5E28-F348-81CB32FF567B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51D7485-944E-084F-5C66-81ABEE8BF32A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CFC2964-D2D7-1134-16DB-801A0A850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651BFAC-B2D7-F354-5E24-1416E54D631F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6C1FDA9-B88C-89CF-F948-92C9676E2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66D0EC9-D067-034D-7B17-5D7EC8E7F2A2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CA79BC4D-926D-B18E-5A4C-A936B9C8A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71F3D94-AD25-7188-7147-32774AF42F9A}"/>
                  </a:ext>
                </a:extLst>
              </p:cNvPr>
              <p:cNvSpPr txBox="1"/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71F3D94-AD25-7188-7147-32774AF42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118F5D-3AF5-54FC-408E-DAD75001BE00}"/>
              </a:ext>
            </a:extLst>
          </p:cNvPr>
          <p:cNvCxnSpPr>
            <a:cxnSpLocks/>
          </p:cNvCxnSpPr>
          <p:nvPr/>
        </p:nvCxnSpPr>
        <p:spPr>
          <a:xfrm flipH="1" flipV="1">
            <a:off x="8968904" y="1237634"/>
            <a:ext cx="739615" cy="742175"/>
          </a:xfrm>
          <a:prstGeom prst="straightConnector1">
            <a:avLst/>
          </a:prstGeom>
          <a:ln>
            <a:tailEnd type="arrow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E5580F0A-4ABC-457E-74E4-06826F57553E}"/>
              </a:ext>
            </a:extLst>
          </p:cNvPr>
          <p:cNvSpPr/>
          <p:nvPr/>
        </p:nvSpPr>
        <p:spPr>
          <a:xfrm>
            <a:off x="9648287" y="1911228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9D37294-0BD6-959F-F5A8-F62237CCF9B2}"/>
                  </a:ext>
                </a:extLst>
              </p:cNvPr>
              <p:cNvSpPr txBox="1"/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9D37294-0BD6-959F-F5A8-F62237CCF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blipFill>
                <a:blip r:embed="rId11"/>
                <a:stretch>
                  <a:fillRect l="-7143" t="-4000" r="-974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83">
            <a:extLst>
              <a:ext uri="{FF2B5EF4-FFF2-40B4-BE49-F238E27FC236}">
                <a16:creationId xmlns:a16="http://schemas.microsoft.com/office/drawing/2014/main" id="{71028D38-B827-B1A4-717C-7799DFE9540C}"/>
              </a:ext>
            </a:extLst>
          </p:cNvPr>
          <p:cNvSpPr/>
          <p:nvPr/>
        </p:nvSpPr>
        <p:spPr>
          <a:xfrm>
            <a:off x="8907317" y="2643690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67F7FC9-9D37-0996-5D76-C7F42DE587C1}"/>
              </a:ext>
            </a:extLst>
          </p:cNvPr>
          <p:cNvCxnSpPr>
            <a:cxnSpLocks/>
          </p:cNvCxnSpPr>
          <p:nvPr/>
        </p:nvCxnSpPr>
        <p:spPr>
          <a:xfrm flipH="1">
            <a:off x="8948357" y="1975223"/>
            <a:ext cx="755757" cy="7630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494ACAE-6399-8F62-0219-E78C3484ABEC}"/>
                  </a:ext>
                </a:extLst>
              </p:cNvPr>
              <p:cNvSpPr txBox="1"/>
              <p:nvPr/>
            </p:nvSpPr>
            <p:spPr>
              <a:xfrm>
                <a:off x="9270752" y="2342099"/>
                <a:ext cx="6702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494ACAE-6399-8F62-0219-E78C3484A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52" y="2342099"/>
                <a:ext cx="670247" cy="307777"/>
              </a:xfrm>
              <a:prstGeom prst="rect">
                <a:avLst/>
              </a:prstGeom>
              <a:blipFill>
                <a:blip r:embed="rId12"/>
                <a:stretch>
                  <a:fillRect l="-5455" r="-9091"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3DF3FAE-581D-CD3C-F6D3-18E82D0E53EF}"/>
                  </a:ext>
                </a:extLst>
              </p:cNvPr>
              <p:cNvSpPr txBox="1"/>
              <p:nvPr/>
            </p:nvSpPr>
            <p:spPr>
              <a:xfrm>
                <a:off x="8617807" y="2436016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3DF3FAE-581D-CD3C-F6D3-18E82D0E5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807" y="2436016"/>
                <a:ext cx="205184" cy="307777"/>
              </a:xfrm>
              <a:prstGeom prst="rect">
                <a:avLst/>
              </a:prstGeom>
              <a:blipFill>
                <a:blip r:embed="rId13"/>
                <a:stretch>
                  <a:fillRect l="-18182" r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517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81049" y="1745614"/>
                <a:ext cx="5257801" cy="478091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200" dirty="0"/>
                  <a:t>Example: determine the equation of the line that goes through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200" dirty="0"/>
                  <a:t>=(1,2) and has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200" dirty="0"/>
                  <a:t> a normal vector.</a:t>
                </a:r>
              </a:p>
              <a:p>
                <a:pPr>
                  <a:lnSpc>
                    <a:spcPct val="100000"/>
                  </a:lnSpc>
                </a:pPr>
                <a:endParaRPr lang="en-US" sz="2200" dirty="0"/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Let</a:t>
                </a:r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2200" dirty="0"/>
                  <a:t> represent a point on the line.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    Then,              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0" i="0" u="none" strike="noStrike" baseline="0" dirty="0"/>
                  <a:t>   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81049" y="1745614"/>
                <a:ext cx="5257801" cy="4780911"/>
              </a:xfrm>
              <a:blipFill>
                <a:blip r:embed="rId2"/>
                <a:stretch>
                  <a:fillRect l="-1275" t="-764" r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AAB1105A-D43F-A871-B5F3-22F85EEA456D}"/>
              </a:ext>
            </a:extLst>
          </p:cNvPr>
          <p:cNvSpPr/>
          <p:nvPr/>
        </p:nvSpPr>
        <p:spPr>
          <a:xfrm rot="1437141">
            <a:off x="9509219" y="3282832"/>
            <a:ext cx="91440" cy="91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34D10D3-4B9E-6ABA-52B1-6AE376F10AE4}"/>
              </a:ext>
            </a:extLst>
          </p:cNvPr>
          <p:cNvGrpSpPr/>
          <p:nvPr/>
        </p:nvGrpSpPr>
        <p:grpSpPr>
          <a:xfrm>
            <a:off x="5998808" y="104793"/>
            <a:ext cx="6490286" cy="6648413"/>
            <a:chOff x="5458110" y="131563"/>
            <a:chExt cx="6490286" cy="6648413"/>
          </a:xfrm>
        </p:grpSpPr>
        <p:pic>
          <p:nvPicPr>
            <p:cNvPr id="50" name="Content Placeholder 6">
              <a:extLst>
                <a:ext uri="{FF2B5EF4-FFF2-40B4-BE49-F238E27FC236}">
                  <a16:creationId xmlns:a16="http://schemas.microsoft.com/office/drawing/2014/main" id="{66B85206-35BA-82C9-87A2-D1C0820276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51" name="Content Placeholder 6">
              <a:extLst>
                <a:ext uri="{FF2B5EF4-FFF2-40B4-BE49-F238E27FC236}">
                  <a16:creationId xmlns:a16="http://schemas.microsoft.com/office/drawing/2014/main" id="{E1F738AD-68A1-94FD-3954-7B8060841C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4E644A-B93F-DA7D-95CD-DD77DEAF211B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029242-6781-AB9F-0BDA-6354FE805BA4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C2B0D40-1F5D-A96A-0007-05A467FC35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4D13B81-2470-6E25-8E88-CFCFCD903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72643E7-AA88-2318-63B8-908D3E17B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2C09C6B-F09B-B51B-1CE0-93069D78F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99FA5D7-48E3-D8FB-C203-132A77E93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90913FE-C55A-3073-F2EB-2798D7347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AC4A4B9-0A24-DF83-54F6-EC2576027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4733700-8F1F-D3F8-7A03-EE0C085D93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F19B09C-1DEF-FD46-DBB2-632F4A7318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5F4F194-5B6D-F404-2B51-4E250B0D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FC001F8-917B-13C8-3965-F1F449DCB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A1DFF42-AF33-20B6-2833-2E6A1041C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22CEC82-2C9B-B592-37AD-062CB8A693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847C0FF-6D5B-4F5D-F9C4-4BB731CE9B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5AD6C0C-CB01-7DA0-03AC-086D5DF421E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8646BF5-58B3-EA8C-B890-D8EDAF0E711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CD2FBD8-8003-D9AA-66DD-EBCADC58FC5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50754C1-346F-4BFD-3F3A-B0C581D52EE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9302058-9CD2-B0B0-5475-9541A967B9D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73" name="Content Placeholder 6">
              <a:extLst>
                <a:ext uri="{FF2B5EF4-FFF2-40B4-BE49-F238E27FC236}">
                  <a16:creationId xmlns:a16="http://schemas.microsoft.com/office/drawing/2014/main" id="{4CB69778-2F50-6BF4-4E64-BFFE96C9E4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74" name="Content Placeholder 6">
              <a:extLst>
                <a:ext uri="{FF2B5EF4-FFF2-40B4-BE49-F238E27FC236}">
                  <a16:creationId xmlns:a16="http://schemas.microsoft.com/office/drawing/2014/main" id="{BF343A71-24F9-8DD4-5AFF-1659ED1445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82DFC0A-E028-5E28-F348-81CB32FF567B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51D7485-944E-084F-5C66-81ABEE8BF32A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CFC2964-D2D7-1134-16DB-801A0A850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651BFAC-B2D7-F354-5E24-1416E54D631F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651BFAC-B2D7-F354-5E24-1416E54D6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66D0EC9-D067-034D-7B17-5D7EC8E7F2A2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66D0EC9-D067-034D-7B17-5D7EC8E7F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71F3D94-AD25-7188-7147-32774AF42F9A}"/>
                  </a:ext>
                </a:extLst>
              </p:cNvPr>
              <p:cNvSpPr txBox="1"/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71F3D94-AD25-7188-7147-32774AF42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118F5D-3AF5-54FC-408E-DAD75001BE00}"/>
              </a:ext>
            </a:extLst>
          </p:cNvPr>
          <p:cNvCxnSpPr>
            <a:cxnSpLocks/>
          </p:cNvCxnSpPr>
          <p:nvPr/>
        </p:nvCxnSpPr>
        <p:spPr>
          <a:xfrm flipH="1" flipV="1">
            <a:off x="8968904" y="1237634"/>
            <a:ext cx="739615" cy="742175"/>
          </a:xfrm>
          <a:prstGeom prst="straightConnector1">
            <a:avLst/>
          </a:prstGeom>
          <a:ln>
            <a:tailEnd type="arrow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E5580F0A-4ABC-457E-74E4-06826F57553E}"/>
              </a:ext>
            </a:extLst>
          </p:cNvPr>
          <p:cNvSpPr/>
          <p:nvPr/>
        </p:nvSpPr>
        <p:spPr>
          <a:xfrm>
            <a:off x="9648287" y="1911228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9D37294-0BD6-959F-F5A8-F62237CCF9B2}"/>
                  </a:ext>
                </a:extLst>
              </p:cNvPr>
              <p:cNvSpPr txBox="1"/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9D37294-0BD6-959F-F5A8-F62237CCF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blipFill>
                <a:blip r:embed="rId7"/>
                <a:stretch>
                  <a:fillRect l="-7143" t="-4000" r="-974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83">
            <a:extLst>
              <a:ext uri="{FF2B5EF4-FFF2-40B4-BE49-F238E27FC236}">
                <a16:creationId xmlns:a16="http://schemas.microsoft.com/office/drawing/2014/main" id="{71028D38-B827-B1A4-717C-7799DFE9540C}"/>
              </a:ext>
            </a:extLst>
          </p:cNvPr>
          <p:cNvSpPr/>
          <p:nvPr/>
        </p:nvSpPr>
        <p:spPr>
          <a:xfrm>
            <a:off x="8907317" y="2643690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67F7FC9-9D37-0996-5D76-C7F42DE587C1}"/>
              </a:ext>
            </a:extLst>
          </p:cNvPr>
          <p:cNvCxnSpPr>
            <a:cxnSpLocks/>
          </p:cNvCxnSpPr>
          <p:nvPr/>
        </p:nvCxnSpPr>
        <p:spPr>
          <a:xfrm flipH="1">
            <a:off x="8948357" y="1975223"/>
            <a:ext cx="755757" cy="7630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494ACAE-6399-8F62-0219-E78C3484ABEC}"/>
                  </a:ext>
                </a:extLst>
              </p:cNvPr>
              <p:cNvSpPr txBox="1"/>
              <p:nvPr/>
            </p:nvSpPr>
            <p:spPr>
              <a:xfrm>
                <a:off x="9270752" y="2342099"/>
                <a:ext cx="6702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494ACAE-6399-8F62-0219-E78C3484A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52" y="2342099"/>
                <a:ext cx="670247" cy="307777"/>
              </a:xfrm>
              <a:prstGeom prst="rect">
                <a:avLst/>
              </a:prstGeom>
              <a:blipFill>
                <a:blip r:embed="rId8"/>
                <a:stretch>
                  <a:fillRect l="-5455" r="-9091"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3DF3FAE-581D-CD3C-F6D3-18E82D0E53EF}"/>
                  </a:ext>
                </a:extLst>
              </p:cNvPr>
              <p:cNvSpPr txBox="1"/>
              <p:nvPr/>
            </p:nvSpPr>
            <p:spPr>
              <a:xfrm>
                <a:off x="8617807" y="2436016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3DF3FAE-581D-CD3C-F6D3-18E82D0E5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807" y="2436016"/>
                <a:ext cx="205184" cy="307777"/>
              </a:xfrm>
              <a:prstGeom prst="rect">
                <a:avLst/>
              </a:prstGeom>
              <a:blipFill>
                <a:blip r:embed="rId9"/>
                <a:stretch>
                  <a:fillRect l="-18182" r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9793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81049" y="1745614"/>
                <a:ext cx="5257801" cy="478091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200" dirty="0"/>
                  <a:t>Example: determine the equation of the line that goes through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200" dirty="0"/>
                  <a:t>=(1,2) and has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200" dirty="0"/>
                  <a:t> a normal vector.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Let</a:t>
                </a:r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2200" dirty="0"/>
                  <a:t> represent a point on the line.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Then,              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2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0" i="0" u="none" strike="noStrike" baseline="0" dirty="0"/>
                  <a:t>   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81049" y="1745614"/>
                <a:ext cx="5257801" cy="4780911"/>
              </a:xfrm>
              <a:blipFill>
                <a:blip r:embed="rId2"/>
                <a:stretch>
                  <a:fillRect l="-1506" t="-764" r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AAB1105A-D43F-A871-B5F3-22F85EEA456D}"/>
              </a:ext>
            </a:extLst>
          </p:cNvPr>
          <p:cNvSpPr/>
          <p:nvPr/>
        </p:nvSpPr>
        <p:spPr>
          <a:xfrm rot="1437141">
            <a:off x="9509219" y="3282832"/>
            <a:ext cx="91440" cy="91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34D10D3-4B9E-6ABA-52B1-6AE376F10AE4}"/>
              </a:ext>
            </a:extLst>
          </p:cNvPr>
          <p:cNvGrpSpPr/>
          <p:nvPr/>
        </p:nvGrpSpPr>
        <p:grpSpPr>
          <a:xfrm>
            <a:off x="5998808" y="104793"/>
            <a:ext cx="6490286" cy="6648413"/>
            <a:chOff x="5458110" y="131563"/>
            <a:chExt cx="6490286" cy="6648413"/>
          </a:xfrm>
        </p:grpSpPr>
        <p:pic>
          <p:nvPicPr>
            <p:cNvPr id="50" name="Content Placeholder 6">
              <a:extLst>
                <a:ext uri="{FF2B5EF4-FFF2-40B4-BE49-F238E27FC236}">
                  <a16:creationId xmlns:a16="http://schemas.microsoft.com/office/drawing/2014/main" id="{66B85206-35BA-82C9-87A2-D1C0820276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51" name="Content Placeholder 6">
              <a:extLst>
                <a:ext uri="{FF2B5EF4-FFF2-40B4-BE49-F238E27FC236}">
                  <a16:creationId xmlns:a16="http://schemas.microsoft.com/office/drawing/2014/main" id="{E1F738AD-68A1-94FD-3954-7B8060841C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4E644A-B93F-DA7D-95CD-DD77DEAF211B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029242-6781-AB9F-0BDA-6354FE805BA4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C2B0D40-1F5D-A96A-0007-05A467FC35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4D13B81-2470-6E25-8E88-CFCFCD903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72643E7-AA88-2318-63B8-908D3E17B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2C09C6B-F09B-B51B-1CE0-93069D78F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99FA5D7-48E3-D8FB-C203-132A77E93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90913FE-C55A-3073-F2EB-2798D7347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AC4A4B9-0A24-DF83-54F6-EC2576027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4733700-8F1F-D3F8-7A03-EE0C085D93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F19B09C-1DEF-FD46-DBB2-632F4A7318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5F4F194-5B6D-F404-2B51-4E250B0D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FC001F8-917B-13C8-3965-F1F449DCB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A1DFF42-AF33-20B6-2833-2E6A1041C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22CEC82-2C9B-B592-37AD-062CB8A693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847C0FF-6D5B-4F5D-F9C4-4BB731CE9B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5AD6C0C-CB01-7DA0-03AC-086D5DF421E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8646BF5-58B3-EA8C-B890-D8EDAF0E711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CD2FBD8-8003-D9AA-66DD-EBCADC58FC5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50754C1-346F-4BFD-3F3A-B0C581D52EE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9302058-9CD2-B0B0-5475-9541A967B9D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73" name="Content Placeholder 6">
              <a:extLst>
                <a:ext uri="{FF2B5EF4-FFF2-40B4-BE49-F238E27FC236}">
                  <a16:creationId xmlns:a16="http://schemas.microsoft.com/office/drawing/2014/main" id="{4CB69778-2F50-6BF4-4E64-BFFE96C9E4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74" name="Content Placeholder 6">
              <a:extLst>
                <a:ext uri="{FF2B5EF4-FFF2-40B4-BE49-F238E27FC236}">
                  <a16:creationId xmlns:a16="http://schemas.microsoft.com/office/drawing/2014/main" id="{BF343A71-24F9-8DD4-5AFF-1659ED1445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82DFC0A-E028-5E28-F348-81CB32FF567B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51D7485-944E-084F-5C66-81ABEE8BF32A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CFC2964-D2D7-1134-16DB-801A0A850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651BFAC-B2D7-F354-5E24-1416E54D631F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651BFAC-B2D7-F354-5E24-1416E54D6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66D0EC9-D067-034D-7B17-5D7EC8E7F2A2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66D0EC9-D067-034D-7B17-5D7EC8E7F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71F3D94-AD25-7188-7147-32774AF42F9A}"/>
                  </a:ext>
                </a:extLst>
              </p:cNvPr>
              <p:cNvSpPr txBox="1"/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71F3D94-AD25-7188-7147-32774AF42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118F5D-3AF5-54FC-408E-DAD75001BE00}"/>
              </a:ext>
            </a:extLst>
          </p:cNvPr>
          <p:cNvCxnSpPr>
            <a:cxnSpLocks/>
          </p:cNvCxnSpPr>
          <p:nvPr/>
        </p:nvCxnSpPr>
        <p:spPr>
          <a:xfrm flipH="1" flipV="1">
            <a:off x="8968904" y="1237634"/>
            <a:ext cx="739615" cy="742175"/>
          </a:xfrm>
          <a:prstGeom prst="straightConnector1">
            <a:avLst/>
          </a:prstGeom>
          <a:ln>
            <a:tailEnd type="arrow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E5580F0A-4ABC-457E-74E4-06826F57553E}"/>
              </a:ext>
            </a:extLst>
          </p:cNvPr>
          <p:cNvSpPr/>
          <p:nvPr/>
        </p:nvSpPr>
        <p:spPr>
          <a:xfrm>
            <a:off x="9648287" y="1911228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9D37294-0BD6-959F-F5A8-F62237CCF9B2}"/>
                  </a:ext>
                </a:extLst>
              </p:cNvPr>
              <p:cNvSpPr txBox="1"/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9D37294-0BD6-959F-F5A8-F62237CCF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blipFill>
                <a:blip r:embed="rId7"/>
                <a:stretch>
                  <a:fillRect l="-7143" t="-4000" r="-974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83">
            <a:extLst>
              <a:ext uri="{FF2B5EF4-FFF2-40B4-BE49-F238E27FC236}">
                <a16:creationId xmlns:a16="http://schemas.microsoft.com/office/drawing/2014/main" id="{71028D38-B827-B1A4-717C-7799DFE9540C}"/>
              </a:ext>
            </a:extLst>
          </p:cNvPr>
          <p:cNvSpPr/>
          <p:nvPr/>
        </p:nvSpPr>
        <p:spPr>
          <a:xfrm>
            <a:off x="8907317" y="2643690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67F7FC9-9D37-0996-5D76-C7F42DE587C1}"/>
              </a:ext>
            </a:extLst>
          </p:cNvPr>
          <p:cNvCxnSpPr>
            <a:cxnSpLocks/>
          </p:cNvCxnSpPr>
          <p:nvPr/>
        </p:nvCxnSpPr>
        <p:spPr>
          <a:xfrm flipH="1">
            <a:off x="8948357" y="1975223"/>
            <a:ext cx="755757" cy="7630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494ACAE-6399-8F62-0219-E78C3484ABEC}"/>
                  </a:ext>
                </a:extLst>
              </p:cNvPr>
              <p:cNvSpPr txBox="1"/>
              <p:nvPr/>
            </p:nvSpPr>
            <p:spPr>
              <a:xfrm>
                <a:off x="9270752" y="2342099"/>
                <a:ext cx="6702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494ACAE-6399-8F62-0219-E78C3484A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52" y="2342099"/>
                <a:ext cx="670247" cy="307777"/>
              </a:xfrm>
              <a:prstGeom prst="rect">
                <a:avLst/>
              </a:prstGeom>
              <a:blipFill>
                <a:blip r:embed="rId8"/>
                <a:stretch>
                  <a:fillRect l="-5455" r="-9091"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3DF3FAE-581D-CD3C-F6D3-18E82D0E53EF}"/>
                  </a:ext>
                </a:extLst>
              </p:cNvPr>
              <p:cNvSpPr txBox="1"/>
              <p:nvPr/>
            </p:nvSpPr>
            <p:spPr>
              <a:xfrm>
                <a:off x="8617807" y="2436016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3DF3FAE-581D-CD3C-F6D3-18E82D0E5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807" y="2436016"/>
                <a:ext cx="205184" cy="307777"/>
              </a:xfrm>
              <a:prstGeom prst="rect">
                <a:avLst/>
              </a:prstGeom>
              <a:blipFill>
                <a:blip r:embed="rId9"/>
                <a:stretch>
                  <a:fillRect l="-18182" r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900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E999-376E-8D97-615F-7BE2AB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5895976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200" dirty="0"/>
                  <a:t>Any point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dirty="0"/>
                  <a:t> that lies on the line satisfies: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10000"/>
                  </a:lnSpc>
                </a:pPr>
                <a:r>
                  <a:rPr lang="en-US" sz="2200" dirty="0"/>
                  <a:t>Any point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dirty="0"/>
                  <a:t> that lies on the same side of the normal vector satisfies: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10000"/>
                  </a:lnSpc>
                </a:pPr>
                <a:r>
                  <a:rPr lang="en-US" sz="2200" dirty="0"/>
                  <a:t>Any point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dirty="0"/>
                  <a:t> that lies on the different side of the normal vector satisfies: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10000"/>
                  </a:lnSpc>
                </a:pPr>
                <a:r>
                  <a:rPr lang="en-US" sz="2200" dirty="0"/>
                  <a:t>We say that the line divides the space into half-planes (half-spaces).</a:t>
                </a:r>
              </a:p>
              <a:p>
                <a:pPr>
                  <a:lnSpc>
                    <a:spcPct val="110000"/>
                  </a:lnSpc>
                </a:pPr>
                <a:endParaRPr lang="en-US" sz="22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FAF01D7-6D29-A04A-78C1-9617C291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5895976" cy="4351338"/>
              </a:xfrm>
              <a:blipFill>
                <a:blip r:embed="rId2"/>
                <a:stretch>
                  <a:fillRect l="-1136" t="-560" r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E85CF4B-1823-CCE9-1E83-D307D88C1E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56796" y="2183773"/>
            <a:ext cx="4938188" cy="347502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AB1105A-D43F-A871-B5F3-22F85EEA456D}"/>
              </a:ext>
            </a:extLst>
          </p:cNvPr>
          <p:cNvSpPr/>
          <p:nvPr/>
        </p:nvSpPr>
        <p:spPr>
          <a:xfrm rot="1437141">
            <a:off x="9509219" y="3282832"/>
            <a:ext cx="91440" cy="91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61F74A-C8DE-C6BB-9C45-D92D32DEFDF0}"/>
                  </a:ext>
                </a:extLst>
              </p:cNvPr>
              <p:cNvSpPr txBox="1"/>
              <p:nvPr/>
            </p:nvSpPr>
            <p:spPr>
              <a:xfrm>
                <a:off x="9615284" y="3989912"/>
                <a:ext cx="136665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61F74A-C8DE-C6BB-9C45-D92D32DEF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284" y="3989912"/>
                <a:ext cx="1366656" cy="553998"/>
              </a:xfrm>
              <a:prstGeom prst="rect">
                <a:avLst/>
              </a:prstGeom>
              <a:blipFill>
                <a:blip r:embed="rId4"/>
                <a:stretch>
                  <a:fillRect b="-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1F7E33-D815-2BAF-A315-A621AA974FAF}"/>
                  </a:ext>
                </a:extLst>
              </p:cNvPr>
              <p:cNvSpPr txBox="1"/>
              <p:nvPr/>
            </p:nvSpPr>
            <p:spPr>
              <a:xfrm>
                <a:off x="7815245" y="3038153"/>
                <a:ext cx="136665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1F7E33-D815-2BAF-A315-A621AA974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245" y="3038153"/>
                <a:ext cx="1366656" cy="553998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732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4239CDB-48C4-6E31-1F65-15F3EAA237F6}"/>
              </a:ext>
            </a:extLst>
          </p:cNvPr>
          <p:cNvGrpSpPr/>
          <p:nvPr/>
        </p:nvGrpSpPr>
        <p:grpSpPr>
          <a:xfrm>
            <a:off x="5838788" y="104793"/>
            <a:ext cx="6490286" cy="6648413"/>
            <a:chOff x="5458110" y="131563"/>
            <a:chExt cx="6490286" cy="6648413"/>
          </a:xfrm>
        </p:grpSpPr>
        <p:pic>
          <p:nvPicPr>
            <p:cNvPr id="49" name="Content Placeholder 6">
              <a:extLst>
                <a:ext uri="{FF2B5EF4-FFF2-40B4-BE49-F238E27FC236}">
                  <a16:creationId xmlns:a16="http://schemas.microsoft.com/office/drawing/2014/main" id="{095294B6-1151-6215-74AF-1568E98D2C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50" name="Content Placeholder 6">
              <a:extLst>
                <a:ext uri="{FF2B5EF4-FFF2-40B4-BE49-F238E27FC236}">
                  <a16:creationId xmlns:a16="http://schemas.microsoft.com/office/drawing/2014/main" id="{27FCF535-F5BA-2A08-E382-FD0EF684FB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CBF1F93-E9EB-A18C-1C6E-15807E4DA0AE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035C851-47C7-C03D-C412-7984ED8F2C15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A848012-B1D4-F4D4-4C9D-A9A5E8ADA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6C09B8F-CBE8-DE6B-47FA-D6545B9216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1F23F6A-0DF7-A8DA-5689-D391ACF062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3324DFB-0977-6BEF-C36E-4D7906B94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322C5E1-6E22-988B-917A-AAAED905B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8B26C04-FBB8-664D-BE90-EF063D98C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3B51F5E-9DF2-8E53-7DC3-83EAB6709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B28954B-F9E7-DB0E-0B74-9F3B6D5E6A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0111DCB-52E5-5238-9278-CB321A69F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5AA6854-CD50-8546-E59C-A539E0384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49F03AD-355E-9815-46A2-5913D6DEB9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B2C82EC-17B7-A03C-944B-2F6A3A154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A45F5DD-3EAD-EE4F-6E30-280FCAC3E5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30F8DAE-C7D8-DF71-CEFB-3225FB7CA90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51DFB81-9747-0CE4-0A8F-38B94B1CEE4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50628D9-85E3-5CAF-76F7-AB7DFDF6E47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8C67F10-2FD0-67FC-9309-2F719342DC1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EBB314A-2793-1D26-1333-B20DB3F93A5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FDEA0A3-BBDB-4142-5347-ED65DBBA969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72" name="Content Placeholder 6">
              <a:extLst>
                <a:ext uri="{FF2B5EF4-FFF2-40B4-BE49-F238E27FC236}">
                  <a16:creationId xmlns:a16="http://schemas.microsoft.com/office/drawing/2014/main" id="{89CCC76C-19F7-FE86-4E89-CC079F158F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73" name="Content Placeholder 6">
              <a:extLst>
                <a:ext uri="{FF2B5EF4-FFF2-40B4-BE49-F238E27FC236}">
                  <a16:creationId xmlns:a16="http://schemas.microsoft.com/office/drawing/2014/main" id="{76E31C59-D26C-F521-042B-8D19BDD20E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58C7EFF-3CC5-4EA5-45C6-05830FD579AB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BF98C68-B627-C371-78C8-813405320916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1FA05AC-2353-E053-9875-615B7BE54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B28E985E-BAF8-9FEF-0F81-BF41FBD67AA0}"/>
                    </a:ext>
                  </a:extLst>
                </p:cNvPr>
                <p:cNvSpPr txBox="1"/>
                <p:nvPr/>
              </p:nvSpPr>
              <p:spPr>
                <a:xfrm>
                  <a:off x="8879202" y="290134"/>
                  <a:ext cx="284776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−1=0 </m:t>
                        </m:r>
                      </m:oMath>
                    </m:oMathPara>
                  </a14:m>
                  <a:endParaRPr lang="en-US" sz="28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0DA45A2-AE27-468A-6510-B83CF0365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9202" y="290134"/>
                  <a:ext cx="284776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716E9B54-C379-519A-6F2D-EEB031AC8AFB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6C1FDA9-B88C-89CF-F948-92C9676E2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AE6B38B-0B4E-19DF-61F8-E5E82BA0A9CC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CA79BC4D-926D-B18E-5A4C-A936B9C8A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AF0A19-07EC-86D0-651E-75C31676CCDC}"/>
                  </a:ext>
                </a:extLst>
              </p:cNvPr>
              <p:cNvSpPr txBox="1"/>
              <p:nvPr/>
            </p:nvSpPr>
            <p:spPr>
              <a:xfrm>
                <a:off x="8973793" y="833448"/>
                <a:ext cx="1116909" cy="511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AF0A19-07EC-86D0-651E-75C31676C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793" y="833448"/>
                <a:ext cx="1116909" cy="5111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4739D9B-C6C0-964D-0D2E-0EC928FC80AC}"/>
              </a:ext>
            </a:extLst>
          </p:cNvPr>
          <p:cNvCxnSpPr>
            <a:cxnSpLocks/>
          </p:cNvCxnSpPr>
          <p:nvPr/>
        </p:nvCxnSpPr>
        <p:spPr>
          <a:xfrm flipH="1" flipV="1">
            <a:off x="8808884" y="1237634"/>
            <a:ext cx="739615" cy="742175"/>
          </a:xfrm>
          <a:prstGeom prst="straightConnector1">
            <a:avLst/>
          </a:prstGeom>
          <a:ln>
            <a:tailEnd type="arrow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92BD987-C8B9-A5DA-3103-498EAF64337E}"/>
                  </a:ext>
                </a:extLst>
              </p:cNvPr>
              <p:cNvSpPr txBox="1"/>
              <p:nvPr/>
            </p:nvSpPr>
            <p:spPr>
              <a:xfrm>
                <a:off x="9768518" y="1851414"/>
                <a:ext cx="9415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92BD987-C8B9-A5DA-3103-498EAF643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518" y="1851414"/>
                <a:ext cx="941540" cy="307777"/>
              </a:xfrm>
              <a:prstGeom prst="rect">
                <a:avLst/>
              </a:prstGeom>
              <a:blipFill>
                <a:blip r:embed="rId11"/>
                <a:stretch>
                  <a:fillRect l="-6452" t="-4000" r="-9032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Oval 82">
            <a:extLst>
              <a:ext uri="{FF2B5EF4-FFF2-40B4-BE49-F238E27FC236}">
                <a16:creationId xmlns:a16="http://schemas.microsoft.com/office/drawing/2014/main" id="{976B907C-6FAA-DADB-A5A5-AE68E8197022}"/>
              </a:ext>
            </a:extLst>
          </p:cNvPr>
          <p:cNvSpPr/>
          <p:nvPr/>
        </p:nvSpPr>
        <p:spPr>
          <a:xfrm>
            <a:off x="8134726" y="1622459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873EC80-E8D5-C858-AD72-E2A98457738B}"/>
              </a:ext>
            </a:extLst>
          </p:cNvPr>
          <p:cNvCxnSpPr>
            <a:cxnSpLocks/>
            <a:stCxn id="87" idx="2"/>
          </p:cNvCxnSpPr>
          <p:nvPr/>
        </p:nvCxnSpPr>
        <p:spPr>
          <a:xfrm flipH="1" flipV="1">
            <a:off x="8208999" y="1677362"/>
            <a:ext cx="1282676" cy="29609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818FE1A-FB3B-F74F-F832-9A6AF6214433}"/>
                  </a:ext>
                </a:extLst>
              </p:cNvPr>
              <p:cNvSpPr txBox="1"/>
              <p:nvPr/>
            </p:nvSpPr>
            <p:spPr>
              <a:xfrm>
                <a:off x="8069316" y="1928915"/>
                <a:ext cx="6702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818FE1A-FB3B-F74F-F832-9A6AF6214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316" y="1928915"/>
                <a:ext cx="670247" cy="307777"/>
              </a:xfrm>
              <a:prstGeom prst="rect">
                <a:avLst/>
              </a:prstGeom>
              <a:blipFill>
                <a:blip r:embed="rId12"/>
                <a:stretch>
                  <a:fillRect l="-5455" r="-9091"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E05C918-EC24-1F5F-4659-964184D42EE4}"/>
                  </a:ext>
                </a:extLst>
              </p:cNvPr>
              <p:cNvSpPr txBox="1"/>
              <p:nvPr/>
            </p:nvSpPr>
            <p:spPr>
              <a:xfrm>
                <a:off x="7942921" y="1338069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E05C918-EC24-1F5F-4659-964184D42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921" y="1338069"/>
                <a:ext cx="205184" cy="307777"/>
              </a:xfrm>
              <a:prstGeom prst="rect">
                <a:avLst/>
              </a:prstGeom>
              <a:blipFill>
                <a:blip r:embed="rId13"/>
                <a:stretch>
                  <a:fillRect l="-17647" r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Oval 86">
            <a:extLst>
              <a:ext uri="{FF2B5EF4-FFF2-40B4-BE49-F238E27FC236}">
                <a16:creationId xmlns:a16="http://schemas.microsoft.com/office/drawing/2014/main" id="{9BDD609D-A88C-7561-B46A-61C7E1082644}"/>
              </a:ext>
            </a:extLst>
          </p:cNvPr>
          <p:cNvSpPr/>
          <p:nvPr/>
        </p:nvSpPr>
        <p:spPr>
          <a:xfrm>
            <a:off x="9491675" y="1904875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30C5D4F-2732-33E0-8DE8-9FD12429EA0C}"/>
                  </a:ext>
                </a:extLst>
              </p:cNvPr>
              <p:cNvSpPr txBox="1"/>
              <p:nvPr/>
            </p:nvSpPr>
            <p:spPr>
              <a:xfrm>
                <a:off x="5859219" y="710798"/>
                <a:ext cx="28477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−1&gt;0 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30C5D4F-2732-33E0-8DE8-9FD12429E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19" y="710798"/>
                <a:ext cx="284776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itle 88">
            <a:extLst>
              <a:ext uri="{FF2B5EF4-FFF2-40B4-BE49-F238E27FC236}">
                <a16:creationId xmlns:a16="http://schemas.microsoft.com/office/drawing/2014/main" id="{9626481E-6A43-B9A8-41A5-648BE342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01001" cy="1325563"/>
          </a:xfrm>
        </p:spPr>
        <p:txBody>
          <a:bodyPr/>
          <a:lstStyle/>
          <a:p>
            <a:r>
              <a:rPr lang="en-US" b="1" dirty="0"/>
              <a:t>Line’s Equation</a:t>
            </a:r>
          </a:p>
        </p:txBody>
      </p:sp>
      <p:sp>
        <p:nvSpPr>
          <p:cNvPr id="90" name="Content Placeholder 89">
            <a:extLst>
              <a:ext uri="{FF2B5EF4-FFF2-40B4-BE49-F238E27FC236}">
                <a16:creationId xmlns:a16="http://schemas.microsoft.com/office/drawing/2014/main" id="{57C52164-8BD7-AE32-1C12-512FF2E63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725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Given the coordinates of a point, we can plug in the values using the line’s equation to see if the value is positive or negative.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faster way is to check whether the point lies on the same/different side of the normal vector.</a:t>
            </a:r>
          </a:p>
        </p:txBody>
      </p:sp>
    </p:spTree>
    <p:extLst>
      <p:ext uri="{BB962C8B-B14F-4D97-AF65-F5344CB8AC3E}">
        <p14:creationId xmlns:p14="http://schemas.microsoft.com/office/powerpoint/2010/main" val="31292048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88">
            <a:extLst>
              <a:ext uri="{FF2B5EF4-FFF2-40B4-BE49-F238E27FC236}">
                <a16:creationId xmlns:a16="http://schemas.microsoft.com/office/drawing/2014/main" id="{16E6F9B0-3DB8-1B22-673A-E9240DF1A04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480100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B4C6CC-0F8D-95FE-B7D7-70AB4A5F3E03}"/>
              </a:ext>
            </a:extLst>
          </p:cNvPr>
          <p:cNvGrpSpPr/>
          <p:nvPr/>
        </p:nvGrpSpPr>
        <p:grpSpPr>
          <a:xfrm>
            <a:off x="5998808" y="104793"/>
            <a:ext cx="6490286" cy="6648413"/>
            <a:chOff x="5458110" y="131563"/>
            <a:chExt cx="6490286" cy="6648413"/>
          </a:xfrm>
        </p:grpSpPr>
        <p:pic>
          <p:nvPicPr>
            <p:cNvPr id="46" name="Content Placeholder 6">
              <a:extLst>
                <a:ext uri="{FF2B5EF4-FFF2-40B4-BE49-F238E27FC236}">
                  <a16:creationId xmlns:a16="http://schemas.microsoft.com/office/drawing/2014/main" id="{EAC76488-B0AB-BE95-1866-93BE1DE705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flipH="1" flipV="1">
              <a:off x="8280457" y="3481214"/>
              <a:ext cx="367417" cy="3298762"/>
            </a:xfrm>
            <a:prstGeom prst="rect">
              <a:avLst/>
            </a:prstGeom>
          </p:spPr>
        </p:pic>
        <p:pic>
          <p:nvPicPr>
            <p:cNvPr id="47" name="Content Placeholder 6">
              <a:extLst>
                <a:ext uri="{FF2B5EF4-FFF2-40B4-BE49-F238E27FC236}">
                  <a16:creationId xmlns:a16="http://schemas.microsoft.com/office/drawing/2014/main" id="{525C846F-B479-FD3C-996E-68195FF6D7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6923782" y="1814819"/>
              <a:ext cx="367417" cy="3298762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B660EFF-5E3D-C102-8BAD-2E7314B08A74}"/>
                </a:ext>
              </a:extLst>
            </p:cNvPr>
            <p:cNvSpPr/>
            <p:nvPr/>
          </p:nvSpPr>
          <p:spPr>
            <a:xfrm>
              <a:off x="8182134" y="3535345"/>
              <a:ext cx="216310" cy="244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E39F91A-F84B-75DD-17B7-5B8C99C2D71D}"/>
                </a:ext>
              </a:extLst>
            </p:cNvPr>
            <p:cNvSpPr/>
            <p:nvPr/>
          </p:nvSpPr>
          <p:spPr>
            <a:xfrm>
              <a:off x="5481865" y="3535345"/>
              <a:ext cx="402640" cy="260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001B4B2-5862-01D3-7DD0-A83B939549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4096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0262EC1-D96F-1AC5-0FBF-44A21AAAF4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765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B8AFBE3-009F-CDC1-410D-561A0F7602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593ED39-B0A7-AFAC-FC43-5432CCC38C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6464768-A248-13C0-9E09-737FBF4CAC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821" y="537278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C7E5D16-46B7-36B1-1978-3475A4D098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263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1703FFD-2641-18F8-C4EC-0210265057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0941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84929D3-43F2-D67E-4F51-B1D383D060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448" y="5157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E64C12-EB43-FAE8-F0D0-819D7E933A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8742" y="4924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BC65AF7-9029-D451-74B3-A7D78114E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6872" y="48917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64FA42C-AFEA-5872-EF05-2B24EEBF79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0572" y="539075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9059103-EDB9-9EF5-610C-8D9736610F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115" y="514434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8456455-AE89-9C5E-EFA7-909D16236E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2245" y="51121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8D19D9C-7703-C04F-B18B-EF815C4F6B0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170739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20EBBBC-489F-0E77-E092-778DCF68A99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-96522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A964424-E85B-C370-1993-4DDD3194C3C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23913" y="-223047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FD359DD-BBD9-3882-0E88-331B3C223BE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1235351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1AB2D4D-3CB1-8C67-AA1E-FA0F40DAFB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2317" y="1977526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591CA4D-4DFB-125D-29A0-DF47AD30CAD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93115" y="2719700"/>
              <a:ext cx="0" cy="594360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69" name="Content Placeholder 6">
              <a:extLst>
                <a:ext uri="{FF2B5EF4-FFF2-40B4-BE49-F238E27FC236}">
                  <a16:creationId xmlns:a16="http://schemas.microsoft.com/office/drawing/2014/main" id="{0C20AFCB-8A5C-31DE-FA90-95323F44F5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>
              <a:off x="8206778" y="200969"/>
              <a:ext cx="367417" cy="3298762"/>
            </a:xfrm>
            <a:prstGeom prst="rect">
              <a:avLst/>
            </a:prstGeom>
          </p:spPr>
        </p:pic>
        <p:pic>
          <p:nvPicPr>
            <p:cNvPr id="70" name="Content Placeholder 6">
              <a:extLst>
                <a:ext uri="{FF2B5EF4-FFF2-40B4-BE49-F238E27FC236}">
                  <a16:creationId xmlns:a16="http://schemas.microsoft.com/office/drawing/2014/main" id="{D187E70D-6973-1682-1091-9DF1B23EB5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1" r="85938" b="14661"/>
            <a:stretch/>
          </p:blipFill>
          <p:spPr>
            <a:xfrm rot="5400000">
              <a:off x="9893879" y="1810441"/>
              <a:ext cx="367417" cy="3298762"/>
            </a:xfrm>
            <a:prstGeom prst="rect">
              <a:avLst/>
            </a:prstGeom>
          </p:spPr>
        </p:pic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5F58EE2-9E58-2FFA-1858-24D1E8C61DDE}"/>
                </a:ext>
              </a:extLst>
            </p:cNvPr>
            <p:cNvSpPr/>
            <p:nvPr/>
          </p:nvSpPr>
          <p:spPr>
            <a:xfrm>
              <a:off x="8464165" y="319249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610C35D-3848-98B1-A2DD-188EEC18D845}"/>
                </a:ext>
              </a:extLst>
            </p:cNvPr>
            <p:cNvSpPr/>
            <p:nvPr/>
          </p:nvSpPr>
          <p:spPr>
            <a:xfrm>
              <a:off x="8461798" y="3528355"/>
              <a:ext cx="322465" cy="2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03B4566-923C-52C0-7A52-F291747F7E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7330" y="769257"/>
              <a:ext cx="4348658" cy="43613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A033DD5-B30E-64A0-173B-7002A7A9408E}"/>
                    </a:ext>
                  </a:extLst>
                </p:cNvPr>
                <p:cNvSpPr txBox="1"/>
                <p:nvPr/>
              </p:nvSpPr>
              <p:spPr>
                <a:xfrm>
                  <a:off x="8879202" y="290134"/>
                  <a:ext cx="284776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−1=0 </m:t>
                        </m:r>
                      </m:oMath>
                    </m:oMathPara>
                  </a14:m>
                  <a:endParaRPr lang="en-US" sz="28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0DA45A2-AE27-468A-6510-B83CF0365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9202" y="290134"/>
                  <a:ext cx="284776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C8767FC-26A2-6AD7-1D3E-B1BAD4C8C4EA}"/>
                    </a:ext>
                  </a:extLst>
                </p:cNvPr>
                <p:cNvSpPr txBox="1"/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6C1FDA9-B88C-89CF-F948-92C9676E2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081" y="3506378"/>
                  <a:ext cx="1385315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F04ACEA-4DB3-E859-13FF-B80EF48ADFAE}"/>
                    </a:ext>
                  </a:extLst>
                </p:cNvPr>
                <p:cNvSpPr txBox="1"/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CA79BC4D-926D-B18E-5A4C-A936B9C8A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5798" y="131563"/>
                  <a:ext cx="1385315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A690569-B637-5D01-2423-AE4FAA309769}"/>
                  </a:ext>
                </a:extLst>
              </p:cNvPr>
              <p:cNvSpPr txBox="1"/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A690569-B637-5D01-2423-AE4FAA309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813" y="833448"/>
                <a:ext cx="1116909" cy="5111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A1CBDD2-2CD1-65DE-F9DC-22325689516F}"/>
              </a:ext>
            </a:extLst>
          </p:cNvPr>
          <p:cNvCxnSpPr>
            <a:cxnSpLocks/>
          </p:cNvCxnSpPr>
          <p:nvPr/>
        </p:nvCxnSpPr>
        <p:spPr>
          <a:xfrm flipH="1" flipV="1">
            <a:off x="8968904" y="1237634"/>
            <a:ext cx="739615" cy="742175"/>
          </a:xfrm>
          <a:prstGeom prst="straightConnector1">
            <a:avLst/>
          </a:prstGeom>
          <a:ln>
            <a:tailEnd type="arrow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2C1BC90-036A-82FE-A479-1FB5B121196D}"/>
                  </a:ext>
                </a:extLst>
              </p:cNvPr>
              <p:cNvSpPr txBox="1"/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2C1BC90-036A-82FE-A479-1FB5B1211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538" y="1851414"/>
                <a:ext cx="941540" cy="307777"/>
              </a:xfrm>
              <a:prstGeom prst="rect">
                <a:avLst/>
              </a:prstGeom>
              <a:blipFill>
                <a:blip r:embed="rId11"/>
                <a:stretch>
                  <a:fillRect l="-7143" t="-4000" r="-974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Oval 79">
            <a:extLst>
              <a:ext uri="{FF2B5EF4-FFF2-40B4-BE49-F238E27FC236}">
                <a16:creationId xmlns:a16="http://schemas.microsoft.com/office/drawing/2014/main" id="{7D292C05-2661-0823-80FB-D8227A3837E3}"/>
              </a:ext>
            </a:extLst>
          </p:cNvPr>
          <p:cNvSpPr/>
          <p:nvPr/>
        </p:nvSpPr>
        <p:spPr>
          <a:xfrm>
            <a:off x="9299788" y="3041414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F6D0CDE-F6DB-2476-0F57-E0CF15CC5059}"/>
              </a:ext>
            </a:extLst>
          </p:cNvPr>
          <p:cNvCxnSpPr>
            <a:cxnSpLocks/>
            <a:stCxn id="84" idx="3"/>
            <a:endCxn id="80" idx="0"/>
          </p:cNvCxnSpPr>
          <p:nvPr/>
        </p:nvCxnSpPr>
        <p:spPr>
          <a:xfrm flipH="1">
            <a:off x="9368368" y="2021948"/>
            <a:ext cx="303414" cy="10194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7AD7552-FC4C-E5D6-1257-86A887DC301C}"/>
                  </a:ext>
                </a:extLst>
              </p:cNvPr>
              <p:cNvSpPr txBox="1"/>
              <p:nvPr/>
            </p:nvSpPr>
            <p:spPr>
              <a:xfrm>
                <a:off x="9527997" y="2412360"/>
                <a:ext cx="6702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7AD7552-FC4C-E5D6-1257-86A887DC3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997" y="2412360"/>
                <a:ext cx="670247" cy="307777"/>
              </a:xfrm>
              <a:prstGeom prst="rect">
                <a:avLst/>
              </a:prstGeom>
              <a:blipFill>
                <a:blip r:embed="rId12"/>
                <a:stretch>
                  <a:fillRect l="-5455" r="-9091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8F188DE-E041-2CF3-7DBF-1870049669C3}"/>
                  </a:ext>
                </a:extLst>
              </p:cNvPr>
              <p:cNvSpPr txBox="1"/>
              <p:nvPr/>
            </p:nvSpPr>
            <p:spPr>
              <a:xfrm>
                <a:off x="9483597" y="2955507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8F188DE-E041-2CF3-7DBF-18700496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3597" y="2955507"/>
                <a:ext cx="205184" cy="307777"/>
              </a:xfrm>
              <a:prstGeom prst="rect">
                <a:avLst/>
              </a:prstGeom>
              <a:blipFill>
                <a:blip r:embed="rId13"/>
                <a:stretch>
                  <a:fillRect l="-18182" r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83">
            <a:extLst>
              <a:ext uri="{FF2B5EF4-FFF2-40B4-BE49-F238E27FC236}">
                <a16:creationId xmlns:a16="http://schemas.microsoft.com/office/drawing/2014/main" id="{ACB53AC0-0803-75A6-6F74-11BBE132BAE7}"/>
              </a:ext>
            </a:extLst>
          </p:cNvPr>
          <p:cNvSpPr/>
          <p:nvPr/>
        </p:nvSpPr>
        <p:spPr>
          <a:xfrm>
            <a:off x="9651695" y="1904875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A044CB8-E787-FE06-BBB0-62336F4BCF5C}"/>
                  </a:ext>
                </a:extLst>
              </p:cNvPr>
              <p:cNvSpPr txBox="1"/>
              <p:nvPr/>
            </p:nvSpPr>
            <p:spPr>
              <a:xfrm>
                <a:off x="6019239" y="710798"/>
                <a:ext cx="28477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−1&gt;0 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A044CB8-E787-FE06-BBB0-62336F4BC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39" y="710798"/>
                <a:ext cx="284776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F9E4018-6B83-F063-B057-975A4242EC3C}"/>
                  </a:ext>
                </a:extLst>
              </p:cNvPr>
              <p:cNvSpPr txBox="1"/>
              <p:nvPr/>
            </p:nvSpPr>
            <p:spPr>
              <a:xfrm>
                <a:off x="9227048" y="4270067"/>
                <a:ext cx="28477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F9E4018-6B83-F063-B057-975A4242E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048" y="4270067"/>
                <a:ext cx="2847767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itle 89">
            <a:extLst>
              <a:ext uri="{FF2B5EF4-FFF2-40B4-BE49-F238E27FC236}">
                <a16:creationId xmlns:a16="http://schemas.microsoft.com/office/drawing/2014/main" id="{C6B3CCCA-8724-5762-AB58-EE1E2C5A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34782" cy="1325563"/>
          </a:xfrm>
        </p:spPr>
        <p:txBody>
          <a:bodyPr/>
          <a:lstStyle/>
          <a:p>
            <a:r>
              <a:rPr lang="en-US" b="1" dirty="0"/>
              <a:t>Line’s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ontent Placeholder 88">
                <a:extLst>
                  <a:ext uri="{FF2B5EF4-FFF2-40B4-BE49-F238E27FC236}">
                    <a16:creationId xmlns:a16="http://schemas.microsoft.com/office/drawing/2014/main" id="{A1C0A49F-23DE-D4C3-A63C-00D6B610F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689431" cy="4351338"/>
              </a:xfrm>
            </p:spPr>
            <p:txBody>
              <a:bodyPr/>
              <a:lstStyle/>
              <a:p>
                <a:r>
                  <a:rPr lang="en-US" sz="2800" dirty="0"/>
                  <a:t>The positive and negative values can be seen due to whether the angle between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en-US" sz="2800" dirty="0"/>
                  <a:t> is less then 90 or greater than 90.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9" name="Content Placeholder 88">
                <a:extLst>
                  <a:ext uri="{FF2B5EF4-FFF2-40B4-BE49-F238E27FC236}">
                    <a16:creationId xmlns:a16="http://schemas.microsoft.com/office/drawing/2014/main" id="{A1C0A49F-23DE-D4C3-A63C-00D6B610F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689431" cy="4351338"/>
              </a:xfrm>
              <a:blipFill>
                <a:blip r:embed="rId16"/>
                <a:stretch>
                  <a:fillRect l="-2341" t="-2241" r="-3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534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1404-CD88-3642-B59F-ADF7926E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98F269-5E2F-8447-9067-FFADD595D8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92985"/>
            <a:ext cx="5181600" cy="341661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45211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/>
                  <a:t>The generalization of the line to the 3-dimensional space is called the plane and is given by: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the plane’s normal vector: it is perpendicular to the surface, and it defines the orientation of the plane.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A plane is a flat geometric object that divides a space in two half-spaces.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452110" cy="4351338"/>
              </a:xfrm>
              <a:blipFill>
                <a:blip r:embed="rId3"/>
                <a:stretch>
                  <a:fillRect l="-1790" t="-1120" r="-2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998D36-1B63-72DA-E26B-F6D4E8B0DC50}"/>
                  </a:ext>
                </a:extLst>
              </p:cNvPr>
              <p:cNvSpPr txBox="1"/>
              <p:nvPr/>
            </p:nvSpPr>
            <p:spPr>
              <a:xfrm>
                <a:off x="2034540" y="5476870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998D36-1B63-72DA-E26B-F6D4E8B0D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540" y="5476870"/>
                <a:ext cx="621030" cy="4654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A088E-1168-BB4A-CCDA-A34BDD9CE05E}"/>
                  </a:ext>
                </a:extLst>
              </p:cNvPr>
              <p:cNvSpPr txBox="1"/>
              <p:nvPr/>
            </p:nvSpPr>
            <p:spPr>
              <a:xfrm>
                <a:off x="5551170" y="4886320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A088E-1168-BB4A-CCDA-A34BDD9CE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170" y="4886320"/>
                <a:ext cx="621030" cy="4654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DF8604-46D4-4E58-7E07-BB3F004F2EAA}"/>
                  </a:ext>
                </a:extLst>
              </p:cNvPr>
              <p:cNvSpPr txBox="1"/>
              <p:nvPr/>
            </p:nvSpPr>
            <p:spPr>
              <a:xfrm>
                <a:off x="2655570" y="2060253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DF8604-46D4-4E58-7E07-BB3F004F2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70" y="2060253"/>
                <a:ext cx="621030" cy="4654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4D5D03-7FE1-FFBA-8B84-1CC3B379CE89}"/>
                  </a:ext>
                </a:extLst>
              </p:cNvPr>
              <p:cNvSpPr txBox="1"/>
              <p:nvPr/>
            </p:nvSpPr>
            <p:spPr>
              <a:xfrm>
                <a:off x="4591050" y="3687123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4D5D03-7FE1-FFBA-8B84-1CC3B379C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050" y="3687123"/>
                <a:ext cx="621030" cy="4654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9167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1404-CD88-3642-B59F-ADF7926E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98F269-5E2F-8447-9067-FFADD595D8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92985"/>
            <a:ext cx="5181600" cy="341661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33160" y="1825624"/>
                <a:ext cx="573405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The generalization of the plane to the m-dimensional space is called the hyperplane and is given by: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In a space with m dimensions, a hyperplane is an m – 1 dimensional object (it has no depth)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33160" y="1825624"/>
                <a:ext cx="5734050" cy="4351338"/>
              </a:xfrm>
              <a:blipFill>
                <a:blip r:embed="rId3"/>
                <a:stretch>
                  <a:fillRect l="-1489" t="-1120" r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998D36-1B63-72DA-E26B-F6D4E8B0DC50}"/>
                  </a:ext>
                </a:extLst>
              </p:cNvPr>
              <p:cNvSpPr txBox="1"/>
              <p:nvPr/>
            </p:nvSpPr>
            <p:spPr>
              <a:xfrm>
                <a:off x="2034540" y="5476870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998D36-1B63-72DA-E26B-F6D4E8B0D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540" y="5476870"/>
                <a:ext cx="621030" cy="4654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A088E-1168-BB4A-CCDA-A34BDD9CE05E}"/>
                  </a:ext>
                </a:extLst>
              </p:cNvPr>
              <p:cNvSpPr txBox="1"/>
              <p:nvPr/>
            </p:nvSpPr>
            <p:spPr>
              <a:xfrm>
                <a:off x="5551170" y="4886320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A088E-1168-BB4A-CCDA-A34BDD9CE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170" y="4886320"/>
                <a:ext cx="621030" cy="4654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DF8604-46D4-4E58-7E07-BB3F004F2EAA}"/>
                  </a:ext>
                </a:extLst>
              </p:cNvPr>
              <p:cNvSpPr txBox="1"/>
              <p:nvPr/>
            </p:nvSpPr>
            <p:spPr>
              <a:xfrm>
                <a:off x="2655570" y="2060253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DF8604-46D4-4E58-7E07-BB3F004F2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70" y="2060253"/>
                <a:ext cx="621030" cy="4654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4D5D03-7FE1-FFBA-8B84-1CC3B379CE89}"/>
                  </a:ext>
                </a:extLst>
              </p:cNvPr>
              <p:cNvSpPr txBox="1"/>
              <p:nvPr/>
            </p:nvSpPr>
            <p:spPr>
              <a:xfrm>
                <a:off x="4591050" y="3687123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4D5D03-7FE1-FFBA-8B84-1CC3B379C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050" y="3687123"/>
                <a:ext cx="621030" cy="4654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9165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1404-CD88-3642-B59F-ADF7926E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Defining Hyper-planes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77215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Planes are defined using "normal form" using a normal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a point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that lies on the plane:</a:t>
                </a:r>
              </a:p>
              <a:p>
                <a:pPr marL="0" indent="0">
                  <a:buNone/>
                </a:pPr>
                <a:r>
                  <a:rPr lang="en-US" b="1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All points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for which the equation is true lie on the plane</a:t>
                </a:r>
              </a:p>
              <a:p>
                <a:r>
                  <a:rPr lang="en-US" dirty="0"/>
                  <a:t>All other points are not on the plane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772150" cy="4351338"/>
              </a:xfrm>
              <a:blipFill>
                <a:blip r:embed="rId2"/>
                <a:stretch>
                  <a:fillRect l="-1903" t="-2241" r="-2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01A2E-E93A-7F78-3BAA-8E0B42A61525}"/>
                  </a:ext>
                </a:extLst>
              </p:cNvPr>
              <p:cNvSpPr txBox="1"/>
              <p:nvPr/>
            </p:nvSpPr>
            <p:spPr>
              <a:xfrm>
                <a:off x="5551170" y="4886320"/>
                <a:ext cx="621030" cy="4654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01A2E-E93A-7F78-3BAA-8E0B42A61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170" y="4886320"/>
                <a:ext cx="621030" cy="465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E244096-66C2-031C-099D-B26961567CDB}"/>
              </a:ext>
            </a:extLst>
          </p:cNvPr>
          <p:cNvGrpSpPr/>
          <p:nvPr/>
        </p:nvGrpSpPr>
        <p:grpSpPr>
          <a:xfrm>
            <a:off x="838200" y="2060253"/>
            <a:ext cx="5181600" cy="3882081"/>
            <a:chOff x="838200" y="2060253"/>
            <a:chExt cx="5181600" cy="3882081"/>
          </a:xfrm>
        </p:grpSpPr>
        <p:pic>
          <p:nvPicPr>
            <p:cNvPr id="8" name="Content Placeholder 6">
              <a:extLst>
                <a:ext uri="{FF2B5EF4-FFF2-40B4-BE49-F238E27FC236}">
                  <a16:creationId xmlns:a16="http://schemas.microsoft.com/office/drawing/2014/main" id="{6FE90DE6-4D53-3BF5-F7C5-6988684CF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292985"/>
              <a:ext cx="5181600" cy="34166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1749B0-722D-9EBC-09E4-1BA27A0964F2}"/>
                    </a:ext>
                  </a:extLst>
                </p:cNvPr>
                <p:cNvSpPr txBox="1"/>
                <p:nvPr/>
              </p:nvSpPr>
              <p:spPr>
                <a:xfrm>
                  <a:off x="2034540" y="5476870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1749B0-722D-9EBC-09E4-1BA27A096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4540" y="5476870"/>
                  <a:ext cx="621030" cy="4654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3A5E890-E785-83AE-4FBD-31A1433BD41B}"/>
                    </a:ext>
                  </a:extLst>
                </p:cNvPr>
                <p:cNvSpPr txBox="1"/>
                <p:nvPr/>
              </p:nvSpPr>
              <p:spPr>
                <a:xfrm>
                  <a:off x="2655570" y="2060253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3A5E890-E785-83AE-4FBD-31A1433BD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5570" y="2060253"/>
                  <a:ext cx="621030" cy="4654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A16CDE2-E327-26E8-2F44-D13AB6063F9B}"/>
                    </a:ext>
                  </a:extLst>
                </p:cNvPr>
                <p:cNvSpPr txBox="1"/>
                <p:nvPr/>
              </p:nvSpPr>
              <p:spPr>
                <a:xfrm>
                  <a:off x="4591050" y="3687123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en-US" sz="24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A16CDE2-E327-26E8-2F44-D13AB6063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050" y="3687123"/>
                  <a:ext cx="621030" cy="4654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2A957DA-12FD-53C5-B3C4-413A38889C92}"/>
                </a:ext>
              </a:extLst>
            </p:cNvPr>
            <p:cNvCxnSpPr/>
            <p:nvPr/>
          </p:nvCxnSpPr>
          <p:spPr>
            <a:xfrm flipH="1" flipV="1">
              <a:off x="3222057" y="3687123"/>
              <a:ext cx="640080" cy="6905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8ED52B-68B2-1749-0F1B-8463B655C3CC}"/>
                    </a:ext>
                  </a:extLst>
                </p:cNvPr>
                <p:cNvSpPr txBox="1"/>
                <p:nvPr/>
              </p:nvSpPr>
              <p:spPr>
                <a:xfrm>
                  <a:off x="2832735" y="3308796"/>
                  <a:ext cx="62103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8ED52B-68B2-1749-0F1B-8463B655C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2735" y="3308796"/>
                  <a:ext cx="621030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5D919D4-426F-C261-A7EE-578ED516A963}"/>
                </a:ext>
              </a:extLst>
            </p:cNvPr>
            <p:cNvSpPr/>
            <p:nvPr/>
          </p:nvSpPr>
          <p:spPr>
            <a:xfrm>
              <a:off x="3185160" y="3641403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1691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1404-CD88-3642-B59F-ADF7926E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Defining Hyperplanes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Note the dot product in the equation: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equation measures the angle between the normal vector and a vector between the two points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If two vectors are orthogonal, then their dot product is 0.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9616FAC-832C-7945-B4A5-DB68B0C3F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1261" r="-247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B9AE717-F98A-4005-56E8-20E333F68326}"/>
              </a:ext>
            </a:extLst>
          </p:cNvPr>
          <p:cNvGrpSpPr/>
          <p:nvPr/>
        </p:nvGrpSpPr>
        <p:grpSpPr>
          <a:xfrm>
            <a:off x="838200" y="2060253"/>
            <a:ext cx="5181600" cy="3882081"/>
            <a:chOff x="838200" y="2060253"/>
            <a:chExt cx="5181600" cy="3882081"/>
          </a:xfrm>
        </p:grpSpPr>
        <p:pic>
          <p:nvPicPr>
            <p:cNvPr id="14" name="Content Placeholder 6">
              <a:extLst>
                <a:ext uri="{FF2B5EF4-FFF2-40B4-BE49-F238E27FC236}">
                  <a16:creationId xmlns:a16="http://schemas.microsoft.com/office/drawing/2014/main" id="{CA381ACE-2C24-CE32-69D6-26CA2A7E8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292985"/>
              <a:ext cx="5181600" cy="34166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EF17DB-A8D1-AA33-7578-2EA9E39051FF}"/>
                    </a:ext>
                  </a:extLst>
                </p:cNvPr>
                <p:cNvSpPr txBox="1"/>
                <p:nvPr/>
              </p:nvSpPr>
              <p:spPr>
                <a:xfrm>
                  <a:off x="2034540" y="5476870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EF17DB-A8D1-AA33-7578-2EA9E3905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4540" y="5476870"/>
                  <a:ext cx="621030" cy="4654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FAC6E3F-EA20-7010-7154-3AF6B3E4A345}"/>
                    </a:ext>
                  </a:extLst>
                </p:cNvPr>
                <p:cNvSpPr txBox="1"/>
                <p:nvPr/>
              </p:nvSpPr>
              <p:spPr>
                <a:xfrm>
                  <a:off x="2655570" y="2060253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FAC6E3F-EA20-7010-7154-3AF6B3E4A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5570" y="2060253"/>
                  <a:ext cx="621030" cy="4654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C0F7F7-EF71-2304-7430-BC3ECCB9F792}"/>
                    </a:ext>
                  </a:extLst>
                </p:cNvPr>
                <p:cNvSpPr txBox="1"/>
                <p:nvPr/>
              </p:nvSpPr>
              <p:spPr>
                <a:xfrm>
                  <a:off x="4591050" y="3687123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en-US" sz="24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C0F7F7-EF71-2304-7430-BC3ECCB9F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050" y="3687123"/>
                  <a:ext cx="621030" cy="4654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F7F15AC-627B-4ED7-B6D7-12AD16F37B4D}"/>
                </a:ext>
              </a:extLst>
            </p:cNvPr>
            <p:cNvCxnSpPr/>
            <p:nvPr/>
          </p:nvCxnSpPr>
          <p:spPr>
            <a:xfrm flipH="1" flipV="1">
              <a:off x="3222057" y="3687123"/>
              <a:ext cx="640080" cy="6905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D65D202-CCE5-8239-2AD0-397F2E880719}"/>
                    </a:ext>
                  </a:extLst>
                </p:cNvPr>
                <p:cNvSpPr txBox="1"/>
                <p:nvPr/>
              </p:nvSpPr>
              <p:spPr>
                <a:xfrm>
                  <a:off x="2832735" y="3308796"/>
                  <a:ext cx="62103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D65D202-CCE5-8239-2AD0-397F2E880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2735" y="3308796"/>
                  <a:ext cx="62103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F0F5D50-4FAB-976B-E8CE-68C9B95F6479}"/>
                </a:ext>
              </a:extLst>
            </p:cNvPr>
            <p:cNvSpPr/>
            <p:nvPr/>
          </p:nvSpPr>
          <p:spPr>
            <a:xfrm>
              <a:off x="3185160" y="3641403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6637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56E4-A544-B548-8BE8-41D6D5A0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Checking where a point lies relative to a 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706382C-D69A-E84B-AFF0-DE35BB0B5B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1825624"/>
                <a:ext cx="58293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200" dirty="0"/>
                  <a:t>If Point lies on the plane, then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If Point lies on the same side of the plane as the normal vector, then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If Point lies on the opposite side of the plane as the normal vector, then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e>
                    </m:box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</a:pPr>
                <a:endParaRPr lang="en-US" sz="2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706382C-D69A-E84B-AFF0-DE35BB0B5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1825624"/>
                <a:ext cx="5829300" cy="4351338"/>
              </a:xfrm>
              <a:blipFill>
                <a:blip r:embed="rId2"/>
                <a:stretch>
                  <a:fillRect l="-1151" t="-840" r="-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E479171-2758-DCFF-7271-4F45513ECF34}"/>
              </a:ext>
            </a:extLst>
          </p:cNvPr>
          <p:cNvGrpSpPr/>
          <p:nvPr/>
        </p:nvGrpSpPr>
        <p:grpSpPr>
          <a:xfrm>
            <a:off x="838200" y="2060253"/>
            <a:ext cx="5334000" cy="3882081"/>
            <a:chOff x="838200" y="2060253"/>
            <a:chExt cx="5334000" cy="3882081"/>
          </a:xfrm>
        </p:grpSpPr>
        <p:pic>
          <p:nvPicPr>
            <p:cNvPr id="8" name="Content Placeholder 6">
              <a:extLst>
                <a:ext uri="{FF2B5EF4-FFF2-40B4-BE49-F238E27FC236}">
                  <a16:creationId xmlns:a16="http://schemas.microsoft.com/office/drawing/2014/main" id="{70239BA6-F533-537B-949D-23296E400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292985"/>
              <a:ext cx="5181600" cy="34166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BCA5AAC-EE2C-31ED-7131-2C70881BB080}"/>
                    </a:ext>
                  </a:extLst>
                </p:cNvPr>
                <p:cNvSpPr txBox="1"/>
                <p:nvPr/>
              </p:nvSpPr>
              <p:spPr>
                <a:xfrm>
                  <a:off x="2034540" y="5476870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BCA5AAC-EE2C-31ED-7131-2C70881BB0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4540" y="5476870"/>
                  <a:ext cx="621030" cy="4654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5806A5F-F118-BF89-9FB6-A84E03E8CC73}"/>
                    </a:ext>
                  </a:extLst>
                </p:cNvPr>
                <p:cNvSpPr txBox="1"/>
                <p:nvPr/>
              </p:nvSpPr>
              <p:spPr>
                <a:xfrm>
                  <a:off x="5551170" y="4886320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5806A5F-F118-BF89-9FB6-A84E03E8C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170" y="4886320"/>
                  <a:ext cx="621030" cy="4654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0F8AF08-6246-41FC-BC13-C2FAA64DA302}"/>
                    </a:ext>
                  </a:extLst>
                </p:cNvPr>
                <p:cNvSpPr txBox="1"/>
                <p:nvPr/>
              </p:nvSpPr>
              <p:spPr>
                <a:xfrm>
                  <a:off x="2655570" y="2060253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0F8AF08-6246-41FC-BC13-C2FAA64DA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5570" y="2060253"/>
                  <a:ext cx="621030" cy="4654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190B518-20D6-880A-BA70-A954D2F770B4}"/>
                    </a:ext>
                  </a:extLst>
                </p:cNvPr>
                <p:cNvSpPr txBox="1"/>
                <p:nvPr/>
              </p:nvSpPr>
              <p:spPr>
                <a:xfrm>
                  <a:off x="4591050" y="3687123"/>
                  <a:ext cx="621030" cy="4654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en-US" sz="24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190B518-20D6-880A-BA70-A954D2F77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050" y="3687123"/>
                  <a:ext cx="621030" cy="4654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367823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7106</TotalTime>
  <Words>2854</Words>
  <Application>Microsoft Macintosh PowerPoint</Application>
  <PresentationFormat>Widescreen</PresentationFormat>
  <Paragraphs>384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CMR10</vt:lpstr>
      <vt:lpstr>Courier New</vt:lpstr>
      <vt:lpstr>1_Office Theme</vt:lpstr>
      <vt:lpstr>Vectors &amp; Matrices</vt:lpstr>
      <vt:lpstr>Today’s Plan</vt:lpstr>
      <vt:lpstr>Vectors &amp; Matrices in Machine Learning</vt:lpstr>
      <vt:lpstr>Vectors</vt:lpstr>
      <vt:lpstr>Vectors</vt:lpstr>
      <vt:lpstr>Vectors</vt:lpstr>
      <vt:lpstr>Geometric Interpretation of Vectors</vt:lpstr>
      <vt:lpstr>Geometry of Vectors: Points</vt:lpstr>
      <vt:lpstr>Examples of 2D points</vt:lpstr>
      <vt:lpstr>Example of 3D Points</vt:lpstr>
      <vt:lpstr>Geometry of Vectors: Geometric Vector</vt:lpstr>
      <vt:lpstr>Creating a Geometric Vector</vt:lpstr>
      <vt:lpstr>Creating a Geometric Vector</vt:lpstr>
      <vt:lpstr>Vectors</vt:lpstr>
      <vt:lpstr>Scalar Multiplication &amp; Vector Addition</vt:lpstr>
      <vt:lpstr>Dot Product &amp; Norm</vt:lpstr>
      <vt:lpstr>Dot Product &amp; Norm</vt:lpstr>
      <vt:lpstr>Vector Norm</vt:lpstr>
      <vt:lpstr>Euclidean Distance</vt:lpstr>
      <vt:lpstr>Euclidean Distance</vt:lpstr>
      <vt:lpstr>Euclidean Distance in terms of norm</vt:lpstr>
      <vt:lpstr>Dot Products &amp; Vector Norms</vt:lpstr>
      <vt:lpstr>Dot Products &amp; Vector Norms</vt:lpstr>
      <vt:lpstr>Vectors: Dot Product</vt:lpstr>
      <vt:lpstr>Vectors: Dot Product</vt:lpstr>
      <vt:lpstr>Vectors: Dot Product</vt:lpstr>
      <vt:lpstr>Matrices</vt:lpstr>
      <vt:lpstr>Matrices</vt:lpstr>
      <vt:lpstr>Vectors</vt:lpstr>
      <vt:lpstr>Vectors</vt:lpstr>
      <vt:lpstr>Matrices</vt:lpstr>
      <vt:lpstr>Matrix-Vector Multiplication</vt:lpstr>
      <vt:lpstr>Matrix-Matrix Multiplication</vt:lpstr>
      <vt:lpstr>Matrix-Matrix Multiplication</vt:lpstr>
      <vt:lpstr>Geometric Example of Matrix-Vector Multiplication</vt:lpstr>
      <vt:lpstr>Example 1 - Negation</vt:lpstr>
      <vt:lpstr>Example 1 - Negation</vt:lpstr>
      <vt:lpstr>Example 1 - Negation</vt:lpstr>
      <vt:lpstr>Example 2 - Permutation</vt:lpstr>
      <vt:lpstr>Lines, Planes, Hyperplanes</vt:lpstr>
      <vt:lpstr>Line’s Equation</vt:lpstr>
      <vt:lpstr>Line’s Equation</vt:lpstr>
      <vt:lpstr>Line’s Equation</vt:lpstr>
      <vt:lpstr>Line’s Equation</vt:lpstr>
      <vt:lpstr>Line’s Equation</vt:lpstr>
      <vt:lpstr>Line’s Equation</vt:lpstr>
      <vt:lpstr>Line’s Equation</vt:lpstr>
      <vt:lpstr>Line’s Equation</vt:lpstr>
      <vt:lpstr>Line’s Equation</vt:lpstr>
      <vt:lpstr>Line’s Equation</vt:lpstr>
      <vt:lpstr>Planes</vt:lpstr>
      <vt:lpstr>Planes</vt:lpstr>
      <vt:lpstr>Defining Hyper-planes</vt:lpstr>
      <vt:lpstr>Defining Hyperplanes</vt:lpstr>
      <vt:lpstr>Checking where a point lies relative to a plane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Spaces and Points</dc:title>
  <dc:creator>Salami, Hawraa</dc:creator>
  <cp:lastModifiedBy>Bukowy, John</cp:lastModifiedBy>
  <cp:revision>13</cp:revision>
  <dcterms:created xsi:type="dcterms:W3CDTF">2021-09-03T04:12:32Z</dcterms:created>
  <dcterms:modified xsi:type="dcterms:W3CDTF">2024-01-22T12:54:15Z</dcterms:modified>
</cp:coreProperties>
</file>