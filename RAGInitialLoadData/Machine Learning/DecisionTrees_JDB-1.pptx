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657" r:id="rId3"/>
    <p:sldId id="633" r:id="rId4"/>
    <p:sldId id="658" r:id="rId5"/>
    <p:sldId id="634" r:id="rId6"/>
    <p:sldId id="635" r:id="rId7"/>
    <p:sldId id="636" r:id="rId8"/>
    <p:sldId id="659" r:id="rId9"/>
    <p:sldId id="639" r:id="rId10"/>
    <p:sldId id="661" r:id="rId11"/>
    <p:sldId id="641" r:id="rId12"/>
    <p:sldId id="642" r:id="rId13"/>
    <p:sldId id="662" r:id="rId14"/>
    <p:sldId id="654" r:id="rId15"/>
    <p:sldId id="663" r:id="rId16"/>
    <p:sldId id="646" r:id="rId17"/>
    <p:sldId id="647" r:id="rId18"/>
    <p:sldId id="648" r:id="rId19"/>
    <p:sldId id="664" r:id="rId20"/>
    <p:sldId id="665" r:id="rId21"/>
    <p:sldId id="649" r:id="rId22"/>
    <p:sldId id="666" r:id="rId23"/>
    <p:sldId id="692" r:id="rId24"/>
    <p:sldId id="694" r:id="rId25"/>
    <p:sldId id="693" r:id="rId26"/>
    <p:sldId id="695" r:id="rId27"/>
    <p:sldId id="696" r:id="rId28"/>
    <p:sldId id="650" r:id="rId29"/>
    <p:sldId id="708" r:id="rId30"/>
    <p:sldId id="698" r:id="rId31"/>
    <p:sldId id="697" r:id="rId32"/>
    <p:sldId id="699" r:id="rId33"/>
    <p:sldId id="700" r:id="rId34"/>
    <p:sldId id="701" r:id="rId35"/>
    <p:sldId id="702" r:id="rId36"/>
    <p:sldId id="705" r:id="rId37"/>
    <p:sldId id="707" r:id="rId38"/>
    <p:sldId id="709" r:id="rId39"/>
    <p:sldId id="711" r:id="rId40"/>
    <p:sldId id="712" r:id="rId41"/>
    <p:sldId id="718" r:id="rId42"/>
    <p:sldId id="713" r:id="rId43"/>
    <p:sldId id="714" r:id="rId44"/>
    <p:sldId id="719" r:id="rId45"/>
    <p:sldId id="715" r:id="rId46"/>
    <p:sldId id="716" r:id="rId47"/>
    <p:sldId id="71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16" autoAdjust="0"/>
    <p:restoredTop sz="91158"/>
  </p:normalViewPr>
  <p:slideViewPr>
    <p:cSldViewPr snapToGrid="0">
      <p:cViewPr varScale="1">
        <p:scale>
          <a:sx n="81" d="100"/>
          <a:sy n="81" d="100"/>
        </p:scale>
        <p:origin x="208" y="528"/>
      </p:cViewPr>
      <p:guideLst/>
    </p:cSldViewPr>
  </p:slideViewPr>
  <p:outlineViewPr>
    <p:cViewPr>
      <p:scale>
        <a:sx n="33" d="100"/>
        <a:sy n="33" d="100"/>
      </p:scale>
      <p:origin x="0" y="-3980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02:08:43.021"/>
    </inkml:context>
    <inkml:brush xml:id="br0">
      <inkml:brushProperty name="width" value="0.05" units="cm"/>
      <inkml:brushProperty name="height" value="0.05" units="cm"/>
    </inkml:brush>
  </inkml:definitions>
  <inkml:trace contextRef="#ctx0" brushRef="#br0">1 1 28678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71CACB-5971-45D4-9C67-FB657E8DB397}" type="datetimeFigureOut">
              <a:rPr lang="en-US" smtClean="0"/>
              <a:t>10/7/25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9EE3EA-2FAB-47B0-973D-F2F6D641B754}" type="slidenum">
              <a:rPr lang="en-US" smtClean="0"/>
              <a:t>‹#›</a:t>
            </a:fld>
            <a:endParaRPr lang="en-US"/>
          </a:p>
        </p:txBody>
      </p:sp>
    </p:spTree>
    <p:extLst>
      <p:ext uri="{BB962C8B-B14F-4D97-AF65-F5344CB8AC3E}">
        <p14:creationId xmlns:p14="http://schemas.microsoft.com/office/powerpoint/2010/main" val="85897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9EE3EA-2FAB-47B0-973D-F2F6D641B754}" type="slidenum">
              <a:rPr lang="en-US" smtClean="0"/>
              <a:t>6</a:t>
            </a:fld>
            <a:endParaRPr lang="en-US"/>
          </a:p>
        </p:txBody>
      </p:sp>
    </p:spTree>
    <p:extLst>
      <p:ext uri="{BB962C8B-B14F-4D97-AF65-F5344CB8AC3E}">
        <p14:creationId xmlns:p14="http://schemas.microsoft.com/office/powerpoint/2010/main" val="636193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9EE3EA-2FAB-47B0-973D-F2F6D641B754}" type="slidenum">
              <a:rPr lang="en-US" smtClean="0"/>
              <a:t>7</a:t>
            </a:fld>
            <a:endParaRPr lang="en-US"/>
          </a:p>
        </p:txBody>
      </p:sp>
    </p:spTree>
    <p:extLst>
      <p:ext uri="{BB962C8B-B14F-4D97-AF65-F5344CB8AC3E}">
        <p14:creationId xmlns:p14="http://schemas.microsoft.com/office/powerpoint/2010/main" val="4287490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9EE3EA-2FAB-47B0-973D-F2F6D641B754}" type="slidenum">
              <a:rPr lang="en-US" smtClean="0"/>
              <a:t>8</a:t>
            </a:fld>
            <a:endParaRPr lang="en-US"/>
          </a:p>
        </p:txBody>
      </p:sp>
    </p:spTree>
    <p:extLst>
      <p:ext uri="{BB962C8B-B14F-4D97-AF65-F5344CB8AC3E}">
        <p14:creationId xmlns:p14="http://schemas.microsoft.com/office/powerpoint/2010/main" val="343508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9EE3EA-2FAB-47B0-973D-F2F6D641B754}" type="slidenum">
              <a:rPr lang="en-US" smtClean="0"/>
              <a:t>14</a:t>
            </a:fld>
            <a:endParaRPr lang="en-US"/>
          </a:p>
        </p:txBody>
      </p:sp>
    </p:spTree>
    <p:extLst>
      <p:ext uri="{BB962C8B-B14F-4D97-AF65-F5344CB8AC3E}">
        <p14:creationId xmlns:p14="http://schemas.microsoft.com/office/powerpoint/2010/main" val="2361278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9EE3EA-2FAB-47B0-973D-F2F6D641B754}" type="slidenum">
              <a:rPr lang="en-US" smtClean="0"/>
              <a:t>15</a:t>
            </a:fld>
            <a:endParaRPr lang="en-US"/>
          </a:p>
        </p:txBody>
      </p:sp>
    </p:spTree>
    <p:extLst>
      <p:ext uri="{BB962C8B-B14F-4D97-AF65-F5344CB8AC3E}">
        <p14:creationId xmlns:p14="http://schemas.microsoft.com/office/powerpoint/2010/main" val="2160116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09EE3EA-2FAB-47B0-973D-F2F6D641B754}" type="slidenum">
              <a:rPr lang="en-US" smtClean="0"/>
              <a:t>32</a:t>
            </a:fld>
            <a:endParaRPr lang="en-US"/>
          </a:p>
        </p:txBody>
      </p:sp>
    </p:spTree>
    <p:extLst>
      <p:ext uri="{BB962C8B-B14F-4D97-AF65-F5344CB8AC3E}">
        <p14:creationId xmlns:p14="http://schemas.microsoft.com/office/powerpoint/2010/main" val="3965007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9EE3EA-2FAB-47B0-973D-F2F6D641B754}" type="slidenum">
              <a:rPr lang="en-US" smtClean="0"/>
              <a:t>33</a:t>
            </a:fld>
            <a:endParaRPr lang="en-US"/>
          </a:p>
        </p:txBody>
      </p:sp>
    </p:spTree>
    <p:extLst>
      <p:ext uri="{BB962C8B-B14F-4D97-AF65-F5344CB8AC3E}">
        <p14:creationId xmlns:p14="http://schemas.microsoft.com/office/powerpoint/2010/main" val="731063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22BE-D8B2-4F97-A3D1-FE7DFE35C9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B5642A-E4AB-4CF5-9AB6-6A4BC016BF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F720D7-F72E-4BD6-859F-9172BDC6A340}"/>
              </a:ext>
            </a:extLst>
          </p:cNvPr>
          <p:cNvSpPr>
            <a:spLocks noGrp="1"/>
          </p:cNvSpPr>
          <p:nvPr>
            <p:ph type="dt" sz="half" idx="10"/>
          </p:nvPr>
        </p:nvSpPr>
        <p:spPr/>
        <p:txBody>
          <a:bodyPr/>
          <a:lstStyle/>
          <a:p>
            <a:fld id="{3EE86882-1CF3-4E21-89BE-C5CEB3924659}" type="datetimeFigureOut">
              <a:rPr lang="en-US" smtClean="0"/>
              <a:t>10/7/25</a:t>
            </a:fld>
            <a:endParaRPr lang="en-US"/>
          </a:p>
        </p:txBody>
      </p:sp>
      <p:sp>
        <p:nvSpPr>
          <p:cNvPr id="5" name="Footer Placeholder 4">
            <a:extLst>
              <a:ext uri="{FF2B5EF4-FFF2-40B4-BE49-F238E27FC236}">
                <a16:creationId xmlns:a16="http://schemas.microsoft.com/office/drawing/2014/main" id="{BC7AAFE3-326B-434C-8868-85AE4FFA3E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31746-7841-4C25-A242-3ECCD98406AB}"/>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3186332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5BB3D-6C5E-44E6-AA4B-5A6B8E84BF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ADB805-8BE6-4E29-9C78-3D8B73E0953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162477-D5B5-4DDD-A5D9-50198EEF5EFD}"/>
              </a:ext>
            </a:extLst>
          </p:cNvPr>
          <p:cNvSpPr>
            <a:spLocks noGrp="1"/>
          </p:cNvSpPr>
          <p:nvPr>
            <p:ph type="dt" sz="half" idx="10"/>
          </p:nvPr>
        </p:nvSpPr>
        <p:spPr/>
        <p:txBody>
          <a:bodyPr/>
          <a:lstStyle/>
          <a:p>
            <a:fld id="{3EE86882-1CF3-4E21-89BE-C5CEB3924659}" type="datetimeFigureOut">
              <a:rPr lang="en-US" smtClean="0"/>
              <a:t>10/7/25</a:t>
            </a:fld>
            <a:endParaRPr lang="en-US"/>
          </a:p>
        </p:txBody>
      </p:sp>
      <p:sp>
        <p:nvSpPr>
          <p:cNvPr id="5" name="Footer Placeholder 4">
            <a:extLst>
              <a:ext uri="{FF2B5EF4-FFF2-40B4-BE49-F238E27FC236}">
                <a16:creationId xmlns:a16="http://schemas.microsoft.com/office/drawing/2014/main" id="{BC5F9E22-7F5C-4AC5-81DE-D70CB1A29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527337-FA8A-4FC9-98C8-16D02D9AAF8C}"/>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4131294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BF0DA-C526-440C-9E25-118EE56955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66A23D-1BCE-46E9-BDE5-038B070DFD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CC14AE8-A89F-4AF0-A124-627C96C50574}"/>
              </a:ext>
            </a:extLst>
          </p:cNvPr>
          <p:cNvSpPr>
            <a:spLocks noGrp="1"/>
          </p:cNvSpPr>
          <p:nvPr>
            <p:ph type="dt" sz="half" idx="10"/>
          </p:nvPr>
        </p:nvSpPr>
        <p:spPr/>
        <p:txBody>
          <a:bodyPr/>
          <a:lstStyle/>
          <a:p>
            <a:fld id="{3EE86882-1CF3-4E21-89BE-C5CEB3924659}" type="datetimeFigureOut">
              <a:rPr lang="en-US" smtClean="0"/>
              <a:t>10/7/25</a:t>
            </a:fld>
            <a:endParaRPr lang="en-US"/>
          </a:p>
        </p:txBody>
      </p:sp>
      <p:sp>
        <p:nvSpPr>
          <p:cNvPr id="5" name="Footer Placeholder 4">
            <a:extLst>
              <a:ext uri="{FF2B5EF4-FFF2-40B4-BE49-F238E27FC236}">
                <a16:creationId xmlns:a16="http://schemas.microsoft.com/office/drawing/2014/main" id="{857E007E-3A0E-4314-BE35-65A00B25BC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107654-312A-49F9-A8A7-E041AEF0E302}"/>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2879121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8EA80-9157-46B9-9B6C-866ECB4F0E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55512-1E79-417B-AF52-B967554888B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0F5347-824F-45BB-94BB-795BE001F0F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7BD165-3FD6-4EDC-B038-27B6FAB54995}"/>
              </a:ext>
            </a:extLst>
          </p:cNvPr>
          <p:cNvSpPr>
            <a:spLocks noGrp="1"/>
          </p:cNvSpPr>
          <p:nvPr>
            <p:ph type="dt" sz="half" idx="10"/>
          </p:nvPr>
        </p:nvSpPr>
        <p:spPr/>
        <p:txBody>
          <a:bodyPr/>
          <a:lstStyle/>
          <a:p>
            <a:fld id="{3EE86882-1CF3-4E21-89BE-C5CEB3924659}" type="datetimeFigureOut">
              <a:rPr lang="en-US" smtClean="0"/>
              <a:t>10/7/25</a:t>
            </a:fld>
            <a:endParaRPr lang="en-US"/>
          </a:p>
        </p:txBody>
      </p:sp>
      <p:sp>
        <p:nvSpPr>
          <p:cNvPr id="6" name="Footer Placeholder 5">
            <a:extLst>
              <a:ext uri="{FF2B5EF4-FFF2-40B4-BE49-F238E27FC236}">
                <a16:creationId xmlns:a16="http://schemas.microsoft.com/office/drawing/2014/main" id="{B0F670DF-7097-4D69-8812-83D8CD27A7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293A0B-7540-4059-9843-355929D040C1}"/>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2675671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FD613-E280-44CA-A770-834C432C70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027B75-DC09-433C-9F55-300EC8F8BC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8BBA939-CA30-4F17-87B7-760951DEAF8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56A096-3BC1-45BF-BC50-E43A20C280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239EAD1-F304-43E7-9440-3CD09AEE578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D91FD4-5E10-4382-843A-45EC2E7A377E}"/>
              </a:ext>
            </a:extLst>
          </p:cNvPr>
          <p:cNvSpPr>
            <a:spLocks noGrp="1"/>
          </p:cNvSpPr>
          <p:nvPr>
            <p:ph type="dt" sz="half" idx="10"/>
          </p:nvPr>
        </p:nvSpPr>
        <p:spPr/>
        <p:txBody>
          <a:bodyPr/>
          <a:lstStyle/>
          <a:p>
            <a:fld id="{3EE86882-1CF3-4E21-89BE-C5CEB3924659}" type="datetimeFigureOut">
              <a:rPr lang="en-US" smtClean="0"/>
              <a:t>10/7/25</a:t>
            </a:fld>
            <a:endParaRPr lang="en-US"/>
          </a:p>
        </p:txBody>
      </p:sp>
      <p:sp>
        <p:nvSpPr>
          <p:cNvPr id="8" name="Footer Placeholder 7">
            <a:extLst>
              <a:ext uri="{FF2B5EF4-FFF2-40B4-BE49-F238E27FC236}">
                <a16:creationId xmlns:a16="http://schemas.microsoft.com/office/drawing/2014/main" id="{EF3C9640-D6E4-47BC-95C6-821D6A3FF3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657401-4351-40E8-A5AE-99EC9008D1C7}"/>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4047595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FB5DB-477C-48A9-82E4-9F106960FD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14A002-3405-414C-BD0D-4E02A8A18C0D}"/>
              </a:ext>
            </a:extLst>
          </p:cNvPr>
          <p:cNvSpPr>
            <a:spLocks noGrp="1"/>
          </p:cNvSpPr>
          <p:nvPr>
            <p:ph type="dt" sz="half" idx="10"/>
          </p:nvPr>
        </p:nvSpPr>
        <p:spPr/>
        <p:txBody>
          <a:bodyPr/>
          <a:lstStyle/>
          <a:p>
            <a:fld id="{3EE86882-1CF3-4E21-89BE-C5CEB3924659}" type="datetimeFigureOut">
              <a:rPr lang="en-US" smtClean="0"/>
              <a:t>10/7/25</a:t>
            </a:fld>
            <a:endParaRPr lang="en-US"/>
          </a:p>
        </p:txBody>
      </p:sp>
      <p:sp>
        <p:nvSpPr>
          <p:cNvPr id="4" name="Footer Placeholder 3">
            <a:extLst>
              <a:ext uri="{FF2B5EF4-FFF2-40B4-BE49-F238E27FC236}">
                <a16:creationId xmlns:a16="http://schemas.microsoft.com/office/drawing/2014/main" id="{8F594212-8BB5-49D0-AB4B-36DC204BAB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0984A2-C0C8-4E8D-87D6-271599DD506C}"/>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1240405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6BCF15-D505-48CD-8264-FE5C9795F06E}"/>
              </a:ext>
            </a:extLst>
          </p:cNvPr>
          <p:cNvSpPr>
            <a:spLocks noGrp="1"/>
          </p:cNvSpPr>
          <p:nvPr>
            <p:ph type="dt" sz="half" idx="10"/>
          </p:nvPr>
        </p:nvSpPr>
        <p:spPr/>
        <p:txBody>
          <a:bodyPr/>
          <a:lstStyle/>
          <a:p>
            <a:fld id="{3EE86882-1CF3-4E21-89BE-C5CEB3924659}" type="datetimeFigureOut">
              <a:rPr lang="en-US" smtClean="0"/>
              <a:t>10/7/25</a:t>
            </a:fld>
            <a:endParaRPr lang="en-US"/>
          </a:p>
        </p:txBody>
      </p:sp>
      <p:sp>
        <p:nvSpPr>
          <p:cNvPr id="3" name="Footer Placeholder 2">
            <a:extLst>
              <a:ext uri="{FF2B5EF4-FFF2-40B4-BE49-F238E27FC236}">
                <a16:creationId xmlns:a16="http://schemas.microsoft.com/office/drawing/2014/main" id="{2F01F9DB-CAA2-4020-9012-9F1EF528EE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F059D5-D7B0-4AB1-9375-2C4F77616844}"/>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3894014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D2E85-C239-4C22-AD11-10405385F3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45B297-510E-493F-8C06-041D0A6621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2C91D9-41B8-4112-9C50-627E91714F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89FF5DB-1613-4DC5-87A3-86E6BE1BFDBB}"/>
              </a:ext>
            </a:extLst>
          </p:cNvPr>
          <p:cNvSpPr>
            <a:spLocks noGrp="1"/>
          </p:cNvSpPr>
          <p:nvPr>
            <p:ph type="dt" sz="half" idx="10"/>
          </p:nvPr>
        </p:nvSpPr>
        <p:spPr/>
        <p:txBody>
          <a:bodyPr/>
          <a:lstStyle/>
          <a:p>
            <a:fld id="{3EE86882-1CF3-4E21-89BE-C5CEB3924659}" type="datetimeFigureOut">
              <a:rPr lang="en-US" smtClean="0"/>
              <a:t>10/7/25</a:t>
            </a:fld>
            <a:endParaRPr lang="en-US"/>
          </a:p>
        </p:txBody>
      </p:sp>
      <p:sp>
        <p:nvSpPr>
          <p:cNvPr id="6" name="Footer Placeholder 5">
            <a:extLst>
              <a:ext uri="{FF2B5EF4-FFF2-40B4-BE49-F238E27FC236}">
                <a16:creationId xmlns:a16="http://schemas.microsoft.com/office/drawing/2014/main" id="{639C033E-2E39-4F20-B20C-5C24BC1119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D31C63-D410-40AA-9340-9A3122208A7E}"/>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2763360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C796E-E2C7-4318-8EF7-93A7D84F57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B41617-2F37-4AC2-B419-EAA8C0AD4F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48A429-F83D-4DB8-8195-20270AE288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A18AEFC-C38F-4B3B-AA22-980F0C1CE294}"/>
              </a:ext>
            </a:extLst>
          </p:cNvPr>
          <p:cNvSpPr>
            <a:spLocks noGrp="1"/>
          </p:cNvSpPr>
          <p:nvPr>
            <p:ph type="dt" sz="half" idx="10"/>
          </p:nvPr>
        </p:nvSpPr>
        <p:spPr/>
        <p:txBody>
          <a:bodyPr/>
          <a:lstStyle/>
          <a:p>
            <a:fld id="{3EE86882-1CF3-4E21-89BE-C5CEB3924659}" type="datetimeFigureOut">
              <a:rPr lang="en-US" smtClean="0"/>
              <a:t>10/7/25</a:t>
            </a:fld>
            <a:endParaRPr lang="en-US"/>
          </a:p>
        </p:txBody>
      </p:sp>
      <p:sp>
        <p:nvSpPr>
          <p:cNvPr id="6" name="Footer Placeholder 5">
            <a:extLst>
              <a:ext uri="{FF2B5EF4-FFF2-40B4-BE49-F238E27FC236}">
                <a16:creationId xmlns:a16="http://schemas.microsoft.com/office/drawing/2014/main" id="{4BBD791E-3787-4F78-872B-58723CBBD0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9202F8-480F-486B-BD94-412196ACBBF8}"/>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2417324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0179B-500A-496D-B4D9-F977820B221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77EB8F-B4BA-44E5-88AC-88224F298B1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044613-DC20-4985-BA9F-FD9160A7D3FD}"/>
              </a:ext>
            </a:extLst>
          </p:cNvPr>
          <p:cNvSpPr>
            <a:spLocks noGrp="1"/>
          </p:cNvSpPr>
          <p:nvPr>
            <p:ph type="dt" sz="half" idx="10"/>
          </p:nvPr>
        </p:nvSpPr>
        <p:spPr/>
        <p:txBody>
          <a:bodyPr/>
          <a:lstStyle/>
          <a:p>
            <a:fld id="{3EE86882-1CF3-4E21-89BE-C5CEB3924659}" type="datetimeFigureOut">
              <a:rPr lang="en-US" smtClean="0"/>
              <a:t>10/7/25</a:t>
            </a:fld>
            <a:endParaRPr lang="en-US"/>
          </a:p>
        </p:txBody>
      </p:sp>
      <p:sp>
        <p:nvSpPr>
          <p:cNvPr id="5" name="Footer Placeholder 4">
            <a:extLst>
              <a:ext uri="{FF2B5EF4-FFF2-40B4-BE49-F238E27FC236}">
                <a16:creationId xmlns:a16="http://schemas.microsoft.com/office/drawing/2014/main" id="{FFE41043-1250-4111-B31D-F06A98BF59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4098D8-E6A2-4106-AC9E-C128165DD40C}"/>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3120539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9BD81D-1246-4B00-A010-388321FE02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2597C9-E1FA-4D61-92BB-630BE2C9832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36A213-7C75-4546-8719-20901677804A}"/>
              </a:ext>
            </a:extLst>
          </p:cNvPr>
          <p:cNvSpPr>
            <a:spLocks noGrp="1"/>
          </p:cNvSpPr>
          <p:nvPr>
            <p:ph type="dt" sz="half" idx="10"/>
          </p:nvPr>
        </p:nvSpPr>
        <p:spPr/>
        <p:txBody>
          <a:bodyPr/>
          <a:lstStyle/>
          <a:p>
            <a:fld id="{3EE86882-1CF3-4E21-89BE-C5CEB3924659}" type="datetimeFigureOut">
              <a:rPr lang="en-US" smtClean="0"/>
              <a:t>10/7/25</a:t>
            </a:fld>
            <a:endParaRPr lang="en-US"/>
          </a:p>
        </p:txBody>
      </p:sp>
      <p:sp>
        <p:nvSpPr>
          <p:cNvPr id="5" name="Footer Placeholder 4">
            <a:extLst>
              <a:ext uri="{FF2B5EF4-FFF2-40B4-BE49-F238E27FC236}">
                <a16:creationId xmlns:a16="http://schemas.microsoft.com/office/drawing/2014/main" id="{E20AC16E-47A1-48CF-BC45-6C8B323169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F7EC8-FCC5-49F8-95FE-501140C2561D}"/>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4196525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6B2CB8-2FD9-4E31-B363-89615416A9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2799CE-A21C-4684-93F1-A267B39C4A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58A116-D6CC-4CC6-9E36-248C5BB1D8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E86882-1CF3-4E21-89BE-C5CEB3924659}" type="datetimeFigureOut">
              <a:rPr lang="en-US" smtClean="0"/>
              <a:t>10/7/25</a:t>
            </a:fld>
            <a:endParaRPr lang="en-US"/>
          </a:p>
        </p:txBody>
      </p:sp>
      <p:sp>
        <p:nvSpPr>
          <p:cNvPr id="5" name="Footer Placeholder 4">
            <a:extLst>
              <a:ext uri="{FF2B5EF4-FFF2-40B4-BE49-F238E27FC236}">
                <a16:creationId xmlns:a16="http://schemas.microsoft.com/office/drawing/2014/main" id="{603686ED-4DCF-44D7-AC26-E894F4A17C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B59EE5-4619-4AE1-8C4A-7E25B4066B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5983F6-BBDA-4E85-87CF-33C01B4242B3}" type="slidenum">
              <a:rPr lang="en-US" smtClean="0"/>
              <a:t>‹#›</a:t>
            </a:fld>
            <a:endParaRPr lang="en-US"/>
          </a:p>
        </p:txBody>
      </p:sp>
    </p:spTree>
    <p:extLst>
      <p:ext uri="{BB962C8B-B14F-4D97-AF65-F5344CB8AC3E}">
        <p14:creationId xmlns:p14="http://schemas.microsoft.com/office/powerpoint/2010/main" val="1783656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customXml" Target="../ink/ink1.xml"/></Relationships>
</file>

<file path=ppt/slides/_rels/slide7.xml.rels><?xml version="1.0" encoding="UTF-8" standalone="yes"?>
<Relationships xmlns="http://schemas.openxmlformats.org/package/2006/relationships"><Relationship Id="rId3" Type="http://schemas.openxmlformats.org/officeDocument/2006/relationships/hyperlink" Target="https://www.microsoft.com/en-us/research/uploads/prod/2006/01/Bishop-Pattern-Recognition-and-Machine-Learning-2006.pdf"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12"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people.csail.mit.edu/rivest/HyafilRivest-ConstructingOptimalBinaryDecisionTreesIsNPComplete.pdf"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40.png"/><Relationship Id="rId2" Type="http://schemas.openxmlformats.org/officeDocument/2006/relationships/image" Target="../media/image123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8" Type="http://schemas.openxmlformats.org/officeDocument/2006/relationships/image" Target="../media/image136.png"/><Relationship Id="rId7" Type="http://schemas.openxmlformats.org/officeDocument/2006/relationships/image" Target="../media/image135.png"/><Relationship Id="rId1" Type="http://schemas.openxmlformats.org/officeDocument/2006/relationships/slideLayout" Target="../slideLayouts/slideLayout7.xml"/><Relationship Id="rId10" Type="http://schemas.openxmlformats.org/officeDocument/2006/relationships/image" Target="../media/image138.png"/><Relationship Id="rId9" Type="http://schemas.openxmlformats.org/officeDocument/2006/relationships/image" Target="../media/image137.png"/></Relationships>
</file>

<file path=ppt/slides/_rels/slide2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DB932-E397-4929-95D5-E688161E314F}"/>
              </a:ext>
            </a:extLst>
          </p:cNvPr>
          <p:cNvSpPr>
            <a:spLocks noGrp="1"/>
          </p:cNvSpPr>
          <p:nvPr>
            <p:ph type="ctrTitle"/>
          </p:nvPr>
        </p:nvSpPr>
        <p:spPr/>
        <p:txBody>
          <a:bodyPr/>
          <a:lstStyle/>
          <a:p>
            <a:r>
              <a:rPr lang="en-US" b="1" dirty="0"/>
              <a:t>Decision Trees</a:t>
            </a:r>
          </a:p>
        </p:txBody>
      </p:sp>
      <p:sp>
        <p:nvSpPr>
          <p:cNvPr id="3" name="Subtitle 2">
            <a:extLst>
              <a:ext uri="{FF2B5EF4-FFF2-40B4-BE49-F238E27FC236}">
                <a16:creationId xmlns:a16="http://schemas.microsoft.com/office/drawing/2014/main" id="{F8DE6D2B-55C7-4A2B-B516-E6D8FFBE9A9B}"/>
              </a:ext>
            </a:extLst>
          </p:cNvPr>
          <p:cNvSpPr>
            <a:spLocks noGrp="1"/>
          </p:cNvSpPr>
          <p:nvPr>
            <p:ph type="subTitle" idx="1"/>
          </p:nvPr>
        </p:nvSpPr>
        <p:spPr/>
        <p:txBody>
          <a:bodyPr/>
          <a:lstStyle/>
          <a:p>
            <a:r>
              <a:rPr lang="en-US" dirty="0"/>
              <a:t>CSC4601 Theory of Machine Learning</a:t>
            </a:r>
          </a:p>
        </p:txBody>
      </p:sp>
    </p:spTree>
    <p:extLst>
      <p:ext uri="{BB962C8B-B14F-4D97-AF65-F5344CB8AC3E}">
        <p14:creationId xmlns:p14="http://schemas.microsoft.com/office/powerpoint/2010/main" val="953135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0E82-CEE3-62C9-B903-77D43DB4C083}"/>
              </a:ext>
            </a:extLst>
          </p:cNvPr>
          <p:cNvSpPr>
            <a:spLocks noGrp="1"/>
          </p:cNvSpPr>
          <p:nvPr>
            <p:ph type="title"/>
          </p:nvPr>
        </p:nvSpPr>
        <p:spPr/>
        <p:txBody>
          <a:bodyPr/>
          <a:lstStyle/>
          <a:p>
            <a:r>
              <a:rPr lang="en-US" b="1" dirty="0"/>
              <a:t>Plan</a:t>
            </a:r>
          </a:p>
        </p:txBody>
      </p:sp>
      <p:sp>
        <p:nvSpPr>
          <p:cNvPr id="3" name="Content Placeholder 2">
            <a:extLst>
              <a:ext uri="{FF2B5EF4-FFF2-40B4-BE49-F238E27FC236}">
                <a16:creationId xmlns:a16="http://schemas.microsoft.com/office/drawing/2014/main" id="{43A0F932-26ED-5786-D0DC-59D7B74C5166}"/>
              </a:ext>
            </a:extLst>
          </p:cNvPr>
          <p:cNvSpPr>
            <a:spLocks noGrp="1"/>
          </p:cNvSpPr>
          <p:nvPr>
            <p:ph idx="1"/>
          </p:nvPr>
        </p:nvSpPr>
        <p:spPr/>
        <p:txBody>
          <a:bodyPr>
            <a:normAutofit lnSpcReduction="10000"/>
          </a:bodyPr>
          <a:lstStyle/>
          <a:p>
            <a:r>
              <a:rPr lang="en-US" dirty="0"/>
              <a:t>Overview</a:t>
            </a:r>
          </a:p>
          <a:p>
            <a:endParaRPr lang="en-US" dirty="0"/>
          </a:p>
          <a:p>
            <a:r>
              <a:rPr lang="en-US" dirty="0"/>
              <a:t>Training and Prediction phases</a:t>
            </a:r>
          </a:p>
          <a:p>
            <a:endParaRPr lang="en-US" dirty="0"/>
          </a:p>
          <a:p>
            <a:r>
              <a:rPr lang="en-US" dirty="0"/>
              <a:t>Tree structure vs Overfitting/Underfitting</a:t>
            </a:r>
          </a:p>
          <a:p>
            <a:endParaRPr lang="en-US" dirty="0"/>
          </a:p>
          <a:p>
            <a:r>
              <a:rPr lang="en-US" dirty="0"/>
              <a:t>Advantages and Disadvantages</a:t>
            </a:r>
          </a:p>
          <a:p>
            <a:endParaRPr lang="en-US" dirty="0"/>
          </a:p>
          <a:p>
            <a:r>
              <a:rPr lang="en-US" dirty="0"/>
              <a:t>Extensions</a:t>
            </a:r>
          </a:p>
        </p:txBody>
      </p:sp>
    </p:spTree>
    <p:extLst>
      <p:ext uri="{BB962C8B-B14F-4D97-AF65-F5344CB8AC3E}">
        <p14:creationId xmlns:p14="http://schemas.microsoft.com/office/powerpoint/2010/main" val="11867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0E938FC-E8D8-4659-B72B-10DB46F674CB}"/>
              </a:ext>
            </a:extLst>
          </p:cNvPr>
          <p:cNvSpPr>
            <a:spLocks noGrp="1"/>
          </p:cNvSpPr>
          <p:nvPr>
            <p:ph type="title"/>
          </p:nvPr>
        </p:nvSpPr>
        <p:spPr/>
        <p:txBody>
          <a:bodyPr/>
          <a:lstStyle/>
          <a:p>
            <a:r>
              <a:rPr lang="en-US" b="1" dirty="0"/>
              <a:t>Decision Trees</a:t>
            </a:r>
          </a:p>
        </p:txBody>
      </p:sp>
      <p:sp>
        <p:nvSpPr>
          <p:cNvPr id="6" name="Content Placeholder 5">
            <a:extLst>
              <a:ext uri="{FF2B5EF4-FFF2-40B4-BE49-F238E27FC236}">
                <a16:creationId xmlns:a16="http://schemas.microsoft.com/office/drawing/2014/main" id="{2D8844EC-0DAF-46C8-AB46-B8A5FBAFBC21}"/>
              </a:ext>
            </a:extLst>
          </p:cNvPr>
          <p:cNvSpPr>
            <a:spLocks noGrp="1"/>
          </p:cNvSpPr>
          <p:nvPr>
            <p:ph idx="1"/>
          </p:nvPr>
        </p:nvSpPr>
        <p:spPr/>
        <p:txBody>
          <a:bodyPr>
            <a:normAutofit/>
          </a:bodyPr>
          <a:lstStyle/>
          <a:p>
            <a:pPr>
              <a:lnSpc>
                <a:spcPct val="100000"/>
              </a:lnSpc>
            </a:pPr>
            <a:r>
              <a:rPr lang="en-US" sz="2400" dirty="0"/>
              <a:t>A Decision tree is a non-linear model that can be used for regression and classification. </a:t>
            </a:r>
          </a:p>
          <a:p>
            <a:pPr>
              <a:lnSpc>
                <a:spcPct val="100000"/>
              </a:lnSpc>
            </a:pPr>
            <a:r>
              <a:rPr lang="en-US" sz="2400" dirty="0"/>
              <a:t>It organizes classification/regression rules into a flowchart.</a:t>
            </a:r>
          </a:p>
          <a:p>
            <a:pPr>
              <a:lnSpc>
                <a:spcPct val="100000"/>
              </a:lnSpc>
            </a:pPr>
            <a:r>
              <a:rPr lang="en-US" sz="2400" dirty="0"/>
              <a:t>Once the structure of the tree is learned, we can predict the label of unlabeled data sample by:</a:t>
            </a:r>
          </a:p>
          <a:p>
            <a:pPr lvl="1">
              <a:lnSpc>
                <a:spcPct val="100000"/>
              </a:lnSpc>
            </a:pPr>
            <a:r>
              <a:rPr lang="en-US" dirty="0"/>
              <a:t>asking the learned questions and getting the answers from the features of the given data sample.</a:t>
            </a:r>
          </a:p>
          <a:p>
            <a:pPr>
              <a:lnSpc>
                <a:spcPct val="100000"/>
              </a:lnSpc>
            </a:pPr>
            <a:r>
              <a:rPr lang="en-US" sz="2400" dirty="0"/>
              <a:t>Unlike linear models, it does not make any linearity assumptions on the data, and it accounts for the interaction between features.</a:t>
            </a:r>
          </a:p>
          <a:p>
            <a:pPr>
              <a:lnSpc>
                <a:spcPct val="100000"/>
              </a:lnSpc>
            </a:pPr>
            <a:endParaRPr lang="en-US" sz="2400" dirty="0"/>
          </a:p>
          <a:p>
            <a:pPr>
              <a:lnSpc>
                <a:spcPct val="100000"/>
              </a:lnSpc>
            </a:pPr>
            <a:endParaRPr lang="en-US" sz="2400" dirty="0"/>
          </a:p>
        </p:txBody>
      </p:sp>
    </p:spTree>
    <p:extLst>
      <p:ext uri="{BB962C8B-B14F-4D97-AF65-F5344CB8AC3E}">
        <p14:creationId xmlns:p14="http://schemas.microsoft.com/office/powerpoint/2010/main" val="4052631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F55B2-9B36-FFA4-CA74-0940BEC6BA34}"/>
              </a:ext>
            </a:extLst>
          </p:cNvPr>
          <p:cNvSpPr>
            <a:spLocks noGrp="1"/>
          </p:cNvSpPr>
          <p:nvPr>
            <p:ph type="title"/>
          </p:nvPr>
        </p:nvSpPr>
        <p:spPr/>
        <p:txBody>
          <a:bodyPr/>
          <a:lstStyle/>
          <a:p>
            <a:r>
              <a:rPr lang="en-US" b="1" dirty="0"/>
              <a:t>Terminology</a:t>
            </a:r>
          </a:p>
        </p:txBody>
      </p:sp>
      <p:sp>
        <p:nvSpPr>
          <p:cNvPr id="6" name="Rectangle: Rounded Corners 5">
            <a:extLst>
              <a:ext uri="{FF2B5EF4-FFF2-40B4-BE49-F238E27FC236}">
                <a16:creationId xmlns:a16="http://schemas.microsoft.com/office/drawing/2014/main" id="{317999EE-CF2C-4F80-F922-6A6405BAC2E3}"/>
              </a:ext>
            </a:extLst>
          </p:cNvPr>
          <p:cNvSpPr/>
          <p:nvPr/>
        </p:nvSpPr>
        <p:spPr>
          <a:xfrm>
            <a:off x="2970241" y="2429334"/>
            <a:ext cx="1469204" cy="71919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Root Node</a:t>
            </a:r>
          </a:p>
          <a:p>
            <a:pPr algn="ctr"/>
            <a:r>
              <a:rPr lang="en-US" sz="1200" dirty="0"/>
              <a:t>(Yes/No question)</a:t>
            </a:r>
          </a:p>
        </p:txBody>
      </p:sp>
      <p:sp>
        <p:nvSpPr>
          <p:cNvPr id="7" name="Rectangle: Rounded Corners 6">
            <a:extLst>
              <a:ext uri="{FF2B5EF4-FFF2-40B4-BE49-F238E27FC236}">
                <a16:creationId xmlns:a16="http://schemas.microsoft.com/office/drawing/2014/main" id="{50983502-7C42-898D-1A04-26E0D6C183D5}"/>
              </a:ext>
            </a:extLst>
          </p:cNvPr>
          <p:cNvSpPr/>
          <p:nvPr/>
        </p:nvSpPr>
        <p:spPr>
          <a:xfrm>
            <a:off x="1100128" y="3568053"/>
            <a:ext cx="1469204" cy="71919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Internal Node</a:t>
            </a:r>
          </a:p>
          <a:p>
            <a:pPr algn="ctr"/>
            <a:r>
              <a:rPr lang="en-US" sz="1200" dirty="0"/>
              <a:t>(Yes/No question)</a:t>
            </a:r>
            <a:endParaRPr lang="en-US" sz="1200" b="1" dirty="0"/>
          </a:p>
        </p:txBody>
      </p:sp>
      <p:sp>
        <p:nvSpPr>
          <p:cNvPr id="8" name="Rectangle: Rounded Corners 7">
            <a:extLst>
              <a:ext uri="{FF2B5EF4-FFF2-40B4-BE49-F238E27FC236}">
                <a16:creationId xmlns:a16="http://schemas.microsoft.com/office/drawing/2014/main" id="{CD1B26E7-E85D-5AF2-B4B8-246DBFAED4E9}"/>
              </a:ext>
            </a:extLst>
          </p:cNvPr>
          <p:cNvSpPr/>
          <p:nvPr/>
        </p:nvSpPr>
        <p:spPr>
          <a:xfrm>
            <a:off x="4969418" y="3568053"/>
            <a:ext cx="1469204" cy="719191"/>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Internal Node </a:t>
            </a:r>
          </a:p>
          <a:p>
            <a:pPr algn="ctr"/>
            <a:r>
              <a:rPr lang="en-US" sz="1200" dirty="0"/>
              <a:t>(Yes/No question)</a:t>
            </a:r>
          </a:p>
        </p:txBody>
      </p:sp>
      <p:sp>
        <p:nvSpPr>
          <p:cNvPr id="9" name="Rectangle: Rounded Corners 8">
            <a:extLst>
              <a:ext uri="{FF2B5EF4-FFF2-40B4-BE49-F238E27FC236}">
                <a16:creationId xmlns:a16="http://schemas.microsoft.com/office/drawing/2014/main" id="{0B3C86E4-39F2-77D3-1A8E-D1CBA9971C36}"/>
              </a:ext>
            </a:extLst>
          </p:cNvPr>
          <p:cNvSpPr/>
          <p:nvPr/>
        </p:nvSpPr>
        <p:spPr>
          <a:xfrm>
            <a:off x="194505" y="4758142"/>
            <a:ext cx="1469204" cy="71919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3F68419A-9C31-63C9-E4E7-3A99B40A0E78}"/>
              </a:ext>
            </a:extLst>
          </p:cNvPr>
          <p:cNvSpPr/>
          <p:nvPr/>
        </p:nvSpPr>
        <p:spPr>
          <a:xfrm>
            <a:off x="1840082" y="4758139"/>
            <a:ext cx="1469204" cy="71919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3343D8A2-D56F-4D37-D38F-9B212EB79789}"/>
              </a:ext>
            </a:extLst>
          </p:cNvPr>
          <p:cNvSpPr/>
          <p:nvPr/>
        </p:nvSpPr>
        <p:spPr>
          <a:xfrm>
            <a:off x="4234816" y="4758139"/>
            <a:ext cx="1469204" cy="71919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E40A2A4D-9523-BC12-E311-5E7FD18BD3EE}"/>
              </a:ext>
            </a:extLst>
          </p:cNvPr>
          <p:cNvSpPr/>
          <p:nvPr/>
        </p:nvSpPr>
        <p:spPr>
          <a:xfrm>
            <a:off x="5937758" y="4758138"/>
            <a:ext cx="1469204" cy="719191"/>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t>Leaf Node</a:t>
            </a:r>
          </a:p>
        </p:txBody>
      </p:sp>
      <p:cxnSp>
        <p:nvCxnSpPr>
          <p:cNvPr id="13" name="Straight Arrow Connector 12">
            <a:extLst>
              <a:ext uri="{FF2B5EF4-FFF2-40B4-BE49-F238E27FC236}">
                <a16:creationId xmlns:a16="http://schemas.microsoft.com/office/drawing/2014/main" id="{A1AB8609-0166-F229-033E-06D0BE9E814A}"/>
              </a:ext>
            </a:extLst>
          </p:cNvPr>
          <p:cNvCxnSpPr>
            <a:endCxn id="7" idx="0"/>
          </p:cNvCxnSpPr>
          <p:nvPr/>
        </p:nvCxnSpPr>
        <p:spPr>
          <a:xfrm flipH="1">
            <a:off x="1834730" y="3158799"/>
            <a:ext cx="1476054" cy="4092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EB019D3-A12C-CBFA-2C46-F02C26649B47}"/>
              </a:ext>
            </a:extLst>
          </p:cNvPr>
          <p:cNvCxnSpPr>
            <a:cxnSpLocks/>
            <a:endCxn id="8" idx="0"/>
          </p:cNvCxnSpPr>
          <p:nvPr/>
        </p:nvCxnSpPr>
        <p:spPr>
          <a:xfrm>
            <a:off x="4043887" y="3158799"/>
            <a:ext cx="1660133" cy="4092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5FFE05DB-143C-A2BE-A4EE-F38A38C55758}"/>
              </a:ext>
            </a:extLst>
          </p:cNvPr>
          <p:cNvCxnSpPr>
            <a:endCxn id="9" idx="0"/>
          </p:cNvCxnSpPr>
          <p:nvPr/>
        </p:nvCxnSpPr>
        <p:spPr>
          <a:xfrm flipH="1">
            <a:off x="929107" y="4287244"/>
            <a:ext cx="500008" cy="4708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160BAEE6-EFEF-7882-BF9D-68A22A374FD9}"/>
              </a:ext>
            </a:extLst>
          </p:cNvPr>
          <p:cNvCxnSpPr>
            <a:cxnSpLocks/>
            <a:endCxn id="10" idx="0"/>
          </p:cNvCxnSpPr>
          <p:nvPr/>
        </p:nvCxnSpPr>
        <p:spPr>
          <a:xfrm>
            <a:off x="2074676" y="4287242"/>
            <a:ext cx="500008" cy="4708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43FA41EA-806A-9420-D266-347D2948BEA8}"/>
              </a:ext>
            </a:extLst>
          </p:cNvPr>
          <p:cNvCxnSpPr>
            <a:cxnSpLocks/>
            <a:endCxn id="11" idx="0"/>
          </p:cNvCxnSpPr>
          <p:nvPr/>
        </p:nvCxnSpPr>
        <p:spPr>
          <a:xfrm flipH="1">
            <a:off x="4969418" y="4280391"/>
            <a:ext cx="328774" cy="4777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39D9F598-2F74-0708-9D1A-6464D10C2B5C}"/>
              </a:ext>
            </a:extLst>
          </p:cNvPr>
          <p:cNvCxnSpPr>
            <a:cxnSpLocks/>
          </p:cNvCxnSpPr>
          <p:nvPr/>
        </p:nvCxnSpPr>
        <p:spPr>
          <a:xfrm>
            <a:off x="6141528" y="4287241"/>
            <a:ext cx="500008" cy="4708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Rectangle: Rounded Corners 18">
            <a:extLst>
              <a:ext uri="{FF2B5EF4-FFF2-40B4-BE49-F238E27FC236}">
                <a16:creationId xmlns:a16="http://schemas.microsoft.com/office/drawing/2014/main" id="{6DFE1127-2EDB-8877-172A-0704EA513866}"/>
              </a:ext>
            </a:extLst>
          </p:cNvPr>
          <p:cNvSpPr/>
          <p:nvPr/>
        </p:nvSpPr>
        <p:spPr>
          <a:xfrm>
            <a:off x="194505" y="4758141"/>
            <a:ext cx="1469204" cy="719191"/>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t>Leaf Node</a:t>
            </a:r>
          </a:p>
        </p:txBody>
      </p:sp>
      <p:sp>
        <p:nvSpPr>
          <p:cNvPr id="20" name="Rectangle: Rounded Corners 19">
            <a:extLst>
              <a:ext uri="{FF2B5EF4-FFF2-40B4-BE49-F238E27FC236}">
                <a16:creationId xmlns:a16="http://schemas.microsoft.com/office/drawing/2014/main" id="{D80837DC-E000-4426-8DF1-02B5DA34EA26}"/>
              </a:ext>
            </a:extLst>
          </p:cNvPr>
          <p:cNvSpPr/>
          <p:nvPr/>
        </p:nvSpPr>
        <p:spPr>
          <a:xfrm>
            <a:off x="1840082" y="4758138"/>
            <a:ext cx="1469204" cy="719191"/>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t>Leaf Node</a:t>
            </a:r>
          </a:p>
        </p:txBody>
      </p:sp>
      <p:sp>
        <p:nvSpPr>
          <p:cNvPr id="21" name="Rectangle: Rounded Corners 20">
            <a:extLst>
              <a:ext uri="{FF2B5EF4-FFF2-40B4-BE49-F238E27FC236}">
                <a16:creationId xmlns:a16="http://schemas.microsoft.com/office/drawing/2014/main" id="{EF110344-9C7C-A146-5CA5-1F53EB76C008}"/>
              </a:ext>
            </a:extLst>
          </p:cNvPr>
          <p:cNvSpPr/>
          <p:nvPr/>
        </p:nvSpPr>
        <p:spPr>
          <a:xfrm>
            <a:off x="4234816" y="4758138"/>
            <a:ext cx="1469204" cy="719191"/>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t>Leaf Node</a:t>
            </a:r>
          </a:p>
        </p:txBody>
      </p:sp>
      <p:sp>
        <p:nvSpPr>
          <p:cNvPr id="22" name="TextBox 21">
            <a:extLst>
              <a:ext uri="{FF2B5EF4-FFF2-40B4-BE49-F238E27FC236}">
                <a16:creationId xmlns:a16="http://schemas.microsoft.com/office/drawing/2014/main" id="{439C2F18-F8C2-205F-BCB9-7F245450172C}"/>
              </a:ext>
            </a:extLst>
          </p:cNvPr>
          <p:cNvSpPr txBox="1"/>
          <p:nvPr/>
        </p:nvSpPr>
        <p:spPr>
          <a:xfrm>
            <a:off x="2235639" y="3039203"/>
            <a:ext cx="647274" cy="369332"/>
          </a:xfrm>
          <a:prstGeom prst="rect">
            <a:avLst/>
          </a:prstGeom>
          <a:noFill/>
        </p:spPr>
        <p:txBody>
          <a:bodyPr wrap="square" rtlCol="0">
            <a:spAutoFit/>
          </a:bodyPr>
          <a:lstStyle/>
          <a:p>
            <a:r>
              <a:rPr lang="en-US" dirty="0"/>
              <a:t>Yes</a:t>
            </a:r>
          </a:p>
        </p:txBody>
      </p:sp>
      <p:sp>
        <p:nvSpPr>
          <p:cNvPr id="23" name="TextBox 22">
            <a:extLst>
              <a:ext uri="{FF2B5EF4-FFF2-40B4-BE49-F238E27FC236}">
                <a16:creationId xmlns:a16="http://schemas.microsoft.com/office/drawing/2014/main" id="{9ACEA3FD-3420-4CFA-38D5-6B58F038C741}"/>
              </a:ext>
            </a:extLst>
          </p:cNvPr>
          <p:cNvSpPr txBox="1"/>
          <p:nvPr/>
        </p:nvSpPr>
        <p:spPr>
          <a:xfrm>
            <a:off x="4650918" y="3039203"/>
            <a:ext cx="647274" cy="369332"/>
          </a:xfrm>
          <a:prstGeom prst="rect">
            <a:avLst/>
          </a:prstGeom>
          <a:noFill/>
        </p:spPr>
        <p:txBody>
          <a:bodyPr wrap="square" rtlCol="0">
            <a:spAutoFit/>
          </a:bodyPr>
          <a:lstStyle/>
          <a:p>
            <a:r>
              <a:rPr lang="en-US" dirty="0"/>
              <a:t>No</a:t>
            </a:r>
          </a:p>
        </p:txBody>
      </p:sp>
      <p:sp>
        <p:nvSpPr>
          <p:cNvPr id="24" name="TextBox 23">
            <a:extLst>
              <a:ext uri="{FF2B5EF4-FFF2-40B4-BE49-F238E27FC236}">
                <a16:creationId xmlns:a16="http://schemas.microsoft.com/office/drawing/2014/main" id="{9062759C-54F5-53C1-6A93-0970DBCD1F69}"/>
              </a:ext>
            </a:extLst>
          </p:cNvPr>
          <p:cNvSpPr txBox="1"/>
          <p:nvPr/>
        </p:nvSpPr>
        <p:spPr>
          <a:xfrm>
            <a:off x="671610" y="4233836"/>
            <a:ext cx="647274" cy="369332"/>
          </a:xfrm>
          <a:prstGeom prst="rect">
            <a:avLst/>
          </a:prstGeom>
          <a:noFill/>
        </p:spPr>
        <p:txBody>
          <a:bodyPr wrap="square" rtlCol="0">
            <a:spAutoFit/>
          </a:bodyPr>
          <a:lstStyle/>
          <a:p>
            <a:r>
              <a:rPr lang="en-US" dirty="0"/>
              <a:t>Yes</a:t>
            </a:r>
          </a:p>
        </p:txBody>
      </p:sp>
      <p:sp>
        <p:nvSpPr>
          <p:cNvPr id="25" name="TextBox 24">
            <a:extLst>
              <a:ext uri="{FF2B5EF4-FFF2-40B4-BE49-F238E27FC236}">
                <a16:creationId xmlns:a16="http://schemas.microsoft.com/office/drawing/2014/main" id="{029103EB-4E54-C3FC-CED8-2263674712F6}"/>
              </a:ext>
            </a:extLst>
          </p:cNvPr>
          <p:cNvSpPr txBox="1"/>
          <p:nvPr/>
        </p:nvSpPr>
        <p:spPr>
          <a:xfrm>
            <a:off x="6361563" y="4233836"/>
            <a:ext cx="647274" cy="369332"/>
          </a:xfrm>
          <a:prstGeom prst="rect">
            <a:avLst/>
          </a:prstGeom>
          <a:noFill/>
        </p:spPr>
        <p:txBody>
          <a:bodyPr wrap="square" rtlCol="0">
            <a:spAutoFit/>
          </a:bodyPr>
          <a:lstStyle/>
          <a:p>
            <a:r>
              <a:rPr lang="en-US" dirty="0"/>
              <a:t>No</a:t>
            </a:r>
          </a:p>
        </p:txBody>
      </p:sp>
      <p:sp>
        <p:nvSpPr>
          <p:cNvPr id="26" name="TextBox 25">
            <a:extLst>
              <a:ext uri="{FF2B5EF4-FFF2-40B4-BE49-F238E27FC236}">
                <a16:creationId xmlns:a16="http://schemas.microsoft.com/office/drawing/2014/main" id="{B43CFB0E-CFB7-0F32-1D3A-0FE95EA26D70}"/>
              </a:ext>
            </a:extLst>
          </p:cNvPr>
          <p:cNvSpPr txBox="1"/>
          <p:nvPr/>
        </p:nvSpPr>
        <p:spPr>
          <a:xfrm>
            <a:off x="4676607" y="4283817"/>
            <a:ext cx="647274" cy="369332"/>
          </a:xfrm>
          <a:prstGeom prst="rect">
            <a:avLst/>
          </a:prstGeom>
          <a:noFill/>
        </p:spPr>
        <p:txBody>
          <a:bodyPr wrap="square" rtlCol="0">
            <a:spAutoFit/>
          </a:bodyPr>
          <a:lstStyle/>
          <a:p>
            <a:r>
              <a:rPr lang="en-US" dirty="0"/>
              <a:t>Yes</a:t>
            </a:r>
          </a:p>
        </p:txBody>
      </p:sp>
      <p:sp>
        <p:nvSpPr>
          <p:cNvPr id="27" name="TextBox 26">
            <a:extLst>
              <a:ext uri="{FF2B5EF4-FFF2-40B4-BE49-F238E27FC236}">
                <a16:creationId xmlns:a16="http://schemas.microsoft.com/office/drawing/2014/main" id="{9455A11F-81F1-CBF5-577D-0FB02ECDDCE5}"/>
              </a:ext>
            </a:extLst>
          </p:cNvPr>
          <p:cNvSpPr txBox="1"/>
          <p:nvPr/>
        </p:nvSpPr>
        <p:spPr>
          <a:xfrm>
            <a:off x="2338377" y="4290935"/>
            <a:ext cx="647274" cy="369332"/>
          </a:xfrm>
          <a:prstGeom prst="rect">
            <a:avLst/>
          </a:prstGeom>
          <a:noFill/>
        </p:spPr>
        <p:txBody>
          <a:bodyPr wrap="square" rtlCol="0">
            <a:spAutoFit/>
          </a:bodyPr>
          <a:lstStyle/>
          <a:p>
            <a:r>
              <a:rPr lang="en-US" dirty="0"/>
              <a:t>No</a:t>
            </a:r>
          </a:p>
        </p:txBody>
      </p:sp>
      <p:sp>
        <p:nvSpPr>
          <p:cNvPr id="28" name="TextBox 27">
            <a:extLst>
              <a:ext uri="{FF2B5EF4-FFF2-40B4-BE49-F238E27FC236}">
                <a16:creationId xmlns:a16="http://schemas.microsoft.com/office/drawing/2014/main" id="{62F7D8D2-A285-CC0F-473B-F7A5BEF0FAA9}"/>
              </a:ext>
            </a:extLst>
          </p:cNvPr>
          <p:cNvSpPr txBox="1"/>
          <p:nvPr/>
        </p:nvSpPr>
        <p:spPr>
          <a:xfrm>
            <a:off x="5488797" y="2716036"/>
            <a:ext cx="1149529" cy="584775"/>
          </a:xfrm>
          <a:prstGeom prst="rect">
            <a:avLst/>
          </a:prstGeom>
          <a:noFill/>
        </p:spPr>
        <p:txBody>
          <a:bodyPr wrap="square" rtlCol="0">
            <a:spAutoFit/>
          </a:bodyPr>
          <a:lstStyle/>
          <a:p>
            <a:r>
              <a:rPr lang="en-US" sz="1600" b="1" dirty="0">
                <a:solidFill>
                  <a:schemeClr val="accent3">
                    <a:lumMod val="50000"/>
                  </a:schemeClr>
                </a:solidFill>
              </a:rPr>
              <a:t>branch </a:t>
            </a:r>
          </a:p>
          <a:p>
            <a:r>
              <a:rPr lang="en-US" sz="1600" b="1" dirty="0">
                <a:solidFill>
                  <a:schemeClr val="accent3">
                    <a:lumMod val="50000"/>
                  </a:schemeClr>
                </a:solidFill>
              </a:rPr>
              <a:t>or edge</a:t>
            </a:r>
          </a:p>
        </p:txBody>
      </p:sp>
      <p:cxnSp>
        <p:nvCxnSpPr>
          <p:cNvPr id="29" name="Straight Arrow Connector 28">
            <a:extLst>
              <a:ext uri="{FF2B5EF4-FFF2-40B4-BE49-F238E27FC236}">
                <a16:creationId xmlns:a16="http://schemas.microsoft.com/office/drawing/2014/main" id="{4E16BD9A-9B94-7F75-0FA1-06309A0A9441}"/>
              </a:ext>
            </a:extLst>
          </p:cNvPr>
          <p:cNvCxnSpPr>
            <a:cxnSpLocks/>
            <a:endCxn id="28" idx="1"/>
          </p:cNvCxnSpPr>
          <p:nvPr/>
        </p:nvCxnSpPr>
        <p:spPr>
          <a:xfrm flipV="1">
            <a:off x="5298192" y="3008424"/>
            <a:ext cx="190605" cy="454640"/>
          </a:xfrm>
          <a:prstGeom prst="straightConnector1">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0" name="TextBox 29">
            <a:extLst>
              <a:ext uri="{FF2B5EF4-FFF2-40B4-BE49-F238E27FC236}">
                <a16:creationId xmlns:a16="http://schemas.microsoft.com/office/drawing/2014/main" id="{1FAB709D-E6CF-ABEC-02E8-54A7D7DDFF2E}"/>
              </a:ext>
            </a:extLst>
          </p:cNvPr>
          <p:cNvSpPr txBox="1"/>
          <p:nvPr/>
        </p:nvSpPr>
        <p:spPr>
          <a:xfrm>
            <a:off x="2235639" y="3039247"/>
            <a:ext cx="647274" cy="369332"/>
          </a:xfrm>
          <a:prstGeom prst="rect">
            <a:avLst/>
          </a:prstGeom>
          <a:noFill/>
        </p:spPr>
        <p:txBody>
          <a:bodyPr wrap="square" rtlCol="0">
            <a:spAutoFit/>
          </a:bodyPr>
          <a:lstStyle/>
          <a:p>
            <a:r>
              <a:rPr lang="en-US" dirty="0"/>
              <a:t>Yes</a:t>
            </a:r>
          </a:p>
        </p:txBody>
      </p:sp>
      <p:sp>
        <p:nvSpPr>
          <p:cNvPr id="31" name="TextBox 30">
            <a:extLst>
              <a:ext uri="{FF2B5EF4-FFF2-40B4-BE49-F238E27FC236}">
                <a16:creationId xmlns:a16="http://schemas.microsoft.com/office/drawing/2014/main" id="{677CC7B2-8845-3BBF-29BC-98E45E7BD3C6}"/>
              </a:ext>
            </a:extLst>
          </p:cNvPr>
          <p:cNvSpPr txBox="1"/>
          <p:nvPr/>
        </p:nvSpPr>
        <p:spPr>
          <a:xfrm>
            <a:off x="4650918" y="3039247"/>
            <a:ext cx="647274" cy="369332"/>
          </a:xfrm>
          <a:prstGeom prst="rect">
            <a:avLst/>
          </a:prstGeom>
          <a:noFill/>
        </p:spPr>
        <p:txBody>
          <a:bodyPr wrap="square" rtlCol="0">
            <a:spAutoFit/>
          </a:bodyPr>
          <a:lstStyle/>
          <a:p>
            <a:r>
              <a:rPr lang="en-US" dirty="0"/>
              <a:t>No</a:t>
            </a:r>
          </a:p>
        </p:txBody>
      </p:sp>
      <p:sp>
        <p:nvSpPr>
          <p:cNvPr id="33" name="TextBox 32">
            <a:extLst>
              <a:ext uri="{FF2B5EF4-FFF2-40B4-BE49-F238E27FC236}">
                <a16:creationId xmlns:a16="http://schemas.microsoft.com/office/drawing/2014/main" id="{3EFB271D-DB8B-F0F9-AD91-2E07CA7C02B6}"/>
              </a:ext>
            </a:extLst>
          </p:cNvPr>
          <p:cNvSpPr txBox="1"/>
          <p:nvPr/>
        </p:nvSpPr>
        <p:spPr>
          <a:xfrm>
            <a:off x="7867130" y="2041301"/>
            <a:ext cx="3803707"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a:t>The root and each internal node represent a yes/no question:</a:t>
            </a:r>
          </a:p>
          <a:p>
            <a:pPr marL="742950" lvl="1" indent="-285750">
              <a:buFont typeface="Courier New" panose="02070309020205020404" pitchFamily="49" charset="0"/>
              <a:buChar char="o"/>
            </a:pPr>
            <a:r>
              <a:rPr lang="en-US" sz="2000" dirty="0"/>
              <a:t>The left branch represents the “yes” path.</a:t>
            </a:r>
          </a:p>
          <a:p>
            <a:pPr marL="742950" lvl="1" indent="-285750">
              <a:buFont typeface="Courier New" panose="02070309020205020404" pitchFamily="49" charset="0"/>
              <a:buChar char="o"/>
            </a:pPr>
            <a:r>
              <a:rPr lang="en-US" sz="2000" dirty="0"/>
              <a:t>The right branch represents the “no” path.</a:t>
            </a:r>
          </a:p>
          <a:p>
            <a:endParaRPr lang="en-US" sz="2000" dirty="0"/>
          </a:p>
          <a:p>
            <a:pPr marL="285750" indent="-285750">
              <a:buFont typeface="Arial" panose="020B0604020202020204" pitchFamily="34" charset="0"/>
              <a:buChar char="•"/>
            </a:pPr>
            <a:r>
              <a:rPr lang="en-US" sz="2000" dirty="0"/>
              <a:t>Each leaf node represents a particular decision. In supervised learning, the label to unlabeled feature vector is assigned at the leaf node.</a:t>
            </a:r>
          </a:p>
        </p:txBody>
      </p:sp>
    </p:spTree>
    <p:extLst>
      <p:ext uri="{BB962C8B-B14F-4D97-AF65-F5344CB8AC3E}">
        <p14:creationId xmlns:p14="http://schemas.microsoft.com/office/powerpoint/2010/main" val="3896522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38BF8-B895-4BD9-AB9E-03BE6AA9B2E8}"/>
              </a:ext>
            </a:extLst>
          </p:cNvPr>
          <p:cNvSpPr>
            <a:spLocks noGrp="1"/>
          </p:cNvSpPr>
          <p:nvPr>
            <p:ph type="title"/>
          </p:nvPr>
        </p:nvSpPr>
        <p:spPr/>
        <p:txBody>
          <a:bodyPr/>
          <a:lstStyle/>
          <a:p>
            <a:r>
              <a:rPr lang="en-US" b="1" dirty="0"/>
              <a:t>Terminology</a:t>
            </a: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1AC2B9EA-FE90-435F-9855-CFACB42F452B}"/>
                  </a:ext>
                </a:extLst>
              </p:cNvPr>
              <p:cNvSpPr>
                <a:spLocks noGrp="1"/>
              </p:cNvSpPr>
              <p:nvPr>
                <p:ph sz="half" idx="2"/>
              </p:nvPr>
            </p:nvSpPr>
            <p:spPr/>
            <p:txBody>
              <a:bodyPr>
                <a:normAutofit/>
              </a:bodyPr>
              <a:lstStyle/>
              <a:p>
                <a:pPr>
                  <a:lnSpc>
                    <a:spcPct val="100000"/>
                  </a:lnSpc>
                </a:pPr>
                <a:r>
                  <a:rPr lang="en-US" sz="2400" dirty="0"/>
                  <a:t>The yes/no question of internal nodes represents a split on a single feature:</a:t>
                </a:r>
              </a:p>
              <a:p>
                <a:pPr marL="0" indent="0">
                  <a:lnSpc>
                    <a:spcPct val="100000"/>
                  </a:lnSpc>
                  <a:buNone/>
                </a:pPr>
                <a:r>
                  <a:rPr lang="en-US" sz="2400" dirty="0"/>
                  <a:t>	“is the weather cold?” </a:t>
                </a:r>
              </a:p>
              <a:p>
                <a:pPr marL="0" indent="0">
                  <a:lnSpc>
                    <a:spcPct val="100000"/>
                  </a:lnSpc>
                  <a:buNone/>
                </a:pPr>
                <a:r>
                  <a:rPr lang="en-US" sz="2400" dirty="0"/>
                  <a:t> 	“is the temperature ≤ 60?”</a:t>
                </a:r>
              </a:p>
              <a:p>
                <a:pPr>
                  <a:lnSpc>
                    <a:spcPct val="100000"/>
                  </a:lnSpc>
                </a:pPr>
                <a:r>
                  <a:rPr lang="en-US" sz="2400" dirty="0"/>
                  <a:t>For numerical feature, the splits are represented as inequalities: “feature ≤ threshold”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r>
                      <a:rPr lang="en-US" sz="2400" i="1" smtClean="0">
                        <a:latin typeface="Cambria Math" panose="02040503050406030204" pitchFamily="18" charset="0"/>
                        <a:ea typeface="Cambria Math" panose="02040503050406030204" pitchFamily="18" charset="0"/>
                      </a:rPr>
                      <m:t>≤</m:t>
                    </m:r>
                    <m:sSub>
                      <m:sSubPr>
                        <m:ctrlPr>
                          <a:rPr lang="en-US" sz="2400" i="1" smtClean="0">
                            <a:latin typeface="Cambria Math" panose="02040503050406030204" pitchFamily="18" charset="0"/>
                            <a:ea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ea typeface="Cambria Math" panose="02040503050406030204" pitchFamily="18" charset="0"/>
                          </a:rPr>
                          <m:t>𝑖</m:t>
                        </m:r>
                      </m:sub>
                    </m:sSub>
                  </m:oMath>
                </a14:m>
                <a:r>
                  <a:rPr lang="en-US" sz="2400" dirty="0"/>
                  <a:t>);</a:t>
                </a:r>
              </a:p>
              <a:p>
                <a:pPr lvl="1">
                  <a:lnSpc>
                    <a:spcPct val="100000"/>
                  </a:lnSpc>
                </a:pPr>
                <a:r>
                  <a:rPr lang="en-US" dirty="0"/>
                  <a:t>If feature &lt;= threshold, go left</a:t>
                </a:r>
              </a:p>
              <a:p>
                <a:pPr lvl="1">
                  <a:lnSpc>
                    <a:spcPct val="100000"/>
                  </a:lnSpc>
                </a:pPr>
                <a:r>
                  <a:rPr lang="en-US" dirty="0"/>
                  <a:t>If feature &gt;  threshold, go right</a:t>
                </a:r>
              </a:p>
              <a:p>
                <a:pPr marL="457200" lvl="1" indent="0">
                  <a:lnSpc>
                    <a:spcPct val="100000"/>
                  </a:lnSpc>
                  <a:buNone/>
                </a:pPr>
                <a:endParaRPr lang="en-US" dirty="0"/>
              </a:p>
              <a:p>
                <a:pPr marL="0" indent="0">
                  <a:lnSpc>
                    <a:spcPct val="100000"/>
                  </a:lnSpc>
                  <a:buNone/>
                </a:pPr>
                <a:endParaRPr lang="en-US" sz="2400" dirty="0"/>
              </a:p>
              <a:p>
                <a:pPr marL="0" indent="0">
                  <a:lnSpc>
                    <a:spcPct val="100000"/>
                  </a:lnSpc>
                  <a:buNone/>
                </a:pPr>
                <a:endParaRPr lang="en-US" sz="2400" dirty="0"/>
              </a:p>
            </p:txBody>
          </p:sp>
        </mc:Choice>
        <mc:Fallback xmlns="">
          <p:sp>
            <p:nvSpPr>
              <p:cNvPr id="8" name="Content Placeholder 7">
                <a:extLst>
                  <a:ext uri="{FF2B5EF4-FFF2-40B4-BE49-F238E27FC236}">
                    <a16:creationId xmlns:a16="http://schemas.microsoft.com/office/drawing/2014/main" id="{1AC2B9EA-FE90-435F-9855-CFACB42F452B}"/>
                  </a:ext>
                </a:extLst>
              </p:cNvPr>
              <p:cNvSpPr>
                <a:spLocks noGrp="1" noRot="1" noChangeAspect="1" noMove="1" noResize="1" noEditPoints="1" noAdjustHandles="1" noChangeArrowheads="1" noChangeShapeType="1" noTextEdit="1"/>
              </p:cNvSpPr>
              <p:nvPr>
                <p:ph sz="half" idx="2"/>
              </p:nvPr>
            </p:nvSpPr>
            <p:spPr>
              <a:blipFill>
                <a:blip r:embed="rId2"/>
                <a:stretch>
                  <a:fillRect l="-1647" t="-1120" r="-25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Rounded Corners 2">
                <a:extLst>
                  <a:ext uri="{FF2B5EF4-FFF2-40B4-BE49-F238E27FC236}">
                    <a16:creationId xmlns:a16="http://schemas.microsoft.com/office/drawing/2014/main" id="{42630344-95F8-37F2-3E67-B315CD3F5F96}"/>
                  </a:ext>
                </a:extLst>
              </p:cNvPr>
              <p:cNvSpPr/>
              <p:nvPr/>
            </p:nvSpPr>
            <p:spPr>
              <a:xfrm>
                <a:off x="2212268" y="2082329"/>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1</m:t>
                          </m:r>
                        </m:sub>
                      </m:sSub>
                    </m:oMath>
                  </m:oMathPara>
                </a14:m>
                <a:endParaRPr lang="en-US" dirty="0"/>
              </a:p>
            </p:txBody>
          </p:sp>
        </mc:Choice>
        <mc:Fallback xmlns="">
          <p:sp>
            <p:nvSpPr>
              <p:cNvPr id="3" name="Rectangle: Rounded Corners 2">
                <a:extLst>
                  <a:ext uri="{FF2B5EF4-FFF2-40B4-BE49-F238E27FC236}">
                    <a16:creationId xmlns:a16="http://schemas.microsoft.com/office/drawing/2014/main" id="{42630344-95F8-37F2-3E67-B315CD3F5F96}"/>
                  </a:ext>
                </a:extLst>
              </p:cNvPr>
              <p:cNvSpPr>
                <a:spLocks noRot="1" noChangeAspect="1" noMove="1" noResize="1" noEditPoints="1" noAdjustHandles="1" noChangeArrowheads="1" noChangeShapeType="1" noTextEdit="1"/>
              </p:cNvSpPr>
              <p:nvPr/>
            </p:nvSpPr>
            <p:spPr>
              <a:xfrm>
                <a:off x="2212268" y="2082329"/>
                <a:ext cx="1253447" cy="760288"/>
              </a:xfrm>
              <a:prstGeom prst="round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Rounded Corners 3">
                <a:extLst>
                  <a:ext uri="{FF2B5EF4-FFF2-40B4-BE49-F238E27FC236}">
                    <a16:creationId xmlns:a16="http://schemas.microsoft.com/office/drawing/2014/main" id="{A4B00750-F15B-8256-170B-A2EC3AD2E3B1}"/>
                  </a:ext>
                </a:extLst>
              </p:cNvPr>
              <p:cNvSpPr/>
              <p:nvPr/>
            </p:nvSpPr>
            <p:spPr>
              <a:xfrm>
                <a:off x="891149" y="3129230"/>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oMath>
                  </m:oMathPara>
                </a14:m>
                <a:endParaRPr lang="en-US" dirty="0"/>
              </a:p>
            </p:txBody>
          </p:sp>
        </mc:Choice>
        <mc:Fallback xmlns="">
          <p:sp>
            <p:nvSpPr>
              <p:cNvPr id="4" name="Rectangle: Rounded Corners 3">
                <a:extLst>
                  <a:ext uri="{FF2B5EF4-FFF2-40B4-BE49-F238E27FC236}">
                    <a16:creationId xmlns:a16="http://schemas.microsoft.com/office/drawing/2014/main" id="{A4B00750-F15B-8256-170B-A2EC3AD2E3B1}"/>
                  </a:ext>
                </a:extLst>
              </p:cNvPr>
              <p:cNvSpPr>
                <a:spLocks noRot="1" noChangeAspect="1" noMove="1" noResize="1" noEditPoints="1" noAdjustHandles="1" noChangeArrowheads="1" noChangeShapeType="1" noTextEdit="1"/>
              </p:cNvSpPr>
              <p:nvPr/>
            </p:nvSpPr>
            <p:spPr>
              <a:xfrm>
                <a:off x="891149" y="3129230"/>
                <a:ext cx="1253447" cy="760288"/>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Rounded Corners 8">
                <a:extLst>
                  <a:ext uri="{FF2B5EF4-FFF2-40B4-BE49-F238E27FC236}">
                    <a16:creationId xmlns:a16="http://schemas.microsoft.com/office/drawing/2014/main" id="{F354E34B-6BAA-470B-71CE-4F7CC266674E}"/>
                  </a:ext>
                </a:extLst>
              </p:cNvPr>
              <p:cNvSpPr/>
              <p:nvPr/>
            </p:nvSpPr>
            <p:spPr>
              <a:xfrm>
                <a:off x="3504471" y="3129230"/>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3</m:t>
                          </m:r>
                        </m:sub>
                      </m:sSub>
                    </m:oMath>
                  </m:oMathPara>
                </a14:m>
                <a:endParaRPr lang="en-US" dirty="0"/>
              </a:p>
            </p:txBody>
          </p:sp>
        </mc:Choice>
        <mc:Fallback xmlns="">
          <p:sp>
            <p:nvSpPr>
              <p:cNvPr id="9" name="Rectangle: Rounded Corners 8">
                <a:extLst>
                  <a:ext uri="{FF2B5EF4-FFF2-40B4-BE49-F238E27FC236}">
                    <a16:creationId xmlns:a16="http://schemas.microsoft.com/office/drawing/2014/main" id="{F354E34B-6BAA-470B-71CE-4F7CC266674E}"/>
                  </a:ext>
                </a:extLst>
              </p:cNvPr>
              <p:cNvSpPr>
                <a:spLocks noRot="1" noChangeAspect="1" noMove="1" noResize="1" noEditPoints="1" noAdjustHandles="1" noChangeArrowheads="1" noChangeShapeType="1" noTextEdit="1"/>
              </p:cNvSpPr>
              <p:nvPr/>
            </p:nvSpPr>
            <p:spPr>
              <a:xfrm>
                <a:off x="3504471" y="3129230"/>
                <a:ext cx="1253447" cy="760288"/>
              </a:xfrm>
              <a:prstGeom prst="round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Rounded Corners 9">
                <a:extLst>
                  <a:ext uri="{FF2B5EF4-FFF2-40B4-BE49-F238E27FC236}">
                    <a16:creationId xmlns:a16="http://schemas.microsoft.com/office/drawing/2014/main" id="{73EFB038-8F34-0D2B-1011-15C96C4F4B64}"/>
                  </a:ext>
                </a:extLst>
              </p:cNvPr>
              <p:cNvSpPr/>
              <p:nvPr/>
            </p:nvSpPr>
            <p:spPr>
              <a:xfrm>
                <a:off x="3114329" y="4340075"/>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4</m:t>
                          </m:r>
                        </m:sub>
                      </m:sSub>
                    </m:oMath>
                  </m:oMathPara>
                </a14:m>
                <a:endParaRPr lang="en-US" dirty="0"/>
              </a:p>
            </p:txBody>
          </p:sp>
        </mc:Choice>
        <mc:Fallback xmlns="">
          <p:sp>
            <p:nvSpPr>
              <p:cNvPr id="10" name="Rectangle: Rounded Corners 9">
                <a:extLst>
                  <a:ext uri="{FF2B5EF4-FFF2-40B4-BE49-F238E27FC236}">
                    <a16:creationId xmlns:a16="http://schemas.microsoft.com/office/drawing/2014/main" id="{73EFB038-8F34-0D2B-1011-15C96C4F4B64}"/>
                  </a:ext>
                </a:extLst>
              </p:cNvPr>
              <p:cNvSpPr>
                <a:spLocks noRot="1" noChangeAspect="1" noMove="1" noResize="1" noEditPoints="1" noAdjustHandles="1" noChangeArrowheads="1" noChangeShapeType="1" noTextEdit="1"/>
              </p:cNvSpPr>
              <p:nvPr/>
            </p:nvSpPr>
            <p:spPr>
              <a:xfrm>
                <a:off x="3114329" y="4340075"/>
                <a:ext cx="1253447" cy="760288"/>
              </a:xfrm>
              <a:prstGeom prst="roundRect">
                <a:avLst/>
              </a:prstGeom>
              <a:blipFill>
                <a:blip r:embed="rId6"/>
                <a:stretch>
                  <a:fillRect/>
                </a:stretch>
              </a:blipFill>
            </p:spPr>
            <p:txBody>
              <a:bodyPr/>
              <a:lstStyle/>
              <a:p>
                <a:r>
                  <a:rPr lang="en-US">
                    <a:noFill/>
                  </a:rPr>
                  <a:t> </a:t>
                </a:r>
              </a:p>
            </p:txBody>
          </p:sp>
        </mc:Fallback>
      </mc:AlternateContent>
      <p:sp>
        <p:nvSpPr>
          <p:cNvPr id="11" name="Rectangle: Rounded Corners 10">
            <a:extLst>
              <a:ext uri="{FF2B5EF4-FFF2-40B4-BE49-F238E27FC236}">
                <a16:creationId xmlns:a16="http://schemas.microsoft.com/office/drawing/2014/main" id="{AEAFBB0C-A819-3C35-15E6-1207E734973E}"/>
              </a:ext>
            </a:extLst>
          </p:cNvPr>
          <p:cNvSpPr/>
          <p:nvPr/>
        </p:nvSpPr>
        <p:spPr>
          <a:xfrm>
            <a:off x="408520" y="4340075"/>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A</a:t>
            </a:r>
          </a:p>
        </p:txBody>
      </p:sp>
      <p:sp>
        <p:nvSpPr>
          <p:cNvPr id="12" name="Rectangle: Rounded Corners 11">
            <a:extLst>
              <a:ext uri="{FF2B5EF4-FFF2-40B4-BE49-F238E27FC236}">
                <a16:creationId xmlns:a16="http://schemas.microsoft.com/office/drawing/2014/main" id="{C7F2B07D-0647-DD51-680A-63B27D2C1984}"/>
              </a:ext>
            </a:extLst>
          </p:cNvPr>
          <p:cNvSpPr/>
          <p:nvPr/>
        </p:nvSpPr>
        <p:spPr>
          <a:xfrm>
            <a:off x="1777166" y="4340075"/>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B</a:t>
            </a:r>
          </a:p>
        </p:txBody>
      </p:sp>
      <p:sp>
        <p:nvSpPr>
          <p:cNvPr id="13" name="Rectangle: Rounded Corners 12">
            <a:extLst>
              <a:ext uri="{FF2B5EF4-FFF2-40B4-BE49-F238E27FC236}">
                <a16:creationId xmlns:a16="http://schemas.microsoft.com/office/drawing/2014/main" id="{7418F49E-0200-6CDD-5507-3859BF52DDD5}"/>
              </a:ext>
            </a:extLst>
          </p:cNvPr>
          <p:cNvSpPr/>
          <p:nvPr/>
        </p:nvSpPr>
        <p:spPr>
          <a:xfrm>
            <a:off x="4581719" y="4340075"/>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E</a:t>
            </a:r>
          </a:p>
        </p:txBody>
      </p:sp>
      <p:sp>
        <p:nvSpPr>
          <p:cNvPr id="14" name="Rectangle: Rounded Corners 13">
            <a:extLst>
              <a:ext uri="{FF2B5EF4-FFF2-40B4-BE49-F238E27FC236}">
                <a16:creationId xmlns:a16="http://schemas.microsoft.com/office/drawing/2014/main" id="{C00ADF9C-EF8E-79DE-353D-593D76ADF058}"/>
              </a:ext>
            </a:extLst>
          </p:cNvPr>
          <p:cNvSpPr/>
          <p:nvPr/>
        </p:nvSpPr>
        <p:spPr>
          <a:xfrm>
            <a:off x="2760677" y="555092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C</a:t>
            </a:r>
          </a:p>
        </p:txBody>
      </p:sp>
      <p:sp>
        <p:nvSpPr>
          <p:cNvPr id="15" name="Rectangle: Rounded Corners 14">
            <a:extLst>
              <a:ext uri="{FF2B5EF4-FFF2-40B4-BE49-F238E27FC236}">
                <a16:creationId xmlns:a16="http://schemas.microsoft.com/office/drawing/2014/main" id="{A9920F66-C428-0379-8D02-25D0F640F1DB}"/>
              </a:ext>
            </a:extLst>
          </p:cNvPr>
          <p:cNvSpPr/>
          <p:nvPr/>
        </p:nvSpPr>
        <p:spPr>
          <a:xfrm>
            <a:off x="3907738" y="555092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D</a:t>
            </a:r>
          </a:p>
        </p:txBody>
      </p:sp>
      <p:cxnSp>
        <p:nvCxnSpPr>
          <p:cNvPr id="16" name="Straight Arrow Connector 15">
            <a:extLst>
              <a:ext uri="{FF2B5EF4-FFF2-40B4-BE49-F238E27FC236}">
                <a16:creationId xmlns:a16="http://schemas.microsoft.com/office/drawing/2014/main" id="{86909B97-371A-521E-2C16-1F9C83D14018}"/>
              </a:ext>
            </a:extLst>
          </p:cNvPr>
          <p:cNvCxnSpPr>
            <a:cxnSpLocks/>
            <a:endCxn id="4" idx="0"/>
          </p:cNvCxnSpPr>
          <p:nvPr/>
        </p:nvCxnSpPr>
        <p:spPr>
          <a:xfrm flipH="1">
            <a:off x="1517873" y="2842617"/>
            <a:ext cx="961523"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318B1FB1-99A9-6001-DB19-01630315E38A}"/>
              </a:ext>
            </a:extLst>
          </p:cNvPr>
          <p:cNvCxnSpPr>
            <a:cxnSpLocks/>
            <a:endCxn id="9" idx="0"/>
          </p:cNvCxnSpPr>
          <p:nvPr/>
        </p:nvCxnSpPr>
        <p:spPr>
          <a:xfrm>
            <a:off x="3243305" y="2842617"/>
            <a:ext cx="887890"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86D89850-E9FC-09BE-95D1-1E109927BDC1}"/>
              </a:ext>
            </a:extLst>
          </p:cNvPr>
          <p:cNvCxnSpPr>
            <a:cxnSpLocks/>
            <a:endCxn id="11" idx="0"/>
          </p:cNvCxnSpPr>
          <p:nvPr/>
        </p:nvCxnSpPr>
        <p:spPr>
          <a:xfrm flipH="1">
            <a:off x="891149" y="3889518"/>
            <a:ext cx="197237"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F941001A-F5AD-A71D-B700-FDC1AB964A34}"/>
              </a:ext>
            </a:extLst>
          </p:cNvPr>
          <p:cNvCxnSpPr>
            <a:cxnSpLocks/>
            <a:endCxn id="12" idx="0"/>
          </p:cNvCxnSpPr>
          <p:nvPr/>
        </p:nvCxnSpPr>
        <p:spPr>
          <a:xfrm>
            <a:off x="1955096" y="3889518"/>
            <a:ext cx="304699"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719C4F7D-3062-58DB-FAAB-4EF334822762}"/>
              </a:ext>
            </a:extLst>
          </p:cNvPr>
          <p:cNvCxnSpPr>
            <a:cxnSpLocks/>
          </p:cNvCxnSpPr>
          <p:nvPr/>
        </p:nvCxnSpPr>
        <p:spPr>
          <a:xfrm flipH="1">
            <a:off x="3763958" y="3889518"/>
            <a:ext cx="132632"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83B0E685-3730-A397-7A2F-440EFA7E5DDF}"/>
              </a:ext>
            </a:extLst>
          </p:cNvPr>
          <p:cNvCxnSpPr>
            <a:cxnSpLocks/>
            <a:endCxn id="13" idx="0"/>
          </p:cNvCxnSpPr>
          <p:nvPr/>
        </p:nvCxnSpPr>
        <p:spPr>
          <a:xfrm>
            <a:off x="4440047" y="3889518"/>
            <a:ext cx="624301"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752AC5B8-CC4D-02E8-AE9B-696B760F30AB}"/>
              </a:ext>
            </a:extLst>
          </p:cNvPr>
          <p:cNvCxnSpPr>
            <a:cxnSpLocks/>
            <a:endCxn id="14" idx="0"/>
          </p:cNvCxnSpPr>
          <p:nvPr/>
        </p:nvCxnSpPr>
        <p:spPr>
          <a:xfrm flipH="1">
            <a:off x="3243306" y="5100363"/>
            <a:ext cx="99119"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8ABC0E6B-F7A8-9833-F956-FE17C2AF1BFD}"/>
              </a:ext>
            </a:extLst>
          </p:cNvPr>
          <p:cNvCxnSpPr>
            <a:cxnSpLocks/>
            <a:endCxn id="15" idx="0"/>
          </p:cNvCxnSpPr>
          <p:nvPr/>
        </p:nvCxnSpPr>
        <p:spPr>
          <a:xfrm>
            <a:off x="4131194" y="5100363"/>
            <a:ext cx="259173"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91F730E9-7C90-68E4-C618-5CB98712473F}"/>
              </a:ext>
            </a:extLst>
          </p:cNvPr>
          <p:cNvSpPr txBox="1"/>
          <p:nvPr/>
        </p:nvSpPr>
        <p:spPr>
          <a:xfrm>
            <a:off x="1638205" y="2549199"/>
            <a:ext cx="647274" cy="369332"/>
          </a:xfrm>
          <a:prstGeom prst="rect">
            <a:avLst/>
          </a:prstGeom>
          <a:noFill/>
        </p:spPr>
        <p:txBody>
          <a:bodyPr wrap="square" rtlCol="0">
            <a:spAutoFit/>
          </a:bodyPr>
          <a:lstStyle/>
          <a:p>
            <a:r>
              <a:rPr lang="en-US" dirty="0"/>
              <a:t>Yes</a:t>
            </a:r>
          </a:p>
        </p:txBody>
      </p:sp>
      <p:sp>
        <p:nvSpPr>
          <p:cNvPr id="25" name="TextBox 24">
            <a:extLst>
              <a:ext uri="{FF2B5EF4-FFF2-40B4-BE49-F238E27FC236}">
                <a16:creationId xmlns:a16="http://schemas.microsoft.com/office/drawing/2014/main" id="{534F392C-C026-57B6-30FE-619B0CA1E765}"/>
              </a:ext>
            </a:extLst>
          </p:cNvPr>
          <p:cNvSpPr txBox="1"/>
          <p:nvPr/>
        </p:nvSpPr>
        <p:spPr>
          <a:xfrm>
            <a:off x="3502932" y="2564420"/>
            <a:ext cx="647274" cy="36933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917224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38BF8-B895-4BD9-AB9E-03BE6AA9B2E8}"/>
              </a:ext>
            </a:extLst>
          </p:cNvPr>
          <p:cNvSpPr>
            <a:spLocks noGrp="1"/>
          </p:cNvSpPr>
          <p:nvPr>
            <p:ph type="title"/>
          </p:nvPr>
        </p:nvSpPr>
        <p:spPr>
          <a:xfrm>
            <a:off x="212578" y="178238"/>
            <a:ext cx="5646877" cy="1325563"/>
          </a:xfrm>
        </p:spPr>
        <p:txBody>
          <a:bodyPr>
            <a:normAutofit fontScale="90000"/>
          </a:bodyPr>
          <a:lstStyle/>
          <a:p>
            <a:r>
              <a:rPr lang="en-US" b="1" dirty="0"/>
              <a:t>Geometric Interpretation of Decision Trees</a:t>
            </a:r>
          </a:p>
        </p:txBody>
      </p:sp>
      <p:sp>
        <p:nvSpPr>
          <p:cNvPr id="8" name="Content Placeholder 7">
            <a:extLst>
              <a:ext uri="{FF2B5EF4-FFF2-40B4-BE49-F238E27FC236}">
                <a16:creationId xmlns:a16="http://schemas.microsoft.com/office/drawing/2014/main" id="{1AC2B9EA-FE90-435F-9855-CFACB42F452B}"/>
              </a:ext>
            </a:extLst>
          </p:cNvPr>
          <p:cNvSpPr>
            <a:spLocks noGrp="1"/>
          </p:cNvSpPr>
          <p:nvPr>
            <p:ph sz="half" idx="2"/>
          </p:nvPr>
        </p:nvSpPr>
        <p:spPr>
          <a:xfrm>
            <a:off x="5765267" y="32474"/>
            <a:ext cx="3442059" cy="422028"/>
          </a:xfrm>
        </p:spPr>
        <p:txBody>
          <a:bodyPr>
            <a:normAutofit fontScale="92500" lnSpcReduction="10000"/>
          </a:bodyPr>
          <a:lstStyle/>
          <a:p>
            <a:r>
              <a:rPr lang="en-US" b="1" dirty="0"/>
              <a:t>Feature Space</a:t>
            </a:r>
          </a:p>
        </p:txBody>
      </p:sp>
      <mc:AlternateContent xmlns:mc="http://schemas.openxmlformats.org/markup-compatibility/2006" xmlns:a14="http://schemas.microsoft.com/office/drawing/2010/main">
        <mc:Choice Requires="a14">
          <p:sp>
            <p:nvSpPr>
              <p:cNvPr id="3" name="Rectangle: Rounded Corners 2">
                <a:extLst>
                  <a:ext uri="{FF2B5EF4-FFF2-40B4-BE49-F238E27FC236}">
                    <a16:creationId xmlns:a16="http://schemas.microsoft.com/office/drawing/2014/main" id="{CB4B80DC-9B30-985D-0F0F-F22A1DC6FB87}"/>
                  </a:ext>
                </a:extLst>
              </p:cNvPr>
              <p:cNvSpPr/>
              <p:nvPr/>
            </p:nvSpPr>
            <p:spPr>
              <a:xfrm>
                <a:off x="2248126" y="2109224"/>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oMath>
                  </m:oMathPara>
                </a14:m>
                <a:endParaRPr lang="en-US" dirty="0"/>
              </a:p>
            </p:txBody>
          </p:sp>
        </mc:Choice>
        <mc:Fallback xmlns="">
          <p:sp>
            <p:nvSpPr>
              <p:cNvPr id="3" name="Rectangle: Rounded Corners 2">
                <a:extLst>
                  <a:ext uri="{FF2B5EF4-FFF2-40B4-BE49-F238E27FC236}">
                    <a16:creationId xmlns:a16="http://schemas.microsoft.com/office/drawing/2014/main" id="{CB4B80DC-9B30-985D-0F0F-F22A1DC6FB87}"/>
                  </a:ext>
                </a:extLst>
              </p:cNvPr>
              <p:cNvSpPr>
                <a:spLocks noRot="1" noChangeAspect="1" noMove="1" noResize="1" noEditPoints="1" noAdjustHandles="1" noChangeArrowheads="1" noChangeShapeType="1" noTextEdit="1"/>
              </p:cNvSpPr>
              <p:nvPr/>
            </p:nvSpPr>
            <p:spPr>
              <a:xfrm>
                <a:off x="2248126" y="2109224"/>
                <a:ext cx="1253447" cy="760288"/>
              </a:xfrm>
              <a:prstGeom prst="round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Rounded Corners 3">
                <a:extLst>
                  <a:ext uri="{FF2B5EF4-FFF2-40B4-BE49-F238E27FC236}">
                    <a16:creationId xmlns:a16="http://schemas.microsoft.com/office/drawing/2014/main" id="{7756FCAF-7CE5-E67C-87C2-DD93B42DDC5B}"/>
                  </a:ext>
                </a:extLst>
              </p:cNvPr>
              <p:cNvSpPr/>
              <p:nvPr/>
            </p:nvSpPr>
            <p:spPr>
              <a:xfrm>
                <a:off x="927007" y="3156125"/>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oMath>
                  </m:oMathPara>
                </a14:m>
                <a:endParaRPr lang="en-US" dirty="0"/>
              </a:p>
            </p:txBody>
          </p:sp>
        </mc:Choice>
        <mc:Fallback xmlns="">
          <p:sp>
            <p:nvSpPr>
              <p:cNvPr id="4" name="Rectangle: Rounded Corners 3">
                <a:extLst>
                  <a:ext uri="{FF2B5EF4-FFF2-40B4-BE49-F238E27FC236}">
                    <a16:creationId xmlns:a16="http://schemas.microsoft.com/office/drawing/2014/main" id="{7756FCAF-7CE5-E67C-87C2-DD93B42DDC5B}"/>
                  </a:ext>
                </a:extLst>
              </p:cNvPr>
              <p:cNvSpPr>
                <a:spLocks noRot="1" noChangeAspect="1" noMove="1" noResize="1" noEditPoints="1" noAdjustHandles="1" noChangeArrowheads="1" noChangeShapeType="1" noTextEdit="1"/>
              </p:cNvSpPr>
              <p:nvPr/>
            </p:nvSpPr>
            <p:spPr>
              <a:xfrm>
                <a:off x="927007" y="3156125"/>
                <a:ext cx="1253447" cy="760288"/>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Rounded Corners 8">
                <a:extLst>
                  <a:ext uri="{FF2B5EF4-FFF2-40B4-BE49-F238E27FC236}">
                    <a16:creationId xmlns:a16="http://schemas.microsoft.com/office/drawing/2014/main" id="{5542F1E8-1172-5A0B-AA7D-A88C8B2931FB}"/>
                  </a:ext>
                </a:extLst>
              </p:cNvPr>
              <p:cNvSpPr/>
              <p:nvPr/>
            </p:nvSpPr>
            <p:spPr>
              <a:xfrm>
                <a:off x="3540329" y="3156125"/>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5</m:t>
                      </m:r>
                    </m:oMath>
                  </m:oMathPara>
                </a14:m>
                <a:endParaRPr lang="en-US" dirty="0"/>
              </a:p>
            </p:txBody>
          </p:sp>
        </mc:Choice>
        <mc:Fallback xmlns="">
          <p:sp>
            <p:nvSpPr>
              <p:cNvPr id="9" name="Rectangle: Rounded Corners 8">
                <a:extLst>
                  <a:ext uri="{FF2B5EF4-FFF2-40B4-BE49-F238E27FC236}">
                    <a16:creationId xmlns:a16="http://schemas.microsoft.com/office/drawing/2014/main" id="{5542F1E8-1172-5A0B-AA7D-A88C8B2931FB}"/>
                  </a:ext>
                </a:extLst>
              </p:cNvPr>
              <p:cNvSpPr>
                <a:spLocks noRot="1" noChangeAspect="1" noMove="1" noResize="1" noEditPoints="1" noAdjustHandles="1" noChangeArrowheads="1" noChangeShapeType="1" noTextEdit="1"/>
              </p:cNvSpPr>
              <p:nvPr/>
            </p:nvSpPr>
            <p:spPr>
              <a:xfrm>
                <a:off x="3540329" y="3156125"/>
                <a:ext cx="1253447" cy="760288"/>
              </a:xfrm>
              <a:prstGeom prst="round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Rounded Corners 10">
                <a:extLst>
                  <a:ext uri="{FF2B5EF4-FFF2-40B4-BE49-F238E27FC236}">
                    <a16:creationId xmlns:a16="http://schemas.microsoft.com/office/drawing/2014/main" id="{83FCD99D-8C81-2BB1-FF26-67BFE4C8BFE1}"/>
                  </a:ext>
                </a:extLst>
              </p:cNvPr>
              <p:cNvSpPr/>
              <p:nvPr/>
            </p:nvSpPr>
            <p:spPr>
              <a:xfrm>
                <a:off x="3150187" y="4366970"/>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≤6</m:t>
                      </m:r>
                    </m:oMath>
                  </m:oMathPara>
                </a14:m>
                <a:endParaRPr lang="en-US" dirty="0"/>
              </a:p>
            </p:txBody>
          </p:sp>
        </mc:Choice>
        <mc:Fallback xmlns="">
          <p:sp>
            <p:nvSpPr>
              <p:cNvPr id="11" name="Rectangle: Rounded Corners 10">
                <a:extLst>
                  <a:ext uri="{FF2B5EF4-FFF2-40B4-BE49-F238E27FC236}">
                    <a16:creationId xmlns:a16="http://schemas.microsoft.com/office/drawing/2014/main" id="{83FCD99D-8C81-2BB1-FF26-67BFE4C8BFE1}"/>
                  </a:ext>
                </a:extLst>
              </p:cNvPr>
              <p:cNvSpPr>
                <a:spLocks noRot="1" noChangeAspect="1" noMove="1" noResize="1" noEditPoints="1" noAdjustHandles="1" noChangeArrowheads="1" noChangeShapeType="1" noTextEdit="1"/>
              </p:cNvSpPr>
              <p:nvPr/>
            </p:nvSpPr>
            <p:spPr>
              <a:xfrm>
                <a:off x="3150187" y="4366970"/>
                <a:ext cx="1253447" cy="760288"/>
              </a:xfrm>
              <a:prstGeom prst="roundRect">
                <a:avLst/>
              </a:prstGeom>
              <a:blipFill>
                <a:blip r:embed="rId6"/>
                <a:stretch>
                  <a:fillRect/>
                </a:stretch>
              </a:blipFill>
            </p:spPr>
            <p:txBody>
              <a:bodyPr/>
              <a:lstStyle/>
              <a:p>
                <a:r>
                  <a:rPr lang="en-US">
                    <a:noFill/>
                  </a:rPr>
                  <a:t> </a:t>
                </a:r>
              </a:p>
            </p:txBody>
          </p:sp>
        </mc:Fallback>
      </mc:AlternateContent>
      <p:sp>
        <p:nvSpPr>
          <p:cNvPr id="12" name="Rectangle: Rounded Corners 11">
            <a:extLst>
              <a:ext uri="{FF2B5EF4-FFF2-40B4-BE49-F238E27FC236}">
                <a16:creationId xmlns:a16="http://schemas.microsoft.com/office/drawing/2014/main" id="{56C17623-F819-BB32-2917-2B455CE853A3}"/>
              </a:ext>
            </a:extLst>
          </p:cNvPr>
          <p:cNvSpPr/>
          <p:nvPr/>
        </p:nvSpPr>
        <p:spPr>
          <a:xfrm>
            <a:off x="444378" y="436697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A : 0</a:t>
            </a:r>
          </a:p>
        </p:txBody>
      </p:sp>
      <p:sp>
        <p:nvSpPr>
          <p:cNvPr id="13" name="Rectangle: Rounded Corners 12">
            <a:extLst>
              <a:ext uri="{FF2B5EF4-FFF2-40B4-BE49-F238E27FC236}">
                <a16:creationId xmlns:a16="http://schemas.microsoft.com/office/drawing/2014/main" id="{80F2E175-78D3-B0BB-9E30-B366E6E1C7D4}"/>
              </a:ext>
            </a:extLst>
          </p:cNvPr>
          <p:cNvSpPr/>
          <p:nvPr/>
        </p:nvSpPr>
        <p:spPr>
          <a:xfrm>
            <a:off x="1813024" y="436697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B : 2</a:t>
            </a:r>
          </a:p>
        </p:txBody>
      </p:sp>
      <p:sp>
        <p:nvSpPr>
          <p:cNvPr id="14" name="Rectangle: Rounded Corners 13">
            <a:extLst>
              <a:ext uri="{FF2B5EF4-FFF2-40B4-BE49-F238E27FC236}">
                <a16:creationId xmlns:a16="http://schemas.microsoft.com/office/drawing/2014/main" id="{C50E6767-9F46-5BE3-F99E-5F4A859E38BD}"/>
              </a:ext>
            </a:extLst>
          </p:cNvPr>
          <p:cNvSpPr/>
          <p:nvPr/>
        </p:nvSpPr>
        <p:spPr>
          <a:xfrm>
            <a:off x="4617577" y="436697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E : 1</a:t>
            </a:r>
          </a:p>
        </p:txBody>
      </p:sp>
      <p:sp>
        <p:nvSpPr>
          <p:cNvPr id="15" name="Rectangle: Rounded Corners 14">
            <a:extLst>
              <a:ext uri="{FF2B5EF4-FFF2-40B4-BE49-F238E27FC236}">
                <a16:creationId xmlns:a16="http://schemas.microsoft.com/office/drawing/2014/main" id="{3CBA19FA-72FC-49D2-801F-C7F8E8ADAEEB}"/>
              </a:ext>
            </a:extLst>
          </p:cNvPr>
          <p:cNvSpPr/>
          <p:nvPr/>
        </p:nvSpPr>
        <p:spPr>
          <a:xfrm>
            <a:off x="2796535" y="5577815"/>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C : 1</a:t>
            </a:r>
          </a:p>
        </p:txBody>
      </p:sp>
      <p:sp>
        <p:nvSpPr>
          <p:cNvPr id="16" name="Rectangle: Rounded Corners 15">
            <a:extLst>
              <a:ext uri="{FF2B5EF4-FFF2-40B4-BE49-F238E27FC236}">
                <a16:creationId xmlns:a16="http://schemas.microsoft.com/office/drawing/2014/main" id="{F3962729-0D0B-A3CD-6F0C-B0A77E32F574}"/>
              </a:ext>
            </a:extLst>
          </p:cNvPr>
          <p:cNvSpPr/>
          <p:nvPr/>
        </p:nvSpPr>
        <p:spPr>
          <a:xfrm>
            <a:off x="3943596" y="5577815"/>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D : 2</a:t>
            </a:r>
          </a:p>
        </p:txBody>
      </p:sp>
      <p:cxnSp>
        <p:nvCxnSpPr>
          <p:cNvPr id="17" name="Straight Arrow Connector 16">
            <a:extLst>
              <a:ext uri="{FF2B5EF4-FFF2-40B4-BE49-F238E27FC236}">
                <a16:creationId xmlns:a16="http://schemas.microsoft.com/office/drawing/2014/main" id="{F8A122C4-DB34-08BE-DD12-8160A52B5E0D}"/>
              </a:ext>
            </a:extLst>
          </p:cNvPr>
          <p:cNvCxnSpPr>
            <a:cxnSpLocks/>
            <a:endCxn id="4" idx="0"/>
          </p:cNvCxnSpPr>
          <p:nvPr/>
        </p:nvCxnSpPr>
        <p:spPr>
          <a:xfrm flipH="1">
            <a:off x="1553731" y="2869512"/>
            <a:ext cx="961523"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BD523E6F-3415-34F7-7EFB-AD4308A3A189}"/>
              </a:ext>
            </a:extLst>
          </p:cNvPr>
          <p:cNvCxnSpPr>
            <a:cxnSpLocks/>
            <a:endCxn id="9" idx="0"/>
          </p:cNvCxnSpPr>
          <p:nvPr/>
        </p:nvCxnSpPr>
        <p:spPr>
          <a:xfrm>
            <a:off x="3279163" y="2869512"/>
            <a:ext cx="887890"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B9FCFE7C-5790-2A5E-7BA7-E052D73BFE88}"/>
              </a:ext>
            </a:extLst>
          </p:cNvPr>
          <p:cNvCxnSpPr>
            <a:cxnSpLocks/>
            <a:endCxn id="12" idx="0"/>
          </p:cNvCxnSpPr>
          <p:nvPr/>
        </p:nvCxnSpPr>
        <p:spPr>
          <a:xfrm flipH="1">
            <a:off x="927007" y="3916413"/>
            <a:ext cx="197237"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0D9F6E17-7C16-0BAA-7961-69D01F552E14}"/>
              </a:ext>
            </a:extLst>
          </p:cNvPr>
          <p:cNvCxnSpPr>
            <a:cxnSpLocks/>
            <a:endCxn id="13" idx="0"/>
          </p:cNvCxnSpPr>
          <p:nvPr/>
        </p:nvCxnSpPr>
        <p:spPr>
          <a:xfrm>
            <a:off x="1990954" y="3916413"/>
            <a:ext cx="304699"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D4410241-E67B-A403-4F28-2A27B975AD37}"/>
              </a:ext>
            </a:extLst>
          </p:cNvPr>
          <p:cNvCxnSpPr>
            <a:cxnSpLocks/>
          </p:cNvCxnSpPr>
          <p:nvPr/>
        </p:nvCxnSpPr>
        <p:spPr>
          <a:xfrm flipH="1">
            <a:off x="3799816" y="3916413"/>
            <a:ext cx="132632"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9B8EB598-904F-F9B5-17C4-F012E264516F}"/>
              </a:ext>
            </a:extLst>
          </p:cNvPr>
          <p:cNvCxnSpPr>
            <a:cxnSpLocks/>
            <a:endCxn id="14" idx="0"/>
          </p:cNvCxnSpPr>
          <p:nvPr/>
        </p:nvCxnSpPr>
        <p:spPr>
          <a:xfrm>
            <a:off x="4475905" y="3916413"/>
            <a:ext cx="624301"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7976FB7E-081E-B19D-A019-2FE913B21024}"/>
              </a:ext>
            </a:extLst>
          </p:cNvPr>
          <p:cNvCxnSpPr>
            <a:cxnSpLocks/>
            <a:endCxn id="15" idx="0"/>
          </p:cNvCxnSpPr>
          <p:nvPr/>
        </p:nvCxnSpPr>
        <p:spPr>
          <a:xfrm flipH="1">
            <a:off x="3279164" y="5127258"/>
            <a:ext cx="99119"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5180E65D-D1B5-C804-EED3-32F521732993}"/>
              </a:ext>
            </a:extLst>
          </p:cNvPr>
          <p:cNvCxnSpPr>
            <a:cxnSpLocks/>
            <a:endCxn id="16" idx="0"/>
          </p:cNvCxnSpPr>
          <p:nvPr/>
        </p:nvCxnSpPr>
        <p:spPr>
          <a:xfrm>
            <a:off x="4167052" y="5127258"/>
            <a:ext cx="259173"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A078729A-704F-1C8F-B5D6-11E4D43141FE}"/>
              </a:ext>
            </a:extLst>
          </p:cNvPr>
          <p:cNvSpPr txBox="1"/>
          <p:nvPr/>
        </p:nvSpPr>
        <p:spPr>
          <a:xfrm>
            <a:off x="1674063" y="2576094"/>
            <a:ext cx="647274" cy="369332"/>
          </a:xfrm>
          <a:prstGeom prst="rect">
            <a:avLst/>
          </a:prstGeom>
          <a:noFill/>
        </p:spPr>
        <p:txBody>
          <a:bodyPr wrap="square" rtlCol="0">
            <a:spAutoFit/>
          </a:bodyPr>
          <a:lstStyle/>
          <a:p>
            <a:r>
              <a:rPr lang="en-US" dirty="0"/>
              <a:t>Yes</a:t>
            </a:r>
          </a:p>
        </p:txBody>
      </p:sp>
      <p:sp>
        <p:nvSpPr>
          <p:cNvPr id="26" name="TextBox 25">
            <a:extLst>
              <a:ext uri="{FF2B5EF4-FFF2-40B4-BE49-F238E27FC236}">
                <a16:creationId xmlns:a16="http://schemas.microsoft.com/office/drawing/2014/main" id="{0C0C5563-BF20-B406-CEB8-AE6BA4C16378}"/>
              </a:ext>
            </a:extLst>
          </p:cNvPr>
          <p:cNvSpPr txBox="1"/>
          <p:nvPr/>
        </p:nvSpPr>
        <p:spPr>
          <a:xfrm>
            <a:off x="3538790" y="2591315"/>
            <a:ext cx="647274" cy="369332"/>
          </a:xfrm>
          <a:prstGeom prst="rect">
            <a:avLst/>
          </a:prstGeom>
          <a:noFill/>
        </p:spPr>
        <p:txBody>
          <a:bodyPr wrap="square" rtlCol="0">
            <a:spAutoFit/>
          </a:bodyPr>
          <a:lstStyle/>
          <a:p>
            <a:r>
              <a:rPr lang="en-US" dirty="0"/>
              <a:t>No</a:t>
            </a:r>
          </a:p>
        </p:txBody>
      </p:sp>
      <p:sp>
        <p:nvSpPr>
          <p:cNvPr id="33" name="Rectangle 32">
            <a:extLst>
              <a:ext uri="{FF2B5EF4-FFF2-40B4-BE49-F238E27FC236}">
                <a16:creationId xmlns:a16="http://schemas.microsoft.com/office/drawing/2014/main" id="{7515FECE-B18E-14AF-6C14-6EF4B620580B}"/>
              </a:ext>
            </a:extLst>
          </p:cNvPr>
          <p:cNvSpPr/>
          <p:nvPr/>
        </p:nvSpPr>
        <p:spPr>
          <a:xfrm>
            <a:off x="8632600" y="3569158"/>
            <a:ext cx="216310" cy="24413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Rectangle 33">
            <a:extLst>
              <a:ext uri="{FF2B5EF4-FFF2-40B4-BE49-F238E27FC236}">
                <a16:creationId xmlns:a16="http://schemas.microsoft.com/office/drawing/2014/main" id="{D0D2D3CC-AE2C-4A61-2D07-7F3D9E81D426}"/>
              </a:ext>
            </a:extLst>
          </p:cNvPr>
          <p:cNvSpPr/>
          <p:nvPr/>
        </p:nvSpPr>
        <p:spPr>
          <a:xfrm>
            <a:off x="5932331" y="3569158"/>
            <a:ext cx="402640" cy="26026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4560D8A5-8EDE-C0B0-1105-775227DA6B5F}"/>
              </a:ext>
            </a:extLst>
          </p:cNvPr>
          <p:cNvCxnSpPr>
            <a:cxnSpLocks/>
          </p:cNvCxnSpPr>
          <p:nvPr/>
        </p:nvCxnSpPr>
        <p:spPr>
          <a:xfrm flipH="1">
            <a:off x="9618287" y="574781"/>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Straight Connector 35">
            <a:extLst>
              <a:ext uri="{FF2B5EF4-FFF2-40B4-BE49-F238E27FC236}">
                <a16:creationId xmlns:a16="http://schemas.microsoft.com/office/drawing/2014/main" id="{3A6815D5-456E-1BF1-53F8-1B4DB018C18A}"/>
              </a:ext>
            </a:extLst>
          </p:cNvPr>
          <p:cNvCxnSpPr>
            <a:cxnSpLocks/>
          </p:cNvCxnSpPr>
          <p:nvPr/>
        </p:nvCxnSpPr>
        <p:spPr>
          <a:xfrm flipH="1">
            <a:off x="10354581" y="551470"/>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7" name="Straight Connector 36">
            <a:extLst>
              <a:ext uri="{FF2B5EF4-FFF2-40B4-BE49-F238E27FC236}">
                <a16:creationId xmlns:a16="http://schemas.microsoft.com/office/drawing/2014/main" id="{488E55B1-8EA3-527D-7442-680736AE9553}"/>
              </a:ext>
            </a:extLst>
          </p:cNvPr>
          <p:cNvCxnSpPr>
            <a:cxnSpLocks/>
          </p:cNvCxnSpPr>
          <p:nvPr/>
        </p:nvCxnSpPr>
        <p:spPr>
          <a:xfrm flipH="1">
            <a:off x="11092711" y="548247"/>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8" name="Straight Connector 37">
            <a:extLst>
              <a:ext uri="{FF2B5EF4-FFF2-40B4-BE49-F238E27FC236}">
                <a16:creationId xmlns:a16="http://schemas.microsoft.com/office/drawing/2014/main" id="{5942A4AA-3EFB-3253-6375-33CB7E6904F3}"/>
              </a:ext>
            </a:extLst>
          </p:cNvPr>
          <p:cNvCxnSpPr>
            <a:cxnSpLocks/>
          </p:cNvCxnSpPr>
          <p:nvPr/>
        </p:nvCxnSpPr>
        <p:spPr>
          <a:xfrm flipH="1">
            <a:off x="11851038" y="571091"/>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0" name="Straight Connector 39">
            <a:extLst>
              <a:ext uri="{FF2B5EF4-FFF2-40B4-BE49-F238E27FC236}">
                <a16:creationId xmlns:a16="http://schemas.microsoft.com/office/drawing/2014/main" id="{142C6259-D583-2409-574C-22E8070EE79C}"/>
              </a:ext>
            </a:extLst>
          </p:cNvPr>
          <p:cNvCxnSpPr>
            <a:cxnSpLocks/>
          </p:cNvCxnSpPr>
          <p:nvPr/>
        </p:nvCxnSpPr>
        <p:spPr>
          <a:xfrm flipH="1">
            <a:off x="10354581" y="546450"/>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1" name="Straight Connector 40">
            <a:extLst>
              <a:ext uri="{FF2B5EF4-FFF2-40B4-BE49-F238E27FC236}">
                <a16:creationId xmlns:a16="http://schemas.microsoft.com/office/drawing/2014/main" id="{69C653DF-E079-E18A-CB3B-7FE6B81898AE}"/>
              </a:ext>
            </a:extLst>
          </p:cNvPr>
          <p:cNvCxnSpPr>
            <a:cxnSpLocks/>
          </p:cNvCxnSpPr>
          <p:nvPr/>
        </p:nvCxnSpPr>
        <p:spPr>
          <a:xfrm flipH="1">
            <a:off x="11092711" y="543227"/>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2" name="Straight Connector 41">
            <a:extLst>
              <a:ext uri="{FF2B5EF4-FFF2-40B4-BE49-F238E27FC236}">
                <a16:creationId xmlns:a16="http://schemas.microsoft.com/office/drawing/2014/main" id="{577CF0D5-182E-88C2-91B3-860664200009}"/>
              </a:ext>
            </a:extLst>
          </p:cNvPr>
          <p:cNvCxnSpPr>
            <a:cxnSpLocks/>
          </p:cNvCxnSpPr>
          <p:nvPr/>
        </p:nvCxnSpPr>
        <p:spPr>
          <a:xfrm flipH="1">
            <a:off x="6652914" y="549524"/>
            <a:ext cx="0" cy="594360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43" name="Straight Connector 42">
            <a:extLst>
              <a:ext uri="{FF2B5EF4-FFF2-40B4-BE49-F238E27FC236}">
                <a16:creationId xmlns:a16="http://schemas.microsoft.com/office/drawing/2014/main" id="{4110B3A9-CE53-C560-3CFF-45A3D89C6D40}"/>
              </a:ext>
            </a:extLst>
          </p:cNvPr>
          <p:cNvCxnSpPr>
            <a:cxnSpLocks/>
          </p:cNvCxnSpPr>
          <p:nvPr/>
        </p:nvCxnSpPr>
        <p:spPr>
          <a:xfrm flipH="1">
            <a:off x="7389208" y="526213"/>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Straight Connector 43">
            <a:extLst>
              <a:ext uri="{FF2B5EF4-FFF2-40B4-BE49-F238E27FC236}">
                <a16:creationId xmlns:a16="http://schemas.microsoft.com/office/drawing/2014/main" id="{F47C6294-C71B-CB8E-C984-8A87B19A4976}"/>
              </a:ext>
            </a:extLst>
          </p:cNvPr>
          <p:cNvCxnSpPr>
            <a:cxnSpLocks/>
          </p:cNvCxnSpPr>
          <p:nvPr/>
        </p:nvCxnSpPr>
        <p:spPr>
          <a:xfrm flipH="1">
            <a:off x="8127338" y="522990"/>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Straight Connector 44">
            <a:extLst>
              <a:ext uri="{FF2B5EF4-FFF2-40B4-BE49-F238E27FC236}">
                <a16:creationId xmlns:a16="http://schemas.microsoft.com/office/drawing/2014/main" id="{C021AF65-3609-CBBA-63C6-FD5C3C09F899}"/>
              </a:ext>
            </a:extLst>
          </p:cNvPr>
          <p:cNvCxnSpPr>
            <a:cxnSpLocks/>
          </p:cNvCxnSpPr>
          <p:nvPr/>
        </p:nvCxnSpPr>
        <p:spPr>
          <a:xfrm flipH="1">
            <a:off x="11851038" y="572888"/>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8240D2A0-7CC1-AD65-6519-F43CCB097435}"/>
              </a:ext>
            </a:extLst>
          </p:cNvPr>
          <p:cNvCxnSpPr>
            <a:cxnSpLocks/>
          </p:cNvCxnSpPr>
          <p:nvPr/>
        </p:nvCxnSpPr>
        <p:spPr>
          <a:xfrm flipH="1">
            <a:off x="10354581" y="548247"/>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Straight Connector 46">
            <a:extLst>
              <a:ext uri="{FF2B5EF4-FFF2-40B4-BE49-F238E27FC236}">
                <a16:creationId xmlns:a16="http://schemas.microsoft.com/office/drawing/2014/main" id="{A9BD7127-0BFF-A0E3-22E4-815892C2EFBA}"/>
              </a:ext>
            </a:extLst>
          </p:cNvPr>
          <p:cNvCxnSpPr>
            <a:cxnSpLocks/>
          </p:cNvCxnSpPr>
          <p:nvPr/>
        </p:nvCxnSpPr>
        <p:spPr>
          <a:xfrm flipH="1">
            <a:off x="11092711" y="545024"/>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699A47C6-88C3-BFAE-CE73-7D932BE4B3D0}"/>
              </a:ext>
            </a:extLst>
          </p:cNvPr>
          <p:cNvCxnSpPr>
            <a:cxnSpLocks/>
          </p:cNvCxnSpPr>
          <p:nvPr/>
        </p:nvCxnSpPr>
        <p:spPr>
          <a:xfrm rot="16200000" flipH="1">
            <a:off x="9074379" y="-1673583"/>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9" name="Straight Connector 48">
            <a:extLst>
              <a:ext uri="{FF2B5EF4-FFF2-40B4-BE49-F238E27FC236}">
                <a16:creationId xmlns:a16="http://schemas.microsoft.com/office/drawing/2014/main" id="{089FCFBF-D0FD-D56A-6F67-8508737024FB}"/>
              </a:ext>
            </a:extLst>
          </p:cNvPr>
          <p:cNvCxnSpPr>
            <a:cxnSpLocks/>
          </p:cNvCxnSpPr>
          <p:nvPr/>
        </p:nvCxnSpPr>
        <p:spPr>
          <a:xfrm rot="16200000" flipH="1">
            <a:off x="9043581" y="-931408"/>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0" name="Straight Connector 49">
            <a:extLst>
              <a:ext uri="{FF2B5EF4-FFF2-40B4-BE49-F238E27FC236}">
                <a16:creationId xmlns:a16="http://schemas.microsoft.com/office/drawing/2014/main" id="{F82E2A16-C093-7562-2145-64A8ED74F7F0}"/>
              </a:ext>
            </a:extLst>
          </p:cNvPr>
          <p:cNvCxnSpPr>
            <a:cxnSpLocks/>
          </p:cNvCxnSpPr>
          <p:nvPr/>
        </p:nvCxnSpPr>
        <p:spPr>
          <a:xfrm rot="16200000" flipH="1">
            <a:off x="9074379" y="-189233"/>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a:extLst>
              <a:ext uri="{FF2B5EF4-FFF2-40B4-BE49-F238E27FC236}">
                <a16:creationId xmlns:a16="http://schemas.microsoft.com/office/drawing/2014/main" id="{634EC1A5-9D66-9AE9-4D2E-F7445F1025DC}"/>
              </a:ext>
            </a:extLst>
          </p:cNvPr>
          <p:cNvCxnSpPr>
            <a:cxnSpLocks/>
          </p:cNvCxnSpPr>
          <p:nvPr/>
        </p:nvCxnSpPr>
        <p:spPr>
          <a:xfrm rot="16200000" flipH="1">
            <a:off x="9043581" y="1269164"/>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2" name="Straight Connector 51">
            <a:extLst>
              <a:ext uri="{FF2B5EF4-FFF2-40B4-BE49-F238E27FC236}">
                <a16:creationId xmlns:a16="http://schemas.microsoft.com/office/drawing/2014/main" id="{BFA14DF3-9BEE-C9F3-0EFC-EB1916442034}"/>
              </a:ext>
            </a:extLst>
          </p:cNvPr>
          <p:cNvCxnSpPr>
            <a:cxnSpLocks/>
          </p:cNvCxnSpPr>
          <p:nvPr/>
        </p:nvCxnSpPr>
        <p:spPr>
          <a:xfrm rot="16200000" flipH="1">
            <a:off x="9012783" y="2011339"/>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3" name="Straight Connector 52">
            <a:extLst>
              <a:ext uri="{FF2B5EF4-FFF2-40B4-BE49-F238E27FC236}">
                <a16:creationId xmlns:a16="http://schemas.microsoft.com/office/drawing/2014/main" id="{6207686A-7F56-C26B-E680-EC47098B6DCD}"/>
              </a:ext>
            </a:extLst>
          </p:cNvPr>
          <p:cNvCxnSpPr>
            <a:cxnSpLocks/>
          </p:cNvCxnSpPr>
          <p:nvPr/>
        </p:nvCxnSpPr>
        <p:spPr>
          <a:xfrm rot="16200000" flipH="1">
            <a:off x="9043581" y="2753513"/>
            <a:ext cx="0" cy="594360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55" name="Rectangle 54">
            <a:extLst>
              <a:ext uri="{FF2B5EF4-FFF2-40B4-BE49-F238E27FC236}">
                <a16:creationId xmlns:a16="http://schemas.microsoft.com/office/drawing/2014/main" id="{E6FE9726-BC08-BF51-70C0-792A258FC288}"/>
              </a:ext>
            </a:extLst>
          </p:cNvPr>
          <p:cNvSpPr/>
          <p:nvPr/>
        </p:nvSpPr>
        <p:spPr>
          <a:xfrm>
            <a:off x="11432654" y="3354648"/>
            <a:ext cx="422029" cy="1568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461D545A-1B22-7B4C-7372-4E2971ADED04}"/>
              </a:ext>
            </a:extLst>
          </p:cNvPr>
          <p:cNvCxnSpPr>
            <a:cxnSpLocks/>
          </p:cNvCxnSpPr>
          <p:nvPr/>
        </p:nvCxnSpPr>
        <p:spPr>
          <a:xfrm rot="16200000" flipH="1">
            <a:off x="9012783" y="570870"/>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3" name="Straight Connector 62">
            <a:extLst>
              <a:ext uri="{FF2B5EF4-FFF2-40B4-BE49-F238E27FC236}">
                <a16:creationId xmlns:a16="http://schemas.microsoft.com/office/drawing/2014/main" id="{534C8A38-6559-9D01-768D-ED001453FE9B}"/>
              </a:ext>
            </a:extLst>
          </p:cNvPr>
          <p:cNvCxnSpPr>
            <a:cxnSpLocks/>
          </p:cNvCxnSpPr>
          <p:nvPr/>
        </p:nvCxnSpPr>
        <p:spPr>
          <a:xfrm flipH="1">
            <a:off x="8857875" y="551470"/>
            <a:ext cx="0" cy="594360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40F13F18-1B2E-2534-053C-2121A8844CDC}"/>
                  </a:ext>
                </a:extLst>
              </p:cNvPr>
              <p:cNvSpPr txBox="1"/>
              <p:nvPr/>
            </p:nvSpPr>
            <p:spPr>
              <a:xfrm>
                <a:off x="8595668" y="5750670"/>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p:txBody>
          </p:sp>
        </mc:Choice>
        <mc:Fallback xmlns="">
          <p:sp>
            <p:nvSpPr>
              <p:cNvPr id="65" name="TextBox 64">
                <a:extLst>
                  <a:ext uri="{FF2B5EF4-FFF2-40B4-BE49-F238E27FC236}">
                    <a16:creationId xmlns:a16="http://schemas.microsoft.com/office/drawing/2014/main" id="{40F13F18-1B2E-2534-053C-2121A8844CDC}"/>
                  </a:ext>
                </a:extLst>
              </p:cNvPr>
              <p:cNvSpPr txBox="1">
                <a:spLocks noRot="1" noChangeAspect="1" noMove="1" noResize="1" noEditPoints="1" noAdjustHandles="1" noChangeArrowheads="1" noChangeShapeType="1" noTextEdit="1"/>
              </p:cNvSpPr>
              <p:nvPr/>
            </p:nvSpPr>
            <p:spPr>
              <a:xfrm>
                <a:off x="8595668" y="5750670"/>
                <a:ext cx="609600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85E59830-C94D-08D6-3075-F41E6A19F97A}"/>
                  </a:ext>
                </a:extLst>
              </p:cNvPr>
              <p:cNvSpPr txBox="1"/>
              <p:nvPr/>
            </p:nvSpPr>
            <p:spPr>
              <a:xfrm>
                <a:off x="3279163" y="427100"/>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oMath>
                  </m:oMathPara>
                </a14:m>
                <a:endParaRPr lang="en-US" dirty="0"/>
              </a:p>
            </p:txBody>
          </p:sp>
        </mc:Choice>
        <mc:Fallback xmlns="">
          <p:sp>
            <p:nvSpPr>
              <p:cNvPr id="66" name="TextBox 65">
                <a:extLst>
                  <a:ext uri="{FF2B5EF4-FFF2-40B4-BE49-F238E27FC236}">
                    <a16:creationId xmlns:a16="http://schemas.microsoft.com/office/drawing/2014/main" id="{85E59830-C94D-08D6-3075-F41E6A19F97A}"/>
                  </a:ext>
                </a:extLst>
              </p:cNvPr>
              <p:cNvSpPr txBox="1">
                <a:spLocks noRot="1" noChangeAspect="1" noMove="1" noResize="1" noEditPoints="1" noAdjustHandles="1" noChangeArrowheads="1" noChangeShapeType="1" noTextEdit="1"/>
              </p:cNvSpPr>
              <p:nvPr/>
            </p:nvSpPr>
            <p:spPr>
              <a:xfrm>
                <a:off x="3279163" y="427100"/>
                <a:ext cx="609600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9">
            <p14:nvContentPartPr>
              <p14:cNvPr id="67" name="Ink 66">
                <a:extLst>
                  <a:ext uri="{FF2B5EF4-FFF2-40B4-BE49-F238E27FC236}">
                    <a16:creationId xmlns:a16="http://schemas.microsoft.com/office/drawing/2014/main" id="{461C8FC1-21DF-B85C-D72B-FD13E936E953}"/>
                  </a:ext>
                </a:extLst>
              </p14:cNvPr>
              <p14:cNvContentPartPr/>
              <p14:nvPr/>
            </p14:nvContentPartPr>
            <p14:xfrm>
              <a:off x="8415623" y="5496733"/>
              <a:ext cx="360" cy="360"/>
            </p14:xfrm>
          </p:contentPart>
        </mc:Choice>
        <mc:Fallback xmlns="">
          <p:pic>
            <p:nvPicPr>
              <p:cNvPr id="67" name="Ink 66">
                <a:extLst>
                  <a:ext uri="{FF2B5EF4-FFF2-40B4-BE49-F238E27FC236}">
                    <a16:creationId xmlns:a16="http://schemas.microsoft.com/office/drawing/2014/main" id="{461C8FC1-21DF-B85C-D72B-FD13E936E953}"/>
                  </a:ext>
                </a:extLst>
              </p:cNvPr>
              <p:cNvPicPr/>
              <p:nvPr/>
            </p:nvPicPr>
            <p:blipFill>
              <a:blip r:embed="rId10"/>
              <a:stretch>
                <a:fillRect/>
              </a:stretch>
            </p:blipFill>
            <p:spPr>
              <a:xfrm>
                <a:off x="8406983" y="5488093"/>
                <a:ext cx="18000" cy="18000"/>
              </a:xfrm>
              <a:prstGeom prst="rect">
                <a:avLst/>
              </a:prstGeom>
            </p:spPr>
          </p:pic>
        </mc:Fallback>
      </mc:AlternateContent>
    </p:spTree>
    <p:extLst>
      <p:ext uri="{BB962C8B-B14F-4D97-AF65-F5344CB8AC3E}">
        <p14:creationId xmlns:p14="http://schemas.microsoft.com/office/powerpoint/2010/main" val="3036801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38BF8-B895-4BD9-AB9E-03BE6AA9B2E8}"/>
              </a:ext>
            </a:extLst>
          </p:cNvPr>
          <p:cNvSpPr>
            <a:spLocks noGrp="1"/>
          </p:cNvSpPr>
          <p:nvPr>
            <p:ph type="title"/>
          </p:nvPr>
        </p:nvSpPr>
        <p:spPr/>
        <p:txBody>
          <a:bodyPr/>
          <a:lstStyle/>
          <a:p>
            <a:r>
              <a:rPr lang="en-US" b="1" dirty="0"/>
              <a:t>Decision Trees</a:t>
            </a:r>
          </a:p>
        </p:txBody>
      </p:sp>
      <p:sp>
        <p:nvSpPr>
          <p:cNvPr id="7" name="Content Placeholder 6">
            <a:extLst>
              <a:ext uri="{FF2B5EF4-FFF2-40B4-BE49-F238E27FC236}">
                <a16:creationId xmlns:a16="http://schemas.microsoft.com/office/drawing/2014/main" id="{0F381521-16B3-4D8A-84EB-B6A14C509888}"/>
              </a:ext>
            </a:extLst>
          </p:cNvPr>
          <p:cNvSpPr>
            <a:spLocks noGrp="1"/>
          </p:cNvSpPr>
          <p:nvPr>
            <p:ph sz="half" idx="1"/>
          </p:nvPr>
        </p:nvSpPr>
        <p:spPr>
          <a:xfrm>
            <a:off x="838200" y="2298992"/>
            <a:ext cx="5181600" cy="3797409"/>
          </a:xfrm>
        </p:spPr>
        <p:txBody>
          <a:bodyPr>
            <a:noAutofit/>
          </a:bodyPr>
          <a:lstStyle/>
          <a:p>
            <a:pPr>
              <a:lnSpc>
                <a:spcPct val="120000"/>
              </a:lnSpc>
            </a:pPr>
            <a:r>
              <a:rPr lang="en-US" sz="1800" dirty="0"/>
              <a:t>It partitions the feature space into non overlapping regions (of rectangle/cuboid shape).</a:t>
            </a:r>
          </a:p>
          <a:p>
            <a:pPr>
              <a:lnSpc>
                <a:spcPct val="120000"/>
              </a:lnSpc>
            </a:pPr>
            <a:r>
              <a:rPr lang="en-US" sz="1800" dirty="0"/>
              <a:t>The leaves of the tree correspond to those regions: A, B, C, D, E</a:t>
            </a:r>
          </a:p>
          <a:p>
            <a:pPr>
              <a:lnSpc>
                <a:spcPct val="120000"/>
              </a:lnSpc>
            </a:pPr>
            <a:r>
              <a:rPr lang="en-US" sz="1800" dirty="0"/>
              <a:t>Each leaf or region stores the predicted labels from the training dataset: average or mode of labels.</a:t>
            </a:r>
          </a:p>
          <a:p>
            <a:pPr>
              <a:lnSpc>
                <a:spcPct val="120000"/>
              </a:lnSpc>
            </a:pPr>
            <a:r>
              <a:rPr lang="en-US" sz="1800" dirty="0"/>
              <a:t>Each region predicts the target variable as a constant (regression) or assigns it to a specific class (classification). </a:t>
            </a:r>
          </a:p>
          <a:p>
            <a:pPr>
              <a:lnSpc>
                <a:spcPct val="120000"/>
              </a:lnSpc>
            </a:pPr>
            <a:endParaRPr lang="en-US" sz="1800" dirty="0"/>
          </a:p>
        </p:txBody>
      </p:sp>
      <p:sp>
        <p:nvSpPr>
          <p:cNvPr id="8" name="Content Placeholder 7">
            <a:extLst>
              <a:ext uri="{FF2B5EF4-FFF2-40B4-BE49-F238E27FC236}">
                <a16:creationId xmlns:a16="http://schemas.microsoft.com/office/drawing/2014/main" id="{1AC2B9EA-FE90-435F-9855-CFACB42F452B}"/>
              </a:ext>
            </a:extLst>
          </p:cNvPr>
          <p:cNvSpPr>
            <a:spLocks noGrp="1"/>
          </p:cNvSpPr>
          <p:nvPr>
            <p:ph sz="half" idx="2"/>
          </p:nvPr>
        </p:nvSpPr>
        <p:spPr/>
        <p:txBody>
          <a:bodyPr>
            <a:normAutofit/>
          </a:bodyPr>
          <a:lstStyle/>
          <a:p>
            <a:r>
              <a:rPr lang="en-US" b="1" dirty="0"/>
              <a:t>Feature Space</a:t>
            </a:r>
          </a:p>
        </p:txBody>
      </p:sp>
      <p:sp>
        <p:nvSpPr>
          <p:cNvPr id="6" name="TextBox 5">
            <a:extLst>
              <a:ext uri="{FF2B5EF4-FFF2-40B4-BE49-F238E27FC236}">
                <a16:creationId xmlns:a16="http://schemas.microsoft.com/office/drawing/2014/main" id="{5AF794CD-DD81-42FA-A8F8-CE004252285B}"/>
              </a:ext>
            </a:extLst>
          </p:cNvPr>
          <p:cNvSpPr txBox="1"/>
          <p:nvPr/>
        </p:nvSpPr>
        <p:spPr>
          <a:xfrm>
            <a:off x="7104468" y="6099576"/>
            <a:ext cx="2995448" cy="369332"/>
          </a:xfrm>
          <a:prstGeom prst="rect">
            <a:avLst/>
          </a:prstGeom>
          <a:noFill/>
        </p:spPr>
        <p:txBody>
          <a:bodyPr wrap="square" rtlCol="0">
            <a:spAutoFit/>
          </a:bodyPr>
          <a:lstStyle/>
          <a:p>
            <a:r>
              <a:rPr lang="en-US" dirty="0">
                <a:hlinkClick r:id="rId3"/>
              </a:rPr>
              <a:t>image source</a:t>
            </a:r>
            <a:endParaRPr lang="en-US" dirty="0"/>
          </a:p>
        </p:txBody>
      </p:sp>
      <p:pic>
        <p:nvPicPr>
          <p:cNvPr id="10" name="Picture 9">
            <a:extLst>
              <a:ext uri="{FF2B5EF4-FFF2-40B4-BE49-F238E27FC236}">
                <a16:creationId xmlns:a16="http://schemas.microsoft.com/office/drawing/2014/main" id="{602B8E46-C23F-40CF-A67F-B0FE1FE5A60E}"/>
              </a:ext>
            </a:extLst>
          </p:cNvPr>
          <p:cNvPicPr>
            <a:picLocks noChangeAspect="1"/>
          </p:cNvPicPr>
          <p:nvPr/>
        </p:nvPicPr>
        <p:blipFill rotWithShape="1">
          <a:blip r:embed="rId4"/>
          <a:srcRect l="64914" t="29578" r="9913" b="32107"/>
          <a:stretch/>
        </p:blipFill>
        <p:spPr>
          <a:xfrm>
            <a:off x="6659880" y="2501460"/>
            <a:ext cx="4206240" cy="3601236"/>
          </a:xfrm>
          <a:prstGeom prst="rect">
            <a:avLst/>
          </a:prstGeom>
        </p:spPr>
      </p:pic>
    </p:spTree>
    <p:extLst>
      <p:ext uri="{BB962C8B-B14F-4D97-AF65-F5344CB8AC3E}">
        <p14:creationId xmlns:p14="http://schemas.microsoft.com/office/powerpoint/2010/main" val="1414441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38BF8-B895-4BD9-AB9E-03BE6AA9B2E8}"/>
              </a:ext>
            </a:extLst>
          </p:cNvPr>
          <p:cNvSpPr>
            <a:spLocks noGrp="1"/>
          </p:cNvSpPr>
          <p:nvPr>
            <p:ph type="title"/>
          </p:nvPr>
        </p:nvSpPr>
        <p:spPr>
          <a:xfrm>
            <a:off x="838200" y="377045"/>
            <a:ext cx="10515600" cy="1325563"/>
          </a:xfrm>
        </p:spPr>
        <p:txBody>
          <a:bodyPr/>
          <a:lstStyle/>
          <a:p>
            <a:r>
              <a:rPr lang="en-US" b="1" dirty="0"/>
              <a:t>Decision Trees - Prediction</a:t>
            </a:r>
          </a:p>
        </p:txBody>
      </p:sp>
      <p:pic>
        <p:nvPicPr>
          <p:cNvPr id="10" name="Picture 9">
            <a:extLst>
              <a:ext uri="{FF2B5EF4-FFF2-40B4-BE49-F238E27FC236}">
                <a16:creationId xmlns:a16="http://schemas.microsoft.com/office/drawing/2014/main" id="{602B8E46-C23F-40CF-A67F-B0FE1FE5A60E}"/>
              </a:ext>
            </a:extLst>
          </p:cNvPr>
          <p:cNvPicPr>
            <a:picLocks noChangeAspect="1"/>
          </p:cNvPicPr>
          <p:nvPr/>
        </p:nvPicPr>
        <p:blipFill rotWithShape="1">
          <a:blip r:embed="rId3"/>
          <a:srcRect l="64914" t="29578" r="9913" b="32107"/>
          <a:stretch/>
        </p:blipFill>
        <p:spPr>
          <a:xfrm>
            <a:off x="6659880" y="2543502"/>
            <a:ext cx="4206240" cy="3601236"/>
          </a:xfrm>
          <a:prstGeom prst="rect">
            <a:avLst/>
          </a:prstGeom>
        </p:spPr>
      </p:pic>
      <mc:AlternateContent xmlns:mc="http://schemas.openxmlformats.org/markup-compatibility/2006" xmlns:a14="http://schemas.microsoft.com/office/drawing/2010/main">
        <mc:Choice Requires="a14">
          <p:sp>
            <p:nvSpPr>
              <p:cNvPr id="7" name="Rectangle: Rounded Corners 6">
                <a:extLst>
                  <a:ext uri="{FF2B5EF4-FFF2-40B4-BE49-F238E27FC236}">
                    <a16:creationId xmlns:a16="http://schemas.microsoft.com/office/drawing/2014/main" id="{7CBDA87F-12A9-72F2-2521-EE003258AD0B}"/>
                  </a:ext>
                </a:extLst>
              </p:cNvPr>
              <p:cNvSpPr/>
              <p:nvPr/>
            </p:nvSpPr>
            <p:spPr>
              <a:xfrm>
                <a:off x="2248126" y="2109224"/>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oMath>
                  </m:oMathPara>
                </a14:m>
                <a:endParaRPr lang="en-US" dirty="0"/>
              </a:p>
            </p:txBody>
          </p:sp>
        </mc:Choice>
        <mc:Fallback xmlns="">
          <p:sp>
            <p:nvSpPr>
              <p:cNvPr id="7" name="Rectangle: Rounded Corners 6">
                <a:extLst>
                  <a:ext uri="{FF2B5EF4-FFF2-40B4-BE49-F238E27FC236}">
                    <a16:creationId xmlns:a16="http://schemas.microsoft.com/office/drawing/2014/main" id="{7CBDA87F-12A9-72F2-2521-EE003258AD0B}"/>
                  </a:ext>
                </a:extLst>
              </p:cNvPr>
              <p:cNvSpPr>
                <a:spLocks noRot="1" noChangeAspect="1" noMove="1" noResize="1" noEditPoints="1" noAdjustHandles="1" noChangeArrowheads="1" noChangeShapeType="1" noTextEdit="1"/>
              </p:cNvSpPr>
              <p:nvPr/>
            </p:nvSpPr>
            <p:spPr>
              <a:xfrm>
                <a:off x="2248126" y="2109224"/>
                <a:ext cx="1253447" cy="760288"/>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Rounded Corners 7">
                <a:extLst>
                  <a:ext uri="{FF2B5EF4-FFF2-40B4-BE49-F238E27FC236}">
                    <a16:creationId xmlns:a16="http://schemas.microsoft.com/office/drawing/2014/main" id="{BFD809AF-06EF-D684-7757-0B218550D478}"/>
                  </a:ext>
                </a:extLst>
              </p:cNvPr>
              <p:cNvSpPr/>
              <p:nvPr/>
            </p:nvSpPr>
            <p:spPr>
              <a:xfrm>
                <a:off x="927007" y="3156125"/>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oMath>
                  </m:oMathPara>
                </a14:m>
                <a:endParaRPr lang="en-US" dirty="0"/>
              </a:p>
            </p:txBody>
          </p:sp>
        </mc:Choice>
        <mc:Fallback xmlns="">
          <p:sp>
            <p:nvSpPr>
              <p:cNvPr id="8" name="Rectangle: Rounded Corners 7">
                <a:extLst>
                  <a:ext uri="{FF2B5EF4-FFF2-40B4-BE49-F238E27FC236}">
                    <a16:creationId xmlns:a16="http://schemas.microsoft.com/office/drawing/2014/main" id="{BFD809AF-06EF-D684-7757-0B218550D478}"/>
                  </a:ext>
                </a:extLst>
              </p:cNvPr>
              <p:cNvSpPr>
                <a:spLocks noRot="1" noChangeAspect="1" noMove="1" noResize="1" noEditPoints="1" noAdjustHandles="1" noChangeArrowheads="1" noChangeShapeType="1" noTextEdit="1"/>
              </p:cNvSpPr>
              <p:nvPr/>
            </p:nvSpPr>
            <p:spPr>
              <a:xfrm>
                <a:off x="927007" y="3156125"/>
                <a:ext cx="1253447" cy="760288"/>
              </a:xfrm>
              <a:prstGeom prst="round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Rounded Corners 8">
                <a:extLst>
                  <a:ext uri="{FF2B5EF4-FFF2-40B4-BE49-F238E27FC236}">
                    <a16:creationId xmlns:a16="http://schemas.microsoft.com/office/drawing/2014/main" id="{C4E3025B-9E79-BDED-8B60-DE831AB7EF4B}"/>
                  </a:ext>
                </a:extLst>
              </p:cNvPr>
              <p:cNvSpPr/>
              <p:nvPr/>
            </p:nvSpPr>
            <p:spPr>
              <a:xfrm>
                <a:off x="3540329" y="3156125"/>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5</m:t>
                      </m:r>
                    </m:oMath>
                  </m:oMathPara>
                </a14:m>
                <a:endParaRPr lang="en-US" dirty="0"/>
              </a:p>
            </p:txBody>
          </p:sp>
        </mc:Choice>
        <mc:Fallback xmlns="">
          <p:sp>
            <p:nvSpPr>
              <p:cNvPr id="9" name="Rectangle: Rounded Corners 8">
                <a:extLst>
                  <a:ext uri="{FF2B5EF4-FFF2-40B4-BE49-F238E27FC236}">
                    <a16:creationId xmlns:a16="http://schemas.microsoft.com/office/drawing/2014/main" id="{C4E3025B-9E79-BDED-8B60-DE831AB7EF4B}"/>
                  </a:ext>
                </a:extLst>
              </p:cNvPr>
              <p:cNvSpPr>
                <a:spLocks noRot="1" noChangeAspect="1" noMove="1" noResize="1" noEditPoints="1" noAdjustHandles="1" noChangeArrowheads="1" noChangeShapeType="1" noTextEdit="1"/>
              </p:cNvSpPr>
              <p:nvPr/>
            </p:nvSpPr>
            <p:spPr>
              <a:xfrm>
                <a:off x="3540329" y="3156125"/>
                <a:ext cx="1253447" cy="760288"/>
              </a:xfrm>
              <a:prstGeom prst="round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Rounded Corners 10">
                <a:extLst>
                  <a:ext uri="{FF2B5EF4-FFF2-40B4-BE49-F238E27FC236}">
                    <a16:creationId xmlns:a16="http://schemas.microsoft.com/office/drawing/2014/main" id="{EB466966-7E5B-5288-A907-7C90FD4D4EF4}"/>
                  </a:ext>
                </a:extLst>
              </p:cNvPr>
              <p:cNvSpPr/>
              <p:nvPr/>
            </p:nvSpPr>
            <p:spPr>
              <a:xfrm>
                <a:off x="3150187" y="4366970"/>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≤6</m:t>
                      </m:r>
                    </m:oMath>
                  </m:oMathPara>
                </a14:m>
                <a:endParaRPr lang="en-US" dirty="0"/>
              </a:p>
            </p:txBody>
          </p:sp>
        </mc:Choice>
        <mc:Fallback xmlns="">
          <p:sp>
            <p:nvSpPr>
              <p:cNvPr id="11" name="Rectangle: Rounded Corners 10">
                <a:extLst>
                  <a:ext uri="{FF2B5EF4-FFF2-40B4-BE49-F238E27FC236}">
                    <a16:creationId xmlns:a16="http://schemas.microsoft.com/office/drawing/2014/main" id="{EB466966-7E5B-5288-A907-7C90FD4D4EF4}"/>
                  </a:ext>
                </a:extLst>
              </p:cNvPr>
              <p:cNvSpPr>
                <a:spLocks noRot="1" noChangeAspect="1" noMove="1" noResize="1" noEditPoints="1" noAdjustHandles="1" noChangeArrowheads="1" noChangeShapeType="1" noTextEdit="1"/>
              </p:cNvSpPr>
              <p:nvPr/>
            </p:nvSpPr>
            <p:spPr>
              <a:xfrm>
                <a:off x="3150187" y="4366970"/>
                <a:ext cx="1253447" cy="760288"/>
              </a:xfrm>
              <a:prstGeom prst="roundRect">
                <a:avLst/>
              </a:prstGeom>
              <a:blipFill>
                <a:blip r:embed="rId7"/>
                <a:stretch>
                  <a:fillRect/>
                </a:stretch>
              </a:blipFill>
            </p:spPr>
            <p:txBody>
              <a:bodyPr/>
              <a:lstStyle/>
              <a:p>
                <a:r>
                  <a:rPr lang="en-US">
                    <a:noFill/>
                  </a:rPr>
                  <a:t> </a:t>
                </a:r>
              </a:p>
            </p:txBody>
          </p:sp>
        </mc:Fallback>
      </mc:AlternateContent>
      <p:sp>
        <p:nvSpPr>
          <p:cNvPr id="12" name="Rectangle: Rounded Corners 11">
            <a:extLst>
              <a:ext uri="{FF2B5EF4-FFF2-40B4-BE49-F238E27FC236}">
                <a16:creationId xmlns:a16="http://schemas.microsoft.com/office/drawing/2014/main" id="{6DD4D61E-EBA4-CAAC-1B8B-D753D6ADC5FC}"/>
              </a:ext>
            </a:extLst>
          </p:cNvPr>
          <p:cNvSpPr/>
          <p:nvPr/>
        </p:nvSpPr>
        <p:spPr>
          <a:xfrm>
            <a:off x="444378" y="436697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A : 0</a:t>
            </a:r>
          </a:p>
        </p:txBody>
      </p:sp>
      <p:sp>
        <p:nvSpPr>
          <p:cNvPr id="13" name="Rectangle: Rounded Corners 12">
            <a:extLst>
              <a:ext uri="{FF2B5EF4-FFF2-40B4-BE49-F238E27FC236}">
                <a16:creationId xmlns:a16="http://schemas.microsoft.com/office/drawing/2014/main" id="{5B19388B-5525-4844-5E57-88D8CC96CF7D}"/>
              </a:ext>
            </a:extLst>
          </p:cNvPr>
          <p:cNvSpPr/>
          <p:nvPr/>
        </p:nvSpPr>
        <p:spPr>
          <a:xfrm>
            <a:off x="1813024" y="436697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B : 2</a:t>
            </a:r>
          </a:p>
        </p:txBody>
      </p:sp>
      <p:sp>
        <p:nvSpPr>
          <p:cNvPr id="14" name="Rectangle: Rounded Corners 13">
            <a:extLst>
              <a:ext uri="{FF2B5EF4-FFF2-40B4-BE49-F238E27FC236}">
                <a16:creationId xmlns:a16="http://schemas.microsoft.com/office/drawing/2014/main" id="{2C17CD0E-D84C-D5B0-6962-E5D466801FEF}"/>
              </a:ext>
            </a:extLst>
          </p:cNvPr>
          <p:cNvSpPr/>
          <p:nvPr/>
        </p:nvSpPr>
        <p:spPr>
          <a:xfrm>
            <a:off x="4617577" y="436697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E : 1</a:t>
            </a:r>
          </a:p>
        </p:txBody>
      </p:sp>
      <p:sp>
        <p:nvSpPr>
          <p:cNvPr id="15" name="Rectangle: Rounded Corners 14">
            <a:extLst>
              <a:ext uri="{FF2B5EF4-FFF2-40B4-BE49-F238E27FC236}">
                <a16:creationId xmlns:a16="http://schemas.microsoft.com/office/drawing/2014/main" id="{0EB03FDA-B377-477A-C089-6B0BA7B65C25}"/>
              </a:ext>
            </a:extLst>
          </p:cNvPr>
          <p:cNvSpPr/>
          <p:nvPr/>
        </p:nvSpPr>
        <p:spPr>
          <a:xfrm>
            <a:off x="2796535" y="5577815"/>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C : 1</a:t>
            </a:r>
          </a:p>
        </p:txBody>
      </p:sp>
      <p:sp>
        <p:nvSpPr>
          <p:cNvPr id="16" name="Rectangle: Rounded Corners 15">
            <a:extLst>
              <a:ext uri="{FF2B5EF4-FFF2-40B4-BE49-F238E27FC236}">
                <a16:creationId xmlns:a16="http://schemas.microsoft.com/office/drawing/2014/main" id="{CA730CD1-7771-0E9C-7F39-74CC23FC2882}"/>
              </a:ext>
            </a:extLst>
          </p:cNvPr>
          <p:cNvSpPr/>
          <p:nvPr/>
        </p:nvSpPr>
        <p:spPr>
          <a:xfrm>
            <a:off x="3943596" y="5577815"/>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D : 2</a:t>
            </a:r>
          </a:p>
        </p:txBody>
      </p:sp>
      <p:cxnSp>
        <p:nvCxnSpPr>
          <p:cNvPr id="17" name="Straight Arrow Connector 16">
            <a:extLst>
              <a:ext uri="{FF2B5EF4-FFF2-40B4-BE49-F238E27FC236}">
                <a16:creationId xmlns:a16="http://schemas.microsoft.com/office/drawing/2014/main" id="{72698C67-1587-E9B5-AF88-305A15ECF196}"/>
              </a:ext>
            </a:extLst>
          </p:cNvPr>
          <p:cNvCxnSpPr>
            <a:cxnSpLocks/>
            <a:endCxn id="8" idx="0"/>
          </p:cNvCxnSpPr>
          <p:nvPr/>
        </p:nvCxnSpPr>
        <p:spPr>
          <a:xfrm flipH="1">
            <a:off x="1553731" y="2869512"/>
            <a:ext cx="961523"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28A14AB1-463F-E488-51EB-A5F41A1CECC7}"/>
              </a:ext>
            </a:extLst>
          </p:cNvPr>
          <p:cNvCxnSpPr>
            <a:cxnSpLocks/>
            <a:endCxn id="9" idx="0"/>
          </p:cNvCxnSpPr>
          <p:nvPr/>
        </p:nvCxnSpPr>
        <p:spPr>
          <a:xfrm>
            <a:off x="3279163" y="2869512"/>
            <a:ext cx="887890"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B8B29A5E-FB58-B051-1D55-7A0644E6097C}"/>
              </a:ext>
            </a:extLst>
          </p:cNvPr>
          <p:cNvCxnSpPr>
            <a:cxnSpLocks/>
            <a:endCxn id="12" idx="0"/>
          </p:cNvCxnSpPr>
          <p:nvPr/>
        </p:nvCxnSpPr>
        <p:spPr>
          <a:xfrm flipH="1">
            <a:off x="927007" y="3916413"/>
            <a:ext cx="197237"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393A8CB5-19D9-DD5C-3053-7C7657D20E5A}"/>
              </a:ext>
            </a:extLst>
          </p:cNvPr>
          <p:cNvCxnSpPr>
            <a:cxnSpLocks/>
            <a:endCxn id="13" idx="0"/>
          </p:cNvCxnSpPr>
          <p:nvPr/>
        </p:nvCxnSpPr>
        <p:spPr>
          <a:xfrm>
            <a:off x="1990954" y="3916413"/>
            <a:ext cx="304699"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AEB777ED-EA4A-6318-CF40-A7731038DE78}"/>
              </a:ext>
            </a:extLst>
          </p:cNvPr>
          <p:cNvCxnSpPr>
            <a:cxnSpLocks/>
          </p:cNvCxnSpPr>
          <p:nvPr/>
        </p:nvCxnSpPr>
        <p:spPr>
          <a:xfrm flipH="1">
            <a:off x="3799816" y="3916413"/>
            <a:ext cx="132632"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8A65BB51-FC78-46E8-3056-922C4BFE51F2}"/>
              </a:ext>
            </a:extLst>
          </p:cNvPr>
          <p:cNvCxnSpPr>
            <a:cxnSpLocks/>
            <a:endCxn id="14" idx="0"/>
          </p:cNvCxnSpPr>
          <p:nvPr/>
        </p:nvCxnSpPr>
        <p:spPr>
          <a:xfrm>
            <a:off x="4475905" y="3916413"/>
            <a:ext cx="624301"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4CA7CF0D-95C4-BA38-9230-D0B1D31639E0}"/>
              </a:ext>
            </a:extLst>
          </p:cNvPr>
          <p:cNvCxnSpPr>
            <a:cxnSpLocks/>
            <a:endCxn id="15" idx="0"/>
          </p:cNvCxnSpPr>
          <p:nvPr/>
        </p:nvCxnSpPr>
        <p:spPr>
          <a:xfrm flipH="1">
            <a:off x="3279164" y="5127258"/>
            <a:ext cx="99119"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64D7FB62-F9F1-CCC4-4E73-F16F5138CE1C}"/>
              </a:ext>
            </a:extLst>
          </p:cNvPr>
          <p:cNvCxnSpPr>
            <a:cxnSpLocks/>
            <a:endCxn id="16" idx="0"/>
          </p:cNvCxnSpPr>
          <p:nvPr/>
        </p:nvCxnSpPr>
        <p:spPr>
          <a:xfrm>
            <a:off x="4167052" y="5127258"/>
            <a:ext cx="259173"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ECCF4785-04A4-C280-2DAD-31AA02162E29}"/>
              </a:ext>
            </a:extLst>
          </p:cNvPr>
          <p:cNvSpPr txBox="1"/>
          <p:nvPr/>
        </p:nvSpPr>
        <p:spPr>
          <a:xfrm>
            <a:off x="1674063" y="2576094"/>
            <a:ext cx="647274" cy="369332"/>
          </a:xfrm>
          <a:prstGeom prst="rect">
            <a:avLst/>
          </a:prstGeom>
          <a:noFill/>
        </p:spPr>
        <p:txBody>
          <a:bodyPr wrap="square" rtlCol="0">
            <a:spAutoFit/>
          </a:bodyPr>
          <a:lstStyle/>
          <a:p>
            <a:r>
              <a:rPr lang="en-US" dirty="0"/>
              <a:t>Yes</a:t>
            </a:r>
          </a:p>
        </p:txBody>
      </p:sp>
      <p:sp>
        <p:nvSpPr>
          <p:cNvPr id="27" name="TextBox 26">
            <a:extLst>
              <a:ext uri="{FF2B5EF4-FFF2-40B4-BE49-F238E27FC236}">
                <a16:creationId xmlns:a16="http://schemas.microsoft.com/office/drawing/2014/main" id="{6BB23A75-7CF8-557F-3C42-277DBCDE37B3}"/>
              </a:ext>
            </a:extLst>
          </p:cNvPr>
          <p:cNvSpPr txBox="1"/>
          <p:nvPr/>
        </p:nvSpPr>
        <p:spPr>
          <a:xfrm>
            <a:off x="3538790" y="2591315"/>
            <a:ext cx="647274" cy="369332"/>
          </a:xfrm>
          <a:prstGeom prst="rect">
            <a:avLst/>
          </a:prstGeom>
          <a:noFill/>
        </p:spPr>
        <p:txBody>
          <a:bodyPr wrap="square" rtlCol="0">
            <a:spAutoFit/>
          </a:bodyPr>
          <a:lstStyle/>
          <a:p>
            <a:r>
              <a:rPr lang="en-US" dirty="0"/>
              <a:t>No</a:t>
            </a:r>
          </a:p>
        </p:txBody>
      </p:sp>
      <p:sp>
        <p:nvSpPr>
          <p:cNvPr id="5" name="TextBox 4">
            <a:extLst>
              <a:ext uri="{FF2B5EF4-FFF2-40B4-BE49-F238E27FC236}">
                <a16:creationId xmlns:a16="http://schemas.microsoft.com/office/drawing/2014/main" id="{08248F2A-C5A8-C698-0212-662BF1A3EBEF}"/>
              </a:ext>
            </a:extLst>
          </p:cNvPr>
          <p:cNvSpPr txBox="1"/>
          <p:nvPr/>
        </p:nvSpPr>
        <p:spPr>
          <a:xfrm>
            <a:off x="7741742" y="1702608"/>
            <a:ext cx="4317507" cy="369332"/>
          </a:xfrm>
          <a:prstGeom prst="rect">
            <a:avLst/>
          </a:prstGeom>
          <a:noFill/>
        </p:spPr>
        <p:txBody>
          <a:bodyPr wrap="square" rtlCol="0">
            <a:spAutoFit/>
          </a:bodyPr>
          <a:lstStyle/>
          <a:p>
            <a:r>
              <a:rPr lang="en-US" dirty="0"/>
              <a:t>Predict the label of x = (5, 4) ?</a:t>
            </a:r>
          </a:p>
        </p:txBody>
      </p:sp>
    </p:spTree>
    <p:extLst>
      <p:ext uri="{BB962C8B-B14F-4D97-AF65-F5344CB8AC3E}">
        <p14:creationId xmlns:p14="http://schemas.microsoft.com/office/powerpoint/2010/main" val="1019912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E53891A-923C-4E69-8F1F-49A06B8394E4}"/>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Decision Trees Boolean Expressions</a:t>
            </a:r>
          </a:p>
        </p:txBody>
      </p:sp>
      <p:sp>
        <p:nvSpPr>
          <p:cNvPr id="13" name="Content Placeholder 12">
            <a:extLst>
              <a:ext uri="{FF2B5EF4-FFF2-40B4-BE49-F238E27FC236}">
                <a16:creationId xmlns:a16="http://schemas.microsoft.com/office/drawing/2014/main" id="{2E6B8E61-38DA-4FAD-A948-40DAFB6B74A2}"/>
              </a:ext>
            </a:extLst>
          </p:cNvPr>
          <p:cNvSpPr txBox="1">
            <a:spLocks/>
          </p:cNvSpPr>
          <p:nvPr/>
        </p:nvSpPr>
        <p:spPr>
          <a:xfrm>
            <a:off x="6181264" y="2109224"/>
            <a:ext cx="536858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latin typeface="Calibri" panose="020F0502020204030204" pitchFamily="34" charset="0"/>
                <a:cs typeface="Calibri" panose="020F0502020204030204" pitchFamily="34" charset="0"/>
              </a:rPr>
              <a:t>Each path from the root to a leaf encodes a logical condition (rule)</a:t>
            </a:r>
          </a:p>
          <a:p>
            <a:pPr>
              <a:lnSpc>
                <a:spcPct val="100000"/>
              </a:lnSpc>
            </a:pPr>
            <a:r>
              <a:rPr lang="en-US" sz="2400" dirty="0">
                <a:latin typeface="Calibri" panose="020F0502020204030204" pitchFamily="34" charset="0"/>
                <a:cs typeface="Calibri" panose="020F0502020204030204" pitchFamily="34" charset="0"/>
              </a:rPr>
              <a:t>Rules take the form of inequalities involving features combined with AND operations</a:t>
            </a:r>
          </a:p>
          <a:p>
            <a:pPr>
              <a:lnSpc>
                <a:spcPct val="100000"/>
              </a:lnSpc>
            </a:pPr>
            <a:r>
              <a:rPr lang="en-US" sz="2400" dirty="0">
                <a:latin typeface="Calibri" panose="020F0502020204030204" pitchFamily="34" charset="0"/>
                <a:cs typeface="Calibri" panose="020F0502020204030204" pitchFamily="34" charset="0"/>
              </a:rPr>
              <a:t>These Boolean expressions can be used to explain how a prediction was made.</a:t>
            </a:r>
          </a:p>
        </p:txBody>
      </p:sp>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6F59F324-CFAB-B06A-EEF8-9A7FAF21595D}"/>
                  </a:ext>
                </a:extLst>
              </p:cNvPr>
              <p:cNvSpPr/>
              <p:nvPr/>
            </p:nvSpPr>
            <p:spPr>
              <a:xfrm>
                <a:off x="2248126" y="2109224"/>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oMath>
                  </m:oMathPara>
                </a14:m>
                <a:endParaRPr lang="en-US" dirty="0"/>
              </a:p>
            </p:txBody>
          </p:sp>
        </mc:Choice>
        <mc:Fallback xmlns="">
          <p:sp>
            <p:nvSpPr>
              <p:cNvPr id="2" name="Rectangle: Rounded Corners 1">
                <a:extLst>
                  <a:ext uri="{FF2B5EF4-FFF2-40B4-BE49-F238E27FC236}">
                    <a16:creationId xmlns:a16="http://schemas.microsoft.com/office/drawing/2014/main" id="{6F59F324-CFAB-B06A-EEF8-9A7FAF21595D}"/>
                  </a:ext>
                </a:extLst>
              </p:cNvPr>
              <p:cNvSpPr>
                <a:spLocks noRot="1" noChangeAspect="1" noMove="1" noResize="1" noEditPoints="1" noAdjustHandles="1" noChangeArrowheads="1" noChangeShapeType="1" noTextEdit="1"/>
              </p:cNvSpPr>
              <p:nvPr/>
            </p:nvSpPr>
            <p:spPr>
              <a:xfrm>
                <a:off x="2248126" y="2109224"/>
                <a:ext cx="1253447" cy="760288"/>
              </a:xfrm>
              <a:prstGeom prst="round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Rounded Corners 2">
                <a:extLst>
                  <a:ext uri="{FF2B5EF4-FFF2-40B4-BE49-F238E27FC236}">
                    <a16:creationId xmlns:a16="http://schemas.microsoft.com/office/drawing/2014/main" id="{85A4677B-D945-91FE-7E09-727438D33DBE}"/>
                  </a:ext>
                </a:extLst>
              </p:cNvPr>
              <p:cNvSpPr/>
              <p:nvPr/>
            </p:nvSpPr>
            <p:spPr>
              <a:xfrm>
                <a:off x="927007" y="3156125"/>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oMath>
                  </m:oMathPara>
                </a14:m>
                <a:endParaRPr lang="en-US" dirty="0"/>
              </a:p>
            </p:txBody>
          </p:sp>
        </mc:Choice>
        <mc:Fallback xmlns="">
          <p:sp>
            <p:nvSpPr>
              <p:cNvPr id="3" name="Rectangle: Rounded Corners 2">
                <a:extLst>
                  <a:ext uri="{FF2B5EF4-FFF2-40B4-BE49-F238E27FC236}">
                    <a16:creationId xmlns:a16="http://schemas.microsoft.com/office/drawing/2014/main" id="{85A4677B-D945-91FE-7E09-727438D33DBE}"/>
                  </a:ext>
                </a:extLst>
              </p:cNvPr>
              <p:cNvSpPr>
                <a:spLocks noRot="1" noChangeAspect="1" noMove="1" noResize="1" noEditPoints="1" noAdjustHandles="1" noChangeArrowheads="1" noChangeShapeType="1" noTextEdit="1"/>
              </p:cNvSpPr>
              <p:nvPr/>
            </p:nvSpPr>
            <p:spPr>
              <a:xfrm>
                <a:off x="927007" y="3156125"/>
                <a:ext cx="1253447" cy="760288"/>
              </a:xfrm>
              <a:prstGeom prst="round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Rounded Corners 3">
                <a:extLst>
                  <a:ext uri="{FF2B5EF4-FFF2-40B4-BE49-F238E27FC236}">
                    <a16:creationId xmlns:a16="http://schemas.microsoft.com/office/drawing/2014/main" id="{68E49B4E-F534-3E47-B3B5-279EA5D36810}"/>
                  </a:ext>
                </a:extLst>
              </p:cNvPr>
              <p:cNvSpPr/>
              <p:nvPr/>
            </p:nvSpPr>
            <p:spPr>
              <a:xfrm>
                <a:off x="3540329" y="3156125"/>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5</m:t>
                      </m:r>
                    </m:oMath>
                  </m:oMathPara>
                </a14:m>
                <a:endParaRPr lang="en-US" dirty="0"/>
              </a:p>
            </p:txBody>
          </p:sp>
        </mc:Choice>
        <mc:Fallback xmlns="">
          <p:sp>
            <p:nvSpPr>
              <p:cNvPr id="4" name="Rectangle: Rounded Corners 3">
                <a:extLst>
                  <a:ext uri="{FF2B5EF4-FFF2-40B4-BE49-F238E27FC236}">
                    <a16:creationId xmlns:a16="http://schemas.microsoft.com/office/drawing/2014/main" id="{68E49B4E-F534-3E47-B3B5-279EA5D36810}"/>
                  </a:ext>
                </a:extLst>
              </p:cNvPr>
              <p:cNvSpPr>
                <a:spLocks noRot="1" noChangeAspect="1" noMove="1" noResize="1" noEditPoints="1" noAdjustHandles="1" noChangeArrowheads="1" noChangeShapeType="1" noTextEdit="1"/>
              </p:cNvSpPr>
              <p:nvPr/>
            </p:nvSpPr>
            <p:spPr>
              <a:xfrm>
                <a:off x="3540329" y="3156125"/>
                <a:ext cx="1253447" cy="760288"/>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Rounded Corners 6">
                <a:extLst>
                  <a:ext uri="{FF2B5EF4-FFF2-40B4-BE49-F238E27FC236}">
                    <a16:creationId xmlns:a16="http://schemas.microsoft.com/office/drawing/2014/main" id="{33698B69-FDD5-0D5D-B9CD-3AA88AF5BE9F}"/>
                  </a:ext>
                </a:extLst>
              </p:cNvPr>
              <p:cNvSpPr/>
              <p:nvPr/>
            </p:nvSpPr>
            <p:spPr>
              <a:xfrm>
                <a:off x="3150187" y="4366970"/>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≤6</m:t>
                      </m:r>
                    </m:oMath>
                  </m:oMathPara>
                </a14:m>
                <a:endParaRPr lang="en-US" dirty="0"/>
              </a:p>
            </p:txBody>
          </p:sp>
        </mc:Choice>
        <mc:Fallback xmlns="">
          <p:sp>
            <p:nvSpPr>
              <p:cNvPr id="7" name="Rectangle: Rounded Corners 6">
                <a:extLst>
                  <a:ext uri="{FF2B5EF4-FFF2-40B4-BE49-F238E27FC236}">
                    <a16:creationId xmlns:a16="http://schemas.microsoft.com/office/drawing/2014/main" id="{33698B69-FDD5-0D5D-B9CD-3AA88AF5BE9F}"/>
                  </a:ext>
                </a:extLst>
              </p:cNvPr>
              <p:cNvSpPr>
                <a:spLocks noRot="1" noChangeAspect="1" noMove="1" noResize="1" noEditPoints="1" noAdjustHandles="1" noChangeArrowheads="1" noChangeShapeType="1" noTextEdit="1"/>
              </p:cNvSpPr>
              <p:nvPr/>
            </p:nvSpPr>
            <p:spPr>
              <a:xfrm>
                <a:off x="3150187" y="4366970"/>
                <a:ext cx="1253447" cy="760288"/>
              </a:xfrm>
              <a:prstGeom prst="roundRect">
                <a:avLst/>
              </a:prstGeom>
              <a:blipFill>
                <a:blip r:embed="rId5"/>
                <a:stretch>
                  <a:fillRect/>
                </a:stretch>
              </a:blipFill>
            </p:spPr>
            <p:txBody>
              <a:bodyPr/>
              <a:lstStyle/>
              <a:p>
                <a:r>
                  <a:rPr lang="en-US">
                    <a:noFill/>
                  </a:rPr>
                  <a:t> </a:t>
                </a:r>
              </a:p>
            </p:txBody>
          </p:sp>
        </mc:Fallback>
      </mc:AlternateContent>
      <p:sp>
        <p:nvSpPr>
          <p:cNvPr id="8" name="Rectangle: Rounded Corners 7">
            <a:extLst>
              <a:ext uri="{FF2B5EF4-FFF2-40B4-BE49-F238E27FC236}">
                <a16:creationId xmlns:a16="http://schemas.microsoft.com/office/drawing/2014/main" id="{C997A64A-5E92-D58A-EA48-C1FE13DD2146}"/>
              </a:ext>
            </a:extLst>
          </p:cNvPr>
          <p:cNvSpPr/>
          <p:nvPr/>
        </p:nvSpPr>
        <p:spPr>
          <a:xfrm>
            <a:off x="444378" y="436697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A : 0</a:t>
            </a:r>
          </a:p>
        </p:txBody>
      </p:sp>
      <p:sp>
        <p:nvSpPr>
          <p:cNvPr id="9" name="Rectangle: Rounded Corners 8">
            <a:extLst>
              <a:ext uri="{FF2B5EF4-FFF2-40B4-BE49-F238E27FC236}">
                <a16:creationId xmlns:a16="http://schemas.microsoft.com/office/drawing/2014/main" id="{387EF19D-B2CF-6D8C-AD65-ECD3810783DD}"/>
              </a:ext>
            </a:extLst>
          </p:cNvPr>
          <p:cNvSpPr/>
          <p:nvPr/>
        </p:nvSpPr>
        <p:spPr>
          <a:xfrm>
            <a:off x="1813024" y="436697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B : 2</a:t>
            </a:r>
          </a:p>
        </p:txBody>
      </p:sp>
      <p:sp>
        <p:nvSpPr>
          <p:cNvPr id="10" name="Rectangle: Rounded Corners 9">
            <a:extLst>
              <a:ext uri="{FF2B5EF4-FFF2-40B4-BE49-F238E27FC236}">
                <a16:creationId xmlns:a16="http://schemas.microsoft.com/office/drawing/2014/main" id="{08CA1859-4366-D20D-1DA5-533F8C308D02}"/>
              </a:ext>
            </a:extLst>
          </p:cNvPr>
          <p:cNvSpPr/>
          <p:nvPr/>
        </p:nvSpPr>
        <p:spPr>
          <a:xfrm>
            <a:off x="4617577" y="436697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E : 1</a:t>
            </a:r>
          </a:p>
        </p:txBody>
      </p:sp>
      <p:sp>
        <p:nvSpPr>
          <p:cNvPr id="11" name="Rectangle: Rounded Corners 10">
            <a:extLst>
              <a:ext uri="{FF2B5EF4-FFF2-40B4-BE49-F238E27FC236}">
                <a16:creationId xmlns:a16="http://schemas.microsoft.com/office/drawing/2014/main" id="{58296D41-4E80-33D7-78BD-FDF37B9EFD02}"/>
              </a:ext>
            </a:extLst>
          </p:cNvPr>
          <p:cNvSpPr/>
          <p:nvPr/>
        </p:nvSpPr>
        <p:spPr>
          <a:xfrm>
            <a:off x="2796535" y="5577815"/>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C : 1</a:t>
            </a:r>
          </a:p>
        </p:txBody>
      </p:sp>
      <p:sp>
        <p:nvSpPr>
          <p:cNvPr id="14" name="Rectangle: Rounded Corners 13">
            <a:extLst>
              <a:ext uri="{FF2B5EF4-FFF2-40B4-BE49-F238E27FC236}">
                <a16:creationId xmlns:a16="http://schemas.microsoft.com/office/drawing/2014/main" id="{AE86D0F8-23A7-AC5B-EFC3-AB646C353334}"/>
              </a:ext>
            </a:extLst>
          </p:cNvPr>
          <p:cNvSpPr/>
          <p:nvPr/>
        </p:nvSpPr>
        <p:spPr>
          <a:xfrm>
            <a:off x="3943596" y="5577815"/>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D : 2</a:t>
            </a:r>
          </a:p>
        </p:txBody>
      </p:sp>
      <p:cxnSp>
        <p:nvCxnSpPr>
          <p:cNvPr id="15" name="Straight Arrow Connector 14">
            <a:extLst>
              <a:ext uri="{FF2B5EF4-FFF2-40B4-BE49-F238E27FC236}">
                <a16:creationId xmlns:a16="http://schemas.microsoft.com/office/drawing/2014/main" id="{8A7009EC-E12D-2742-9D17-69C677C5DEA1}"/>
              </a:ext>
            </a:extLst>
          </p:cNvPr>
          <p:cNvCxnSpPr>
            <a:cxnSpLocks/>
            <a:endCxn id="3" idx="0"/>
          </p:cNvCxnSpPr>
          <p:nvPr/>
        </p:nvCxnSpPr>
        <p:spPr>
          <a:xfrm flipH="1">
            <a:off x="1553731" y="2869512"/>
            <a:ext cx="961523"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107ABDD7-B7EE-40AB-AFE2-AF5003FB15A4}"/>
              </a:ext>
            </a:extLst>
          </p:cNvPr>
          <p:cNvCxnSpPr>
            <a:cxnSpLocks/>
            <a:endCxn id="4" idx="0"/>
          </p:cNvCxnSpPr>
          <p:nvPr/>
        </p:nvCxnSpPr>
        <p:spPr>
          <a:xfrm>
            <a:off x="3279163" y="2869512"/>
            <a:ext cx="887890"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C37C94BD-2F3B-203F-6C50-E564D7D0E640}"/>
              </a:ext>
            </a:extLst>
          </p:cNvPr>
          <p:cNvCxnSpPr>
            <a:cxnSpLocks/>
            <a:endCxn id="8" idx="0"/>
          </p:cNvCxnSpPr>
          <p:nvPr/>
        </p:nvCxnSpPr>
        <p:spPr>
          <a:xfrm flipH="1">
            <a:off x="927007" y="3916413"/>
            <a:ext cx="197237"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C12B98EB-B31D-0DF3-3330-31363B90D28F}"/>
              </a:ext>
            </a:extLst>
          </p:cNvPr>
          <p:cNvCxnSpPr>
            <a:cxnSpLocks/>
            <a:endCxn id="9" idx="0"/>
          </p:cNvCxnSpPr>
          <p:nvPr/>
        </p:nvCxnSpPr>
        <p:spPr>
          <a:xfrm>
            <a:off x="1990954" y="3916413"/>
            <a:ext cx="304699"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D7410DC4-B23A-F270-268A-D250E4599FFB}"/>
              </a:ext>
            </a:extLst>
          </p:cNvPr>
          <p:cNvCxnSpPr>
            <a:cxnSpLocks/>
          </p:cNvCxnSpPr>
          <p:nvPr/>
        </p:nvCxnSpPr>
        <p:spPr>
          <a:xfrm flipH="1">
            <a:off x="3799816" y="3916413"/>
            <a:ext cx="132632"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41029648-8520-580D-6836-45694AFEF712}"/>
              </a:ext>
            </a:extLst>
          </p:cNvPr>
          <p:cNvCxnSpPr>
            <a:cxnSpLocks/>
            <a:endCxn id="10" idx="0"/>
          </p:cNvCxnSpPr>
          <p:nvPr/>
        </p:nvCxnSpPr>
        <p:spPr>
          <a:xfrm>
            <a:off x="4475905" y="3916413"/>
            <a:ext cx="624301"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208B1B1C-9EB6-4208-E2E3-5D0C598F64CC}"/>
              </a:ext>
            </a:extLst>
          </p:cNvPr>
          <p:cNvCxnSpPr>
            <a:cxnSpLocks/>
            <a:endCxn id="11" idx="0"/>
          </p:cNvCxnSpPr>
          <p:nvPr/>
        </p:nvCxnSpPr>
        <p:spPr>
          <a:xfrm flipH="1">
            <a:off x="3279164" y="5127258"/>
            <a:ext cx="99119"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37F7E899-2233-C550-29F9-79B6F3080C41}"/>
              </a:ext>
            </a:extLst>
          </p:cNvPr>
          <p:cNvCxnSpPr>
            <a:cxnSpLocks/>
            <a:endCxn id="14" idx="0"/>
          </p:cNvCxnSpPr>
          <p:nvPr/>
        </p:nvCxnSpPr>
        <p:spPr>
          <a:xfrm>
            <a:off x="4167052" y="5127258"/>
            <a:ext cx="259173"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345D3894-6FD3-B690-1FD8-CEEF1161A180}"/>
              </a:ext>
            </a:extLst>
          </p:cNvPr>
          <p:cNvSpPr txBox="1"/>
          <p:nvPr/>
        </p:nvSpPr>
        <p:spPr>
          <a:xfrm>
            <a:off x="1674063" y="2576094"/>
            <a:ext cx="647274" cy="369332"/>
          </a:xfrm>
          <a:prstGeom prst="rect">
            <a:avLst/>
          </a:prstGeom>
          <a:noFill/>
        </p:spPr>
        <p:txBody>
          <a:bodyPr wrap="square" rtlCol="0">
            <a:spAutoFit/>
          </a:bodyPr>
          <a:lstStyle/>
          <a:p>
            <a:r>
              <a:rPr lang="en-US" dirty="0"/>
              <a:t>Yes</a:t>
            </a:r>
          </a:p>
        </p:txBody>
      </p:sp>
      <p:sp>
        <p:nvSpPr>
          <p:cNvPr id="25" name="TextBox 24">
            <a:extLst>
              <a:ext uri="{FF2B5EF4-FFF2-40B4-BE49-F238E27FC236}">
                <a16:creationId xmlns:a16="http://schemas.microsoft.com/office/drawing/2014/main" id="{73B28026-015B-B84D-3B57-32EA88A2DEAD}"/>
              </a:ext>
            </a:extLst>
          </p:cNvPr>
          <p:cNvSpPr txBox="1"/>
          <p:nvPr/>
        </p:nvSpPr>
        <p:spPr>
          <a:xfrm>
            <a:off x="3538790" y="2591315"/>
            <a:ext cx="647274" cy="36933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705435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E53891A-923C-4E69-8F1F-49A06B8394E4}"/>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Decision Trees Boolean Expressions</a:t>
            </a:r>
          </a:p>
        </p:txBody>
      </p:sp>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6F59F324-CFAB-B06A-EEF8-9A7FAF21595D}"/>
                  </a:ext>
                </a:extLst>
              </p:cNvPr>
              <p:cNvSpPr/>
              <p:nvPr/>
            </p:nvSpPr>
            <p:spPr>
              <a:xfrm>
                <a:off x="2248126" y="2109224"/>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oMath>
                  </m:oMathPara>
                </a14:m>
                <a:endParaRPr lang="en-US" dirty="0"/>
              </a:p>
            </p:txBody>
          </p:sp>
        </mc:Choice>
        <mc:Fallback xmlns="">
          <p:sp>
            <p:nvSpPr>
              <p:cNvPr id="2" name="Rectangle: Rounded Corners 1">
                <a:extLst>
                  <a:ext uri="{FF2B5EF4-FFF2-40B4-BE49-F238E27FC236}">
                    <a16:creationId xmlns:a16="http://schemas.microsoft.com/office/drawing/2014/main" id="{6F59F324-CFAB-B06A-EEF8-9A7FAF21595D}"/>
                  </a:ext>
                </a:extLst>
              </p:cNvPr>
              <p:cNvSpPr>
                <a:spLocks noRot="1" noChangeAspect="1" noMove="1" noResize="1" noEditPoints="1" noAdjustHandles="1" noChangeArrowheads="1" noChangeShapeType="1" noTextEdit="1"/>
              </p:cNvSpPr>
              <p:nvPr/>
            </p:nvSpPr>
            <p:spPr>
              <a:xfrm>
                <a:off x="2248126" y="2109224"/>
                <a:ext cx="1253447" cy="760288"/>
              </a:xfrm>
              <a:prstGeom prst="round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Rounded Corners 2">
                <a:extLst>
                  <a:ext uri="{FF2B5EF4-FFF2-40B4-BE49-F238E27FC236}">
                    <a16:creationId xmlns:a16="http://schemas.microsoft.com/office/drawing/2014/main" id="{85A4677B-D945-91FE-7E09-727438D33DBE}"/>
                  </a:ext>
                </a:extLst>
              </p:cNvPr>
              <p:cNvSpPr/>
              <p:nvPr/>
            </p:nvSpPr>
            <p:spPr>
              <a:xfrm>
                <a:off x="927007" y="3156125"/>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oMath>
                  </m:oMathPara>
                </a14:m>
                <a:endParaRPr lang="en-US" dirty="0"/>
              </a:p>
            </p:txBody>
          </p:sp>
        </mc:Choice>
        <mc:Fallback xmlns="">
          <p:sp>
            <p:nvSpPr>
              <p:cNvPr id="3" name="Rectangle: Rounded Corners 2">
                <a:extLst>
                  <a:ext uri="{FF2B5EF4-FFF2-40B4-BE49-F238E27FC236}">
                    <a16:creationId xmlns:a16="http://schemas.microsoft.com/office/drawing/2014/main" id="{85A4677B-D945-91FE-7E09-727438D33DBE}"/>
                  </a:ext>
                </a:extLst>
              </p:cNvPr>
              <p:cNvSpPr>
                <a:spLocks noRot="1" noChangeAspect="1" noMove="1" noResize="1" noEditPoints="1" noAdjustHandles="1" noChangeArrowheads="1" noChangeShapeType="1" noTextEdit="1"/>
              </p:cNvSpPr>
              <p:nvPr/>
            </p:nvSpPr>
            <p:spPr>
              <a:xfrm>
                <a:off x="927007" y="3156125"/>
                <a:ext cx="1253447" cy="760288"/>
              </a:xfrm>
              <a:prstGeom prst="round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Rounded Corners 3">
                <a:extLst>
                  <a:ext uri="{FF2B5EF4-FFF2-40B4-BE49-F238E27FC236}">
                    <a16:creationId xmlns:a16="http://schemas.microsoft.com/office/drawing/2014/main" id="{68E49B4E-F534-3E47-B3B5-279EA5D36810}"/>
                  </a:ext>
                </a:extLst>
              </p:cNvPr>
              <p:cNvSpPr/>
              <p:nvPr/>
            </p:nvSpPr>
            <p:spPr>
              <a:xfrm>
                <a:off x="3540329" y="3156125"/>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5</m:t>
                      </m:r>
                    </m:oMath>
                  </m:oMathPara>
                </a14:m>
                <a:endParaRPr lang="en-US" dirty="0"/>
              </a:p>
            </p:txBody>
          </p:sp>
        </mc:Choice>
        <mc:Fallback xmlns="">
          <p:sp>
            <p:nvSpPr>
              <p:cNvPr id="4" name="Rectangle: Rounded Corners 3">
                <a:extLst>
                  <a:ext uri="{FF2B5EF4-FFF2-40B4-BE49-F238E27FC236}">
                    <a16:creationId xmlns:a16="http://schemas.microsoft.com/office/drawing/2014/main" id="{68E49B4E-F534-3E47-B3B5-279EA5D36810}"/>
                  </a:ext>
                </a:extLst>
              </p:cNvPr>
              <p:cNvSpPr>
                <a:spLocks noRot="1" noChangeAspect="1" noMove="1" noResize="1" noEditPoints="1" noAdjustHandles="1" noChangeArrowheads="1" noChangeShapeType="1" noTextEdit="1"/>
              </p:cNvSpPr>
              <p:nvPr/>
            </p:nvSpPr>
            <p:spPr>
              <a:xfrm>
                <a:off x="3540329" y="3156125"/>
                <a:ext cx="1253447" cy="760288"/>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Rounded Corners 6">
                <a:extLst>
                  <a:ext uri="{FF2B5EF4-FFF2-40B4-BE49-F238E27FC236}">
                    <a16:creationId xmlns:a16="http://schemas.microsoft.com/office/drawing/2014/main" id="{33698B69-FDD5-0D5D-B9CD-3AA88AF5BE9F}"/>
                  </a:ext>
                </a:extLst>
              </p:cNvPr>
              <p:cNvSpPr/>
              <p:nvPr/>
            </p:nvSpPr>
            <p:spPr>
              <a:xfrm>
                <a:off x="3150187" y="4366970"/>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≤6</m:t>
                      </m:r>
                    </m:oMath>
                  </m:oMathPara>
                </a14:m>
                <a:endParaRPr lang="en-US" dirty="0"/>
              </a:p>
            </p:txBody>
          </p:sp>
        </mc:Choice>
        <mc:Fallback xmlns="">
          <p:sp>
            <p:nvSpPr>
              <p:cNvPr id="7" name="Rectangle: Rounded Corners 6">
                <a:extLst>
                  <a:ext uri="{FF2B5EF4-FFF2-40B4-BE49-F238E27FC236}">
                    <a16:creationId xmlns:a16="http://schemas.microsoft.com/office/drawing/2014/main" id="{33698B69-FDD5-0D5D-B9CD-3AA88AF5BE9F}"/>
                  </a:ext>
                </a:extLst>
              </p:cNvPr>
              <p:cNvSpPr>
                <a:spLocks noRot="1" noChangeAspect="1" noMove="1" noResize="1" noEditPoints="1" noAdjustHandles="1" noChangeArrowheads="1" noChangeShapeType="1" noTextEdit="1"/>
              </p:cNvSpPr>
              <p:nvPr/>
            </p:nvSpPr>
            <p:spPr>
              <a:xfrm>
                <a:off x="3150187" y="4366970"/>
                <a:ext cx="1253447" cy="760288"/>
              </a:xfrm>
              <a:prstGeom prst="roundRect">
                <a:avLst/>
              </a:prstGeom>
              <a:blipFill>
                <a:blip r:embed="rId5"/>
                <a:stretch>
                  <a:fillRect/>
                </a:stretch>
              </a:blipFill>
            </p:spPr>
            <p:txBody>
              <a:bodyPr/>
              <a:lstStyle/>
              <a:p>
                <a:r>
                  <a:rPr lang="en-US">
                    <a:noFill/>
                  </a:rPr>
                  <a:t> </a:t>
                </a:r>
              </a:p>
            </p:txBody>
          </p:sp>
        </mc:Fallback>
      </mc:AlternateContent>
      <p:sp>
        <p:nvSpPr>
          <p:cNvPr id="8" name="Rectangle: Rounded Corners 7">
            <a:extLst>
              <a:ext uri="{FF2B5EF4-FFF2-40B4-BE49-F238E27FC236}">
                <a16:creationId xmlns:a16="http://schemas.microsoft.com/office/drawing/2014/main" id="{C997A64A-5E92-D58A-EA48-C1FE13DD2146}"/>
              </a:ext>
            </a:extLst>
          </p:cNvPr>
          <p:cNvSpPr/>
          <p:nvPr/>
        </p:nvSpPr>
        <p:spPr>
          <a:xfrm>
            <a:off x="444378" y="436697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A : 0</a:t>
            </a:r>
          </a:p>
        </p:txBody>
      </p:sp>
      <p:sp>
        <p:nvSpPr>
          <p:cNvPr id="9" name="Rectangle: Rounded Corners 8">
            <a:extLst>
              <a:ext uri="{FF2B5EF4-FFF2-40B4-BE49-F238E27FC236}">
                <a16:creationId xmlns:a16="http://schemas.microsoft.com/office/drawing/2014/main" id="{387EF19D-B2CF-6D8C-AD65-ECD3810783DD}"/>
              </a:ext>
            </a:extLst>
          </p:cNvPr>
          <p:cNvSpPr/>
          <p:nvPr/>
        </p:nvSpPr>
        <p:spPr>
          <a:xfrm>
            <a:off x="1813024" y="436697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B : 2</a:t>
            </a:r>
          </a:p>
        </p:txBody>
      </p:sp>
      <p:sp>
        <p:nvSpPr>
          <p:cNvPr id="10" name="Rectangle: Rounded Corners 9">
            <a:extLst>
              <a:ext uri="{FF2B5EF4-FFF2-40B4-BE49-F238E27FC236}">
                <a16:creationId xmlns:a16="http://schemas.microsoft.com/office/drawing/2014/main" id="{08CA1859-4366-D20D-1DA5-533F8C308D02}"/>
              </a:ext>
            </a:extLst>
          </p:cNvPr>
          <p:cNvSpPr/>
          <p:nvPr/>
        </p:nvSpPr>
        <p:spPr>
          <a:xfrm>
            <a:off x="4617577" y="4366970"/>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E : 1</a:t>
            </a:r>
          </a:p>
        </p:txBody>
      </p:sp>
      <p:sp>
        <p:nvSpPr>
          <p:cNvPr id="11" name="Rectangle: Rounded Corners 10">
            <a:extLst>
              <a:ext uri="{FF2B5EF4-FFF2-40B4-BE49-F238E27FC236}">
                <a16:creationId xmlns:a16="http://schemas.microsoft.com/office/drawing/2014/main" id="{58296D41-4E80-33D7-78BD-FDF37B9EFD02}"/>
              </a:ext>
            </a:extLst>
          </p:cNvPr>
          <p:cNvSpPr/>
          <p:nvPr/>
        </p:nvSpPr>
        <p:spPr>
          <a:xfrm>
            <a:off x="2796535" y="5577815"/>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C : 1</a:t>
            </a:r>
          </a:p>
        </p:txBody>
      </p:sp>
      <p:sp>
        <p:nvSpPr>
          <p:cNvPr id="14" name="Rectangle: Rounded Corners 13">
            <a:extLst>
              <a:ext uri="{FF2B5EF4-FFF2-40B4-BE49-F238E27FC236}">
                <a16:creationId xmlns:a16="http://schemas.microsoft.com/office/drawing/2014/main" id="{AE86D0F8-23A7-AC5B-EFC3-AB646C353334}"/>
              </a:ext>
            </a:extLst>
          </p:cNvPr>
          <p:cNvSpPr/>
          <p:nvPr/>
        </p:nvSpPr>
        <p:spPr>
          <a:xfrm>
            <a:off x="3943596" y="5577815"/>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D : 2</a:t>
            </a:r>
          </a:p>
        </p:txBody>
      </p:sp>
      <p:cxnSp>
        <p:nvCxnSpPr>
          <p:cNvPr id="15" name="Straight Arrow Connector 14">
            <a:extLst>
              <a:ext uri="{FF2B5EF4-FFF2-40B4-BE49-F238E27FC236}">
                <a16:creationId xmlns:a16="http://schemas.microsoft.com/office/drawing/2014/main" id="{8A7009EC-E12D-2742-9D17-69C677C5DEA1}"/>
              </a:ext>
            </a:extLst>
          </p:cNvPr>
          <p:cNvCxnSpPr>
            <a:cxnSpLocks/>
            <a:endCxn id="3" idx="0"/>
          </p:cNvCxnSpPr>
          <p:nvPr/>
        </p:nvCxnSpPr>
        <p:spPr>
          <a:xfrm flipH="1">
            <a:off x="1553731" y="2869512"/>
            <a:ext cx="961523"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107ABDD7-B7EE-40AB-AFE2-AF5003FB15A4}"/>
              </a:ext>
            </a:extLst>
          </p:cNvPr>
          <p:cNvCxnSpPr>
            <a:cxnSpLocks/>
            <a:endCxn id="4" idx="0"/>
          </p:cNvCxnSpPr>
          <p:nvPr/>
        </p:nvCxnSpPr>
        <p:spPr>
          <a:xfrm>
            <a:off x="3279163" y="2869512"/>
            <a:ext cx="887890"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C37C94BD-2F3B-203F-6C50-E564D7D0E640}"/>
              </a:ext>
            </a:extLst>
          </p:cNvPr>
          <p:cNvCxnSpPr>
            <a:cxnSpLocks/>
            <a:endCxn id="8" idx="0"/>
          </p:cNvCxnSpPr>
          <p:nvPr/>
        </p:nvCxnSpPr>
        <p:spPr>
          <a:xfrm flipH="1">
            <a:off x="927007" y="3916413"/>
            <a:ext cx="197237"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C12B98EB-B31D-0DF3-3330-31363B90D28F}"/>
              </a:ext>
            </a:extLst>
          </p:cNvPr>
          <p:cNvCxnSpPr>
            <a:cxnSpLocks/>
            <a:endCxn id="9" idx="0"/>
          </p:cNvCxnSpPr>
          <p:nvPr/>
        </p:nvCxnSpPr>
        <p:spPr>
          <a:xfrm>
            <a:off x="1990954" y="3916413"/>
            <a:ext cx="304699"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D7410DC4-B23A-F270-268A-D250E4599FFB}"/>
              </a:ext>
            </a:extLst>
          </p:cNvPr>
          <p:cNvCxnSpPr>
            <a:cxnSpLocks/>
          </p:cNvCxnSpPr>
          <p:nvPr/>
        </p:nvCxnSpPr>
        <p:spPr>
          <a:xfrm flipH="1">
            <a:off x="3799816" y="3916413"/>
            <a:ext cx="132632"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41029648-8520-580D-6836-45694AFEF712}"/>
              </a:ext>
            </a:extLst>
          </p:cNvPr>
          <p:cNvCxnSpPr>
            <a:cxnSpLocks/>
            <a:endCxn id="10" idx="0"/>
          </p:cNvCxnSpPr>
          <p:nvPr/>
        </p:nvCxnSpPr>
        <p:spPr>
          <a:xfrm>
            <a:off x="4475905" y="3916413"/>
            <a:ext cx="624301"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208B1B1C-9EB6-4208-E2E3-5D0C598F64CC}"/>
              </a:ext>
            </a:extLst>
          </p:cNvPr>
          <p:cNvCxnSpPr>
            <a:cxnSpLocks/>
            <a:endCxn id="11" idx="0"/>
          </p:cNvCxnSpPr>
          <p:nvPr/>
        </p:nvCxnSpPr>
        <p:spPr>
          <a:xfrm flipH="1">
            <a:off x="3279164" y="5127258"/>
            <a:ext cx="99119"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37F7E899-2233-C550-29F9-79B6F3080C41}"/>
              </a:ext>
            </a:extLst>
          </p:cNvPr>
          <p:cNvCxnSpPr>
            <a:cxnSpLocks/>
            <a:endCxn id="14" idx="0"/>
          </p:cNvCxnSpPr>
          <p:nvPr/>
        </p:nvCxnSpPr>
        <p:spPr>
          <a:xfrm>
            <a:off x="4167052" y="5127258"/>
            <a:ext cx="259173"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345D3894-6FD3-B690-1FD8-CEEF1161A180}"/>
              </a:ext>
            </a:extLst>
          </p:cNvPr>
          <p:cNvSpPr txBox="1"/>
          <p:nvPr/>
        </p:nvSpPr>
        <p:spPr>
          <a:xfrm>
            <a:off x="1674063" y="2576094"/>
            <a:ext cx="647274" cy="369332"/>
          </a:xfrm>
          <a:prstGeom prst="rect">
            <a:avLst/>
          </a:prstGeom>
          <a:noFill/>
        </p:spPr>
        <p:txBody>
          <a:bodyPr wrap="square" rtlCol="0">
            <a:spAutoFit/>
          </a:bodyPr>
          <a:lstStyle/>
          <a:p>
            <a:r>
              <a:rPr lang="en-US" dirty="0"/>
              <a:t>Yes</a:t>
            </a:r>
          </a:p>
        </p:txBody>
      </p:sp>
      <p:sp>
        <p:nvSpPr>
          <p:cNvPr id="25" name="TextBox 24">
            <a:extLst>
              <a:ext uri="{FF2B5EF4-FFF2-40B4-BE49-F238E27FC236}">
                <a16:creationId xmlns:a16="http://schemas.microsoft.com/office/drawing/2014/main" id="{73B28026-015B-B84D-3B57-32EA88A2DEAD}"/>
              </a:ext>
            </a:extLst>
          </p:cNvPr>
          <p:cNvSpPr txBox="1"/>
          <p:nvPr/>
        </p:nvSpPr>
        <p:spPr>
          <a:xfrm>
            <a:off x="3538790" y="2591315"/>
            <a:ext cx="647274" cy="369332"/>
          </a:xfrm>
          <a:prstGeom prst="rect">
            <a:avLst/>
          </a:prstGeom>
          <a:noFill/>
        </p:spPr>
        <p:txBody>
          <a:bodyPr wrap="square" rtlCol="0">
            <a:spAutoFit/>
          </a:bodyPr>
          <a:lstStyle/>
          <a:p>
            <a:r>
              <a:rPr lang="en-US" dirty="0"/>
              <a:t>No</a:t>
            </a:r>
          </a:p>
        </p:txBody>
      </p:sp>
      <mc:AlternateContent xmlns:mc="http://schemas.openxmlformats.org/markup-compatibility/2006" xmlns:a14="http://schemas.microsoft.com/office/drawing/2010/main">
        <mc:Choice Requires="a14">
          <p:sp>
            <p:nvSpPr>
              <p:cNvPr id="5" name="Content Placeholder 12">
                <a:extLst>
                  <a:ext uri="{FF2B5EF4-FFF2-40B4-BE49-F238E27FC236}">
                    <a16:creationId xmlns:a16="http://schemas.microsoft.com/office/drawing/2014/main" id="{2FC07461-7138-8BE0-8F8F-878CBBB0BACA}"/>
                  </a:ext>
                </a:extLst>
              </p:cNvPr>
              <p:cNvSpPr txBox="1">
                <a:spLocks/>
              </p:cNvSpPr>
              <p:nvPr/>
            </p:nvSpPr>
            <p:spPr>
              <a:xfrm>
                <a:off x="5934840" y="1986765"/>
                <a:ext cx="628169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cs typeface="Courier New" panose="02070309020205020404" pitchFamily="49" charset="0"/>
                  </a:rPr>
                  <a:t>If</a:t>
                </a:r>
              </a:p>
              <a:p>
                <a:pPr marL="0" indent="0">
                  <a:buNone/>
                </a:pPr>
                <a:r>
                  <a:rPr lang="en-US" sz="1800" b="1" dirty="0">
                    <a:latin typeface="Courier New" panose="02070309020205020404" pitchFamily="49" charset="0"/>
                    <a:cs typeface="Courier New" panose="02070309020205020404" pitchFamily="49" charset="0"/>
                  </a:rPr>
                  <a:t>	</a:t>
                </a:r>
                <a14:m>
                  <m:oMath xmlns:m="http://schemas.openxmlformats.org/officeDocument/2006/math">
                    <m:sSub>
                      <m:sSubPr>
                        <m:ctrlPr>
                          <a:rPr lang="en-US" sz="1800" b="1" i="1" smtClean="0">
                            <a:latin typeface="Cambria Math" panose="02040503050406030204" pitchFamily="18" charset="0"/>
                            <a:cs typeface="Courier New" panose="02070309020205020404" pitchFamily="49" charset="0"/>
                          </a:rPr>
                        </m:ctrlPr>
                      </m:sSubPr>
                      <m:e>
                        <m:r>
                          <a:rPr lang="en-US" sz="1800" b="1" i="1" smtClean="0">
                            <a:latin typeface="Cambria Math" panose="02040503050406030204" pitchFamily="18" charset="0"/>
                            <a:cs typeface="Courier New" panose="02070309020205020404" pitchFamily="49" charset="0"/>
                          </a:rPr>
                          <m:t>𝒙</m:t>
                        </m:r>
                      </m:e>
                      <m:sub>
                        <m:r>
                          <a:rPr lang="en-US" sz="1800" b="1" i="1" smtClean="0">
                            <a:latin typeface="Cambria Math" panose="02040503050406030204" pitchFamily="18" charset="0"/>
                            <a:cs typeface="Courier New" panose="02070309020205020404" pitchFamily="49" charset="0"/>
                          </a:rPr>
                          <m:t>𝟏</m:t>
                        </m:r>
                      </m:sub>
                    </m:sSub>
                    <m:r>
                      <a:rPr lang="en-US" sz="1800" b="1" i="1" smtClean="0">
                        <a:latin typeface="Cambria Math" panose="02040503050406030204" pitchFamily="18" charset="0"/>
                        <a:ea typeface="Cambria Math" panose="02040503050406030204" pitchFamily="18" charset="0"/>
                        <a:cs typeface="Courier New" panose="02070309020205020404" pitchFamily="49" charset="0"/>
                      </a:rPr>
                      <m:t>&gt;</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𝟑</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 </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𝒂𝒏𝒅</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 </m:t>
                    </m:r>
                    <m:sSub>
                      <m:sSubPr>
                        <m:ctrlPr>
                          <a:rPr lang="en-US" sz="1800" b="1" i="1" smtClean="0">
                            <a:latin typeface="Cambria Math" panose="02040503050406030204" pitchFamily="18" charset="0"/>
                            <a:ea typeface="Cambria Math" panose="02040503050406030204" pitchFamily="18" charset="0"/>
                            <a:cs typeface="Courier New" panose="02070309020205020404" pitchFamily="49" charset="0"/>
                          </a:rPr>
                        </m:ctrlPr>
                      </m:sSubPr>
                      <m:e>
                        <m:r>
                          <a:rPr lang="en-US" sz="1800" b="1" i="1" smtClean="0">
                            <a:latin typeface="Cambria Math" panose="02040503050406030204" pitchFamily="18" charset="0"/>
                            <a:ea typeface="Cambria Math" panose="02040503050406030204" pitchFamily="18" charset="0"/>
                            <a:cs typeface="Courier New" panose="02070309020205020404" pitchFamily="49" charset="0"/>
                          </a:rPr>
                          <m:t>𝒙</m:t>
                        </m:r>
                      </m:e>
                      <m:sub>
                        <m:r>
                          <a:rPr lang="en-US" sz="1800" b="1" i="1" smtClean="0">
                            <a:latin typeface="Cambria Math" panose="02040503050406030204" pitchFamily="18" charset="0"/>
                            <a:ea typeface="Cambria Math" panose="02040503050406030204" pitchFamily="18" charset="0"/>
                            <a:cs typeface="Courier New" panose="02070309020205020404" pitchFamily="49" charset="0"/>
                          </a:rPr>
                          <m:t>𝟐</m:t>
                        </m:r>
                      </m:sub>
                    </m:sSub>
                    <m:r>
                      <a:rPr lang="en-US" sz="1800" b="1" i="1" smtClean="0">
                        <a:latin typeface="Cambria Math" panose="02040503050406030204" pitchFamily="18" charset="0"/>
                        <a:ea typeface="Cambria Math" panose="02040503050406030204" pitchFamily="18" charset="0"/>
                        <a:cs typeface="Courier New" panose="02070309020205020404" pitchFamily="49" charset="0"/>
                      </a:rPr>
                      <m:t>≤</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𝟓</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 </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𝒂𝒏𝒅</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 </m:t>
                    </m:r>
                    <m:sSub>
                      <m:sSubPr>
                        <m:ctrlPr>
                          <a:rPr lang="en-US" sz="1800" b="1" i="1" smtClean="0">
                            <a:latin typeface="Cambria Math" panose="02040503050406030204" pitchFamily="18" charset="0"/>
                            <a:ea typeface="Cambria Math" panose="02040503050406030204" pitchFamily="18" charset="0"/>
                            <a:cs typeface="Courier New" panose="02070309020205020404" pitchFamily="49" charset="0"/>
                          </a:rPr>
                        </m:ctrlPr>
                      </m:sSubPr>
                      <m:e>
                        <m:r>
                          <a:rPr lang="en-US" sz="1800" b="1" i="1" smtClean="0">
                            <a:latin typeface="Cambria Math" panose="02040503050406030204" pitchFamily="18" charset="0"/>
                            <a:ea typeface="Cambria Math" panose="02040503050406030204" pitchFamily="18" charset="0"/>
                            <a:cs typeface="Courier New" panose="02070309020205020404" pitchFamily="49" charset="0"/>
                          </a:rPr>
                          <m:t>𝒙</m:t>
                        </m:r>
                      </m:e>
                      <m:sub>
                        <m:r>
                          <a:rPr lang="en-US" sz="1800" b="1" i="1" smtClean="0">
                            <a:latin typeface="Cambria Math" panose="02040503050406030204" pitchFamily="18" charset="0"/>
                            <a:ea typeface="Cambria Math" panose="02040503050406030204" pitchFamily="18" charset="0"/>
                            <a:cs typeface="Courier New" panose="02070309020205020404" pitchFamily="49" charset="0"/>
                          </a:rPr>
                          <m:t>𝟏</m:t>
                        </m:r>
                      </m:sub>
                    </m:sSub>
                    <m:r>
                      <a:rPr lang="en-US" sz="1800" b="1" i="1" smtClean="0">
                        <a:latin typeface="Cambria Math" panose="02040503050406030204" pitchFamily="18" charset="0"/>
                        <a:ea typeface="Cambria Math" panose="02040503050406030204" pitchFamily="18" charset="0"/>
                        <a:cs typeface="Courier New" panose="02070309020205020404" pitchFamily="49" charset="0"/>
                      </a:rPr>
                      <m:t>≤</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𝟔</m:t>
                    </m:r>
                  </m:oMath>
                </a14:m>
                <a:endParaRPr lang="en-US" sz="1800" b="1" dirty="0">
                  <a:latin typeface="Courier New" panose="02070309020205020404" pitchFamily="49" charset="0"/>
                  <a:cs typeface="Courier New" panose="02070309020205020404" pitchFamily="49" charset="0"/>
                </a:endParaRPr>
              </a:p>
              <a:p>
                <a:pPr marL="0" indent="0">
                  <a:buNone/>
                </a:pPr>
                <a:r>
                  <a:rPr lang="en-US" sz="1800" dirty="0">
                    <a:latin typeface="Courier New" panose="02070309020205020404" pitchFamily="49" charset="0"/>
                    <a:cs typeface="Courier New" panose="02070309020205020404" pitchFamily="49" charset="0"/>
                  </a:rPr>
                  <a:t>  </a:t>
                </a:r>
                <a:r>
                  <a:rPr lang="en-US" sz="1800" dirty="0">
                    <a:cs typeface="Courier New" panose="02070309020205020404" pitchFamily="49" charset="0"/>
                  </a:rPr>
                  <a:t>then</a:t>
                </a:r>
              </a:p>
              <a:p>
                <a:pPr marL="0" indent="0">
                  <a:buNone/>
                </a:pPr>
                <a:r>
                  <a:rPr lang="en-US" sz="1800" dirty="0">
                    <a:cs typeface="Courier New" panose="02070309020205020404" pitchFamily="49" charset="0"/>
                  </a:rPr>
                  <a:t>                 predicted class = class stored in C</a:t>
                </a:r>
              </a:p>
              <a:p>
                <a:endParaRPr lang="en-US" sz="1800" b="1" dirty="0">
                  <a:cs typeface="Courier New" panose="02070309020205020404" pitchFamily="49" charset="0"/>
                </a:endParaRPr>
              </a:p>
              <a:p>
                <a:r>
                  <a:rPr lang="en-US" sz="1800" dirty="0">
                    <a:cs typeface="Courier New" panose="02070309020205020404" pitchFamily="49" charset="0"/>
                  </a:rPr>
                  <a:t>Since regions C and E share the same label 1, then we can combine their Boolean expressions to represent when class 1 is predicted:</a:t>
                </a:r>
              </a:p>
              <a:p>
                <a:pPr marL="0" indent="0">
                  <a:buNone/>
                </a:pPr>
                <a:r>
                  <a:rPr lang="en-US" sz="1800" dirty="0">
                    <a:cs typeface="Courier New" panose="02070309020205020404" pitchFamily="49" charset="0"/>
                  </a:rPr>
                  <a:t>    Predicted class is  1 if</a:t>
                </a:r>
              </a:p>
              <a:p>
                <a:pPr marL="0" indent="0">
                  <a:buNone/>
                </a:pPr>
                <a:r>
                  <a:rPr lang="en-US" sz="1800" dirty="0">
                    <a:cs typeface="Courier New" panose="02070309020205020404" pitchFamily="49" charset="0"/>
                  </a:rPr>
                  <a:t>    (</a:t>
                </a:r>
                <a14:m>
                  <m:oMath xmlns:m="http://schemas.openxmlformats.org/officeDocument/2006/math">
                    <m:sSub>
                      <m:sSubPr>
                        <m:ctrlPr>
                          <a:rPr lang="en-US" sz="1800" b="1" i="1" smtClean="0">
                            <a:latin typeface="Cambria Math" panose="02040503050406030204" pitchFamily="18" charset="0"/>
                            <a:cs typeface="Courier New" panose="02070309020205020404" pitchFamily="49" charset="0"/>
                          </a:rPr>
                        </m:ctrlPr>
                      </m:sSubPr>
                      <m:e>
                        <m:r>
                          <a:rPr lang="en-US" sz="1800" b="1" i="1" smtClean="0">
                            <a:latin typeface="Cambria Math" panose="02040503050406030204" pitchFamily="18" charset="0"/>
                            <a:cs typeface="Courier New" panose="02070309020205020404" pitchFamily="49" charset="0"/>
                          </a:rPr>
                          <m:t>𝒙</m:t>
                        </m:r>
                      </m:e>
                      <m:sub>
                        <m:r>
                          <a:rPr lang="en-US" sz="1800" b="1" i="1" smtClean="0">
                            <a:latin typeface="Cambria Math" panose="02040503050406030204" pitchFamily="18" charset="0"/>
                            <a:cs typeface="Courier New" panose="02070309020205020404" pitchFamily="49" charset="0"/>
                          </a:rPr>
                          <m:t>𝟏</m:t>
                        </m:r>
                      </m:sub>
                    </m:sSub>
                    <m:r>
                      <a:rPr lang="en-US" sz="1800" b="1" i="1" smtClean="0">
                        <a:latin typeface="Cambria Math" panose="02040503050406030204" pitchFamily="18" charset="0"/>
                        <a:ea typeface="Cambria Math" panose="02040503050406030204" pitchFamily="18" charset="0"/>
                        <a:cs typeface="Courier New" panose="02070309020205020404" pitchFamily="49" charset="0"/>
                      </a:rPr>
                      <m:t>&gt;</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𝟑</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 </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𝒂𝒏𝒅</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 </m:t>
                    </m:r>
                    <m:sSub>
                      <m:sSubPr>
                        <m:ctrlPr>
                          <a:rPr lang="en-US" sz="1800" b="1" i="1" smtClean="0">
                            <a:latin typeface="Cambria Math" panose="02040503050406030204" pitchFamily="18" charset="0"/>
                            <a:ea typeface="Cambria Math" panose="02040503050406030204" pitchFamily="18" charset="0"/>
                            <a:cs typeface="Courier New" panose="02070309020205020404" pitchFamily="49" charset="0"/>
                          </a:rPr>
                        </m:ctrlPr>
                      </m:sSubPr>
                      <m:e>
                        <m:r>
                          <a:rPr lang="en-US" sz="1800" b="1" i="1" smtClean="0">
                            <a:latin typeface="Cambria Math" panose="02040503050406030204" pitchFamily="18" charset="0"/>
                            <a:ea typeface="Cambria Math" panose="02040503050406030204" pitchFamily="18" charset="0"/>
                            <a:cs typeface="Courier New" panose="02070309020205020404" pitchFamily="49" charset="0"/>
                          </a:rPr>
                          <m:t>𝒙</m:t>
                        </m:r>
                      </m:e>
                      <m:sub>
                        <m:r>
                          <a:rPr lang="en-US" sz="1800" b="1" i="1" smtClean="0">
                            <a:latin typeface="Cambria Math" panose="02040503050406030204" pitchFamily="18" charset="0"/>
                            <a:ea typeface="Cambria Math" panose="02040503050406030204" pitchFamily="18" charset="0"/>
                            <a:cs typeface="Courier New" panose="02070309020205020404" pitchFamily="49" charset="0"/>
                          </a:rPr>
                          <m:t>𝟐</m:t>
                        </m:r>
                      </m:sub>
                    </m:sSub>
                    <m:r>
                      <a:rPr lang="en-US" sz="1800" b="1" i="1" smtClean="0">
                        <a:latin typeface="Cambria Math" panose="02040503050406030204" pitchFamily="18" charset="0"/>
                        <a:ea typeface="Cambria Math" panose="02040503050406030204" pitchFamily="18" charset="0"/>
                        <a:cs typeface="Courier New" panose="02070309020205020404" pitchFamily="49" charset="0"/>
                      </a:rPr>
                      <m:t>≤</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𝟓</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 </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𝒂𝒏𝒅</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 </m:t>
                    </m:r>
                    <m:sSub>
                      <m:sSubPr>
                        <m:ctrlPr>
                          <a:rPr lang="en-US" sz="1800" b="1" i="1" smtClean="0">
                            <a:latin typeface="Cambria Math" panose="02040503050406030204" pitchFamily="18" charset="0"/>
                            <a:ea typeface="Cambria Math" panose="02040503050406030204" pitchFamily="18" charset="0"/>
                            <a:cs typeface="Courier New" panose="02070309020205020404" pitchFamily="49" charset="0"/>
                          </a:rPr>
                        </m:ctrlPr>
                      </m:sSubPr>
                      <m:e>
                        <m:r>
                          <a:rPr lang="en-US" sz="1800" b="1" i="1" smtClean="0">
                            <a:latin typeface="Cambria Math" panose="02040503050406030204" pitchFamily="18" charset="0"/>
                            <a:ea typeface="Cambria Math" panose="02040503050406030204" pitchFamily="18" charset="0"/>
                            <a:cs typeface="Courier New" panose="02070309020205020404" pitchFamily="49" charset="0"/>
                          </a:rPr>
                          <m:t>𝒙</m:t>
                        </m:r>
                      </m:e>
                      <m:sub>
                        <m:r>
                          <a:rPr lang="en-US" sz="1800" b="1" i="1" smtClean="0">
                            <a:latin typeface="Cambria Math" panose="02040503050406030204" pitchFamily="18" charset="0"/>
                            <a:ea typeface="Cambria Math" panose="02040503050406030204" pitchFamily="18" charset="0"/>
                            <a:cs typeface="Courier New" panose="02070309020205020404" pitchFamily="49" charset="0"/>
                          </a:rPr>
                          <m:t>𝟏</m:t>
                        </m:r>
                      </m:sub>
                    </m:sSub>
                    <m:r>
                      <a:rPr lang="en-US" sz="1800" b="1" i="1" smtClean="0">
                        <a:latin typeface="Cambria Math" panose="02040503050406030204" pitchFamily="18" charset="0"/>
                        <a:ea typeface="Cambria Math" panose="02040503050406030204" pitchFamily="18" charset="0"/>
                        <a:cs typeface="Courier New" panose="02070309020205020404" pitchFamily="49" charset="0"/>
                      </a:rPr>
                      <m:t>≤</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𝟔</m:t>
                    </m:r>
                  </m:oMath>
                </a14:m>
                <a:r>
                  <a:rPr lang="en-US" sz="1800" dirty="0">
                    <a:cs typeface="Courier New" panose="02070309020205020404" pitchFamily="49" charset="0"/>
                  </a:rPr>
                  <a:t>) or  (</a:t>
                </a:r>
                <a14:m>
                  <m:oMath xmlns:m="http://schemas.openxmlformats.org/officeDocument/2006/math">
                    <m:sSub>
                      <m:sSubPr>
                        <m:ctrlPr>
                          <a:rPr lang="en-US" sz="1800" b="1" i="1" smtClean="0">
                            <a:latin typeface="Cambria Math" panose="02040503050406030204" pitchFamily="18" charset="0"/>
                            <a:cs typeface="Courier New" panose="02070309020205020404" pitchFamily="49" charset="0"/>
                          </a:rPr>
                        </m:ctrlPr>
                      </m:sSubPr>
                      <m:e>
                        <m:r>
                          <a:rPr lang="en-US" sz="1800" b="1" i="1" smtClean="0">
                            <a:latin typeface="Cambria Math" panose="02040503050406030204" pitchFamily="18" charset="0"/>
                            <a:cs typeface="Courier New" panose="02070309020205020404" pitchFamily="49" charset="0"/>
                          </a:rPr>
                          <m:t>𝒙</m:t>
                        </m:r>
                      </m:e>
                      <m:sub>
                        <m:r>
                          <a:rPr lang="en-US" sz="1800" b="1" i="1" smtClean="0">
                            <a:latin typeface="Cambria Math" panose="02040503050406030204" pitchFamily="18" charset="0"/>
                            <a:cs typeface="Courier New" panose="02070309020205020404" pitchFamily="49" charset="0"/>
                          </a:rPr>
                          <m:t>𝟏</m:t>
                        </m:r>
                      </m:sub>
                    </m:sSub>
                    <m:r>
                      <a:rPr lang="en-US" sz="1800" b="1" i="1" smtClean="0">
                        <a:latin typeface="Cambria Math" panose="02040503050406030204" pitchFamily="18" charset="0"/>
                        <a:ea typeface="Cambria Math" panose="02040503050406030204" pitchFamily="18" charset="0"/>
                        <a:cs typeface="Courier New" panose="02070309020205020404" pitchFamily="49" charset="0"/>
                      </a:rPr>
                      <m:t>&gt;</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𝟑</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 </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𝒂𝒏𝒅</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 </m:t>
                    </m:r>
                    <m:sSub>
                      <m:sSubPr>
                        <m:ctrlPr>
                          <a:rPr lang="en-US" sz="1800" b="1" i="1" smtClean="0">
                            <a:latin typeface="Cambria Math" panose="02040503050406030204" pitchFamily="18" charset="0"/>
                            <a:ea typeface="Cambria Math" panose="02040503050406030204" pitchFamily="18" charset="0"/>
                            <a:cs typeface="Courier New" panose="02070309020205020404" pitchFamily="49" charset="0"/>
                          </a:rPr>
                        </m:ctrlPr>
                      </m:sSubPr>
                      <m:e>
                        <m:r>
                          <a:rPr lang="en-US" sz="1800" b="1" i="1" smtClean="0">
                            <a:latin typeface="Cambria Math" panose="02040503050406030204" pitchFamily="18" charset="0"/>
                            <a:ea typeface="Cambria Math" panose="02040503050406030204" pitchFamily="18" charset="0"/>
                            <a:cs typeface="Courier New" panose="02070309020205020404" pitchFamily="49" charset="0"/>
                          </a:rPr>
                          <m:t>𝒙</m:t>
                        </m:r>
                      </m:e>
                      <m:sub>
                        <m:r>
                          <a:rPr lang="en-US" sz="1800" b="1" i="1" smtClean="0">
                            <a:latin typeface="Cambria Math" panose="02040503050406030204" pitchFamily="18" charset="0"/>
                            <a:ea typeface="Cambria Math" panose="02040503050406030204" pitchFamily="18" charset="0"/>
                            <a:cs typeface="Courier New" panose="02070309020205020404" pitchFamily="49" charset="0"/>
                          </a:rPr>
                          <m:t>𝟐</m:t>
                        </m:r>
                      </m:sub>
                    </m:sSub>
                    <m:r>
                      <a:rPr lang="en-US" sz="1800" b="1" i="1">
                        <a:latin typeface="Cambria Math" panose="02040503050406030204" pitchFamily="18" charset="0"/>
                        <a:ea typeface="Cambria Math" panose="02040503050406030204" pitchFamily="18" charset="0"/>
                        <a:cs typeface="Courier New" panose="02070309020205020404" pitchFamily="49" charset="0"/>
                      </a:rPr>
                      <m:t>&gt;</m:t>
                    </m:r>
                    <m:r>
                      <a:rPr lang="en-US" sz="1800" b="1" i="1" smtClean="0">
                        <a:latin typeface="Cambria Math" panose="02040503050406030204" pitchFamily="18" charset="0"/>
                        <a:ea typeface="Cambria Math" panose="02040503050406030204" pitchFamily="18" charset="0"/>
                        <a:cs typeface="Courier New" panose="02070309020205020404" pitchFamily="49" charset="0"/>
                      </a:rPr>
                      <m:t>𝟓</m:t>
                    </m:r>
                  </m:oMath>
                </a14:m>
                <a:r>
                  <a:rPr lang="en-US" sz="1800" dirty="0">
                    <a:cs typeface="Courier New" panose="02070309020205020404" pitchFamily="49" charset="0"/>
                  </a:rPr>
                  <a:t>)</a:t>
                </a:r>
              </a:p>
              <a:p>
                <a:pPr marL="0" indent="0">
                  <a:buNone/>
                </a:pPr>
                <a:endParaRPr lang="en-US" sz="1800" dirty="0">
                  <a:latin typeface="Calibri" panose="020F0502020204030204" pitchFamily="34" charset="0"/>
                  <a:cs typeface="Calibri" panose="020F0502020204030204" pitchFamily="34" charset="0"/>
                </a:endParaRPr>
              </a:p>
            </p:txBody>
          </p:sp>
        </mc:Choice>
        <mc:Fallback xmlns="">
          <p:sp>
            <p:nvSpPr>
              <p:cNvPr id="5" name="Content Placeholder 12">
                <a:extLst>
                  <a:ext uri="{FF2B5EF4-FFF2-40B4-BE49-F238E27FC236}">
                    <a16:creationId xmlns:a16="http://schemas.microsoft.com/office/drawing/2014/main" id="{2FC07461-7138-8BE0-8F8F-878CBBB0BACA}"/>
                  </a:ext>
                </a:extLst>
              </p:cNvPr>
              <p:cNvSpPr txBox="1">
                <a:spLocks noRot="1" noChangeAspect="1" noMove="1" noResize="1" noEditPoints="1" noAdjustHandles="1" noChangeArrowheads="1" noChangeShapeType="1" noTextEdit="1"/>
              </p:cNvSpPr>
              <p:nvPr/>
            </p:nvSpPr>
            <p:spPr>
              <a:xfrm>
                <a:off x="5934840" y="1986765"/>
                <a:ext cx="6281691" cy="4351338"/>
              </a:xfrm>
              <a:prstGeom prst="rect">
                <a:avLst/>
              </a:prstGeom>
              <a:blipFill>
                <a:blip r:embed="rId12"/>
                <a:stretch>
                  <a:fillRect l="-680" t="-1401"/>
                </a:stretch>
              </a:blipFill>
            </p:spPr>
            <p:txBody>
              <a:bodyPr/>
              <a:lstStyle/>
              <a:p>
                <a:r>
                  <a:rPr lang="en-US">
                    <a:noFill/>
                  </a:rPr>
                  <a:t> </a:t>
                </a:r>
              </a:p>
            </p:txBody>
          </p:sp>
        </mc:Fallback>
      </mc:AlternateContent>
    </p:spTree>
    <p:extLst>
      <p:ext uri="{BB962C8B-B14F-4D97-AF65-F5344CB8AC3E}">
        <p14:creationId xmlns:p14="http://schemas.microsoft.com/office/powerpoint/2010/main" val="2874056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F8772-199A-46F8-B4C1-8A6EEEC30362}"/>
              </a:ext>
            </a:extLst>
          </p:cNvPr>
          <p:cNvSpPr>
            <a:spLocks noGrp="1"/>
          </p:cNvSpPr>
          <p:nvPr>
            <p:ph type="title"/>
          </p:nvPr>
        </p:nvSpPr>
        <p:spPr/>
        <p:txBody>
          <a:bodyPr/>
          <a:lstStyle/>
          <a:p>
            <a:r>
              <a:rPr lang="en-US" b="1" dirty="0"/>
              <a:t>How to construct a tree? </a:t>
            </a:r>
            <a:br>
              <a:rPr lang="en-US" b="1" dirty="0"/>
            </a:br>
            <a:r>
              <a:rPr lang="en-US" b="1" dirty="0"/>
              <a:t>Training Phase </a:t>
            </a:r>
          </a:p>
        </p:txBody>
      </p:sp>
    </p:spTree>
    <p:extLst>
      <p:ext uri="{BB962C8B-B14F-4D97-AF65-F5344CB8AC3E}">
        <p14:creationId xmlns:p14="http://schemas.microsoft.com/office/powerpoint/2010/main" val="1580188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F8772-199A-46F8-B4C1-8A6EEEC30362}"/>
              </a:ext>
            </a:extLst>
          </p:cNvPr>
          <p:cNvSpPr>
            <a:spLocks noGrp="1"/>
          </p:cNvSpPr>
          <p:nvPr>
            <p:ph type="title"/>
          </p:nvPr>
        </p:nvSpPr>
        <p:spPr/>
        <p:txBody>
          <a:bodyPr/>
          <a:lstStyle/>
          <a:p>
            <a:r>
              <a:rPr lang="en-US" b="1" dirty="0"/>
              <a:t>Optimal Tree</a:t>
            </a:r>
          </a:p>
        </p:txBody>
      </p:sp>
      <p:sp>
        <p:nvSpPr>
          <p:cNvPr id="4" name="Content Placeholder 3">
            <a:extLst>
              <a:ext uri="{FF2B5EF4-FFF2-40B4-BE49-F238E27FC236}">
                <a16:creationId xmlns:a16="http://schemas.microsoft.com/office/drawing/2014/main" id="{2345C85F-D621-4281-9CB3-05D74D42781D}"/>
              </a:ext>
            </a:extLst>
          </p:cNvPr>
          <p:cNvSpPr>
            <a:spLocks noGrp="1"/>
          </p:cNvSpPr>
          <p:nvPr>
            <p:ph idx="1"/>
          </p:nvPr>
        </p:nvSpPr>
        <p:spPr>
          <a:xfrm>
            <a:off x="838200" y="1870841"/>
            <a:ext cx="10515600" cy="4306122"/>
          </a:xfrm>
        </p:spPr>
        <p:txBody>
          <a:bodyPr>
            <a:normAutofit fontScale="92500" lnSpcReduction="20000"/>
          </a:bodyPr>
          <a:lstStyle/>
          <a:p>
            <a:pPr>
              <a:lnSpc>
                <a:spcPct val="110000"/>
              </a:lnSpc>
            </a:pPr>
            <a:r>
              <a:rPr lang="en-US" dirty="0"/>
              <a:t>Given a training set, how we can build a tree? </a:t>
            </a:r>
          </a:p>
          <a:p>
            <a:pPr marL="0" indent="0">
              <a:lnSpc>
                <a:spcPct val="110000"/>
              </a:lnSpc>
              <a:buNone/>
            </a:pPr>
            <a:endParaRPr lang="en-US" dirty="0"/>
          </a:p>
          <a:p>
            <a:pPr>
              <a:lnSpc>
                <a:spcPct val="110000"/>
              </a:lnSpc>
            </a:pPr>
            <a:r>
              <a:rPr lang="en-US" dirty="0"/>
              <a:t>We need to know:</a:t>
            </a:r>
          </a:p>
          <a:p>
            <a:pPr lvl="1">
              <a:lnSpc>
                <a:spcPct val="110000"/>
              </a:lnSpc>
              <a:buFont typeface="Courier New" panose="02070309020205020404" pitchFamily="49" charset="0"/>
              <a:buChar char="o"/>
            </a:pPr>
            <a:r>
              <a:rPr lang="en-US" dirty="0"/>
              <a:t>how many nodes to choose and, </a:t>
            </a:r>
          </a:p>
          <a:p>
            <a:pPr lvl="1">
              <a:lnSpc>
                <a:spcPct val="110000"/>
              </a:lnSpc>
              <a:buFont typeface="Courier New" panose="02070309020205020404" pitchFamily="49" charset="0"/>
              <a:buChar char="o"/>
            </a:pPr>
            <a:r>
              <a:rPr lang="en-US" dirty="0"/>
              <a:t>for each node, which feature to choose and which threshold value to choose for that feature. </a:t>
            </a:r>
          </a:p>
          <a:p>
            <a:pPr marL="0" indent="0">
              <a:lnSpc>
                <a:spcPct val="110000"/>
              </a:lnSpc>
              <a:buNone/>
            </a:pPr>
            <a:endParaRPr lang="en-US" dirty="0"/>
          </a:p>
          <a:p>
            <a:pPr>
              <a:lnSpc>
                <a:spcPct val="110000"/>
              </a:lnSpc>
            </a:pPr>
            <a:r>
              <a:rPr lang="en-US" dirty="0"/>
              <a:t>What do you think the best or optimal tree would be ?</a:t>
            </a:r>
          </a:p>
          <a:p>
            <a:pPr lvl="1">
              <a:lnSpc>
                <a:spcPct val="110000"/>
              </a:lnSpc>
              <a:buFont typeface="Courier New" panose="02070309020205020404" pitchFamily="49" charset="0"/>
              <a:buChar char="o"/>
            </a:pPr>
            <a:r>
              <a:rPr lang="en-US" dirty="0"/>
              <a:t>Tree Structure</a:t>
            </a:r>
          </a:p>
          <a:p>
            <a:pPr lvl="1">
              <a:lnSpc>
                <a:spcPct val="110000"/>
              </a:lnSpc>
              <a:buFont typeface="Courier New" panose="02070309020205020404" pitchFamily="49" charset="0"/>
              <a:buChar char="o"/>
            </a:pPr>
            <a:r>
              <a:rPr lang="en-US" dirty="0"/>
              <a:t>Predictive Power</a:t>
            </a:r>
          </a:p>
          <a:p>
            <a:pPr marL="0" indent="0">
              <a:lnSpc>
                <a:spcPct val="110000"/>
              </a:lnSpc>
              <a:buNone/>
            </a:pPr>
            <a:endParaRPr lang="en-US" dirty="0"/>
          </a:p>
        </p:txBody>
      </p:sp>
    </p:spTree>
    <p:extLst>
      <p:ext uri="{BB962C8B-B14F-4D97-AF65-F5344CB8AC3E}">
        <p14:creationId xmlns:p14="http://schemas.microsoft.com/office/powerpoint/2010/main" val="983509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1F3EE-0474-DFE7-29B6-C35404856656}"/>
              </a:ext>
            </a:extLst>
          </p:cNvPr>
          <p:cNvSpPr>
            <a:spLocks noGrp="1"/>
          </p:cNvSpPr>
          <p:nvPr>
            <p:ph type="title"/>
          </p:nvPr>
        </p:nvSpPr>
        <p:spPr/>
        <p:txBody>
          <a:bodyPr/>
          <a:lstStyle/>
          <a:p>
            <a:r>
              <a:rPr lang="en-US" b="1" dirty="0"/>
              <a:t>Optimal Tree</a:t>
            </a:r>
          </a:p>
        </p:txBody>
      </p:sp>
      <p:sp>
        <p:nvSpPr>
          <p:cNvPr id="3" name="Content Placeholder 2">
            <a:extLst>
              <a:ext uri="{FF2B5EF4-FFF2-40B4-BE49-F238E27FC236}">
                <a16:creationId xmlns:a16="http://schemas.microsoft.com/office/drawing/2014/main" id="{33702103-B6C5-0581-3364-6D1F52E80D60}"/>
              </a:ext>
            </a:extLst>
          </p:cNvPr>
          <p:cNvSpPr>
            <a:spLocks noGrp="1"/>
          </p:cNvSpPr>
          <p:nvPr>
            <p:ph idx="1"/>
          </p:nvPr>
        </p:nvSpPr>
        <p:spPr/>
        <p:txBody>
          <a:bodyPr>
            <a:normAutofit fontScale="92500" lnSpcReduction="10000"/>
          </a:bodyPr>
          <a:lstStyle/>
          <a:p>
            <a:pPr algn="ctr">
              <a:lnSpc>
                <a:spcPct val="110000"/>
              </a:lnSpc>
            </a:pPr>
            <a:r>
              <a:rPr lang="en-US" sz="2400" dirty="0"/>
              <a:t>“</a:t>
            </a:r>
            <a:r>
              <a:rPr lang="en-US" sz="2400" i="1" dirty="0"/>
              <a:t>An optimal tree in one which minimizes the expected number of tests required to identify the unknown object</a:t>
            </a:r>
            <a:r>
              <a:rPr lang="en-US" sz="2400" dirty="0"/>
              <a:t>” – </a:t>
            </a:r>
            <a:r>
              <a:rPr lang="en-US" sz="2400" dirty="0">
                <a:hlinkClick r:id="rId2"/>
              </a:rPr>
              <a:t>Source</a:t>
            </a:r>
            <a:endParaRPr lang="en-US" sz="2400" dirty="0"/>
          </a:p>
          <a:p>
            <a:pPr>
              <a:lnSpc>
                <a:spcPct val="110000"/>
              </a:lnSpc>
            </a:pPr>
            <a:endParaRPr lang="en-US" sz="2400" dirty="0"/>
          </a:p>
          <a:p>
            <a:pPr>
              <a:lnSpc>
                <a:spcPct val="110000"/>
              </a:lnSpc>
            </a:pPr>
            <a:r>
              <a:rPr lang="en-US" sz="2400" dirty="0"/>
              <a:t>The best or optimal is a tree that:</a:t>
            </a:r>
          </a:p>
          <a:p>
            <a:pPr lvl="1">
              <a:lnSpc>
                <a:spcPct val="110000"/>
              </a:lnSpc>
              <a:buFont typeface="Courier New" panose="02070309020205020404" pitchFamily="49" charset="0"/>
              <a:buChar char="o"/>
            </a:pPr>
            <a:r>
              <a:rPr lang="en-US" dirty="0"/>
              <a:t>has the smallest depth possible and </a:t>
            </a:r>
          </a:p>
          <a:p>
            <a:pPr lvl="1">
              <a:lnSpc>
                <a:spcPct val="110000"/>
              </a:lnSpc>
              <a:buFont typeface="Courier New" panose="02070309020205020404" pitchFamily="49" charset="0"/>
              <a:buChar char="o"/>
            </a:pPr>
            <a:r>
              <a:rPr lang="en-US" dirty="0"/>
              <a:t>ends up with pure regions (classification) or regions with the smallest mean squared error possible (regression).</a:t>
            </a:r>
          </a:p>
          <a:p>
            <a:pPr>
              <a:lnSpc>
                <a:spcPct val="110000"/>
              </a:lnSpc>
            </a:pPr>
            <a:r>
              <a:rPr lang="en-US" sz="2400" dirty="0"/>
              <a:t>Why do we care about the depth of tree? </a:t>
            </a:r>
          </a:p>
          <a:p>
            <a:pPr lvl="1">
              <a:lnSpc>
                <a:spcPct val="110000"/>
              </a:lnSpc>
              <a:buFont typeface="Courier New" panose="02070309020205020404" pitchFamily="49" charset="0"/>
              <a:buChar char="o"/>
            </a:pPr>
            <a:r>
              <a:rPr lang="en-US" dirty="0"/>
              <a:t>Deep trees are more prone to overfitting. </a:t>
            </a:r>
          </a:p>
          <a:p>
            <a:pPr lvl="1">
              <a:lnSpc>
                <a:spcPct val="110000"/>
              </a:lnSpc>
              <a:buFont typeface="Courier New" panose="02070309020205020404" pitchFamily="49" charset="0"/>
              <a:buChar char="o"/>
            </a:pPr>
            <a:r>
              <a:rPr lang="en-US" dirty="0"/>
              <a:t>Shallow trees are more prone to underfitting. </a:t>
            </a:r>
          </a:p>
        </p:txBody>
      </p:sp>
    </p:spTree>
    <p:extLst>
      <p:ext uri="{BB962C8B-B14F-4D97-AF65-F5344CB8AC3E}">
        <p14:creationId xmlns:p14="http://schemas.microsoft.com/office/powerpoint/2010/main" val="2547372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60B5-F01F-45BA-98F9-42BDC03F4E34}"/>
              </a:ext>
            </a:extLst>
          </p:cNvPr>
          <p:cNvSpPr>
            <a:spLocks noGrp="1"/>
          </p:cNvSpPr>
          <p:nvPr>
            <p:ph type="title"/>
          </p:nvPr>
        </p:nvSpPr>
        <p:spPr/>
        <p:txBody>
          <a:bodyPr/>
          <a:lstStyle/>
          <a:p>
            <a:r>
              <a:rPr lang="en-US" b="1" dirty="0"/>
              <a:t>Example</a:t>
            </a:r>
          </a:p>
        </p:txBody>
      </p:sp>
      <p:graphicFrame>
        <p:nvGraphicFramePr>
          <p:cNvPr id="3" name="Table 6">
            <a:extLst>
              <a:ext uri="{FF2B5EF4-FFF2-40B4-BE49-F238E27FC236}">
                <a16:creationId xmlns:a16="http://schemas.microsoft.com/office/drawing/2014/main" id="{AA4EAEFD-98F7-19CD-5DBA-6104860844E4}"/>
              </a:ext>
            </a:extLst>
          </p:cNvPr>
          <p:cNvGraphicFramePr>
            <a:graphicFrameLocks noGrp="1"/>
          </p:cNvGraphicFramePr>
          <p:nvPr>
            <p:extLst>
              <p:ext uri="{D42A27DB-BD31-4B8C-83A1-F6EECF244321}">
                <p14:modId xmlns:p14="http://schemas.microsoft.com/office/powerpoint/2010/main" val="1256922832"/>
              </p:ext>
            </p:extLst>
          </p:nvPr>
        </p:nvGraphicFramePr>
        <p:xfrm>
          <a:off x="838200" y="1964188"/>
          <a:ext cx="5426725" cy="3981514"/>
        </p:xfrm>
        <a:graphic>
          <a:graphicData uri="http://schemas.openxmlformats.org/drawingml/2006/table">
            <a:tbl>
              <a:tblPr firstRow="1" bandRow="1">
                <a:tableStyleId>{F5AB1C69-6EDB-4FF4-983F-18BD219EF322}</a:tableStyleId>
              </a:tblPr>
              <a:tblGrid>
                <a:gridCol w="777301">
                  <a:extLst>
                    <a:ext uri="{9D8B030D-6E8A-4147-A177-3AD203B41FA5}">
                      <a16:colId xmlns:a16="http://schemas.microsoft.com/office/drawing/2014/main" val="3526469092"/>
                    </a:ext>
                  </a:extLst>
                </a:gridCol>
                <a:gridCol w="936434">
                  <a:extLst>
                    <a:ext uri="{9D8B030D-6E8A-4147-A177-3AD203B41FA5}">
                      <a16:colId xmlns:a16="http://schemas.microsoft.com/office/drawing/2014/main" val="1446117505"/>
                    </a:ext>
                  </a:extLst>
                </a:gridCol>
                <a:gridCol w="1377109">
                  <a:extLst>
                    <a:ext uri="{9D8B030D-6E8A-4147-A177-3AD203B41FA5}">
                      <a16:colId xmlns:a16="http://schemas.microsoft.com/office/drawing/2014/main" val="3028938930"/>
                    </a:ext>
                  </a:extLst>
                </a:gridCol>
                <a:gridCol w="2335881">
                  <a:extLst>
                    <a:ext uri="{9D8B030D-6E8A-4147-A177-3AD203B41FA5}">
                      <a16:colId xmlns:a16="http://schemas.microsoft.com/office/drawing/2014/main" val="211939407"/>
                    </a:ext>
                  </a:extLst>
                </a:gridCol>
              </a:tblGrid>
              <a:tr h="0">
                <a:tc>
                  <a:txBody>
                    <a:bodyPr/>
                    <a:lstStyle/>
                    <a:p>
                      <a:r>
                        <a:rPr lang="en-US" dirty="0"/>
                        <a:t>age</a:t>
                      </a:r>
                    </a:p>
                  </a:txBody>
                  <a:tcPr/>
                </a:tc>
                <a:tc>
                  <a:txBody>
                    <a:bodyPr/>
                    <a:lstStyle/>
                    <a:p>
                      <a:r>
                        <a:rPr lang="en-US" dirty="0"/>
                        <a:t>gender</a:t>
                      </a:r>
                    </a:p>
                  </a:txBody>
                  <a:tcPr/>
                </a:tc>
                <a:tc>
                  <a:txBody>
                    <a:bodyPr/>
                    <a:lstStyle/>
                    <a:p>
                      <a:r>
                        <a:rPr lang="en-US" dirty="0" err="1"/>
                        <a:t>is_smoking</a:t>
                      </a:r>
                      <a:endParaRPr lang="en-US" dirty="0"/>
                    </a:p>
                  </a:txBody>
                  <a:tcPr/>
                </a:tc>
                <a:tc>
                  <a:txBody>
                    <a:bodyPr/>
                    <a:lstStyle/>
                    <a:p>
                      <a:r>
                        <a:rPr lang="en-US" dirty="0" err="1"/>
                        <a:t>TenYear</a:t>
                      </a:r>
                      <a:r>
                        <a:rPr lang="en-US" dirty="0"/>
                        <a:t> Coronary </a:t>
                      </a:r>
                    </a:p>
                    <a:p>
                      <a:r>
                        <a:rPr lang="en-US" dirty="0"/>
                        <a:t>Heart Disease (TYCD)</a:t>
                      </a:r>
                    </a:p>
                  </a:txBody>
                  <a:tcPr/>
                </a:tc>
                <a:extLst>
                  <a:ext uri="{0D108BD9-81ED-4DB2-BD59-A6C34878D82A}">
                    <a16:rowId xmlns:a16="http://schemas.microsoft.com/office/drawing/2014/main" val="93068611"/>
                  </a:ext>
                </a:extLst>
              </a:tr>
              <a:tr h="370840">
                <a:tc>
                  <a:txBody>
                    <a:bodyPr/>
                    <a:lstStyle/>
                    <a:p>
                      <a:r>
                        <a:rPr lang="en-US" dirty="0"/>
                        <a:t>64</a:t>
                      </a:r>
                    </a:p>
                  </a:txBody>
                  <a:tcPr/>
                </a:tc>
                <a:tc>
                  <a:txBody>
                    <a:bodyPr/>
                    <a:lstStyle/>
                    <a:p>
                      <a:r>
                        <a:rPr lang="en-US" dirty="0"/>
                        <a:t>F</a:t>
                      </a:r>
                    </a:p>
                  </a:txBody>
                  <a:tcPr/>
                </a:tc>
                <a:tc>
                  <a:txBody>
                    <a:bodyPr/>
                    <a:lstStyle/>
                    <a:p>
                      <a:r>
                        <a:rPr lang="en-US" dirty="0"/>
                        <a:t>Yes</a:t>
                      </a:r>
                    </a:p>
                  </a:txBody>
                  <a:tcPr/>
                </a:tc>
                <a:tc>
                  <a:txBody>
                    <a:bodyPr/>
                    <a:lstStyle/>
                    <a:p>
                      <a:r>
                        <a:rPr lang="en-US" dirty="0"/>
                        <a:t>1</a:t>
                      </a:r>
                    </a:p>
                  </a:txBody>
                  <a:tcPr/>
                </a:tc>
                <a:extLst>
                  <a:ext uri="{0D108BD9-81ED-4DB2-BD59-A6C34878D82A}">
                    <a16:rowId xmlns:a16="http://schemas.microsoft.com/office/drawing/2014/main" val="3420190614"/>
                  </a:ext>
                </a:extLst>
              </a:tr>
              <a:tr h="370840">
                <a:tc>
                  <a:txBody>
                    <a:bodyPr/>
                    <a:lstStyle/>
                    <a:p>
                      <a:r>
                        <a:rPr lang="en-US" dirty="0"/>
                        <a:t>37</a:t>
                      </a:r>
                    </a:p>
                  </a:txBody>
                  <a:tcPr/>
                </a:tc>
                <a:tc>
                  <a:txBody>
                    <a:bodyPr/>
                    <a:lstStyle/>
                    <a:p>
                      <a:r>
                        <a:rPr lang="en-US" dirty="0"/>
                        <a:t>M</a:t>
                      </a:r>
                    </a:p>
                  </a:txBody>
                  <a:tcPr/>
                </a:tc>
                <a:tc>
                  <a:txBody>
                    <a:bodyPr/>
                    <a:lstStyle/>
                    <a:p>
                      <a:r>
                        <a:rPr lang="en-US" dirty="0"/>
                        <a:t>No</a:t>
                      </a:r>
                    </a:p>
                  </a:txBody>
                  <a:tcPr/>
                </a:tc>
                <a:tc>
                  <a:txBody>
                    <a:bodyPr/>
                    <a:lstStyle/>
                    <a:p>
                      <a:r>
                        <a:rPr lang="en-US" dirty="0"/>
                        <a:t>0</a:t>
                      </a:r>
                    </a:p>
                  </a:txBody>
                  <a:tcPr/>
                </a:tc>
                <a:extLst>
                  <a:ext uri="{0D108BD9-81ED-4DB2-BD59-A6C34878D82A}">
                    <a16:rowId xmlns:a16="http://schemas.microsoft.com/office/drawing/2014/main" val="495913374"/>
                  </a:ext>
                </a:extLst>
              </a:tr>
              <a:tr h="370840">
                <a:tc>
                  <a:txBody>
                    <a:bodyPr/>
                    <a:lstStyle/>
                    <a:p>
                      <a:r>
                        <a:rPr lang="en-US" dirty="0"/>
                        <a:t>36</a:t>
                      </a:r>
                    </a:p>
                  </a:txBody>
                  <a:tcPr/>
                </a:tc>
                <a:tc>
                  <a:txBody>
                    <a:bodyPr/>
                    <a:lstStyle/>
                    <a:p>
                      <a:r>
                        <a:rPr lang="en-US" dirty="0"/>
                        <a:t>F</a:t>
                      </a:r>
                    </a:p>
                  </a:txBody>
                  <a:tcPr/>
                </a:tc>
                <a:tc>
                  <a:txBody>
                    <a:bodyPr/>
                    <a:lstStyle/>
                    <a:p>
                      <a:r>
                        <a:rPr lang="en-US" dirty="0"/>
                        <a:t>Yes</a:t>
                      </a:r>
                    </a:p>
                  </a:txBody>
                  <a:tcPr/>
                </a:tc>
                <a:tc>
                  <a:txBody>
                    <a:bodyPr/>
                    <a:lstStyle/>
                    <a:p>
                      <a:r>
                        <a:rPr lang="en-US" dirty="0"/>
                        <a:t>1</a:t>
                      </a:r>
                    </a:p>
                  </a:txBody>
                  <a:tcPr/>
                </a:tc>
                <a:extLst>
                  <a:ext uri="{0D108BD9-81ED-4DB2-BD59-A6C34878D82A}">
                    <a16:rowId xmlns:a16="http://schemas.microsoft.com/office/drawing/2014/main" val="2768857902"/>
                  </a:ext>
                </a:extLst>
              </a:tr>
              <a:tr h="308429">
                <a:tc>
                  <a:txBody>
                    <a:bodyPr/>
                    <a:lstStyle/>
                    <a:p>
                      <a:r>
                        <a:rPr lang="en-US" dirty="0"/>
                        <a:t>50</a:t>
                      </a:r>
                    </a:p>
                  </a:txBody>
                  <a:tcPr/>
                </a:tc>
                <a:tc>
                  <a:txBody>
                    <a:bodyPr/>
                    <a:lstStyle/>
                    <a:p>
                      <a:r>
                        <a:rPr lang="en-US" dirty="0"/>
                        <a:t>M</a:t>
                      </a:r>
                    </a:p>
                  </a:txBody>
                  <a:tcPr/>
                </a:tc>
                <a:tc>
                  <a:txBody>
                    <a:bodyPr/>
                    <a:lstStyle/>
                    <a:p>
                      <a:r>
                        <a:rPr lang="en-US" dirty="0"/>
                        <a:t>Yes</a:t>
                      </a:r>
                    </a:p>
                  </a:txBody>
                  <a:tcPr/>
                </a:tc>
                <a:tc>
                  <a:txBody>
                    <a:bodyPr/>
                    <a:lstStyle/>
                    <a:p>
                      <a:r>
                        <a:rPr lang="en-US" dirty="0"/>
                        <a:t>1</a:t>
                      </a:r>
                    </a:p>
                  </a:txBody>
                  <a:tcPr/>
                </a:tc>
                <a:extLst>
                  <a:ext uri="{0D108BD9-81ED-4DB2-BD59-A6C34878D82A}">
                    <a16:rowId xmlns:a16="http://schemas.microsoft.com/office/drawing/2014/main" val="4239376598"/>
                  </a:ext>
                </a:extLst>
              </a:tr>
              <a:tr h="370840">
                <a:tc>
                  <a:txBody>
                    <a:bodyPr/>
                    <a:lstStyle/>
                    <a:p>
                      <a:r>
                        <a:rPr lang="en-US" dirty="0"/>
                        <a:t>64</a:t>
                      </a:r>
                    </a:p>
                  </a:txBody>
                  <a:tcPr/>
                </a:tc>
                <a:tc>
                  <a:txBody>
                    <a:bodyPr/>
                    <a:lstStyle/>
                    <a:p>
                      <a:r>
                        <a:rPr lang="en-US" dirty="0"/>
                        <a:t>F</a:t>
                      </a:r>
                    </a:p>
                  </a:txBody>
                  <a:tcPr/>
                </a:tc>
                <a:tc>
                  <a:txBody>
                    <a:bodyPr/>
                    <a:lstStyle/>
                    <a:p>
                      <a:r>
                        <a:rPr lang="en-US" dirty="0"/>
                        <a:t>Yes</a:t>
                      </a:r>
                    </a:p>
                  </a:txBody>
                  <a:tcPr/>
                </a:tc>
                <a:tc>
                  <a:txBody>
                    <a:bodyPr/>
                    <a:lstStyle/>
                    <a:p>
                      <a:r>
                        <a:rPr lang="en-US" dirty="0"/>
                        <a:t>1</a:t>
                      </a:r>
                    </a:p>
                  </a:txBody>
                  <a:tcPr/>
                </a:tc>
                <a:extLst>
                  <a:ext uri="{0D108BD9-81ED-4DB2-BD59-A6C34878D82A}">
                    <a16:rowId xmlns:a16="http://schemas.microsoft.com/office/drawing/2014/main" val="4133517150"/>
                  </a:ext>
                </a:extLst>
              </a:tr>
              <a:tr h="370840">
                <a:tc>
                  <a:txBody>
                    <a:bodyPr/>
                    <a:lstStyle/>
                    <a:p>
                      <a:r>
                        <a:rPr lang="en-US" dirty="0"/>
                        <a:t>61</a:t>
                      </a:r>
                    </a:p>
                  </a:txBody>
                  <a:tcPr/>
                </a:tc>
                <a:tc>
                  <a:txBody>
                    <a:bodyPr/>
                    <a:lstStyle/>
                    <a:p>
                      <a:r>
                        <a:rPr lang="en-US" dirty="0"/>
                        <a:t>F</a:t>
                      </a:r>
                    </a:p>
                  </a:txBody>
                  <a:tcPr/>
                </a:tc>
                <a:tc>
                  <a:txBody>
                    <a:bodyPr/>
                    <a:lstStyle/>
                    <a:p>
                      <a:r>
                        <a:rPr lang="en-US" dirty="0"/>
                        <a:t>No</a:t>
                      </a:r>
                    </a:p>
                  </a:txBody>
                  <a:tcPr/>
                </a:tc>
                <a:tc>
                  <a:txBody>
                    <a:bodyPr/>
                    <a:lstStyle/>
                    <a:p>
                      <a:r>
                        <a:rPr lang="en-US" dirty="0"/>
                        <a:t>1</a:t>
                      </a:r>
                    </a:p>
                  </a:txBody>
                  <a:tcPr/>
                </a:tc>
                <a:extLst>
                  <a:ext uri="{0D108BD9-81ED-4DB2-BD59-A6C34878D82A}">
                    <a16:rowId xmlns:a16="http://schemas.microsoft.com/office/drawing/2014/main" val="1601388920"/>
                  </a:ext>
                </a:extLst>
              </a:tr>
              <a:tr h="379794">
                <a:tc>
                  <a:txBody>
                    <a:bodyPr/>
                    <a:lstStyle/>
                    <a:p>
                      <a:r>
                        <a:rPr lang="en-US" dirty="0"/>
                        <a:t>35</a:t>
                      </a:r>
                    </a:p>
                  </a:txBody>
                  <a:tcPr/>
                </a:tc>
                <a:tc>
                  <a:txBody>
                    <a:bodyPr/>
                    <a:lstStyle/>
                    <a:p>
                      <a:r>
                        <a:rPr lang="en-US" dirty="0"/>
                        <a:t>M</a:t>
                      </a:r>
                    </a:p>
                  </a:txBody>
                  <a:tcPr/>
                </a:tc>
                <a:tc>
                  <a:txBody>
                    <a:bodyPr/>
                    <a:lstStyle/>
                    <a:p>
                      <a:r>
                        <a:rPr lang="en-US" dirty="0"/>
                        <a:t>No</a:t>
                      </a:r>
                    </a:p>
                  </a:txBody>
                  <a:tcPr/>
                </a:tc>
                <a:tc>
                  <a:txBody>
                    <a:bodyPr/>
                    <a:lstStyle/>
                    <a:p>
                      <a:r>
                        <a:rPr lang="en-US" dirty="0"/>
                        <a:t>0</a:t>
                      </a:r>
                    </a:p>
                  </a:txBody>
                  <a:tcPr/>
                </a:tc>
                <a:extLst>
                  <a:ext uri="{0D108BD9-81ED-4DB2-BD59-A6C34878D82A}">
                    <a16:rowId xmlns:a16="http://schemas.microsoft.com/office/drawing/2014/main" val="2978503061"/>
                  </a:ext>
                </a:extLst>
              </a:tr>
              <a:tr h="370840">
                <a:tc>
                  <a:txBody>
                    <a:bodyPr/>
                    <a:lstStyle/>
                    <a:p>
                      <a:r>
                        <a:rPr lang="en-US" dirty="0"/>
                        <a:t>34</a:t>
                      </a:r>
                    </a:p>
                  </a:txBody>
                  <a:tcPr/>
                </a:tc>
                <a:tc>
                  <a:txBody>
                    <a:bodyPr/>
                    <a:lstStyle/>
                    <a:p>
                      <a:r>
                        <a:rPr lang="en-US" dirty="0"/>
                        <a:t>F</a:t>
                      </a:r>
                    </a:p>
                  </a:txBody>
                  <a:tcPr/>
                </a:tc>
                <a:tc>
                  <a:txBody>
                    <a:bodyPr/>
                    <a:lstStyle/>
                    <a:p>
                      <a:r>
                        <a:rPr lang="en-US" dirty="0"/>
                        <a:t>No</a:t>
                      </a:r>
                    </a:p>
                  </a:txBody>
                  <a:tcPr/>
                </a:tc>
                <a:tc>
                  <a:txBody>
                    <a:bodyPr/>
                    <a:lstStyle/>
                    <a:p>
                      <a:r>
                        <a:rPr lang="en-US" dirty="0"/>
                        <a:t>0</a:t>
                      </a:r>
                    </a:p>
                  </a:txBody>
                  <a:tcPr/>
                </a:tc>
                <a:extLst>
                  <a:ext uri="{0D108BD9-81ED-4DB2-BD59-A6C34878D82A}">
                    <a16:rowId xmlns:a16="http://schemas.microsoft.com/office/drawing/2014/main" val="3954894383"/>
                  </a:ext>
                </a:extLst>
              </a:tr>
              <a:tr h="370840">
                <a:tc>
                  <a:txBody>
                    <a:bodyPr/>
                    <a:lstStyle/>
                    <a:p>
                      <a:r>
                        <a:rPr lang="en-US" dirty="0"/>
                        <a:t>63</a:t>
                      </a:r>
                    </a:p>
                  </a:txBody>
                  <a:tcPr/>
                </a:tc>
                <a:tc>
                  <a:txBody>
                    <a:bodyPr/>
                    <a:lstStyle/>
                    <a:p>
                      <a:r>
                        <a:rPr lang="en-US" dirty="0"/>
                        <a:t>M</a:t>
                      </a:r>
                    </a:p>
                  </a:txBody>
                  <a:tcPr/>
                </a:tc>
                <a:tc>
                  <a:txBody>
                    <a:bodyPr/>
                    <a:lstStyle/>
                    <a:p>
                      <a:r>
                        <a:rPr lang="en-US" dirty="0"/>
                        <a:t>No</a:t>
                      </a:r>
                    </a:p>
                  </a:txBody>
                  <a:tcPr/>
                </a:tc>
                <a:tc>
                  <a:txBody>
                    <a:bodyPr/>
                    <a:lstStyle/>
                    <a:p>
                      <a:r>
                        <a:rPr lang="en-US" dirty="0"/>
                        <a:t>1</a:t>
                      </a:r>
                    </a:p>
                  </a:txBody>
                  <a:tcPr/>
                </a:tc>
                <a:extLst>
                  <a:ext uri="{0D108BD9-81ED-4DB2-BD59-A6C34878D82A}">
                    <a16:rowId xmlns:a16="http://schemas.microsoft.com/office/drawing/2014/main" val="3535323008"/>
                  </a:ext>
                </a:extLst>
              </a:tr>
            </a:tbl>
          </a:graphicData>
        </a:graphic>
      </p:graphicFrame>
      <p:sp>
        <p:nvSpPr>
          <p:cNvPr id="5" name="TextBox 4">
            <a:extLst>
              <a:ext uri="{FF2B5EF4-FFF2-40B4-BE49-F238E27FC236}">
                <a16:creationId xmlns:a16="http://schemas.microsoft.com/office/drawing/2014/main" id="{035B1F4B-AC16-A8D7-8F21-41032BB42C91}"/>
              </a:ext>
            </a:extLst>
          </p:cNvPr>
          <p:cNvSpPr txBox="1"/>
          <p:nvPr/>
        </p:nvSpPr>
        <p:spPr>
          <a:xfrm>
            <a:off x="7548282" y="932329"/>
            <a:ext cx="3881718" cy="1200329"/>
          </a:xfrm>
          <a:prstGeom prst="rect">
            <a:avLst/>
          </a:prstGeom>
          <a:noFill/>
        </p:spPr>
        <p:txBody>
          <a:bodyPr wrap="square" rtlCol="0">
            <a:spAutoFit/>
          </a:bodyPr>
          <a:lstStyle/>
          <a:p>
            <a:r>
              <a:rPr lang="en-US" dirty="0"/>
              <a:t>Try to construct a decision tree from this data. What is the depth of the smallest tree that has pure classification regions?  </a:t>
            </a:r>
          </a:p>
        </p:txBody>
      </p:sp>
    </p:spTree>
    <p:extLst>
      <p:ext uri="{BB962C8B-B14F-4D97-AF65-F5344CB8AC3E}">
        <p14:creationId xmlns:p14="http://schemas.microsoft.com/office/powerpoint/2010/main" val="2987309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60B5-F01F-45BA-98F9-42BDC03F4E34}"/>
              </a:ext>
            </a:extLst>
          </p:cNvPr>
          <p:cNvSpPr>
            <a:spLocks noGrp="1"/>
          </p:cNvSpPr>
          <p:nvPr>
            <p:ph type="title"/>
          </p:nvPr>
        </p:nvSpPr>
        <p:spPr/>
        <p:txBody>
          <a:bodyPr/>
          <a:lstStyle/>
          <a:p>
            <a:r>
              <a:rPr lang="en-US" b="1" dirty="0"/>
              <a:t>Example</a:t>
            </a:r>
          </a:p>
        </p:txBody>
      </p:sp>
      <p:graphicFrame>
        <p:nvGraphicFramePr>
          <p:cNvPr id="3" name="Table 6">
            <a:extLst>
              <a:ext uri="{FF2B5EF4-FFF2-40B4-BE49-F238E27FC236}">
                <a16:creationId xmlns:a16="http://schemas.microsoft.com/office/drawing/2014/main" id="{AA4EAEFD-98F7-19CD-5DBA-6104860844E4}"/>
              </a:ext>
            </a:extLst>
          </p:cNvPr>
          <p:cNvGraphicFramePr>
            <a:graphicFrameLocks noGrp="1"/>
          </p:cNvGraphicFramePr>
          <p:nvPr>
            <p:extLst>
              <p:ext uri="{D42A27DB-BD31-4B8C-83A1-F6EECF244321}">
                <p14:modId xmlns:p14="http://schemas.microsoft.com/office/powerpoint/2010/main" val="3062815896"/>
              </p:ext>
            </p:extLst>
          </p:nvPr>
        </p:nvGraphicFramePr>
        <p:xfrm>
          <a:off x="838200" y="1964188"/>
          <a:ext cx="5426725" cy="3981514"/>
        </p:xfrm>
        <a:graphic>
          <a:graphicData uri="http://schemas.openxmlformats.org/drawingml/2006/table">
            <a:tbl>
              <a:tblPr firstRow="1" bandRow="1">
                <a:tableStyleId>{F5AB1C69-6EDB-4FF4-983F-18BD219EF322}</a:tableStyleId>
              </a:tblPr>
              <a:tblGrid>
                <a:gridCol w="777301">
                  <a:extLst>
                    <a:ext uri="{9D8B030D-6E8A-4147-A177-3AD203B41FA5}">
                      <a16:colId xmlns:a16="http://schemas.microsoft.com/office/drawing/2014/main" val="3526469092"/>
                    </a:ext>
                  </a:extLst>
                </a:gridCol>
                <a:gridCol w="936434">
                  <a:extLst>
                    <a:ext uri="{9D8B030D-6E8A-4147-A177-3AD203B41FA5}">
                      <a16:colId xmlns:a16="http://schemas.microsoft.com/office/drawing/2014/main" val="1446117505"/>
                    </a:ext>
                  </a:extLst>
                </a:gridCol>
                <a:gridCol w="1377109">
                  <a:extLst>
                    <a:ext uri="{9D8B030D-6E8A-4147-A177-3AD203B41FA5}">
                      <a16:colId xmlns:a16="http://schemas.microsoft.com/office/drawing/2014/main" val="3028938930"/>
                    </a:ext>
                  </a:extLst>
                </a:gridCol>
                <a:gridCol w="2335881">
                  <a:extLst>
                    <a:ext uri="{9D8B030D-6E8A-4147-A177-3AD203B41FA5}">
                      <a16:colId xmlns:a16="http://schemas.microsoft.com/office/drawing/2014/main" val="211939407"/>
                    </a:ext>
                  </a:extLst>
                </a:gridCol>
              </a:tblGrid>
              <a:tr h="0">
                <a:tc>
                  <a:txBody>
                    <a:bodyPr/>
                    <a:lstStyle/>
                    <a:p>
                      <a:r>
                        <a:rPr lang="en-US" dirty="0"/>
                        <a:t>age</a:t>
                      </a:r>
                    </a:p>
                  </a:txBody>
                  <a:tcPr/>
                </a:tc>
                <a:tc>
                  <a:txBody>
                    <a:bodyPr/>
                    <a:lstStyle/>
                    <a:p>
                      <a:r>
                        <a:rPr lang="en-US" dirty="0"/>
                        <a:t>gender</a:t>
                      </a:r>
                    </a:p>
                  </a:txBody>
                  <a:tcPr/>
                </a:tc>
                <a:tc>
                  <a:txBody>
                    <a:bodyPr/>
                    <a:lstStyle/>
                    <a:p>
                      <a:r>
                        <a:rPr lang="en-US" dirty="0" err="1"/>
                        <a:t>is_smoking</a:t>
                      </a:r>
                      <a:endParaRPr lang="en-US" dirty="0"/>
                    </a:p>
                  </a:txBody>
                  <a:tcPr/>
                </a:tc>
                <a:tc>
                  <a:txBody>
                    <a:bodyPr/>
                    <a:lstStyle/>
                    <a:p>
                      <a:r>
                        <a:rPr lang="en-US" dirty="0" err="1"/>
                        <a:t>TenYear</a:t>
                      </a:r>
                      <a:r>
                        <a:rPr lang="en-US" dirty="0"/>
                        <a:t> Coronary </a:t>
                      </a:r>
                    </a:p>
                    <a:p>
                      <a:r>
                        <a:rPr lang="en-US" dirty="0"/>
                        <a:t>Heart Disease (TYCD)</a:t>
                      </a:r>
                    </a:p>
                  </a:txBody>
                  <a:tcPr/>
                </a:tc>
                <a:extLst>
                  <a:ext uri="{0D108BD9-81ED-4DB2-BD59-A6C34878D82A}">
                    <a16:rowId xmlns:a16="http://schemas.microsoft.com/office/drawing/2014/main" val="93068611"/>
                  </a:ext>
                </a:extLst>
              </a:tr>
              <a:tr h="370840">
                <a:tc>
                  <a:txBody>
                    <a:bodyPr/>
                    <a:lstStyle/>
                    <a:p>
                      <a:r>
                        <a:rPr lang="en-US" dirty="0"/>
                        <a:t>64</a:t>
                      </a:r>
                    </a:p>
                  </a:txBody>
                  <a:tcPr/>
                </a:tc>
                <a:tc>
                  <a:txBody>
                    <a:bodyPr/>
                    <a:lstStyle/>
                    <a:p>
                      <a:r>
                        <a:rPr lang="en-US" dirty="0"/>
                        <a:t>F</a:t>
                      </a:r>
                    </a:p>
                  </a:txBody>
                  <a:tcPr/>
                </a:tc>
                <a:tc>
                  <a:txBody>
                    <a:bodyPr/>
                    <a:lstStyle/>
                    <a:p>
                      <a:r>
                        <a:rPr lang="en-US" dirty="0"/>
                        <a:t>Yes</a:t>
                      </a:r>
                    </a:p>
                  </a:txBody>
                  <a:tcPr/>
                </a:tc>
                <a:tc>
                  <a:txBody>
                    <a:bodyPr/>
                    <a:lstStyle/>
                    <a:p>
                      <a:r>
                        <a:rPr lang="en-US" dirty="0"/>
                        <a:t>1</a:t>
                      </a:r>
                    </a:p>
                  </a:txBody>
                  <a:tcPr/>
                </a:tc>
                <a:extLst>
                  <a:ext uri="{0D108BD9-81ED-4DB2-BD59-A6C34878D82A}">
                    <a16:rowId xmlns:a16="http://schemas.microsoft.com/office/drawing/2014/main" val="3420190614"/>
                  </a:ext>
                </a:extLst>
              </a:tr>
              <a:tr h="370840">
                <a:tc>
                  <a:txBody>
                    <a:bodyPr/>
                    <a:lstStyle/>
                    <a:p>
                      <a:r>
                        <a:rPr lang="en-US" dirty="0"/>
                        <a:t>37</a:t>
                      </a:r>
                    </a:p>
                  </a:txBody>
                  <a:tcPr/>
                </a:tc>
                <a:tc>
                  <a:txBody>
                    <a:bodyPr/>
                    <a:lstStyle/>
                    <a:p>
                      <a:r>
                        <a:rPr lang="en-US" dirty="0"/>
                        <a:t>M</a:t>
                      </a:r>
                    </a:p>
                  </a:txBody>
                  <a:tcPr/>
                </a:tc>
                <a:tc>
                  <a:txBody>
                    <a:bodyPr/>
                    <a:lstStyle/>
                    <a:p>
                      <a:r>
                        <a:rPr lang="en-US" dirty="0"/>
                        <a:t>No</a:t>
                      </a:r>
                    </a:p>
                  </a:txBody>
                  <a:tcPr/>
                </a:tc>
                <a:tc>
                  <a:txBody>
                    <a:bodyPr/>
                    <a:lstStyle/>
                    <a:p>
                      <a:r>
                        <a:rPr lang="en-US" dirty="0"/>
                        <a:t>0</a:t>
                      </a:r>
                    </a:p>
                  </a:txBody>
                  <a:tcPr/>
                </a:tc>
                <a:extLst>
                  <a:ext uri="{0D108BD9-81ED-4DB2-BD59-A6C34878D82A}">
                    <a16:rowId xmlns:a16="http://schemas.microsoft.com/office/drawing/2014/main" val="495913374"/>
                  </a:ext>
                </a:extLst>
              </a:tr>
              <a:tr h="370840">
                <a:tc>
                  <a:txBody>
                    <a:bodyPr/>
                    <a:lstStyle/>
                    <a:p>
                      <a:r>
                        <a:rPr lang="en-US" dirty="0"/>
                        <a:t>36</a:t>
                      </a:r>
                    </a:p>
                  </a:txBody>
                  <a:tcPr/>
                </a:tc>
                <a:tc>
                  <a:txBody>
                    <a:bodyPr/>
                    <a:lstStyle/>
                    <a:p>
                      <a:r>
                        <a:rPr lang="en-US" dirty="0"/>
                        <a:t>F</a:t>
                      </a:r>
                    </a:p>
                  </a:txBody>
                  <a:tcPr/>
                </a:tc>
                <a:tc>
                  <a:txBody>
                    <a:bodyPr/>
                    <a:lstStyle/>
                    <a:p>
                      <a:r>
                        <a:rPr lang="en-US" dirty="0"/>
                        <a:t>Yes</a:t>
                      </a:r>
                    </a:p>
                  </a:txBody>
                  <a:tcPr/>
                </a:tc>
                <a:tc>
                  <a:txBody>
                    <a:bodyPr/>
                    <a:lstStyle/>
                    <a:p>
                      <a:r>
                        <a:rPr lang="en-US" dirty="0"/>
                        <a:t>1</a:t>
                      </a:r>
                    </a:p>
                  </a:txBody>
                  <a:tcPr/>
                </a:tc>
                <a:extLst>
                  <a:ext uri="{0D108BD9-81ED-4DB2-BD59-A6C34878D82A}">
                    <a16:rowId xmlns:a16="http://schemas.microsoft.com/office/drawing/2014/main" val="2768857902"/>
                  </a:ext>
                </a:extLst>
              </a:tr>
              <a:tr h="308429">
                <a:tc>
                  <a:txBody>
                    <a:bodyPr/>
                    <a:lstStyle/>
                    <a:p>
                      <a:r>
                        <a:rPr lang="en-US" dirty="0"/>
                        <a:t>50</a:t>
                      </a:r>
                    </a:p>
                  </a:txBody>
                  <a:tcPr/>
                </a:tc>
                <a:tc>
                  <a:txBody>
                    <a:bodyPr/>
                    <a:lstStyle/>
                    <a:p>
                      <a:r>
                        <a:rPr lang="en-US" dirty="0"/>
                        <a:t>M</a:t>
                      </a:r>
                    </a:p>
                  </a:txBody>
                  <a:tcPr/>
                </a:tc>
                <a:tc>
                  <a:txBody>
                    <a:bodyPr/>
                    <a:lstStyle/>
                    <a:p>
                      <a:r>
                        <a:rPr lang="en-US" dirty="0"/>
                        <a:t>Yes</a:t>
                      </a:r>
                    </a:p>
                  </a:txBody>
                  <a:tcPr/>
                </a:tc>
                <a:tc>
                  <a:txBody>
                    <a:bodyPr/>
                    <a:lstStyle/>
                    <a:p>
                      <a:r>
                        <a:rPr lang="en-US" dirty="0"/>
                        <a:t>1</a:t>
                      </a:r>
                    </a:p>
                  </a:txBody>
                  <a:tcPr/>
                </a:tc>
                <a:extLst>
                  <a:ext uri="{0D108BD9-81ED-4DB2-BD59-A6C34878D82A}">
                    <a16:rowId xmlns:a16="http://schemas.microsoft.com/office/drawing/2014/main" val="4239376598"/>
                  </a:ext>
                </a:extLst>
              </a:tr>
              <a:tr h="370840">
                <a:tc>
                  <a:txBody>
                    <a:bodyPr/>
                    <a:lstStyle/>
                    <a:p>
                      <a:r>
                        <a:rPr lang="en-US" dirty="0"/>
                        <a:t>64</a:t>
                      </a:r>
                    </a:p>
                  </a:txBody>
                  <a:tcPr/>
                </a:tc>
                <a:tc>
                  <a:txBody>
                    <a:bodyPr/>
                    <a:lstStyle/>
                    <a:p>
                      <a:r>
                        <a:rPr lang="en-US" dirty="0"/>
                        <a:t>F</a:t>
                      </a:r>
                    </a:p>
                  </a:txBody>
                  <a:tcPr/>
                </a:tc>
                <a:tc>
                  <a:txBody>
                    <a:bodyPr/>
                    <a:lstStyle/>
                    <a:p>
                      <a:r>
                        <a:rPr lang="en-US" dirty="0"/>
                        <a:t>Yes</a:t>
                      </a:r>
                    </a:p>
                  </a:txBody>
                  <a:tcPr/>
                </a:tc>
                <a:tc>
                  <a:txBody>
                    <a:bodyPr/>
                    <a:lstStyle/>
                    <a:p>
                      <a:r>
                        <a:rPr lang="en-US" dirty="0"/>
                        <a:t>1</a:t>
                      </a:r>
                    </a:p>
                  </a:txBody>
                  <a:tcPr/>
                </a:tc>
                <a:extLst>
                  <a:ext uri="{0D108BD9-81ED-4DB2-BD59-A6C34878D82A}">
                    <a16:rowId xmlns:a16="http://schemas.microsoft.com/office/drawing/2014/main" val="4133517150"/>
                  </a:ext>
                </a:extLst>
              </a:tr>
              <a:tr h="370840">
                <a:tc>
                  <a:txBody>
                    <a:bodyPr/>
                    <a:lstStyle/>
                    <a:p>
                      <a:r>
                        <a:rPr lang="en-US" dirty="0"/>
                        <a:t>61</a:t>
                      </a:r>
                    </a:p>
                  </a:txBody>
                  <a:tcPr/>
                </a:tc>
                <a:tc>
                  <a:txBody>
                    <a:bodyPr/>
                    <a:lstStyle/>
                    <a:p>
                      <a:r>
                        <a:rPr lang="en-US" dirty="0"/>
                        <a:t>F</a:t>
                      </a:r>
                    </a:p>
                  </a:txBody>
                  <a:tcPr/>
                </a:tc>
                <a:tc>
                  <a:txBody>
                    <a:bodyPr/>
                    <a:lstStyle/>
                    <a:p>
                      <a:r>
                        <a:rPr lang="en-US" dirty="0"/>
                        <a:t>No</a:t>
                      </a:r>
                    </a:p>
                  </a:txBody>
                  <a:tcPr/>
                </a:tc>
                <a:tc>
                  <a:txBody>
                    <a:bodyPr/>
                    <a:lstStyle/>
                    <a:p>
                      <a:r>
                        <a:rPr lang="en-US" dirty="0"/>
                        <a:t>1</a:t>
                      </a:r>
                    </a:p>
                  </a:txBody>
                  <a:tcPr/>
                </a:tc>
                <a:extLst>
                  <a:ext uri="{0D108BD9-81ED-4DB2-BD59-A6C34878D82A}">
                    <a16:rowId xmlns:a16="http://schemas.microsoft.com/office/drawing/2014/main" val="1601388920"/>
                  </a:ext>
                </a:extLst>
              </a:tr>
              <a:tr h="379794">
                <a:tc>
                  <a:txBody>
                    <a:bodyPr/>
                    <a:lstStyle/>
                    <a:p>
                      <a:r>
                        <a:rPr lang="en-US" dirty="0"/>
                        <a:t>35</a:t>
                      </a:r>
                    </a:p>
                  </a:txBody>
                  <a:tcPr/>
                </a:tc>
                <a:tc>
                  <a:txBody>
                    <a:bodyPr/>
                    <a:lstStyle/>
                    <a:p>
                      <a:r>
                        <a:rPr lang="en-US" dirty="0"/>
                        <a:t>M</a:t>
                      </a:r>
                    </a:p>
                  </a:txBody>
                  <a:tcPr/>
                </a:tc>
                <a:tc>
                  <a:txBody>
                    <a:bodyPr/>
                    <a:lstStyle/>
                    <a:p>
                      <a:r>
                        <a:rPr lang="en-US" dirty="0"/>
                        <a:t>No</a:t>
                      </a:r>
                    </a:p>
                  </a:txBody>
                  <a:tcPr/>
                </a:tc>
                <a:tc>
                  <a:txBody>
                    <a:bodyPr/>
                    <a:lstStyle/>
                    <a:p>
                      <a:r>
                        <a:rPr lang="en-US" dirty="0"/>
                        <a:t>0</a:t>
                      </a:r>
                    </a:p>
                  </a:txBody>
                  <a:tcPr/>
                </a:tc>
                <a:extLst>
                  <a:ext uri="{0D108BD9-81ED-4DB2-BD59-A6C34878D82A}">
                    <a16:rowId xmlns:a16="http://schemas.microsoft.com/office/drawing/2014/main" val="2978503061"/>
                  </a:ext>
                </a:extLst>
              </a:tr>
              <a:tr h="370840">
                <a:tc>
                  <a:txBody>
                    <a:bodyPr/>
                    <a:lstStyle/>
                    <a:p>
                      <a:r>
                        <a:rPr lang="en-US" dirty="0"/>
                        <a:t>34</a:t>
                      </a:r>
                    </a:p>
                  </a:txBody>
                  <a:tcPr/>
                </a:tc>
                <a:tc>
                  <a:txBody>
                    <a:bodyPr/>
                    <a:lstStyle/>
                    <a:p>
                      <a:r>
                        <a:rPr lang="en-US" dirty="0"/>
                        <a:t>F</a:t>
                      </a:r>
                    </a:p>
                  </a:txBody>
                  <a:tcPr/>
                </a:tc>
                <a:tc>
                  <a:txBody>
                    <a:bodyPr/>
                    <a:lstStyle/>
                    <a:p>
                      <a:r>
                        <a:rPr lang="en-US" dirty="0"/>
                        <a:t>No</a:t>
                      </a:r>
                    </a:p>
                  </a:txBody>
                  <a:tcPr/>
                </a:tc>
                <a:tc>
                  <a:txBody>
                    <a:bodyPr/>
                    <a:lstStyle/>
                    <a:p>
                      <a:r>
                        <a:rPr lang="en-US" dirty="0"/>
                        <a:t>0</a:t>
                      </a:r>
                    </a:p>
                  </a:txBody>
                  <a:tcPr/>
                </a:tc>
                <a:extLst>
                  <a:ext uri="{0D108BD9-81ED-4DB2-BD59-A6C34878D82A}">
                    <a16:rowId xmlns:a16="http://schemas.microsoft.com/office/drawing/2014/main" val="3954894383"/>
                  </a:ext>
                </a:extLst>
              </a:tr>
              <a:tr h="370840">
                <a:tc>
                  <a:txBody>
                    <a:bodyPr/>
                    <a:lstStyle/>
                    <a:p>
                      <a:r>
                        <a:rPr lang="en-US" dirty="0"/>
                        <a:t>63</a:t>
                      </a:r>
                    </a:p>
                  </a:txBody>
                  <a:tcPr/>
                </a:tc>
                <a:tc>
                  <a:txBody>
                    <a:bodyPr/>
                    <a:lstStyle/>
                    <a:p>
                      <a:r>
                        <a:rPr lang="en-US" dirty="0"/>
                        <a:t>M</a:t>
                      </a:r>
                    </a:p>
                  </a:txBody>
                  <a:tcPr/>
                </a:tc>
                <a:tc>
                  <a:txBody>
                    <a:bodyPr/>
                    <a:lstStyle/>
                    <a:p>
                      <a:r>
                        <a:rPr lang="en-US" dirty="0"/>
                        <a:t>No</a:t>
                      </a:r>
                    </a:p>
                  </a:txBody>
                  <a:tcPr/>
                </a:tc>
                <a:tc>
                  <a:txBody>
                    <a:bodyPr/>
                    <a:lstStyle/>
                    <a:p>
                      <a:r>
                        <a:rPr lang="en-US" dirty="0"/>
                        <a:t>1</a:t>
                      </a:r>
                    </a:p>
                  </a:txBody>
                  <a:tcPr/>
                </a:tc>
                <a:extLst>
                  <a:ext uri="{0D108BD9-81ED-4DB2-BD59-A6C34878D82A}">
                    <a16:rowId xmlns:a16="http://schemas.microsoft.com/office/drawing/2014/main" val="3535323008"/>
                  </a:ext>
                </a:extLst>
              </a:tr>
            </a:tbl>
          </a:graphicData>
        </a:graphic>
      </p:graphicFrame>
      <mc:AlternateContent xmlns:mc="http://schemas.openxmlformats.org/markup-compatibility/2006" xmlns:a14="http://schemas.microsoft.com/office/drawing/2010/main">
        <mc:Choice Requires="a14">
          <p:sp>
            <p:nvSpPr>
              <p:cNvPr id="4" name="Rectangle: Rounded Corners 3">
                <a:extLst>
                  <a:ext uri="{FF2B5EF4-FFF2-40B4-BE49-F238E27FC236}">
                    <a16:creationId xmlns:a16="http://schemas.microsoft.com/office/drawing/2014/main" id="{7FC02B9C-4EAD-EEAB-8A3C-5727333A6625}"/>
                  </a:ext>
                </a:extLst>
              </p:cNvPr>
              <p:cNvSpPr/>
              <p:nvPr/>
            </p:nvSpPr>
            <p:spPr>
              <a:xfrm>
                <a:off x="8346924" y="1712199"/>
                <a:ext cx="1280160"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𝑖</m:t>
                      </m:r>
                      <m:r>
                        <a:rPr lang="en-US" b="0" i="1" smtClean="0">
                          <a:latin typeface="Cambria Math" panose="02040503050406030204" pitchFamily="18" charset="0"/>
                        </a:rPr>
                        <m:t>𝑠</m:t>
                      </m:r>
                      <m:r>
                        <a:rPr lang="en-US" b="0" i="1" smtClean="0">
                          <a:latin typeface="Cambria Math" panose="02040503050406030204" pitchFamily="18" charset="0"/>
                        </a:rPr>
                        <m:t>_</m:t>
                      </m:r>
                      <m:r>
                        <a:rPr lang="en-US" b="0" i="1" smtClean="0">
                          <a:latin typeface="Cambria Math" panose="02040503050406030204" pitchFamily="18" charset="0"/>
                        </a:rPr>
                        <m:t>𝑠𝑚𝑜𝑘𝑖𝑛𝑔</m:t>
                      </m:r>
                    </m:oMath>
                  </m:oMathPara>
                </a14:m>
                <a:endParaRPr lang="en-US" dirty="0"/>
              </a:p>
            </p:txBody>
          </p:sp>
        </mc:Choice>
        <mc:Fallback xmlns="">
          <p:sp>
            <p:nvSpPr>
              <p:cNvPr id="4" name="Rectangle: Rounded Corners 3">
                <a:extLst>
                  <a:ext uri="{FF2B5EF4-FFF2-40B4-BE49-F238E27FC236}">
                    <a16:creationId xmlns:a16="http://schemas.microsoft.com/office/drawing/2014/main" id="{7FC02B9C-4EAD-EEAB-8A3C-5727333A6625}"/>
                  </a:ext>
                </a:extLst>
              </p:cNvPr>
              <p:cNvSpPr>
                <a:spLocks noRot="1" noChangeAspect="1" noMove="1" noResize="1" noEditPoints="1" noAdjustHandles="1" noChangeArrowheads="1" noChangeShapeType="1" noTextEdit="1"/>
              </p:cNvSpPr>
              <p:nvPr/>
            </p:nvSpPr>
            <p:spPr>
              <a:xfrm>
                <a:off x="8346924" y="1712199"/>
                <a:ext cx="1280160" cy="760288"/>
              </a:xfrm>
              <a:prstGeom prst="roundRect">
                <a:avLst/>
              </a:prstGeom>
              <a:blipFill>
                <a:blip r:embed="rId3"/>
                <a:stretch>
                  <a:fillRect l="-3791" r="-18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Rounded Corners 5">
                <a:extLst>
                  <a:ext uri="{FF2B5EF4-FFF2-40B4-BE49-F238E27FC236}">
                    <a16:creationId xmlns:a16="http://schemas.microsoft.com/office/drawing/2014/main" id="{B6A827CF-331C-73DE-5BFD-5F186326A226}"/>
                  </a:ext>
                </a:extLst>
              </p:cNvPr>
              <p:cNvSpPr/>
              <p:nvPr/>
            </p:nvSpPr>
            <p:spPr>
              <a:xfrm>
                <a:off x="9639127" y="2759100"/>
                <a:ext cx="1280160"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𝑎</m:t>
                      </m:r>
                      <m:r>
                        <a:rPr lang="en-US" b="0" i="1" smtClean="0">
                          <a:latin typeface="Cambria Math" panose="02040503050406030204" pitchFamily="18" charset="0"/>
                        </a:rPr>
                        <m:t>𝑔𝑒</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49</m:t>
                      </m:r>
                    </m:oMath>
                  </m:oMathPara>
                </a14:m>
                <a:endParaRPr lang="en-US" dirty="0"/>
              </a:p>
            </p:txBody>
          </p:sp>
        </mc:Choice>
        <mc:Fallback xmlns="">
          <p:sp>
            <p:nvSpPr>
              <p:cNvPr id="6" name="Rectangle: Rounded Corners 5">
                <a:extLst>
                  <a:ext uri="{FF2B5EF4-FFF2-40B4-BE49-F238E27FC236}">
                    <a16:creationId xmlns:a16="http://schemas.microsoft.com/office/drawing/2014/main" id="{B6A827CF-331C-73DE-5BFD-5F186326A226}"/>
                  </a:ext>
                </a:extLst>
              </p:cNvPr>
              <p:cNvSpPr>
                <a:spLocks noRot="1" noChangeAspect="1" noMove="1" noResize="1" noEditPoints="1" noAdjustHandles="1" noChangeArrowheads="1" noChangeShapeType="1" noTextEdit="1"/>
              </p:cNvSpPr>
              <p:nvPr/>
            </p:nvSpPr>
            <p:spPr>
              <a:xfrm>
                <a:off x="9639127" y="2759100"/>
                <a:ext cx="1280160" cy="760288"/>
              </a:xfrm>
              <a:prstGeom prst="roundRect">
                <a:avLst/>
              </a:prstGeom>
              <a:blipFill>
                <a:blip r:embed="rId4"/>
                <a:stretch>
                  <a:fillRect/>
                </a:stretch>
              </a:blipFill>
            </p:spPr>
            <p:txBody>
              <a:bodyPr/>
              <a:lstStyle/>
              <a:p>
                <a:r>
                  <a:rPr lang="en-US">
                    <a:noFill/>
                  </a:rPr>
                  <a:t> </a:t>
                </a:r>
              </a:p>
            </p:txBody>
          </p:sp>
        </mc:Fallback>
      </mc:AlternateContent>
      <p:sp>
        <p:nvSpPr>
          <p:cNvPr id="7" name="Rectangle: Rounded Corners 6">
            <a:extLst>
              <a:ext uri="{FF2B5EF4-FFF2-40B4-BE49-F238E27FC236}">
                <a16:creationId xmlns:a16="http://schemas.microsoft.com/office/drawing/2014/main" id="{4D5EE3D6-F766-A73F-A4B5-2A75C2328C94}"/>
              </a:ext>
            </a:extLst>
          </p:cNvPr>
          <p:cNvSpPr/>
          <p:nvPr/>
        </p:nvSpPr>
        <p:spPr>
          <a:xfrm>
            <a:off x="7068307" y="2759100"/>
            <a:ext cx="1157134" cy="82296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Samples with TYCD=1</a:t>
            </a:r>
          </a:p>
        </p:txBody>
      </p:sp>
      <p:cxnSp>
        <p:nvCxnSpPr>
          <p:cNvPr id="8" name="Straight Arrow Connector 7">
            <a:extLst>
              <a:ext uri="{FF2B5EF4-FFF2-40B4-BE49-F238E27FC236}">
                <a16:creationId xmlns:a16="http://schemas.microsoft.com/office/drawing/2014/main" id="{C27D4E3B-4B40-CC6E-75FC-96A14B57C90C}"/>
              </a:ext>
            </a:extLst>
          </p:cNvPr>
          <p:cNvCxnSpPr>
            <a:cxnSpLocks/>
          </p:cNvCxnSpPr>
          <p:nvPr/>
        </p:nvCxnSpPr>
        <p:spPr>
          <a:xfrm flipH="1">
            <a:off x="7652530" y="2472487"/>
            <a:ext cx="961523"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613C7985-DABD-4514-7454-22F57E69BF9B}"/>
              </a:ext>
            </a:extLst>
          </p:cNvPr>
          <p:cNvCxnSpPr>
            <a:cxnSpLocks/>
            <a:endCxn id="6" idx="0"/>
          </p:cNvCxnSpPr>
          <p:nvPr/>
        </p:nvCxnSpPr>
        <p:spPr>
          <a:xfrm>
            <a:off x="9377962" y="2472487"/>
            <a:ext cx="901245"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D4EB364B-F6A6-5497-F73C-6FD6386E8549}"/>
              </a:ext>
            </a:extLst>
          </p:cNvPr>
          <p:cNvCxnSpPr>
            <a:cxnSpLocks/>
            <a:endCxn id="14" idx="0"/>
          </p:cNvCxnSpPr>
          <p:nvPr/>
        </p:nvCxnSpPr>
        <p:spPr>
          <a:xfrm flipH="1">
            <a:off x="9552215" y="3519388"/>
            <a:ext cx="470213"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D83DBE29-81A3-FAB7-6AFE-3B3ED9988A5F}"/>
              </a:ext>
            </a:extLst>
          </p:cNvPr>
          <p:cNvCxnSpPr>
            <a:cxnSpLocks/>
            <a:endCxn id="15" idx="0"/>
          </p:cNvCxnSpPr>
          <p:nvPr/>
        </p:nvCxnSpPr>
        <p:spPr>
          <a:xfrm>
            <a:off x="10473675" y="3519388"/>
            <a:ext cx="470483"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1C40B57-6F61-DBC0-C9AD-3501281C40E3}"/>
              </a:ext>
            </a:extLst>
          </p:cNvPr>
          <p:cNvSpPr txBox="1"/>
          <p:nvPr/>
        </p:nvSpPr>
        <p:spPr>
          <a:xfrm>
            <a:off x="7772863" y="2194290"/>
            <a:ext cx="647274" cy="369332"/>
          </a:xfrm>
          <a:prstGeom prst="rect">
            <a:avLst/>
          </a:prstGeom>
          <a:noFill/>
        </p:spPr>
        <p:txBody>
          <a:bodyPr wrap="square" rtlCol="0">
            <a:spAutoFit/>
          </a:bodyPr>
          <a:lstStyle/>
          <a:p>
            <a:r>
              <a:rPr lang="en-US" dirty="0"/>
              <a:t>Yes</a:t>
            </a:r>
          </a:p>
        </p:txBody>
      </p:sp>
      <p:sp>
        <p:nvSpPr>
          <p:cNvPr id="13" name="TextBox 12">
            <a:extLst>
              <a:ext uri="{FF2B5EF4-FFF2-40B4-BE49-F238E27FC236}">
                <a16:creationId xmlns:a16="http://schemas.microsoft.com/office/drawing/2014/main" id="{615C2332-E1F8-D458-F05A-F595841088B1}"/>
              </a:ext>
            </a:extLst>
          </p:cNvPr>
          <p:cNvSpPr txBox="1"/>
          <p:nvPr/>
        </p:nvSpPr>
        <p:spPr>
          <a:xfrm>
            <a:off x="9637589" y="2194290"/>
            <a:ext cx="647274" cy="369332"/>
          </a:xfrm>
          <a:prstGeom prst="rect">
            <a:avLst/>
          </a:prstGeom>
          <a:noFill/>
        </p:spPr>
        <p:txBody>
          <a:bodyPr wrap="square" rtlCol="0">
            <a:spAutoFit/>
          </a:bodyPr>
          <a:lstStyle/>
          <a:p>
            <a:r>
              <a:rPr lang="en-US" dirty="0"/>
              <a:t>No</a:t>
            </a:r>
          </a:p>
        </p:txBody>
      </p:sp>
      <p:sp>
        <p:nvSpPr>
          <p:cNvPr id="14" name="Rectangle: Rounded Corners 13">
            <a:extLst>
              <a:ext uri="{FF2B5EF4-FFF2-40B4-BE49-F238E27FC236}">
                <a16:creationId xmlns:a16="http://schemas.microsoft.com/office/drawing/2014/main" id="{FC166000-9794-1052-2637-966BC2EBC8BA}"/>
              </a:ext>
            </a:extLst>
          </p:cNvPr>
          <p:cNvSpPr/>
          <p:nvPr/>
        </p:nvSpPr>
        <p:spPr>
          <a:xfrm>
            <a:off x="8973648" y="3969945"/>
            <a:ext cx="1157134" cy="82296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Samples with TYCD=1</a:t>
            </a:r>
          </a:p>
        </p:txBody>
      </p:sp>
      <p:sp>
        <p:nvSpPr>
          <p:cNvPr id="15" name="Rectangle: Rounded Corners 14">
            <a:extLst>
              <a:ext uri="{FF2B5EF4-FFF2-40B4-BE49-F238E27FC236}">
                <a16:creationId xmlns:a16="http://schemas.microsoft.com/office/drawing/2014/main" id="{BB03EAFC-DCB7-877B-CEE8-910A746D4857}"/>
              </a:ext>
            </a:extLst>
          </p:cNvPr>
          <p:cNvSpPr/>
          <p:nvPr/>
        </p:nvSpPr>
        <p:spPr>
          <a:xfrm>
            <a:off x="10365591" y="3969945"/>
            <a:ext cx="1157134" cy="82296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Samples with TYCD=0</a:t>
            </a:r>
          </a:p>
        </p:txBody>
      </p:sp>
    </p:spTree>
    <p:extLst>
      <p:ext uri="{BB962C8B-B14F-4D97-AF65-F5344CB8AC3E}">
        <p14:creationId xmlns:p14="http://schemas.microsoft.com/office/powerpoint/2010/main" val="577668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F8772-199A-46F8-B4C1-8A6EEEC30362}"/>
              </a:ext>
            </a:extLst>
          </p:cNvPr>
          <p:cNvSpPr>
            <a:spLocks noGrp="1"/>
          </p:cNvSpPr>
          <p:nvPr>
            <p:ph type="title"/>
          </p:nvPr>
        </p:nvSpPr>
        <p:spPr/>
        <p:txBody>
          <a:bodyPr/>
          <a:lstStyle/>
          <a:p>
            <a:r>
              <a:rPr lang="en-US" b="1" dirty="0"/>
              <a:t>Optimal Tree</a:t>
            </a:r>
          </a:p>
        </p:txBody>
      </p:sp>
      <p:sp>
        <p:nvSpPr>
          <p:cNvPr id="4" name="Content Placeholder 3">
            <a:extLst>
              <a:ext uri="{FF2B5EF4-FFF2-40B4-BE49-F238E27FC236}">
                <a16:creationId xmlns:a16="http://schemas.microsoft.com/office/drawing/2014/main" id="{2345C85F-D621-4281-9CB3-05D74D42781D}"/>
              </a:ext>
            </a:extLst>
          </p:cNvPr>
          <p:cNvSpPr>
            <a:spLocks noGrp="1"/>
          </p:cNvSpPr>
          <p:nvPr>
            <p:ph idx="1"/>
          </p:nvPr>
        </p:nvSpPr>
        <p:spPr>
          <a:xfrm>
            <a:off x="838200" y="1870841"/>
            <a:ext cx="10515600" cy="4306122"/>
          </a:xfrm>
        </p:spPr>
        <p:txBody>
          <a:bodyPr>
            <a:normAutofit/>
          </a:bodyPr>
          <a:lstStyle/>
          <a:p>
            <a:pPr>
              <a:lnSpc>
                <a:spcPct val="110000"/>
              </a:lnSpc>
            </a:pPr>
            <a:r>
              <a:rPr lang="en-US" sz="2400" dirty="0"/>
              <a:t>That was a simple example where it was easy to come up with an optimal tree.</a:t>
            </a:r>
          </a:p>
          <a:p>
            <a:pPr>
              <a:lnSpc>
                <a:spcPct val="110000"/>
              </a:lnSpc>
            </a:pPr>
            <a:r>
              <a:rPr lang="en-US" sz="2400" dirty="0"/>
              <a:t>However, finding an optimal tree with the minimum number of features splits is not always computationally tractable:</a:t>
            </a:r>
          </a:p>
          <a:p>
            <a:pPr lvl="1">
              <a:lnSpc>
                <a:spcPct val="110000"/>
              </a:lnSpc>
              <a:buFont typeface="Courier New" panose="02070309020205020404" pitchFamily="49" charset="0"/>
              <a:buChar char="o"/>
            </a:pPr>
            <a:r>
              <a:rPr lang="en-US" sz="2000" b="1" dirty="0"/>
              <a:t>NP-complete problem </a:t>
            </a:r>
            <a:r>
              <a:rPr lang="en-US" sz="2000" dirty="0"/>
              <a:t>which means that it is unlikely to find an optimal solution to the problem in polynomial time. </a:t>
            </a:r>
          </a:p>
          <a:p>
            <a:pPr>
              <a:lnSpc>
                <a:spcPct val="110000"/>
              </a:lnSpc>
            </a:pPr>
            <a:r>
              <a:rPr lang="en-US" sz="2400" dirty="0"/>
              <a:t>In this case, the problem can be solved with an approximate or heuristic algorithm that is computational tractable, and that tries to find a ”reasonably good” tree.</a:t>
            </a:r>
          </a:p>
        </p:txBody>
      </p:sp>
    </p:spTree>
    <p:extLst>
      <p:ext uri="{BB962C8B-B14F-4D97-AF65-F5344CB8AC3E}">
        <p14:creationId xmlns:p14="http://schemas.microsoft.com/office/powerpoint/2010/main" val="1596169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D70906-A47E-404F-9003-2AE64175BD34}"/>
              </a:ext>
            </a:extLst>
          </p:cNvPr>
          <p:cNvSpPr>
            <a:spLocks noGrp="1"/>
          </p:cNvSpPr>
          <p:nvPr>
            <p:ph type="title"/>
          </p:nvPr>
        </p:nvSpPr>
        <p:spPr/>
        <p:txBody>
          <a:bodyPr/>
          <a:lstStyle/>
          <a:p>
            <a:r>
              <a:rPr lang="en-US" b="1" dirty="0"/>
              <a:t>Greedy Strategy  –  CART </a:t>
            </a:r>
            <a:r>
              <a:rPr lang="en-US" sz="2400" b="1" dirty="0"/>
              <a:t>(Classification and Regression Trees</a:t>
            </a:r>
            <a:r>
              <a:rPr lang="en-US" sz="2800" b="1" dirty="0"/>
              <a:t>)</a:t>
            </a:r>
          </a:p>
        </p:txBody>
      </p:sp>
      <p:sp>
        <p:nvSpPr>
          <p:cNvPr id="5" name="Content Placeholder 4">
            <a:extLst>
              <a:ext uri="{FF2B5EF4-FFF2-40B4-BE49-F238E27FC236}">
                <a16:creationId xmlns:a16="http://schemas.microsoft.com/office/drawing/2014/main" id="{581A10A0-F833-4646-A671-2DB5761B6269}"/>
              </a:ext>
            </a:extLst>
          </p:cNvPr>
          <p:cNvSpPr>
            <a:spLocks noGrp="1"/>
          </p:cNvSpPr>
          <p:nvPr>
            <p:ph idx="1"/>
          </p:nvPr>
        </p:nvSpPr>
        <p:spPr/>
        <p:txBody>
          <a:bodyPr>
            <a:normAutofit/>
          </a:bodyPr>
          <a:lstStyle/>
          <a:p>
            <a:pPr>
              <a:lnSpc>
                <a:spcPct val="100000"/>
              </a:lnSpc>
            </a:pPr>
            <a:r>
              <a:rPr lang="en-US" sz="2400" dirty="0"/>
              <a:t>It consists of a </a:t>
            </a:r>
            <a:r>
              <a:rPr lang="en-US" sz="2400" b="1" dirty="0"/>
              <a:t>top-down greedy </a:t>
            </a:r>
            <a:r>
              <a:rPr lang="en-US" sz="2400" dirty="0"/>
              <a:t>approach known as </a:t>
            </a:r>
            <a:r>
              <a:rPr lang="en-US" sz="2400" b="1" dirty="0"/>
              <a:t>recursive</a:t>
            </a:r>
            <a:r>
              <a:rPr lang="en-US" sz="2400" dirty="0"/>
              <a:t> binary splitting: </a:t>
            </a:r>
          </a:p>
          <a:p>
            <a:pPr marL="457200">
              <a:lnSpc>
                <a:spcPct val="100000"/>
              </a:lnSpc>
            </a:pPr>
            <a:r>
              <a:rPr lang="en-US" sz="2400" dirty="0"/>
              <a:t> it begins at the root or top of the tree, finds the best split at the root </a:t>
            </a:r>
          </a:p>
          <a:p>
            <a:pPr marL="457200">
              <a:lnSpc>
                <a:spcPct val="100000"/>
              </a:lnSpc>
            </a:pPr>
            <a:r>
              <a:rPr lang="en-US" sz="2400" dirty="0"/>
              <a:t> then successively repeats the same steps for each child node</a:t>
            </a:r>
          </a:p>
          <a:p>
            <a:pPr indent="0">
              <a:lnSpc>
                <a:spcPct val="100000"/>
              </a:lnSpc>
              <a:buNone/>
            </a:pPr>
            <a:endParaRPr lang="en-US" sz="2400" dirty="0"/>
          </a:p>
          <a:p>
            <a:pPr>
              <a:lnSpc>
                <a:spcPct val="100000"/>
              </a:lnSpc>
            </a:pPr>
            <a:r>
              <a:rPr lang="en-US" sz="2400" b="1" i="1" dirty="0"/>
              <a:t>Top-down</a:t>
            </a:r>
            <a:r>
              <a:rPr lang="en-US" sz="2400" dirty="0"/>
              <a:t>: it starts from the root</a:t>
            </a:r>
          </a:p>
          <a:p>
            <a:pPr>
              <a:lnSpc>
                <a:spcPct val="100000"/>
              </a:lnSpc>
            </a:pPr>
            <a:r>
              <a:rPr lang="en-US" sz="2400" b="1" dirty="0"/>
              <a:t>Greedy</a:t>
            </a:r>
            <a:r>
              <a:rPr lang="en-US" sz="2400" dirty="0"/>
              <a:t>: it chooses the best split at each step (a locally optimization choice is made).</a:t>
            </a:r>
          </a:p>
        </p:txBody>
      </p:sp>
    </p:spTree>
    <p:extLst>
      <p:ext uri="{BB962C8B-B14F-4D97-AF65-F5344CB8AC3E}">
        <p14:creationId xmlns:p14="http://schemas.microsoft.com/office/powerpoint/2010/main" val="119576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D70906-A47E-404F-9003-2AE64175BD34}"/>
              </a:ext>
            </a:extLst>
          </p:cNvPr>
          <p:cNvSpPr>
            <a:spLocks noGrp="1"/>
          </p:cNvSpPr>
          <p:nvPr>
            <p:ph type="title"/>
          </p:nvPr>
        </p:nvSpPr>
        <p:spPr/>
        <p:txBody>
          <a:bodyPr/>
          <a:lstStyle/>
          <a:p>
            <a:r>
              <a:rPr lang="en-US" b="1" dirty="0"/>
              <a:t>CART (Classification and Regression Trees)</a:t>
            </a:r>
          </a:p>
        </p:txBody>
      </p:sp>
      <p:sp>
        <p:nvSpPr>
          <p:cNvPr id="5" name="Content Placeholder 4">
            <a:extLst>
              <a:ext uri="{FF2B5EF4-FFF2-40B4-BE49-F238E27FC236}">
                <a16:creationId xmlns:a16="http://schemas.microsoft.com/office/drawing/2014/main" id="{581A10A0-F833-4646-A671-2DB5761B6269}"/>
              </a:ext>
            </a:extLst>
          </p:cNvPr>
          <p:cNvSpPr>
            <a:spLocks noGrp="1"/>
          </p:cNvSpPr>
          <p:nvPr>
            <p:ph idx="1"/>
          </p:nvPr>
        </p:nvSpPr>
        <p:spPr/>
        <p:txBody>
          <a:bodyPr>
            <a:normAutofit lnSpcReduction="10000"/>
          </a:bodyPr>
          <a:lstStyle/>
          <a:p>
            <a:pPr marL="514350" indent="-514350">
              <a:lnSpc>
                <a:spcPct val="110000"/>
              </a:lnSpc>
              <a:buFont typeface="+mj-lt"/>
              <a:buAutoNum type="arabicPeriod"/>
            </a:pPr>
            <a:r>
              <a:rPr lang="en-US" dirty="0"/>
              <a:t>Start at the root.</a:t>
            </a:r>
          </a:p>
          <a:p>
            <a:pPr marL="514350" indent="-514350">
              <a:lnSpc>
                <a:spcPct val="110000"/>
              </a:lnSpc>
              <a:buFont typeface="+mj-lt"/>
              <a:buAutoNum type="arabicPeriod"/>
            </a:pPr>
            <a:endParaRPr lang="en-US" dirty="0"/>
          </a:p>
          <a:p>
            <a:pPr marL="514350" indent="-514350">
              <a:lnSpc>
                <a:spcPct val="110000"/>
              </a:lnSpc>
              <a:buFont typeface="+mj-lt"/>
              <a:buAutoNum type="arabicPeriod"/>
            </a:pPr>
            <a:r>
              <a:rPr lang="en-US" dirty="0"/>
              <a:t>Determine the best feature and threshold to split: for each feature, find the best threshold such that the optimization criterion is minimized. Then choose the best feature. </a:t>
            </a:r>
          </a:p>
          <a:p>
            <a:pPr marL="514350" indent="-514350">
              <a:lnSpc>
                <a:spcPct val="110000"/>
              </a:lnSpc>
              <a:buFont typeface="+mj-lt"/>
              <a:buAutoNum type="arabicPeriod"/>
            </a:pPr>
            <a:endParaRPr lang="en-US" dirty="0"/>
          </a:p>
          <a:p>
            <a:pPr marL="514350" indent="-514350">
              <a:lnSpc>
                <a:spcPct val="110000"/>
              </a:lnSpc>
              <a:buFont typeface="+mj-lt"/>
              <a:buAutoNum type="arabicPeriod"/>
            </a:pPr>
            <a:r>
              <a:rPr lang="en-US" dirty="0"/>
              <a:t>If a stopping criterion is reached, exit. Otherwise, repeat for each child node.</a:t>
            </a:r>
          </a:p>
          <a:p>
            <a:pPr marL="0" indent="0">
              <a:lnSpc>
                <a:spcPct val="110000"/>
              </a:lnSpc>
              <a:buNone/>
            </a:pPr>
            <a:endParaRPr lang="en-US" dirty="0"/>
          </a:p>
        </p:txBody>
      </p:sp>
    </p:spTree>
    <p:extLst>
      <p:ext uri="{BB962C8B-B14F-4D97-AF65-F5344CB8AC3E}">
        <p14:creationId xmlns:p14="http://schemas.microsoft.com/office/powerpoint/2010/main" val="2819235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70A38-3219-5133-9A47-6BFEE0D16A33}"/>
              </a:ext>
            </a:extLst>
          </p:cNvPr>
          <p:cNvSpPr>
            <a:spLocks noGrp="1"/>
          </p:cNvSpPr>
          <p:nvPr>
            <p:ph type="title"/>
          </p:nvPr>
        </p:nvSpPr>
        <p:spPr/>
        <p:txBody>
          <a:bodyPr/>
          <a:lstStyle/>
          <a:p>
            <a:r>
              <a:rPr lang="en-US" b="1" dirty="0"/>
              <a:t>Optimization/Splitting Criterion</a:t>
            </a:r>
          </a:p>
        </p:txBody>
      </p:sp>
      <p:sp>
        <p:nvSpPr>
          <p:cNvPr id="3" name="Content Placeholder 2">
            <a:extLst>
              <a:ext uri="{FF2B5EF4-FFF2-40B4-BE49-F238E27FC236}">
                <a16:creationId xmlns:a16="http://schemas.microsoft.com/office/drawing/2014/main" id="{EE49C3F6-7824-34D2-1962-F383578D4442}"/>
              </a:ext>
            </a:extLst>
          </p:cNvPr>
          <p:cNvSpPr>
            <a:spLocks noGrp="1"/>
          </p:cNvSpPr>
          <p:nvPr>
            <p:ph idx="1"/>
          </p:nvPr>
        </p:nvSpPr>
        <p:spPr/>
        <p:txBody>
          <a:bodyPr>
            <a:normAutofit/>
          </a:bodyPr>
          <a:lstStyle/>
          <a:p>
            <a:pPr marL="0" indent="0">
              <a:lnSpc>
                <a:spcPct val="110000"/>
              </a:lnSpc>
              <a:buNone/>
            </a:pPr>
            <a:r>
              <a:rPr lang="en-US" dirty="0"/>
              <a:t>Choosing the pair of features and its corresponding threshold is done using:</a:t>
            </a:r>
          </a:p>
          <a:p>
            <a:pPr>
              <a:lnSpc>
                <a:spcPct val="110000"/>
              </a:lnSpc>
            </a:pPr>
            <a:r>
              <a:rPr lang="en-US" i="1" dirty="0">
                <a:solidFill>
                  <a:schemeClr val="tx1">
                    <a:lumMod val="50000"/>
                    <a:lumOff val="50000"/>
                  </a:schemeClr>
                </a:solidFill>
              </a:rPr>
              <a:t>Classification</a:t>
            </a:r>
            <a:r>
              <a:rPr lang="en-US" dirty="0"/>
              <a:t> - an impurity function (Gini index or entropy) that measures label purity in a given region (problem-set): the pair that leads to the best pure regions is chosen.</a:t>
            </a:r>
          </a:p>
          <a:p>
            <a:pPr>
              <a:lnSpc>
                <a:spcPct val="110000"/>
              </a:lnSpc>
            </a:pPr>
            <a:r>
              <a:rPr lang="en-US" i="1" dirty="0">
                <a:solidFill>
                  <a:schemeClr val="tx1">
                    <a:lumMod val="50000"/>
                    <a:lumOff val="50000"/>
                  </a:schemeClr>
                </a:solidFill>
              </a:rPr>
              <a:t>Regression</a:t>
            </a:r>
            <a:r>
              <a:rPr lang="en-US" dirty="0"/>
              <a:t> - an error metric (RMSE) : the pair that leads to regions with less errors is chosen.</a:t>
            </a:r>
          </a:p>
          <a:p>
            <a:pPr>
              <a:lnSpc>
                <a:spcPct val="110000"/>
              </a:lnSpc>
            </a:pPr>
            <a:endParaRPr lang="en-US" dirty="0"/>
          </a:p>
        </p:txBody>
      </p:sp>
    </p:spTree>
    <p:extLst>
      <p:ext uri="{BB962C8B-B14F-4D97-AF65-F5344CB8AC3E}">
        <p14:creationId xmlns:p14="http://schemas.microsoft.com/office/powerpoint/2010/main" val="2790111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FEE8-852F-9D33-B59C-B209F6B1D715}"/>
              </a:ext>
            </a:extLst>
          </p:cNvPr>
          <p:cNvSpPr>
            <a:spLocks noGrp="1"/>
          </p:cNvSpPr>
          <p:nvPr>
            <p:ph type="title"/>
          </p:nvPr>
        </p:nvSpPr>
        <p:spPr/>
        <p:txBody>
          <a:bodyPr/>
          <a:lstStyle/>
          <a:p>
            <a:r>
              <a:rPr lang="en-US" b="1" dirty="0"/>
              <a:t>Possible Thresholds</a:t>
            </a:r>
          </a:p>
        </p:txBody>
      </p:sp>
      <p:sp>
        <p:nvSpPr>
          <p:cNvPr id="3" name="Content Placeholder 2">
            <a:extLst>
              <a:ext uri="{FF2B5EF4-FFF2-40B4-BE49-F238E27FC236}">
                <a16:creationId xmlns:a16="http://schemas.microsoft.com/office/drawing/2014/main" id="{3D8AAD86-470F-205D-E94F-4E780C3250C0}"/>
              </a:ext>
            </a:extLst>
          </p:cNvPr>
          <p:cNvSpPr>
            <a:spLocks noGrp="1"/>
          </p:cNvSpPr>
          <p:nvPr>
            <p:ph idx="1"/>
          </p:nvPr>
        </p:nvSpPr>
        <p:spPr/>
        <p:txBody>
          <a:bodyPr>
            <a:normAutofit/>
          </a:bodyPr>
          <a:lstStyle/>
          <a:p>
            <a:pPr>
              <a:lnSpc>
                <a:spcPct val="110000"/>
              </a:lnSpc>
            </a:pPr>
            <a:r>
              <a:rPr lang="en-US" sz="2000" dirty="0"/>
              <a:t>If the feature is categorical then the possible options for the thresholds are the possible categories that the feature can take.</a:t>
            </a:r>
          </a:p>
          <a:p>
            <a:pPr lvl="1">
              <a:lnSpc>
                <a:spcPct val="110000"/>
              </a:lnSpc>
              <a:buFont typeface="Courier New" panose="02070309020205020404" pitchFamily="49" charset="0"/>
              <a:buChar char="o"/>
            </a:pPr>
            <a:r>
              <a:rPr lang="en-US" sz="2000" dirty="0"/>
              <a:t>”weather” a categorical feature whose possible values are {sunny, cloudy, rainy}.</a:t>
            </a:r>
          </a:p>
          <a:p>
            <a:pPr lvl="1">
              <a:lnSpc>
                <a:spcPct val="110000"/>
              </a:lnSpc>
              <a:buFont typeface="Courier New" panose="02070309020205020404" pitchFamily="49" charset="0"/>
              <a:buChar char="o"/>
            </a:pPr>
            <a:r>
              <a:rPr lang="en-US" sz="2000" dirty="0"/>
              <a:t>Possible thresholds ”is the weather sunny?”, ”is the weather cloudy?” and ”is the weather rainy?”</a:t>
            </a:r>
          </a:p>
          <a:p>
            <a:pPr>
              <a:lnSpc>
                <a:spcPct val="110000"/>
              </a:lnSpc>
            </a:pPr>
            <a:r>
              <a:rPr lang="en-US" sz="2000" dirty="0"/>
              <a:t>If the feature is continuous, them threshold are chosen to be halfway between consecutive data values of the given feature. </a:t>
            </a:r>
          </a:p>
          <a:p>
            <a:pPr lvl="1">
              <a:lnSpc>
                <a:spcPct val="110000"/>
              </a:lnSpc>
              <a:buFont typeface="Courier New" panose="02070309020205020404" pitchFamily="49" charset="0"/>
              <a:buChar char="o"/>
            </a:pPr>
            <a:r>
              <a:rPr lang="en-US" sz="2000" dirty="0"/>
              <a:t>For example, the feature age takes the following possible values:</a:t>
            </a:r>
          </a:p>
          <a:p>
            <a:pPr marL="457200" lvl="1" indent="0">
              <a:lnSpc>
                <a:spcPct val="110000"/>
              </a:lnSpc>
              <a:buNone/>
            </a:pPr>
            <a:r>
              <a:rPr lang="en-US" sz="2000" dirty="0"/>
              <a:t>                                              {34, 35, 36, 37, 50, 61, 63, 64} </a:t>
            </a:r>
          </a:p>
          <a:p>
            <a:pPr lvl="1">
              <a:lnSpc>
                <a:spcPct val="110000"/>
              </a:lnSpc>
              <a:buFont typeface="Courier New" panose="02070309020205020404" pitchFamily="49" charset="0"/>
              <a:buChar char="o"/>
            </a:pPr>
            <a:r>
              <a:rPr lang="en-US" sz="2000" dirty="0"/>
              <a:t>Then the possible thresholds are: </a:t>
            </a:r>
          </a:p>
          <a:p>
            <a:pPr marL="457200" lvl="1" indent="0">
              <a:lnSpc>
                <a:spcPct val="110000"/>
              </a:lnSpc>
              <a:buNone/>
            </a:pPr>
            <a:r>
              <a:rPr lang="en-US" sz="2000" dirty="0"/>
              <a:t>                                             {34.5, 35.5, 36.5, 43.5, 55.5, 62, 63.5} </a:t>
            </a:r>
          </a:p>
          <a:p>
            <a:pPr>
              <a:lnSpc>
                <a:spcPct val="110000"/>
              </a:lnSpc>
            </a:pPr>
            <a:endParaRPr lang="en-US" sz="2000" dirty="0"/>
          </a:p>
          <a:p>
            <a:pPr>
              <a:lnSpc>
                <a:spcPct val="110000"/>
              </a:lnSpc>
            </a:pPr>
            <a:endParaRPr lang="en-US" sz="2000" dirty="0"/>
          </a:p>
        </p:txBody>
      </p:sp>
    </p:spTree>
    <p:extLst>
      <p:ext uri="{BB962C8B-B14F-4D97-AF65-F5344CB8AC3E}">
        <p14:creationId xmlns:p14="http://schemas.microsoft.com/office/powerpoint/2010/main" val="2702182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D70906-A47E-404F-9003-2AE64175BD34}"/>
              </a:ext>
            </a:extLst>
          </p:cNvPr>
          <p:cNvSpPr>
            <a:spLocks noGrp="1"/>
          </p:cNvSpPr>
          <p:nvPr>
            <p:ph type="title"/>
          </p:nvPr>
        </p:nvSpPr>
        <p:spPr/>
        <p:txBody>
          <a:bodyPr/>
          <a:lstStyle/>
          <a:p>
            <a:r>
              <a:rPr lang="en-US" b="1" dirty="0"/>
              <a:t>When to Stop?</a:t>
            </a:r>
          </a:p>
        </p:txBody>
      </p:sp>
      <p:sp>
        <p:nvSpPr>
          <p:cNvPr id="5" name="Content Placeholder 4">
            <a:extLst>
              <a:ext uri="{FF2B5EF4-FFF2-40B4-BE49-F238E27FC236}">
                <a16:creationId xmlns:a16="http://schemas.microsoft.com/office/drawing/2014/main" id="{581A10A0-F833-4646-A671-2DB5761B6269}"/>
              </a:ext>
            </a:extLst>
          </p:cNvPr>
          <p:cNvSpPr>
            <a:spLocks noGrp="1"/>
          </p:cNvSpPr>
          <p:nvPr>
            <p:ph idx="1"/>
          </p:nvPr>
        </p:nvSpPr>
        <p:spPr/>
        <p:txBody>
          <a:bodyPr>
            <a:normAutofit/>
          </a:bodyPr>
          <a:lstStyle/>
          <a:p>
            <a:r>
              <a:rPr lang="en-US" dirty="0"/>
              <a:t>node contains only one class </a:t>
            </a:r>
          </a:p>
          <a:p>
            <a:pPr marL="0" indent="0">
              <a:buNone/>
            </a:pPr>
            <a:endParaRPr lang="en-US" dirty="0"/>
          </a:p>
          <a:p>
            <a:r>
              <a:rPr lang="en-US" dirty="0"/>
              <a:t>node contains less than x data points </a:t>
            </a:r>
          </a:p>
          <a:p>
            <a:pPr marL="0" indent="0">
              <a:buNone/>
            </a:pPr>
            <a:endParaRPr lang="en-US" dirty="0"/>
          </a:p>
          <a:p>
            <a:r>
              <a:rPr lang="en-US" dirty="0"/>
              <a:t>max depth is reached </a:t>
            </a:r>
          </a:p>
          <a:p>
            <a:endParaRPr lang="en-US" dirty="0"/>
          </a:p>
          <a:p>
            <a:r>
              <a:rPr lang="en-US" dirty="0"/>
              <a:t>node purity is sufficient</a:t>
            </a:r>
          </a:p>
        </p:txBody>
      </p:sp>
    </p:spTree>
    <p:extLst>
      <p:ext uri="{BB962C8B-B14F-4D97-AF65-F5344CB8AC3E}">
        <p14:creationId xmlns:p14="http://schemas.microsoft.com/office/powerpoint/2010/main" val="3510394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B1F834-67AD-4202-6E3F-861B4323A8F6}"/>
              </a:ext>
            </a:extLst>
          </p:cNvPr>
          <p:cNvSpPr>
            <a:spLocks noGrp="1"/>
          </p:cNvSpPr>
          <p:nvPr>
            <p:ph type="title"/>
          </p:nvPr>
        </p:nvSpPr>
        <p:spPr/>
        <p:txBody>
          <a:bodyPr/>
          <a:lstStyle/>
          <a:p>
            <a:r>
              <a:rPr lang="en-US" b="1" dirty="0"/>
              <a:t>Illustration of the Algorithm</a:t>
            </a:r>
          </a:p>
        </p:txBody>
      </p:sp>
      <p:sp>
        <p:nvSpPr>
          <p:cNvPr id="5" name="Text Placeholder 4">
            <a:extLst>
              <a:ext uri="{FF2B5EF4-FFF2-40B4-BE49-F238E27FC236}">
                <a16:creationId xmlns:a16="http://schemas.microsoft.com/office/drawing/2014/main" id="{F82B6968-50D6-55E4-28E1-5A7E79C6170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59074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a:extLst>
              <a:ext uri="{FF2B5EF4-FFF2-40B4-BE49-F238E27FC236}">
                <a16:creationId xmlns:a16="http://schemas.microsoft.com/office/drawing/2014/main" id="{69D4345D-AA61-4C10-CDBF-D17A57060BAD}"/>
              </a:ext>
            </a:extLst>
          </p:cNvPr>
          <p:cNvCxnSpPr/>
          <p:nvPr/>
        </p:nvCxnSpPr>
        <p:spPr>
          <a:xfrm>
            <a:off x="429260" y="2344934"/>
            <a:ext cx="3413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F2A51B43-B36D-A71D-46B0-A07E398F6C5A}"/>
              </a:ext>
            </a:extLst>
          </p:cNvPr>
          <p:cNvCxnSpPr>
            <a:cxnSpLocks/>
          </p:cNvCxnSpPr>
          <p:nvPr/>
        </p:nvCxnSpPr>
        <p:spPr>
          <a:xfrm rot="16200000">
            <a:off x="-595630" y="1359425"/>
            <a:ext cx="228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Multiplication Sign 8">
            <a:extLst>
              <a:ext uri="{FF2B5EF4-FFF2-40B4-BE49-F238E27FC236}">
                <a16:creationId xmlns:a16="http://schemas.microsoft.com/office/drawing/2014/main" id="{F8B40184-58DF-A100-5BC2-50A7C6D87643}"/>
              </a:ext>
            </a:extLst>
          </p:cNvPr>
          <p:cNvSpPr/>
          <p:nvPr/>
        </p:nvSpPr>
        <p:spPr>
          <a:xfrm>
            <a:off x="833120" y="72949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Multiplication Sign 9">
            <a:extLst>
              <a:ext uri="{FF2B5EF4-FFF2-40B4-BE49-F238E27FC236}">
                <a16:creationId xmlns:a16="http://schemas.microsoft.com/office/drawing/2014/main" id="{ABEA64D5-C0E7-9264-6AB5-AE07F3BD48F7}"/>
              </a:ext>
            </a:extLst>
          </p:cNvPr>
          <p:cNvSpPr/>
          <p:nvPr/>
        </p:nvSpPr>
        <p:spPr>
          <a:xfrm>
            <a:off x="985520" y="88189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Multiplication Sign 10">
            <a:extLst>
              <a:ext uri="{FF2B5EF4-FFF2-40B4-BE49-F238E27FC236}">
                <a16:creationId xmlns:a16="http://schemas.microsoft.com/office/drawing/2014/main" id="{B64EFEE4-FB37-4002-ED04-E0358801B001}"/>
              </a:ext>
            </a:extLst>
          </p:cNvPr>
          <p:cNvSpPr/>
          <p:nvPr/>
        </p:nvSpPr>
        <p:spPr>
          <a:xfrm>
            <a:off x="1137920" y="103429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Multiplication Sign 11">
            <a:extLst>
              <a:ext uri="{FF2B5EF4-FFF2-40B4-BE49-F238E27FC236}">
                <a16:creationId xmlns:a16="http://schemas.microsoft.com/office/drawing/2014/main" id="{6ACA3491-ACDE-F18D-EB15-01D4164917E4}"/>
              </a:ext>
            </a:extLst>
          </p:cNvPr>
          <p:cNvSpPr/>
          <p:nvPr/>
        </p:nvSpPr>
        <p:spPr>
          <a:xfrm>
            <a:off x="802640" y="158293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Multiplication Sign 12">
            <a:extLst>
              <a:ext uri="{FF2B5EF4-FFF2-40B4-BE49-F238E27FC236}">
                <a16:creationId xmlns:a16="http://schemas.microsoft.com/office/drawing/2014/main" id="{AD2C7F3F-003F-ABB3-4E05-DE37368EC33F}"/>
              </a:ext>
            </a:extLst>
          </p:cNvPr>
          <p:cNvSpPr/>
          <p:nvPr/>
        </p:nvSpPr>
        <p:spPr>
          <a:xfrm>
            <a:off x="1076960" y="131623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Multiplication Sign 13">
            <a:extLst>
              <a:ext uri="{FF2B5EF4-FFF2-40B4-BE49-F238E27FC236}">
                <a16:creationId xmlns:a16="http://schemas.microsoft.com/office/drawing/2014/main" id="{4D5D8731-E92B-B803-D9D6-4ECDDE614556}"/>
              </a:ext>
            </a:extLst>
          </p:cNvPr>
          <p:cNvSpPr/>
          <p:nvPr/>
        </p:nvSpPr>
        <p:spPr>
          <a:xfrm>
            <a:off x="1206500" y="168199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Multiplication Sign 14">
            <a:extLst>
              <a:ext uri="{FF2B5EF4-FFF2-40B4-BE49-F238E27FC236}">
                <a16:creationId xmlns:a16="http://schemas.microsoft.com/office/drawing/2014/main" id="{38648E91-079B-48E1-E272-8EA6CC944356}"/>
              </a:ext>
            </a:extLst>
          </p:cNvPr>
          <p:cNvSpPr/>
          <p:nvPr/>
        </p:nvSpPr>
        <p:spPr>
          <a:xfrm>
            <a:off x="1285240" y="66344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Multiplication Sign 17">
            <a:extLst>
              <a:ext uri="{FF2B5EF4-FFF2-40B4-BE49-F238E27FC236}">
                <a16:creationId xmlns:a16="http://schemas.microsoft.com/office/drawing/2014/main" id="{7D85A001-2C61-2B4E-C9E6-71C6205B281A}"/>
              </a:ext>
            </a:extLst>
          </p:cNvPr>
          <p:cNvSpPr/>
          <p:nvPr/>
        </p:nvSpPr>
        <p:spPr>
          <a:xfrm>
            <a:off x="1554480" y="1405129"/>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Multiplication Sign 19">
            <a:extLst>
              <a:ext uri="{FF2B5EF4-FFF2-40B4-BE49-F238E27FC236}">
                <a16:creationId xmlns:a16="http://schemas.microsoft.com/office/drawing/2014/main" id="{20B721F6-5C9E-6178-9583-45FED862D959}"/>
              </a:ext>
            </a:extLst>
          </p:cNvPr>
          <p:cNvSpPr/>
          <p:nvPr/>
        </p:nvSpPr>
        <p:spPr>
          <a:xfrm>
            <a:off x="1861820" y="66599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Multiplication Sign 23">
            <a:extLst>
              <a:ext uri="{FF2B5EF4-FFF2-40B4-BE49-F238E27FC236}">
                <a16:creationId xmlns:a16="http://schemas.microsoft.com/office/drawing/2014/main" id="{591A2F00-1A18-E6CF-D62D-7C8724A391BF}"/>
              </a:ext>
            </a:extLst>
          </p:cNvPr>
          <p:cNvSpPr/>
          <p:nvPr/>
        </p:nvSpPr>
        <p:spPr>
          <a:xfrm>
            <a:off x="698500" y="117145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92E5ED2-C86A-5D32-0848-350B73960DD4}"/>
              </a:ext>
            </a:extLst>
          </p:cNvPr>
          <p:cNvSpPr/>
          <p:nvPr/>
        </p:nvSpPr>
        <p:spPr>
          <a:xfrm>
            <a:off x="2349500" y="81331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Oval 25">
            <a:extLst>
              <a:ext uri="{FF2B5EF4-FFF2-40B4-BE49-F238E27FC236}">
                <a16:creationId xmlns:a16="http://schemas.microsoft.com/office/drawing/2014/main" id="{FB8757C0-99E1-CF54-33AA-A365AFAA0365}"/>
              </a:ext>
            </a:extLst>
          </p:cNvPr>
          <p:cNvSpPr/>
          <p:nvPr/>
        </p:nvSpPr>
        <p:spPr>
          <a:xfrm>
            <a:off x="2501900" y="96571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7" name="Oval 26">
            <a:extLst>
              <a:ext uri="{FF2B5EF4-FFF2-40B4-BE49-F238E27FC236}">
                <a16:creationId xmlns:a16="http://schemas.microsoft.com/office/drawing/2014/main" id="{DBB43B9F-40B1-8FB5-FE69-0DCF5BA829A3}"/>
              </a:ext>
            </a:extLst>
          </p:cNvPr>
          <p:cNvSpPr/>
          <p:nvPr/>
        </p:nvSpPr>
        <p:spPr>
          <a:xfrm>
            <a:off x="2654300" y="111811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 name="Oval 27">
            <a:extLst>
              <a:ext uri="{FF2B5EF4-FFF2-40B4-BE49-F238E27FC236}">
                <a16:creationId xmlns:a16="http://schemas.microsoft.com/office/drawing/2014/main" id="{4D248EDC-A7FE-91B4-8410-8D4CBC2A5FE2}"/>
              </a:ext>
            </a:extLst>
          </p:cNvPr>
          <p:cNvSpPr/>
          <p:nvPr/>
        </p:nvSpPr>
        <p:spPr>
          <a:xfrm>
            <a:off x="2239010" y="1289567"/>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Oval 28">
            <a:extLst>
              <a:ext uri="{FF2B5EF4-FFF2-40B4-BE49-F238E27FC236}">
                <a16:creationId xmlns:a16="http://schemas.microsoft.com/office/drawing/2014/main" id="{70B15048-45C8-B280-0E2C-A89B8268BBE2}"/>
              </a:ext>
            </a:extLst>
          </p:cNvPr>
          <p:cNvSpPr/>
          <p:nvPr/>
        </p:nvSpPr>
        <p:spPr>
          <a:xfrm>
            <a:off x="2270760" y="1610873"/>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Oval 29">
            <a:extLst>
              <a:ext uri="{FF2B5EF4-FFF2-40B4-BE49-F238E27FC236}">
                <a16:creationId xmlns:a16="http://schemas.microsoft.com/office/drawing/2014/main" id="{F5F593CD-3C22-A75F-7726-92635C12EFD5}"/>
              </a:ext>
            </a:extLst>
          </p:cNvPr>
          <p:cNvSpPr/>
          <p:nvPr/>
        </p:nvSpPr>
        <p:spPr>
          <a:xfrm>
            <a:off x="1375411" y="112826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Oval 30">
            <a:extLst>
              <a:ext uri="{FF2B5EF4-FFF2-40B4-BE49-F238E27FC236}">
                <a16:creationId xmlns:a16="http://schemas.microsoft.com/office/drawing/2014/main" id="{D7B7C6AB-5278-12D2-EFE3-4F4A54D4B911}"/>
              </a:ext>
            </a:extLst>
          </p:cNvPr>
          <p:cNvSpPr/>
          <p:nvPr/>
        </p:nvSpPr>
        <p:spPr>
          <a:xfrm>
            <a:off x="2722880" y="151435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Oval 31">
            <a:extLst>
              <a:ext uri="{FF2B5EF4-FFF2-40B4-BE49-F238E27FC236}">
                <a16:creationId xmlns:a16="http://schemas.microsoft.com/office/drawing/2014/main" id="{A0D19360-EBE8-78B6-0AE8-956414D9104E}"/>
              </a:ext>
            </a:extLst>
          </p:cNvPr>
          <p:cNvSpPr/>
          <p:nvPr/>
        </p:nvSpPr>
        <p:spPr>
          <a:xfrm>
            <a:off x="3194050" y="79807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Oval 32">
            <a:extLst>
              <a:ext uri="{FF2B5EF4-FFF2-40B4-BE49-F238E27FC236}">
                <a16:creationId xmlns:a16="http://schemas.microsoft.com/office/drawing/2014/main" id="{7E50E198-0E52-FE72-E9F6-84EF34B7BEF3}"/>
              </a:ext>
            </a:extLst>
          </p:cNvPr>
          <p:cNvSpPr/>
          <p:nvPr/>
        </p:nvSpPr>
        <p:spPr>
          <a:xfrm>
            <a:off x="3009900" y="1144786"/>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Oval 33">
            <a:extLst>
              <a:ext uri="{FF2B5EF4-FFF2-40B4-BE49-F238E27FC236}">
                <a16:creationId xmlns:a16="http://schemas.microsoft.com/office/drawing/2014/main" id="{DFC3922B-E82D-0C81-E94B-79088A2AEA39}"/>
              </a:ext>
            </a:extLst>
          </p:cNvPr>
          <p:cNvSpPr/>
          <p:nvPr/>
        </p:nvSpPr>
        <p:spPr>
          <a:xfrm>
            <a:off x="3336291" y="1289567"/>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Oval 35">
            <a:extLst>
              <a:ext uri="{FF2B5EF4-FFF2-40B4-BE49-F238E27FC236}">
                <a16:creationId xmlns:a16="http://schemas.microsoft.com/office/drawing/2014/main" id="{68D9ADB8-2729-1A25-78F7-C61E249DE856}"/>
              </a:ext>
            </a:extLst>
          </p:cNvPr>
          <p:cNvSpPr/>
          <p:nvPr/>
        </p:nvSpPr>
        <p:spPr>
          <a:xfrm>
            <a:off x="2887981" y="779026"/>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Multiplication Sign 36">
            <a:extLst>
              <a:ext uri="{FF2B5EF4-FFF2-40B4-BE49-F238E27FC236}">
                <a16:creationId xmlns:a16="http://schemas.microsoft.com/office/drawing/2014/main" id="{A059547B-82FD-FE23-AECC-DDE1B0B40727}"/>
              </a:ext>
            </a:extLst>
          </p:cNvPr>
          <p:cNvSpPr/>
          <p:nvPr/>
        </p:nvSpPr>
        <p:spPr>
          <a:xfrm>
            <a:off x="2280920" y="183186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Multiplication Sign 37">
            <a:extLst>
              <a:ext uri="{FF2B5EF4-FFF2-40B4-BE49-F238E27FC236}">
                <a16:creationId xmlns:a16="http://schemas.microsoft.com/office/drawing/2014/main" id="{B196D1E7-D381-1B23-02BE-D9150E26AEEF}"/>
              </a:ext>
            </a:extLst>
          </p:cNvPr>
          <p:cNvSpPr/>
          <p:nvPr/>
        </p:nvSpPr>
        <p:spPr>
          <a:xfrm>
            <a:off x="1998980" y="1994398"/>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Multiplication Sign 38">
            <a:extLst>
              <a:ext uri="{FF2B5EF4-FFF2-40B4-BE49-F238E27FC236}">
                <a16:creationId xmlns:a16="http://schemas.microsoft.com/office/drawing/2014/main" id="{3A271D96-FC20-4167-C277-A9EDB4CF8C26}"/>
              </a:ext>
            </a:extLst>
          </p:cNvPr>
          <p:cNvSpPr/>
          <p:nvPr/>
        </p:nvSpPr>
        <p:spPr>
          <a:xfrm>
            <a:off x="2781300" y="196646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Multiplication Sign 39">
            <a:extLst>
              <a:ext uri="{FF2B5EF4-FFF2-40B4-BE49-F238E27FC236}">
                <a16:creationId xmlns:a16="http://schemas.microsoft.com/office/drawing/2014/main" id="{65214BE3-E4FA-2050-BB19-0F4B5D467DBA}"/>
              </a:ext>
            </a:extLst>
          </p:cNvPr>
          <p:cNvSpPr/>
          <p:nvPr/>
        </p:nvSpPr>
        <p:spPr>
          <a:xfrm>
            <a:off x="1430020" y="1857238"/>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Multiplication Sign 40">
            <a:extLst>
              <a:ext uri="{FF2B5EF4-FFF2-40B4-BE49-F238E27FC236}">
                <a16:creationId xmlns:a16="http://schemas.microsoft.com/office/drawing/2014/main" id="{8A0118D0-FDC8-6D4C-0B1E-B9C2626ABE9B}"/>
              </a:ext>
            </a:extLst>
          </p:cNvPr>
          <p:cNvSpPr/>
          <p:nvPr/>
        </p:nvSpPr>
        <p:spPr>
          <a:xfrm>
            <a:off x="1838960" y="175057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Multiplication Sign 41">
            <a:extLst>
              <a:ext uri="{FF2B5EF4-FFF2-40B4-BE49-F238E27FC236}">
                <a16:creationId xmlns:a16="http://schemas.microsoft.com/office/drawing/2014/main" id="{6399E3F2-1AC7-BCF0-6C47-0561CC478210}"/>
              </a:ext>
            </a:extLst>
          </p:cNvPr>
          <p:cNvSpPr/>
          <p:nvPr/>
        </p:nvSpPr>
        <p:spPr>
          <a:xfrm>
            <a:off x="2462530" y="2066811"/>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652D1CB-493F-7540-D557-532BE1EF2739}"/>
                  </a:ext>
                </a:extLst>
              </p:cNvPr>
              <p:cNvSpPr txBox="1"/>
              <p:nvPr/>
            </p:nvSpPr>
            <p:spPr>
              <a:xfrm>
                <a:off x="-436880" y="0"/>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t>
                </a:r>
              </a:p>
            </p:txBody>
          </p:sp>
        </mc:Choice>
        <mc:Fallback xmlns="">
          <p:sp>
            <p:nvSpPr>
              <p:cNvPr id="43" name="TextBox 42">
                <a:extLst>
                  <a:ext uri="{FF2B5EF4-FFF2-40B4-BE49-F238E27FC236}">
                    <a16:creationId xmlns:a16="http://schemas.microsoft.com/office/drawing/2014/main" id="{4652D1CB-493F-7540-D557-532BE1EF2739}"/>
                  </a:ext>
                </a:extLst>
              </p:cNvPr>
              <p:cNvSpPr txBox="1">
                <a:spLocks noRot="1" noChangeAspect="1" noMove="1" noResize="1" noEditPoints="1" noAdjustHandles="1" noChangeArrowheads="1" noChangeShapeType="1" noTextEdit="1"/>
              </p:cNvSpPr>
              <p:nvPr/>
            </p:nvSpPr>
            <p:spPr>
              <a:xfrm>
                <a:off x="-436880" y="0"/>
                <a:ext cx="131163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254D605-FBA4-4636-5D3B-70653D10F1FA}"/>
                  </a:ext>
                </a:extLst>
              </p:cNvPr>
              <p:cNvSpPr txBox="1"/>
              <p:nvPr/>
            </p:nvSpPr>
            <p:spPr>
              <a:xfrm>
                <a:off x="2981962" y="2339339"/>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a:t>
                </a:r>
              </a:p>
            </p:txBody>
          </p:sp>
        </mc:Choice>
        <mc:Fallback xmlns="">
          <p:sp>
            <p:nvSpPr>
              <p:cNvPr id="44" name="TextBox 43">
                <a:extLst>
                  <a:ext uri="{FF2B5EF4-FFF2-40B4-BE49-F238E27FC236}">
                    <a16:creationId xmlns:a16="http://schemas.microsoft.com/office/drawing/2014/main" id="{2254D605-FBA4-4636-5D3B-70653D10F1FA}"/>
                  </a:ext>
                </a:extLst>
              </p:cNvPr>
              <p:cNvSpPr txBox="1">
                <a:spLocks noRot="1" noChangeAspect="1" noMove="1" noResize="1" noEditPoints="1" noAdjustHandles="1" noChangeArrowheads="1" noChangeShapeType="1" noTextEdit="1"/>
              </p:cNvSpPr>
              <p:nvPr/>
            </p:nvSpPr>
            <p:spPr>
              <a:xfrm>
                <a:off x="2981962" y="2339339"/>
                <a:ext cx="1311636" cy="369332"/>
              </a:xfrm>
              <a:prstGeom prst="rect">
                <a:avLst/>
              </a:prstGeom>
              <a:blipFill>
                <a:blip r:embed="rId3"/>
                <a:stretch>
                  <a:fillRect/>
                </a:stretch>
              </a:blipFill>
            </p:spPr>
            <p:txBody>
              <a:bodyPr/>
              <a:lstStyle/>
              <a:p>
                <a:r>
                  <a:rPr lang="en-US">
                    <a:noFill/>
                  </a:rPr>
                  <a:t> </a:t>
                </a:r>
              </a:p>
            </p:txBody>
          </p:sp>
        </mc:Fallback>
      </mc:AlternateContent>
      <p:sp>
        <p:nvSpPr>
          <p:cNvPr id="45" name="Oval 44">
            <a:extLst>
              <a:ext uri="{FF2B5EF4-FFF2-40B4-BE49-F238E27FC236}">
                <a16:creationId xmlns:a16="http://schemas.microsoft.com/office/drawing/2014/main" id="{09C5822C-4096-A323-FDCD-669CCEF0D24B}"/>
              </a:ext>
            </a:extLst>
          </p:cNvPr>
          <p:cNvSpPr/>
          <p:nvPr/>
        </p:nvSpPr>
        <p:spPr>
          <a:xfrm>
            <a:off x="5679442" y="554235"/>
            <a:ext cx="640080" cy="64008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46" name="TextBox 45">
            <a:extLst>
              <a:ext uri="{FF2B5EF4-FFF2-40B4-BE49-F238E27FC236}">
                <a16:creationId xmlns:a16="http://schemas.microsoft.com/office/drawing/2014/main" id="{C95425F5-FB88-7883-0DC2-E5A24F105D30}"/>
              </a:ext>
            </a:extLst>
          </p:cNvPr>
          <p:cNvSpPr txBox="1"/>
          <p:nvPr/>
        </p:nvSpPr>
        <p:spPr>
          <a:xfrm>
            <a:off x="8037834" y="642712"/>
            <a:ext cx="3806835" cy="584775"/>
          </a:xfrm>
          <a:prstGeom prst="rect">
            <a:avLst/>
          </a:prstGeom>
          <a:noFill/>
        </p:spPr>
        <p:txBody>
          <a:bodyPr wrap="square" rtlCol="0">
            <a:spAutoFit/>
          </a:bodyPr>
          <a:lstStyle/>
          <a:p>
            <a:pPr marL="342900" indent="-342900">
              <a:buFont typeface="+mj-lt"/>
              <a:buAutoNum type="arabicPeriod"/>
            </a:pPr>
            <a:r>
              <a:rPr lang="en-US" sz="1600" dirty="0"/>
              <a:t>We start with the root of the tree that represents the entire feature space.</a:t>
            </a:r>
          </a:p>
        </p:txBody>
      </p:sp>
    </p:spTree>
    <p:extLst>
      <p:ext uri="{BB962C8B-B14F-4D97-AF65-F5344CB8AC3E}">
        <p14:creationId xmlns:p14="http://schemas.microsoft.com/office/powerpoint/2010/main" val="2907695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a:extLst>
              <a:ext uri="{FF2B5EF4-FFF2-40B4-BE49-F238E27FC236}">
                <a16:creationId xmlns:a16="http://schemas.microsoft.com/office/drawing/2014/main" id="{69D4345D-AA61-4C10-CDBF-D17A57060BAD}"/>
              </a:ext>
            </a:extLst>
          </p:cNvPr>
          <p:cNvCxnSpPr/>
          <p:nvPr/>
        </p:nvCxnSpPr>
        <p:spPr>
          <a:xfrm>
            <a:off x="429260" y="2344934"/>
            <a:ext cx="3413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F2A51B43-B36D-A71D-46B0-A07E398F6C5A}"/>
              </a:ext>
            </a:extLst>
          </p:cNvPr>
          <p:cNvCxnSpPr>
            <a:cxnSpLocks/>
          </p:cNvCxnSpPr>
          <p:nvPr/>
        </p:nvCxnSpPr>
        <p:spPr>
          <a:xfrm rot="16200000">
            <a:off x="-595630" y="1359425"/>
            <a:ext cx="228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Multiplication Sign 8">
            <a:extLst>
              <a:ext uri="{FF2B5EF4-FFF2-40B4-BE49-F238E27FC236}">
                <a16:creationId xmlns:a16="http://schemas.microsoft.com/office/drawing/2014/main" id="{F8B40184-58DF-A100-5BC2-50A7C6D87643}"/>
              </a:ext>
            </a:extLst>
          </p:cNvPr>
          <p:cNvSpPr/>
          <p:nvPr/>
        </p:nvSpPr>
        <p:spPr>
          <a:xfrm>
            <a:off x="833120" y="72949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Multiplication Sign 9">
            <a:extLst>
              <a:ext uri="{FF2B5EF4-FFF2-40B4-BE49-F238E27FC236}">
                <a16:creationId xmlns:a16="http://schemas.microsoft.com/office/drawing/2014/main" id="{ABEA64D5-C0E7-9264-6AB5-AE07F3BD48F7}"/>
              </a:ext>
            </a:extLst>
          </p:cNvPr>
          <p:cNvSpPr/>
          <p:nvPr/>
        </p:nvSpPr>
        <p:spPr>
          <a:xfrm>
            <a:off x="985520" y="88189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Multiplication Sign 10">
            <a:extLst>
              <a:ext uri="{FF2B5EF4-FFF2-40B4-BE49-F238E27FC236}">
                <a16:creationId xmlns:a16="http://schemas.microsoft.com/office/drawing/2014/main" id="{B64EFEE4-FB37-4002-ED04-E0358801B001}"/>
              </a:ext>
            </a:extLst>
          </p:cNvPr>
          <p:cNvSpPr/>
          <p:nvPr/>
        </p:nvSpPr>
        <p:spPr>
          <a:xfrm>
            <a:off x="1137920" y="103429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Multiplication Sign 11">
            <a:extLst>
              <a:ext uri="{FF2B5EF4-FFF2-40B4-BE49-F238E27FC236}">
                <a16:creationId xmlns:a16="http://schemas.microsoft.com/office/drawing/2014/main" id="{6ACA3491-ACDE-F18D-EB15-01D4164917E4}"/>
              </a:ext>
            </a:extLst>
          </p:cNvPr>
          <p:cNvSpPr/>
          <p:nvPr/>
        </p:nvSpPr>
        <p:spPr>
          <a:xfrm>
            <a:off x="802640" y="158293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Multiplication Sign 12">
            <a:extLst>
              <a:ext uri="{FF2B5EF4-FFF2-40B4-BE49-F238E27FC236}">
                <a16:creationId xmlns:a16="http://schemas.microsoft.com/office/drawing/2014/main" id="{AD2C7F3F-003F-ABB3-4E05-DE37368EC33F}"/>
              </a:ext>
            </a:extLst>
          </p:cNvPr>
          <p:cNvSpPr/>
          <p:nvPr/>
        </p:nvSpPr>
        <p:spPr>
          <a:xfrm>
            <a:off x="1076960" y="131623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Multiplication Sign 13">
            <a:extLst>
              <a:ext uri="{FF2B5EF4-FFF2-40B4-BE49-F238E27FC236}">
                <a16:creationId xmlns:a16="http://schemas.microsoft.com/office/drawing/2014/main" id="{4D5D8731-E92B-B803-D9D6-4ECDDE614556}"/>
              </a:ext>
            </a:extLst>
          </p:cNvPr>
          <p:cNvSpPr/>
          <p:nvPr/>
        </p:nvSpPr>
        <p:spPr>
          <a:xfrm>
            <a:off x="1206500" y="168199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Multiplication Sign 14">
            <a:extLst>
              <a:ext uri="{FF2B5EF4-FFF2-40B4-BE49-F238E27FC236}">
                <a16:creationId xmlns:a16="http://schemas.microsoft.com/office/drawing/2014/main" id="{38648E91-079B-48E1-E272-8EA6CC944356}"/>
              </a:ext>
            </a:extLst>
          </p:cNvPr>
          <p:cNvSpPr/>
          <p:nvPr/>
        </p:nvSpPr>
        <p:spPr>
          <a:xfrm>
            <a:off x="1285240" y="66344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Multiplication Sign 17">
            <a:extLst>
              <a:ext uri="{FF2B5EF4-FFF2-40B4-BE49-F238E27FC236}">
                <a16:creationId xmlns:a16="http://schemas.microsoft.com/office/drawing/2014/main" id="{7D85A001-2C61-2B4E-C9E6-71C6205B281A}"/>
              </a:ext>
            </a:extLst>
          </p:cNvPr>
          <p:cNvSpPr/>
          <p:nvPr/>
        </p:nvSpPr>
        <p:spPr>
          <a:xfrm>
            <a:off x="1554480" y="1405129"/>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Multiplication Sign 19">
            <a:extLst>
              <a:ext uri="{FF2B5EF4-FFF2-40B4-BE49-F238E27FC236}">
                <a16:creationId xmlns:a16="http://schemas.microsoft.com/office/drawing/2014/main" id="{20B721F6-5C9E-6178-9583-45FED862D959}"/>
              </a:ext>
            </a:extLst>
          </p:cNvPr>
          <p:cNvSpPr/>
          <p:nvPr/>
        </p:nvSpPr>
        <p:spPr>
          <a:xfrm>
            <a:off x="1861820" y="66599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Multiplication Sign 23">
            <a:extLst>
              <a:ext uri="{FF2B5EF4-FFF2-40B4-BE49-F238E27FC236}">
                <a16:creationId xmlns:a16="http://schemas.microsoft.com/office/drawing/2014/main" id="{591A2F00-1A18-E6CF-D62D-7C8724A391BF}"/>
              </a:ext>
            </a:extLst>
          </p:cNvPr>
          <p:cNvSpPr/>
          <p:nvPr/>
        </p:nvSpPr>
        <p:spPr>
          <a:xfrm>
            <a:off x="698500" y="117145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92E5ED2-C86A-5D32-0848-350B73960DD4}"/>
              </a:ext>
            </a:extLst>
          </p:cNvPr>
          <p:cNvSpPr/>
          <p:nvPr/>
        </p:nvSpPr>
        <p:spPr>
          <a:xfrm>
            <a:off x="2349500" y="81331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Oval 25">
            <a:extLst>
              <a:ext uri="{FF2B5EF4-FFF2-40B4-BE49-F238E27FC236}">
                <a16:creationId xmlns:a16="http://schemas.microsoft.com/office/drawing/2014/main" id="{FB8757C0-99E1-CF54-33AA-A365AFAA0365}"/>
              </a:ext>
            </a:extLst>
          </p:cNvPr>
          <p:cNvSpPr/>
          <p:nvPr/>
        </p:nvSpPr>
        <p:spPr>
          <a:xfrm>
            <a:off x="2501900" y="96571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7" name="Oval 26">
            <a:extLst>
              <a:ext uri="{FF2B5EF4-FFF2-40B4-BE49-F238E27FC236}">
                <a16:creationId xmlns:a16="http://schemas.microsoft.com/office/drawing/2014/main" id="{DBB43B9F-40B1-8FB5-FE69-0DCF5BA829A3}"/>
              </a:ext>
            </a:extLst>
          </p:cNvPr>
          <p:cNvSpPr/>
          <p:nvPr/>
        </p:nvSpPr>
        <p:spPr>
          <a:xfrm>
            <a:off x="2654300" y="111811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 name="Oval 27">
            <a:extLst>
              <a:ext uri="{FF2B5EF4-FFF2-40B4-BE49-F238E27FC236}">
                <a16:creationId xmlns:a16="http://schemas.microsoft.com/office/drawing/2014/main" id="{4D248EDC-A7FE-91B4-8410-8D4CBC2A5FE2}"/>
              </a:ext>
            </a:extLst>
          </p:cNvPr>
          <p:cNvSpPr/>
          <p:nvPr/>
        </p:nvSpPr>
        <p:spPr>
          <a:xfrm>
            <a:off x="2239010" y="1289567"/>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Oval 28">
            <a:extLst>
              <a:ext uri="{FF2B5EF4-FFF2-40B4-BE49-F238E27FC236}">
                <a16:creationId xmlns:a16="http://schemas.microsoft.com/office/drawing/2014/main" id="{70B15048-45C8-B280-0E2C-A89B8268BBE2}"/>
              </a:ext>
            </a:extLst>
          </p:cNvPr>
          <p:cNvSpPr/>
          <p:nvPr/>
        </p:nvSpPr>
        <p:spPr>
          <a:xfrm>
            <a:off x="2270760" y="1610873"/>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Oval 29">
            <a:extLst>
              <a:ext uri="{FF2B5EF4-FFF2-40B4-BE49-F238E27FC236}">
                <a16:creationId xmlns:a16="http://schemas.microsoft.com/office/drawing/2014/main" id="{F5F593CD-3C22-A75F-7726-92635C12EFD5}"/>
              </a:ext>
            </a:extLst>
          </p:cNvPr>
          <p:cNvSpPr/>
          <p:nvPr/>
        </p:nvSpPr>
        <p:spPr>
          <a:xfrm>
            <a:off x="1375411" y="112826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Oval 30">
            <a:extLst>
              <a:ext uri="{FF2B5EF4-FFF2-40B4-BE49-F238E27FC236}">
                <a16:creationId xmlns:a16="http://schemas.microsoft.com/office/drawing/2014/main" id="{D7B7C6AB-5278-12D2-EFE3-4F4A54D4B911}"/>
              </a:ext>
            </a:extLst>
          </p:cNvPr>
          <p:cNvSpPr/>
          <p:nvPr/>
        </p:nvSpPr>
        <p:spPr>
          <a:xfrm>
            <a:off x="2722880" y="151435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Oval 31">
            <a:extLst>
              <a:ext uri="{FF2B5EF4-FFF2-40B4-BE49-F238E27FC236}">
                <a16:creationId xmlns:a16="http://schemas.microsoft.com/office/drawing/2014/main" id="{A0D19360-EBE8-78B6-0AE8-956414D9104E}"/>
              </a:ext>
            </a:extLst>
          </p:cNvPr>
          <p:cNvSpPr/>
          <p:nvPr/>
        </p:nvSpPr>
        <p:spPr>
          <a:xfrm>
            <a:off x="3194050" y="79807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Oval 32">
            <a:extLst>
              <a:ext uri="{FF2B5EF4-FFF2-40B4-BE49-F238E27FC236}">
                <a16:creationId xmlns:a16="http://schemas.microsoft.com/office/drawing/2014/main" id="{7E50E198-0E52-FE72-E9F6-84EF34B7BEF3}"/>
              </a:ext>
            </a:extLst>
          </p:cNvPr>
          <p:cNvSpPr/>
          <p:nvPr/>
        </p:nvSpPr>
        <p:spPr>
          <a:xfrm>
            <a:off x="3009900" y="1144786"/>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Oval 33">
            <a:extLst>
              <a:ext uri="{FF2B5EF4-FFF2-40B4-BE49-F238E27FC236}">
                <a16:creationId xmlns:a16="http://schemas.microsoft.com/office/drawing/2014/main" id="{DFC3922B-E82D-0C81-E94B-79088A2AEA39}"/>
              </a:ext>
            </a:extLst>
          </p:cNvPr>
          <p:cNvSpPr/>
          <p:nvPr/>
        </p:nvSpPr>
        <p:spPr>
          <a:xfrm>
            <a:off x="3336291" y="1289567"/>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Oval 35">
            <a:extLst>
              <a:ext uri="{FF2B5EF4-FFF2-40B4-BE49-F238E27FC236}">
                <a16:creationId xmlns:a16="http://schemas.microsoft.com/office/drawing/2014/main" id="{68D9ADB8-2729-1A25-78F7-C61E249DE856}"/>
              </a:ext>
            </a:extLst>
          </p:cNvPr>
          <p:cNvSpPr/>
          <p:nvPr/>
        </p:nvSpPr>
        <p:spPr>
          <a:xfrm>
            <a:off x="2887981" y="779026"/>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Multiplication Sign 36">
            <a:extLst>
              <a:ext uri="{FF2B5EF4-FFF2-40B4-BE49-F238E27FC236}">
                <a16:creationId xmlns:a16="http://schemas.microsoft.com/office/drawing/2014/main" id="{A059547B-82FD-FE23-AECC-DDE1B0B40727}"/>
              </a:ext>
            </a:extLst>
          </p:cNvPr>
          <p:cNvSpPr/>
          <p:nvPr/>
        </p:nvSpPr>
        <p:spPr>
          <a:xfrm>
            <a:off x="2280920" y="183186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Multiplication Sign 37">
            <a:extLst>
              <a:ext uri="{FF2B5EF4-FFF2-40B4-BE49-F238E27FC236}">
                <a16:creationId xmlns:a16="http://schemas.microsoft.com/office/drawing/2014/main" id="{B196D1E7-D381-1B23-02BE-D9150E26AEEF}"/>
              </a:ext>
            </a:extLst>
          </p:cNvPr>
          <p:cNvSpPr/>
          <p:nvPr/>
        </p:nvSpPr>
        <p:spPr>
          <a:xfrm>
            <a:off x="1998980" y="1994398"/>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Multiplication Sign 38">
            <a:extLst>
              <a:ext uri="{FF2B5EF4-FFF2-40B4-BE49-F238E27FC236}">
                <a16:creationId xmlns:a16="http://schemas.microsoft.com/office/drawing/2014/main" id="{3A271D96-FC20-4167-C277-A9EDB4CF8C26}"/>
              </a:ext>
            </a:extLst>
          </p:cNvPr>
          <p:cNvSpPr/>
          <p:nvPr/>
        </p:nvSpPr>
        <p:spPr>
          <a:xfrm>
            <a:off x="2781300" y="196646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Multiplication Sign 39">
            <a:extLst>
              <a:ext uri="{FF2B5EF4-FFF2-40B4-BE49-F238E27FC236}">
                <a16:creationId xmlns:a16="http://schemas.microsoft.com/office/drawing/2014/main" id="{65214BE3-E4FA-2050-BB19-0F4B5D467DBA}"/>
              </a:ext>
            </a:extLst>
          </p:cNvPr>
          <p:cNvSpPr/>
          <p:nvPr/>
        </p:nvSpPr>
        <p:spPr>
          <a:xfrm>
            <a:off x="1430020" y="1857238"/>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Multiplication Sign 40">
            <a:extLst>
              <a:ext uri="{FF2B5EF4-FFF2-40B4-BE49-F238E27FC236}">
                <a16:creationId xmlns:a16="http://schemas.microsoft.com/office/drawing/2014/main" id="{8A0118D0-FDC8-6D4C-0B1E-B9C2626ABE9B}"/>
              </a:ext>
            </a:extLst>
          </p:cNvPr>
          <p:cNvSpPr/>
          <p:nvPr/>
        </p:nvSpPr>
        <p:spPr>
          <a:xfrm>
            <a:off x="1838960" y="1750575"/>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Multiplication Sign 41">
            <a:extLst>
              <a:ext uri="{FF2B5EF4-FFF2-40B4-BE49-F238E27FC236}">
                <a16:creationId xmlns:a16="http://schemas.microsoft.com/office/drawing/2014/main" id="{6399E3F2-1AC7-BCF0-6C47-0561CC478210}"/>
              </a:ext>
            </a:extLst>
          </p:cNvPr>
          <p:cNvSpPr/>
          <p:nvPr/>
        </p:nvSpPr>
        <p:spPr>
          <a:xfrm>
            <a:off x="2462530" y="2066811"/>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652D1CB-493F-7540-D557-532BE1EF2739}"/>
                  </a:ext>
                </a:extLst>
              </p:cNvPr>
              <p:cNvSpPr txBox="1"/>
              <p:nvPr/>
            </p:nvSpPr>
            <p:spPr>
              <a:xfrm>
                <a:off x="-436880" y="0"/>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t>
                </a:r>
              </a:p>
            </p:txBody>
          </p:sp>
        </mc:Choice>
        <mc:Fallback xmlns="">
          <p:sp>
            <p:nvSpPr>
              <p:cNvPr id="43" name="TextBox 42">
                <a:extLst>
                  <a:ext uri="{FF2B5EF4-FFF2-40B4-BE49-F238E27FC236}">
                    <a16:creationId xmlns:a16="http://schemas.microsoft.com/office/drawing/2014/main" id="{4652D1CB-493F-7540-D557-532BE1EF2739}"/>
                  </a:ext>
                </a:extLst>
              </p:cNvPr>
              <p:cNvSpPr txBox="1">
                <a:spLocks noRot="1" noChangeAspect="1" noMove="1" noResize="1" noEditPoints="1" noAdjustHandles="1" noChangeArrowheads="1" noChangeShapeType="1" noTextEdit="1"/>
              </p:cNvSpPr>
              <p:nvPr/>
            </p:nvSpPr>
            <p:spPr>
              <a:xfrm>
                <a:off x="-436880" y="0"/>
                <a:ext cx="131163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254D605-FBA4-4636-5D3B-70653D10F1FA}"/>
                  </a:ext>
                </a:extLst>
              </p:cNvPr>
              <p:cNvSpPr txBox="1"/>
              <p:nvPr/>
            </p:nvSpPr>
            <p:spPr>
              <a:xfrm>
                <a:off x="2981962" y="2339339"/>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a:t>
                </a:r>
              </a:p>
            </p:txBody>
          </p:sp>
        </mc:Choice>
        <mc:Fallback xmlns="">
          <p:sp>
            <p:nvSpPr>
              <p:cNvPr id="44" name="TextBox 43">
                <a:extLst>
                  <a:ext uri="{FF2B5EF4-FFF2-40B4-BE49-F238E27FC236}">
                    <a16:creationId xmlns:a16="http://schemas.microsoft.com/office/drawing/2014/main" id="{2254D605-FBA4-4636-5D3B-70653D10F1FA}"/>
                  </a:ext>
                </a:extLst>
              </p:cNvPr>
              <p:cNvSpPr txBox="1">
                <a:spLocks noRot="1" noChangeAspect="1" noMove="1" noResize="1" noEditPoints="1" noAdjustHandles="1" noChangeArrowheads="1" noChangeShapeType="1" noTextEdit="1"/>
              </p:cNvSpPr>
              <p:nvPr/>
            </p:nvSpPr>
            <p:spPr>
              <a:xfrm>
                <a:off x="2981962" y="2339339"/>
                <a:ext cx="1311636" cy="369332"/>
              </a:xfrm>
              <a:prstGeom prst="rect">
                <a:avLst/>
              </a:prstGeom>
              <a:blipFill>
                <a:blip r:embed="rId3"/>
                <a:stretch>
                  <a:fillRect/>
                </a:stretch>
              </a:blipFill>
            </p:spPr>
            <p:txBody>
              <a:bodyPr/>
              <a:lstStyle/>
              <a:p>
                <a:r>
                  <a:rPr lang="en-US">
                    <a:noFill/>
                  </a:rPr>
                  <a:t> </a:t>
                </a:r>
              </a:p>
            </p:txBody>
          </p:sp>
        </mc:Fallback>
      </mc:AlternateContent>
      <p:sp>
        <p:nvSpPr>
          <p:cNvPr id="45" name="Oval 44">
            <a:extLst>
              <a:ext uri="{FF2B5EF4-FFF2-40B4-BE49-F238E27FC236}">
                <a16:creationId xmlns:a16="http://schemas.microsoft.com/office/drawing/2014/main" id="{09C5822C-4096-A323-FDCD-669CCEF0D24B}"/>
              </a:ext>
            </a:extLst>
          </p:cNvPr>
          <p:cNvSpPr/>
          <p:nvPr/>
        </p:nvSpPr>
        <p:spPr>
          <a:xfrm>
            <a:off x="5679442" y="554235"/>
            <a:ext cx="640080" cy="64008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46" name="TextBox 45">
            <a:extLst>
              <a:ext uri="{FF2B5EF4-FFF2-40B4-BE49-F238E27FC236}">
                <a16:creationId xmlns:a16="http://schemas.microsoft.com/office/drawing/2014/main" id="{C95425F5-FB88-7883-0DC2-E5A24F105D30}"/>
              </a:ext>
            </a:extLst>
          </p:cNvPr>
          <p:cNvSpPr txBox="1"/>
          <p:nvPr/>
        </p:nvSpPr>
        <p:spPr>
          <a:xfrm>
            <a:off x="8037834" y="642712"/>
            <a:ext cx="3806835" cy="584775"/>
          </a:xfrm>
          <a:prstGeom prst="rect">
            <a:avLst/>
          </a:prstGeom>
          <a:noFill/>
        </p:spPr>
        <p:txBody>
          <a:bodyPr wrap="square" rtlCol="0">
            <a:spAutoFit/>
          </a:bodyPr>
          <a:lstStyle/>
          <a:p>
            <a:pPr marL="342900" indent="-342900">
              <a:buFont typeface="+mj-lt"/>
              <a:buAutoNum type="arabicPeriod"/>
            </a:pPr>
            <a:r>
              <a:rPr lang="en-US" sz="1600" dirty="0"/>
              <a:t>We start with the root of the tree that represents the entire feature space.</a:t>
            </a:r>
          </a:p>
        </p:txBody>
      </p:sp>
      <p:cxnSp>
        <p:nvCxnSpPr>
          <p:cNvPr id="79" name="Straight Arrow Connector 78">
            <a:extLst>
              <a:ext uri="{FF2B5EF4-FFF2-40B4-BE49-F238E27FC236}">
                <a16:creationId xmlns:a16="http://schemas.microsoft.com/office/drawing/2014/main" id="{C51E4914-6F1D-BF87-12A3-A62782F28355}"/>
              </a:ext>
            </a:extLst>
          </p:cNvPr>
          <p:cNvCxnSpPr/>
          <p:nvPr/>
        </p:nvCxnSpPr>
        <p:spPr>
          <a:xfrm>
            <a:off x="472439" y="5523502"/>
            <a:ext cx="3413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0" name="Straight Arrow Connector 79">
            <a:extLst>
              <a:ext uri="{FF2B5EF4-FFF2-40B4-BE49-F238E27FC236}">
                <a16:creationId xmlns:a16="http://schemas.microsoft.com/office/drawing/2014/main" id="{AB9F1EB8-FBFE-6702-C3C9-F944C05E6A79}"/>
              </a:ext>
            </a:extLst>
          </p:cNvPr>
          <p:cNvCxnSpPr>
            <a:cxnSpLocks/>
          </p:cNvCxnSpPr>
          <p:nvPr/>
        </p:nvCxnSpPr>
        <p:spPr>
          <a:xfrm rot="16200000">
            <a:off x="-552451" y="4537993"/>
            <a:ext cx="228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1" name="Multiplication Sign 80">
            <a:extLst>
              <a:ext uri="{FF2B5EF4-FFF2-40B4-BE49-F238E27FC236}">
                <a16:creationId xmlns:a16="http://schemas.microsoft.com/office/drawing/2014/main" id="{60913D59-91CF-7D32-2137-81A27479330F}"/>
              </a:ext>
            </a:extLst>
          </p:cNvPr>
          <p:cNvSpPr/>
          <p:nvPr/>
        </p:nvSpPr>
        <p:spPr>
          <a:xfrm>
            <a:off x="876299" y="390806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2" name="Multiplication Sign 81">
            <a:extLst>
              <a:ext uri="{FF2B5EF4-FFF2-40B4-BE49-F238E27FC236}">
                <a16:creationId xmlns:a16="http://schemas.microsoft.com/office/drawing/2014/main" id="{3AC6576F-B5AA-E3F8-9594-E3E9D7CC6007}"/>
              </a:ext>
            </a:extLst>
          </p:cNvPr>
          <p:cNvSpPr/>
          <p:nvPr/>
        </p:nvSpPr>
        <p:spPr>
          <a:xfrm>
            <a:off x="1028699" y="406046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3" name="Multiplication Sign 82">
            <a:extLst>
              <a:ext uri="{FF2B5EF4-FFF2-40B4-BE49-F238E27FC236}">
                <a16:creationId xmlns:a16="http://schemas.microsoft.com/office/drawing/2014/main" id="{D36CE6C5-1704-5137-5BC8-D6E0D37C701E}"/>
              </a:ext>
            </a:extLst>
          </p:cNvPr>
          <p:cNvSpPr/>
          <p:nvPr/>
        </p:nvSpPr>
        <p:spPr>
          <a:xfrm>
            <a:off x="1181099" y="421286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4" name="Multiplication Sign 83">
            <a:extLst>
              <a:ext uri="{FF2B5EF4-FFF2-40B4-BE49-F238E27FC236}">
                <a16:creationId xmlns:a16="http://schemas.microsoft.com/office/drawing/2014/main" id="{167C163C-EDCC-A34D-A21C-9BF4D0F0F8D9}"/>
              </a:ext>
            </a:extLst>
          </p:cNvPr>
          <p:cNvSpPr/>
          <p:nvPr/>
        </p:nvSpPr>
        <p:spPr>
          <a:xfrm>
            <a:off x="845819" y="476150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5" name="Multiplication Sign 84">
            <a:extLst>
              <a:ext uri="{FF2B5EF4-FFF2-40B4-BE49-F238E27FC236}">
                <a16:creationId xmlns:a16="http://schemas.microsoft.com/office/drawing/2014/main" id="{F2830B92-0A61-43FC-A263-A25B85917560}"/>
              </a:ext>
            </a:extLst>
          </p:cNvPr>
          <p:cNvSpPr/>
          <p:nvPr/>
        </p:nvSpPr>
        <p:spPr>
          <a:xfrm>
            <a:off x="1120139" y="449480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6" name="Multiplication Sign 85">
            <a:extLst>
              <a:ext uri="{FF2B5EF4-FFF2-40B4-BE49-F238E27FC236}">
                <a16:creationId xmlns:a16="http://schemas.microsoft.com/office/drawing/2014/main" id="{D4CF09CF-43B5-ECCF-6C5B-C0DB8903FCF6}"/>
              </a:ext>
            </a:extLst>
          </p:cNvPr>
          <p:cNvSpPr/>
          <p:nvPr/>
        </p:nvSpPr>
        <p:spPr>
          <a:xfrm>
            <a:off x="1249679" y="486056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7" name="Multiplication Sign 86">
            <a:extLst>
              <a:ext uri="{FF2B5EF4-FFF2-40B4-BE49-F238E27FC236}">
                <a16:creationId xmlns:a16="http://schemas.microsoft.com/office/drawing/2014/main" id="{39DD22C9-D53E-06C6-E05D-F4F2DC82A97B}"/>
              </a:ext>
            </a:extLst>
          </p:cNvPr>
          <p:cNvSpPr/>
          <p:nvPr/>
        </p:nvSpPr>
        <p:spPr>
          <a:xfrm>
            <a:off x="1328419" y="3842012"/>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8" name="Multiplication Sign 87">
            <a:extLst>
              <a:ext uri="{FF2B5EF4-FFF2-40B4-BE49-F238E27FC236}">
                <a16:creationId xmlns:a16="http://schemas.microsoft.com/office/drawing/2014/main" id="{41BE0CEF-75F9-385A-0D2A-7F05C2767556}"/>
              </a:ext>
            </a:extLst>
          </p:cNvPr>
          <p:cNvSpPr/>
          <p:nvPr/>
        </p:nvSpPr>
        <p:spPr>
          <a:xfrm>
            <a:off x="1597659" y="458369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9" name="Multiplication Sign 88">
            <a:extLst>
              <a:ext uri="{FF2B5EF4-FFF2-40B4-BE49-F238E27FC236}">
                <a16:creationId xmlns:a16="http://schemas.microsoft.com/office/drawing/2014/main" id="{1ADD7779-51F8-C8A0-9DD5-2761A386C13C}"/>
              </a:ext>
            </a:extLst>
          </p:cNvPr>
          <p:cNvSpPr/>
          <p:nvPr/>
        </p:nvSpPr>
        <p:spPr>
          <a:xfrm>
            <a:off x="1904999" y="384456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0" name="Multiplication Sign 89">
            <a:extLst>
              <a:ext uri="{FF2B5EF4-FFF2-40B4-BE49-F238E27FC236}">
                <a16:creationId xmlns:a16="http://schemas.microsoft.com/office/drawing/2014/main" id="{D54DA2A3-3463-064B-3577-27B08C67FE56}"/>
              </a:ext>
            </a:extLst>
          </p:cNvPr>
          <p:cNvSpPr/>
          <p:nvPr/>
        </p:nvSpPr>
        <p:spPr>
          <a:xfrm>
            <a:off x="741679" y="435002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8E8377D1-9DE1-9106-DA7B-7CE62AEC3B6A}"/>
              </a:ext>
            </a:extLst>
          </p:cNvPr>
          <p:cNvSpPr/>
          <p:nvPr/>
        </p:nvSpPr>
        <p:spPr>
          <a:xfrm>
            <a:off x="2392679" y="3991883"/>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 name="Oval 91">
            <a:extLst>
              <a:ext uri="{FF2B5EF4-FFF2-40B4-BE49-F238E27FC236}">
                <a16:creationId xmlns:a16="http://schemas.microsoft.com/office/drawing/2014/main" id="{39D493F1-CD7F-7F7F-F7F7-DA872B0B1A00}"/>
              </a:ext>
            </a:extLst>
          </p:cNvPr>
          <p:cNvSpPr/>
          <p:nvPr/>
        </p:nvSpPr>
        <p:spPr>
          <a:xfrm>
            <a:off x="2545079" y="4144283"/>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3" name="Oval 92">
            <a:extLst>
              <a:ext uri="{FF2B5EF4-FFF2-40B4-BE49-F238E27FC236}">
                <a16:creationId xmlns:a16="http://schemas.microsoft.com/office/drawing/2014/main" id="{FACC1423-9FBB-FDFD-994C-983686D64685}"/>
              </a:ext>
            </a:extLst>
          </p:cNvPr>
          <p:cNvSpPr/>
          <p:nvPr/>
        </p:nvSpPr>
        <p:spPr>
          <a:xfrm>
            <a:off x="2697479" y="4296683"/>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 name="Oval 93">
            <a:extLst>
              <a:ext uri="{FF2B5EF4-FFF2-40B4-BE49-F238E27FC236}">
                <a16:creationId xmlns:a16="http://schemas.microsoft.com/office/drawing/2014/main" id="{DA1DCCFE-9C21-C753-B16D-D573F69F97CC}"/>
              </a:ext>
            </a:extLst>
          </p:cNvPr>
          <p:cNvSpPr/>
          <p:nvPr/>
        </p:nvSpPr>
        <p:spPr>
          <a:xfrm>
            <a:off x="2282189" y="446813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 name="Oval 94">
            <a:extLst>
              <a:ext uri="{FF2B5EF4-FFF2-40B4-BE49-F238E27FC236}">
                <a16:creationId xmlns:a16="http://schemas.microsoft.com/office/drawing/2014/main" id="{AC128E66-58A6-6954-448E-DE6409EFC0DC}"/>
              </a:ext>
            </a:extLst>
          </p:cNvPr>
          <p:cNvSpPr/>
          <p:nvPr/>
        </p:nvSpPr>
        <p:spPr>
          <a:xfrm>
            <a:off x="2313939" y="4789441"/>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 name="Oval 95">
            <a:extLst>
              <a:ext uri="{FF2B5EF4-FFF2-40B4-BE49-F238E27FC236}">
                <a16:creationId xmlns:a16="http://schemas.microsoft.com/office/drawing/2014/main" id="{7ADF5E60-17FE-06BA-D21A-8AF292C1F989}"/>
              </a:ext>
            </a:extLst>
          </p:cNvPr>
          <p:cNvSpPr/>
          <p:nvPr/>
        </p:nvSpPr>
        <p:spPr>
          <a:xfrm>
            <a:off x="1418590" y="4306832"/>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 name="Oval 96">
            <a:extLst>
              <a:ext uri="{FF2B5EF4-FFF2-40B4-BE49-F238E27FC236}">
                <a16:creationId xmlns:a16="http://schemas.microsoft.com/office/drawing/2014/main" id="{8F9368FB-4E73-DF69-10F1-E035829A2347}"/>
              </a:ext>
            </a:extLst>
          </p:cNvPr>
          <p:cNvSpPr/>
          <p:nvPr/>
        </p:nvSpPr>
        <p:spPr>
          <a:xfrm>
            <a:off x="2766059" y="4692923"/>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 name="Oval 97">
            <a:extLst>
              <a:ext uri="{FF2B5EF4-FFF2-40B4-BE49-F238E27FC236}">
                <a16:creationId xmlns:a16="http://schemas.microsoft.com/office/drawing/2014/main" id="{7FF65FD9-7159-47FE-CEDA-BC1488F0BC0E}"/>
              </a:ext>
            </a:extLst>
          </p:cNvPr>
          <p:cNvSpPr/>
          <p:nvPr/>
        </p:nvSpPr>
        <p:spPr>
          <a:xfrm>
            <a:off x="3237229" y="3976643"/>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 name="Oval 98">
            <a:extLst>
              <a:ext uri="{FF2B5EF4-FFF2-40B4-BE49-F238E27FC236}">
                <a16:creationId xmlns:a16="http://schemas.microsoft.com/office/drawing/2014/main" id="{F00D79BF-58AC-7330-DCD8-0921133F625E}"/>
              </a:ext>
            </a:extLst>
          </p:cNvPr>
          <p:cNvSpPr/>
          <p:nvPr/>
        </p:nvSpPr>
        <p:spPr>
          <a:xfrm>
            <a:off x="3053079" y="432335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 name="Oval 99">
            <a:extLst>
              <a:ext uri="{FF2B5EF4-FFF2-40B4-BE49-F238E27FC236}">
                <a16:creationId xmlns:a16="http://schemas.microsoft.com/office/drawing/2014/main" id="{FF68C145-F406-C02F-0E76-7C6C7A3261ED}"/>
              </a:ext>
            </a:extLst>
          </p:cNvPr>
          <p:cNvSpPr/>
          <p:nvPr/>
        </p:nvSpPr>
        <p:spPr>
          <a:xfrm>
            <a:off x="3379470" y="446813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 name="Oval 100">
            <a:extLst>
              <a:ext uri="{FF2B5EF4-FFF2-40B4-BE49-F238E27FC236}">
                <a16:creationId xmlns:a16="http://schemas.microsoft.com/office/drawing/2014/main" id="{D3ACA364-2442-5150-140E-02450FC6596C}"/>
              </a:ext>
            </a:extLst>
          </p:cNvPr>
          <p:cNvSpPr/>
          <p:nvPr/>
        </p:nvSpPr>
        <p:spPr>
          <a:xfrm>
            <a:off x="2931160" y="395759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 name="Multiplication Sign 101">
            <a:extLst>
              <a:ext uri="{FF2B5EF4-FFF2-40B4-BE49-F238E27FC236}">
                <a16:creationId xmlns:a16="http://schemas.microsoft.com/office/drawing/2014/main" id="{4174D826-F5A4-02AB-F609-0BD54927F212}"/>
              </a:ext>
            </a:extLst>
          </p:cNvPr>
          <p:cNvSpPr/>
          <p:nvPr/>
        </p:nvSpPr>
        <p:spPr>
          <a:xfrm>
            <a:off x="2324099" y="501043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3" name="Multiplication Sign 102">
            <a:extLst>
              <a:ext uri="{FF2B5EF4-FFF2-40B4-BE49-F238E27FC236}">
                <a16:creationId xmlns:a16="http://schemas.microsoft.com/office/drawing/2014/main" id="{73034618-C330-ED8E-3D0E-51077D157491}"/>
              </a:ext>
            </a:extLst>
          </p:cNvPr>
          <p:cNvSpPr/>
          <p:nvPr/>
        </p:nvSpPr>
        <p:spPr>
          <a:xfrm>
            <a:off x="2042159" y="5172966"/>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4" name="Multiplication Sign 103">
            <a:extLst>
              <a:ext uri="{FF2B5EF4-FFF2-40B4-BE49-F238E27FC236}">
                <a16:creationId xmlns:a16="http://schemas.microsoft.com/office/drawing/2014/main" id="{95E629AA-AB14-55F1-B7B8-C0F295A1C89F}"/>
              </a:ext>
            </a:extLst>
          </p:cNvPr>
          <p:cNvSpPr/>
          <p:nvPr/>
        </p:nvSpPr>
        <p:spPr>
          <a:xfrm>
            <a:off x="2824479" y="5145032"/>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5" name="Multiplication Sign 104">
            <a:extLst>
              <a:ext uri="{FF2B5EF4-FFF2-40B4-BE49-F238E27FC236}">
                <a16:creationId xmlns:a16="http://schemas.microsoft.com/office/drawing/2014/main" id="{08BE4801-0F37-1EC8-3828-E5A23704FF9B}"/>
              </a:ext>
            </a:extLst>
          </p:cNvPr>
          <p:cNvSpPr/>
          <p:nvPr/>
        </p:nvSpPr>
        <p:spPr>
          <a:xfrm>
            <a:off x="1473199" y="5035806"/>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6" name="Multiplication Sign 105">
            <a:extLst>
              <a:ext uri="{FF2B5EF4-FFF2-40B4-BE49-F238E27FC236}">
                <a16:creationId xmlns:a16="http://schemas.microsoft.com/office/drawing/2014/main" id="{1958B128-3126-D6CF-5B73-0B7F98CAFFBC}"/>
              </a:ext>
            </a:extLst>
          </p:cNvPr>
          <p:cNvSpPr/>
          <p:nvPr/>
        </p:nvSpPr>
        <p:spPr>
          <a:xfrm>
            <a:off x="1882139" y="492914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7" name="Multiplication Sign 106">
            <a:extLst>
              <a:ext uri="{FF2B5EF4-FFF2-40B4-BE49-F238E27FC236}">
                <a16:creationId xmlns:a16="http://schemas.microsoft.com/office/drawing/2014/main" id="{E7759C9D-C87E-7F7F-B13C-0AA7C90D76AE}"/>
              </a:ext>
            </a:extLst>
          </p:cNvPr>
          <p:cNvSpPr/>
          <p:nvPr/>
        </p:nvSpPr>
        <p:spPr>
          <a:xfrm>
            <a:off x="2505709" y="5245379"/>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10F7B92F-41C0-EA7F-EC0D-5ECBE2756115}"/>
                  </a:ext>
                </a:extLst>
              </p:cNvPr>
              <p:cNvSpPr txBox="1"/>
              <p:nvPr/>
            </p:nvSpPr>
            <p:spPr>
              <a:xfrm>
                <a:off x="3025141" y="5517907"/>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a:t>
                </a:r>
              </a:p>
            </p:txBody>
          </p:sp>
        </mc:Choice>
        <mc:Fallback xmlns="">
          <p:sp>
            <p:nvSpPr>
              <p:cNvPr id="108" name="TextBox 107">
                <a:extLst>
                  <a:ext uri="{FF2B5EF4-FFF2-40B4-BE49-F238E27FC236}">
                    <a16:creationId xmlns:a16="http://schemas.microsoft.com/office/drawing/2014/main" id="{10F7B92F-41C0-EA7F-EC0D-5ECBE2756115}"/>
                  </a:ext>
                </a:extLst>
              </p:cNvPr>
              <p:cNvSpPr txBox="1">
                <a:spLocks noRot="1" noChangeAspect="1" noMove="1" noResize="1" noEditPoints="1" noAdjustHandles="1" noChangeArrowheads="1" noChangeShapeType="1" noTextEdit="1"/>
              </p:cNvSpPr>
              <p:nvPr/>
            </p:nvSpPr>
            <p:spPr>
              <a:xfrm>
                <a:off x="3025141" y="5517907"/>
                <a:ext cx="1311636" cy="369332"/>
              </a:xfrm>
              <a:prstGeom prst="rect">
                <a:avLst/>
              </a:prstGeom>
              <a:blipFill>
                <a:blip r:embed="rId4"/>
                <a:stretch>
                  <a:fillRect/>
                </a:stretch>
              </a:blipFill>
            </p:spPr>
            <p:txBody>
              <a:bodyPr/>
              <a:lstStyle/>
              <a:p>
                <a:r>
                  <a:rPr lang="en-US">
                    <a:noFill/>
                  </a:rPr>
                  <a:t> </a:t>
                </a:r>
              </a:p>
            </p:txBody>
          </p:sp>
        </mc:Fallback>
      </mc:AlternateContent>
      <p:sp>
        <p:nvSpPr>
          <p:cNvPr id="109" name="Oval 108">
            <a:extLst>
              <a:ext uri="{FF2B5EF4-FFF2-40B4-BE49-F238E27FC236}">
                <a16:creationId xmlns:a16="http://schemas.microsoft.com/office/drawing/2014/main" id="{1F62F78A-0A88-5C77-9203-314059571ACA}"/>
              </a:ext>
            </a:extLst>
          </p:cNvPr>
          <p:cNvSpPr/>
          <p:nvPr/>
        </p:nvSpPr>
        <p:spPr>
          <a:xfrm>
            <a:off x="5707380" y="3732803"/>
            <a:ext cx="699771" cy="64008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7C9959C8-0F24-727A-132A-1DB6F0DC3CB9}"/>
                  </a:ext>
                </a:extLst>
              </p:cNvPr>
              <p:cNvSpPr txBox="1"/>
              <p:nvPr/>
            </p:nvSpPr>
            <p:spPr>
              <a:xfrm>
                <a:off x="8041022" y="3873270"/>
                <a:ext cx="3920605" cy="1323439"/>
              </a:xfrm>
              <a:prstGeom prst="rect">
                <a:avLst/>
              </a:prstGeom>
              <a:noFill/>
            </p:spPr>
            <p:txBody>
              <a:bodyPr wrap="square" rtlCol="0">
                <a:spAutoFit/>
              </a:bodyPr>
              <a:lstStyle/>
              <a:p>
                <a:pPr marL="342900" indent="-342900">
                  <a:buFont typeface="+mj-lt"/>
                  <a:buAutoNum type="arabicPeriod" startAt="2"/>
                </a:pPr>
                <a:r>
                  <a:rPr lang="en-US" sz="1600" dirty="0"/>
                  <a:t>We check for each feature all possible thresholds. Assume we find that </a:t>
                </a:r>
                <a14:m>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1</m:t>
                        </m:r>
                      </m:sub>
                    </m:sSub>
                    <m:r>
                      <a:rPr lang="en-US" sz="1600" i="1" smtClean="0">
                        <a:latin typeface="Cambria Math" panose="02040503050406030204" pitchFamily="18" charset="0"/>
                        <a:ea typeface="Cambria Math" panose="02040503050406030204" pitchFamily="18" charset="0"/>
                      </a:rPr>
                      <m:t>≤</m:t>
                    </m:r>
                    <m:sSub>
                      <m:sSubPr>
                        <m:ctrlPr>
                          <a:rPr lang="en-US" sz="1600" i="1" smtClean="0">
                            <a:latin typeface="Cambria Math" panose="02040503050406030204" pitchFamily="18" charset="0"/>
                            <a:ea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𝜃</m:t>
                        </m:r>
                      </m:e>
                      <m:sub>
                        <m:r>
                          <a:rPr lang="en-US" sz="1600" b="0" i="1" smtClean="0">
                            <a:latin typeface="Cambria Math" panose="02040503050406030204" pitchFamily="18" charset="0"/>
                            <a:ea typeface="Cambria Math" panose="02040503050406030204" pitchFamily="18" charset="0"/>
                          </a:rPr>
                          <m:t>1</m:t>
                        </m:r>
                      </m:sub>
                    </m:sSub>
                  </m:oMath>
                </a14:m>
                <a:r>
                  <a:rPr lang="en-US" sz="1600" dirty="0"/>
                  <a:t> leads to the largest decrease in impurity. This test splits the feature space into two regions A and B.</a:t>
                </a:r>
              </a:p>
            </p:txBody>
          </p:sp>
        </mc:Choice>
        <mc:Fallback xmlns="">
          <p:sp>
            <p:nvSpPr>
              <p:cNvPr id="110" name="TextBox 109">
                <a:extLst>
                  <a:ext uri="{FF2B5EF4-FFF2-40B4-BE49-F238E27FC236}">
                    <a16:creationId xmlns:a16="http://schemas.microsoft.com/office/drawing/2014/main" id="{7C9959C8-0F24-727A-132A-1DB6F0DC3CB9}"/>
                  </a:ext>
                </a:extLst>
              </p:cNvPr>
              <p:cNvSpPr txBox="1">
                <a:spLocks noRot="1" noChangeAspect="1" noMove="1" noResize="1" noEditPoints="1" noAdjustHandles="1" noChangeArrowheads="1" noChangeShapeType="1" noTextEdit="1"/>
              </p:cNvSpPr>
              <p:nvPr/>
            </p:nvSpPr>
            <p:spPr>
              <a:xfrm>
                <a:off x="8041022" y="3873270"/>
                <a:ext cx="3920605" cy="1323439"/>
              </a:xfrm>
              <a:prstGeom prst="rect">
                <a:avLst/>
              </a:prstGeom>
              <a:blipFill>
                <a:blip r:embed="rId5"/>
                <a:stretch>
                  <a:fillRect l="-778" t="-1382" r="-1711" b="-50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7A285476-C708-0FDE-68A3-AD7A8EA1CC52}"/>
                  </a:ext>
                </a:extLst>
              </p:cNvPr>
              <p:cNvSpPr txBox="1"/>
              <p:nvPr/>
            </p:nvSpPr>
            <p:spPr>
              <a:xfrm>
                <a:off x="-432797" y="3055113"/>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t>
                </a:r>
              </a:p>
            </p:txBody>
          </p:sp>
        </mc:Choice>
        <mc:Fallback xmlns="">
          <p:sp>
            <p:nvSpPr>
              <p:cNvPr id="111" name="TextBox 110">
                <a:extLst>
                  <a:ext uri="{FF2B5EF4-FFF2-40B4-BE49-F238E27FC236}">
                    <a16:creationId xmlns:a16="http://schemas.microsoft.com/office/drawing/2014/main" id="{7A285476-C708-0FDE-68A3-AD7A8EA1CC52}"/>
                  </a:ext>
                </a:extLst>
              </p:cNvPr>
              <p:cNvSpPr txBox="1">
                <a:spLocks noRot="1" noChangeAspect="1" noMove="1" noResize="1" noEditPoints="1" noAdjustHandles="1" noChangeArrowheads="1" noChangeShapeType="1" noTextEdit="1"/>
              </p:cNvSpPr>
              <p:nvPr/>
            </p:nvSpPr>
            <p:spPr>
              <a:xfrm>
                <a:off x="-432797" y="3055113"/>
                <a:ext cx="1311636" cy="369332"/>
              </a:xfrm>
              <a:prstGeom prst="rect">
                <a:avLst/>
              </a:prstGeom>
              <a:blipFill>
                <a:blip r:embed="rId6"/>
                <a:stretch>
                  <a:fillRect/>
                </a:stretch>
              </a:blipFill>
            </p:spPr>
            <p:txBody>
              <a:bodyPr/>
              <a:lstStyle/>
              <a:p>
                <a:r>
                  <a:rPr lang="en-US">
                    <a:noFill/>
                  </a:rPr>
                  <a:t> </a:t>
                </a:r>
              </a:p>
            </p:txBody>
          </p:sp>
        </mc:Fallback>
      </mc:AlternateContent>
      <p:cxnSp>
        <p:nvCxnSpPr>
          <p:cNvPr id="113" name="Straight Connector 112">
            <a:extLst>
              <a:ext uri="{FF2B5EF4-FFF2-40B4-BE49-F238E27FC236}">
                <a16:creationId xmlns:a16="http://schemas.microsoft.com/office/drawing/2014/main" id="{8A0E624E-03D0-1D70-22E1-F8C84C4EA1C8}"/>
              </a:ext>
            </a:extLst>
          </p:cNvPr>
          <p:cNvCxnSpPr/>
          <p:nvPr/>
        </p:nvCxnSpPr>
        <p:spPr>
          <a:xfrm>
            <a:off x="2228377" y="3319106"/>
            <a:ext cx="0" cy="237744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E937E2CC-903A-583F-3D74-CD8B72104909}"/>
                  </a:ext>
                </a:extLst>
              </p:cNvPr>
              <p:cNvSpPr txBox="1"/>
              <p:nvPr/>
            </p:nvSpPr>
            <p:spPr>
              <a:xfrm>
                <a:off x="1644925" y="5691142"/>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m:t>
                        </m:r>
                      </m:sub>
                    </m:sSub>
                  </m:oMath>
                </a14:m>
                <a:r>
                  <a:rPr lang="en-US" dirty="0"/>
                  <a:t> </a:t>
                </a:r>
              </a:p>
            </p:txBody>
          </p:sp>
        </mc:Choice>
        <mc:Fallback xmlns="">
          <p:sp>
            <p:nvSpPr>
              <p:cNvPr id="117" name="TextBox 116">
                <a:extLst>
                  <a:ext uri="{FF2B5EF4-FFF2-40B4-BE49-F238E27FC236}">
                    <a16:creationId xmlns:a16="http://schemas.microsoft.com/office/drawing/2014/main" id="{E937E2CC-903A-583F-3D74-CD8B72104909}"/>
                  </a:ext>
                </a:extLst>
              </p:cNvPr>
              <p:cNvSpPr txBox="1">
                <a:spLocks noRot="1" noChangeAspect="1" noMove="1" noResize="1" noEditPoints="1" noAdjustHandles="1" noChangeArrowheads="1" noChangeShapeType="1" noTextEdit="1"/>
              </p:cNvSpPr>
              <p:nvPr/>
            </p:nvSpPr>
            <p:spPr>
              <a:xfrm>
                <a:off x="1644925" y="5691142"/>
                <a:ext cx="131163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DF59F292-6F09-7956-3DBB-2C17EE65C9E3}"/>
                  </a:ext>
                </a:extLst>
              </p:cNvPr>
              <p:cNvSpPr txBox="1"/>
              <p:nvPr/>
            </p:nvSpPr>
            <p:spPr>
              <a:xfrm>
                <a:off x="5277795" y="3873270"/>
                <a:ext cx="1636410"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1</m:t>
                          </m:r>
                        </m:sub>
                      </m:sSub>
                      <m:r>
                        <a:rPr lang="en-US" sz="1600" i="1" smtClean="0">
                          <a:latin typeface="Cambria Math" panose="02040503050406030204" pitchFamily="18" charset="0"/>
                          <a:ea typeface="Cambria Math" panose="02040503050406030204" pitchFamily="18" charset="0"/>
                        </a:rPr>
                        <m:t>≤</m:t>
                      </m:r>
                      <m:sSub>
                        <m:sSubPr>
                          <m:ctrlPr>
                            <a:rPr lang="en-US" sz="1600" i="1" smtClean="0">
                              <a:latin typeface="Cambria Math" panose="02040503050406030204" pitchFamily="18" charset="0"/>
                              <a:ea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𝜃</m:t>
                          </m:r>
                        </m:e>
                        <m:sub>
                          <m:r>
                            <a:rPr lang="en-US" sz="1600" b="0" i="1" smtClean="0">
                              <a:latin typeface="Cambria Math" panose="02040503050406030204" pitchFamily="18" charset="0"/>
                              <a:ea typeface="Cambria Math" panose="02040503050406030204" pitchFamily="18" charset="0"/>
                            </a:rPr>
                            <m:t>1</m:t>
                          </m:r>
                        </m:sub>
                      </m:sSub>
                    </m:oMath>
                  </m:oMathPara>
                </a14:m>
                <a:endParaRPr lang="en-US" sz="1600" dirty="0"/>
              </a:p>
            </p:txBody>
          </p:sp>
        </mc:Choice>
        <mc:Fallback xmlns="">
          <p:sp>
            <p:nvSpPr>
              <p:cNvPr id="119" name="TextBox 118">
                <a:extLst>
                  <a:ext uri="{FF2B5EF4-FFF2-40B4-BE49-F238E27FC236}">
                    <a16:creationId xmlns:a16="http://schemas.microsoft.com/office/drawing/2014/main" id="{DF59F292-6F09-7956-3DBB-2C17EE65C9E3}"/>
                  </a:ext>
                </a:extLst>
              </p:cNvPr>
              <p:cNvSpPr txBox="1">
                <a:spLocks noRot="1" noChangeAspect="1" noMove="1" noResize="1" noEditPoints="1" noAdjustHandles="1" noChangeArrowheads="1" noChangeShapeType="1" noTextEdit="1"/>
              </p:cNvSpPr>
              <p:nvPr/>
            </p:nvSpPr>
            <p:spPr>
              <a:xfrm>
                <a:off x="5277795" y="3873270"/>
                <a:ext cx="1636410" cy="338554"/>
              </a:xfrm>
              <a:prstGeom prst="rect">
                <a:avLst/>
              </a:prstGeom>
              <a:blipFill>
                <a:blip r:embed="rId8"/>
                <a:stretch>
                  <a:fillRect/>
                </a:stretch>
              </a:blipFill>
            </p:spPr>
            <p:txBody>
              <a:bodyPr/>
              <a:lstStyle/>
              <a:p>
                <a:r>
                  <a:rPr lang="en-US">
                    <a:noFill/>
                  </a:rPr>
                  <a:t> </a:t>
                </a:r>
              </a:p>
            </p:txBody>
          </p:sp>
        </mc:Fallback>
      </mc:AlternateContent>
      <p:sp>
        <p:nvSpPr>
          <p:cNvPr id="122" name="Oval 121">
            <a:extLst>
              <a:ext uri="{FF2B5EF4-FFF2-40B4-BE49-F238E27FC236}">
                <a16:creationId xmlns:a16="http://schemas.microsoft.com/office/drawing/2014/main" id="{E0BD95E9-FCEE-AF04-FD92-4A6C9861055F}"/>
              </a:ext>
            </a:extLst>
          </p:cNvPr>
          <p:cNvSpPr/>
          <p:nvPr/>
        </p:nvSpPr>
        <p:spPr>
          <a:xfrm>
            <a:off x="5127523" y="4563383"/>
            <a:ext cx="699771" cy="64008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a:t>
            </a:r>
          </a:p>
        </p:txBody>
      </p:sp>
      <p:sp>
        <p:nvSpPr>
          <p:cNvPr id="123" name="Oval 122">
            <a:extLst>
              <a:ext uri="{FF2B5EF4-FFF2-40B4-BE49-F238E27FC236}">
                <a16:creationId xmlns:a16="http://schemas.microsoft.com/office/drawing/2014/main" id="{71626070-AFEA-B773-79A8-50A3EF20C373}"/>
              </a:ext>
            </a:extLst>
          </p:cNvPr>
          <p:cNvSpPr/>
          <p:nvPr/>
        </p:nvSpPr>
        <p:spPr>
          <a:xfrm>
            <a:off x="6319522" y="4573953"/>
            <a:ext cx="699771" cy="64008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B</a:t>
            </a:r>
          </a:p>
        </p:txBody>
      </p:sp>
      <p:sp>
        <p:nvSpPr>
          <p:cNvPr id="124" name="TextBox 123">
            <a:extLst>
              <a:ext uri="{FF2B5EF4-FFF2-40B4-BE49-F238E27FC236}">
                <a16:creationId xmlns:a16="http://schemas.microsoft.com/office/drawing/2014/main" id="{534CBBC8-67B4-E76E-BBF9-FD6D37B0460A}"/>
              </a:ext>
            </a:extLst>
          </p:cNvPr>
          <p:cNvSpPr txBox="1"/>
          <p:nvPr/>
        </p:nvSpPr>
        <p:spPr>
          <a:xfrm>
            <a:off x="1120139" y="3239779"/>
            <a:ext cx="441487" cy="373633"/>
          </a:xfrm>
          <a:prstGeom prst="rect">
            <a:avLst/>
          </a:prstGeom>
          <a:noFill/>
        </p:spPr>
        <p:txBody>
          <a:bodyPr wrap="square" rtlCol="0">
            <a:spAutoFit/>
          </a:bodyPr>
          <a:lstStyle/>
          <a:p>
            <a:r>
              <a:rPr lang="en-US" dirty="0"/>
              <a:t>A</a:t>
            </a:r>
          </a:p>
        </p:txBody>
      </p:sp>
      <p:sp>
        <p:nvSpPr>
          <p:cNvPr id="126" name="TextBox 125">
            <a:extLst>
              <a:ext uri="{FF2B5EF4-FFF2-40B4-BE49-F238E27FC236}">
                <a16:creationId xmlns:a16="http://schemas.microsoft.com/office/drawing/2014/main" id="{8A27DF89-E7ED-83C3-B766-3B7816B57490}"/>
              </a:ext>
            </a:extLst>
          </p:cNvPr>
          <p:cNvSpPr txBox="1"/>
          <p:nvPr/>
        </p:nvSpPr>
        <p:spPr>
          <a:xfrm>
            <a:off x="2898316" y="3200650"/>
            <a:ext cx="441487" cy="373633"/>
          </a:xfrm>
          <a:prstGeom prst="rect">
            <a:avLst/>
          </a:prstGeom>
          <a:noFill/>
        </p:spPr>
        <p:txBody>
          <a:bodyPr wrap="square" rtlCol="0">
            <a:spAutoFit/>
          </a:bodyPr>
          <a:lstStyle/>
          <a:p>
            <a:r>
              <a:rPr lang="en-US" dirty="0"/>
              <a:t>B</a:t>
            </a:r>
          </a:p>
        </p:txBody>
      </p:sp>
      <p:cxnSp>
        <p:nvCxnSpPr>
          <p:cNvPr id="130" name="Straight Arrow Connector 129">
            <a:extLst>
              <a:ext uri="{FF2B5EF4-FFF2-40B4-BE49-F238E27FC236}">
                <a16:creationId xmlns:a16="http://schemas.microsoft.com/office/drawing/2014/main" id="{0D78C6C4-D176-D06A-EA21-C2EDC2AC5844}"/>
              </a:ext>
            </a:extLst>
          </p:cNvPr>
          <p:cNvCxnSpPr>
            <a:cxnSpLocks/>
            <a:stCxn id="109" idx="3"/>
            <a:endCxn id="122" idx="0"/>
          </p:cNvCxnSpPr>
          <p:nvPr/>
        </p:nvCxnSpPr>
        <p:spPr>
          <a:xfrm flipH="1">
            <a:off x="5477409" y="4279145"/>
            <a:ext cx="332450" cy="2842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2" name="Straight Arrow Connector 131">
            <a:extLst>
              <a:ext uri="{FF2B5EF4-FFF2-40B4-BE49-F238E27FC236}">
                <a16:creationId xmlns:a16="http://schemas.microsoft.com/office/drawing/2014/main" id="{4BBA688F-0349-1C33-F27F-C1E13FC35242}"/>
              </a:ext>
            </a:extLst>
          </p:cNvPr>
          <p:cNvCxnSpPr>
            <a:cxnSpLocks/>
            <a:stCxn id="109" idx="5"/>
            <a:endCxn id="123" idx="0"/>
          </p:cNvCxnSpPr>
          <p:nvPr/>
        </p:nvCxnSpPr>
        <p:spPr>
          <a:xfrm>
            <a:off x="6304672" y="4279145"/>
            <a:ext cx="364736" cy="2948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2930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7" name="Straight Arrow Connector 76">
            <a:extLst>
              <a:ext uri="{FF2B5EF4-FFF2-40B4-BE49-F238E27FC236}">
                <a16:creationId xmlns:a16="http://schemas.microsoft.com/office/drawing/2014/main" id="{7A3B75A5-7C05-29F5-72B4-722C008136C6}"/>
              </a:ext>
            </a:extLst>
          </p:cNvPr>
          <p:cNvCxnSpPr/>
          <p:nvPr/>
        </p:nvCxnSpPr>
        <p:spPr>
          <a:xfrm>
            <a:off x="367351" y="2421203"/>
            <a:ext cx="3413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a:extLst>
              <a:ext uri="{FF2B5EF4-FFF2-40B4-BE49-F238E27FC236}">
                <a16:creationId xmlns:a16="http://schemas.microsoft.com/office/drawing/2014/main" id="{13BEACC7-CEBE-33EB-FE2E-E185F81F4DC9}"/>
              </a:ext>
            </a:extLst>
          </p:cNvPr>
          <p:cNvCxnSpPr>
            <a:cxnSpLocks/>
          </p:cNvCxnSpPr>
          <p:nvPr/>
        </p:nvCxnSpPr>
        <p:spPr>
          <a:xfrm rot="16200000">
            <a:off x="-657539" y="1435694"/>
            <a:ext cx="228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2" name="Multiplication Sign 111">
            <a:extLst>
              <a:ext uri="{FF2B5EF4-FFF2-40B4-BE49-F238E27FC236}">
                <a16:creationId xmlns:a16="http://schemas.microsoft.com/office/drawing/2014/main" id="{0C949DC2-9FB6-B7C3-AFC7-4027DF76108D}"/>
              </a:ext>
            </a:extLst>
          </p:cNvPr>
          <p:cNvSpPr/>
          <p:nvPr/>
        </p:nvSpPr>
        <p:spPr>
          <a:xfrm>
            <a:off x="771211" y="80576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4" name="Multiplication Sign 113">
            <a:extLst>
              <a:ext uri="{FF2B5EF4-FFF2-40B4-BE49-F238E27FC236}">
                <a16:creationId xmlns:a16="http://schemas.microsoft.com/office/drawing/2014/main" id="{0E890C6A-2DE7-218E-28A6-E72327107B1C}"/>
              </a:ext>
            </a:extLst>
          </p:cNvPr>
          <p:cNvSpPr/>
          <p:nvPr/>
        </p:nvSpPr>
        <p:spPr>
          <a:xfrm>
            <a:off x="923611" y="95816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5" name="Multiplication Sign 114">
            <a:extLst>
              <a:ext uri="{FF2B5EF4-FFF2-40B4-BE49-F238E27FC236}">
                <a16:creationId xmlns:a16="http://schemas.microsoft.com/office/drawing/2014/main" id="{13311AA1-57A0-D845-DAE6-674301E53983}"/>
              </a:ext>
            </a:extLst>
          </p:cNvPr>
          <p:cNvSpPr/>
          <p:nvPr/>
        </p:nvSpPr>
        <p:spPr>
          <a:xfrm>
            <a:off x="1076011" y="111056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6" name="Multiplication Sign 115">
            <a:extLst>
              <a:ext uri="{FF2B5EF4-FFF2-40B4-BE49-F238E27FC236}">
                <a16:creationId xmlns:a16="http://schemas.microsoft.com/office/drawing/2014/main" id="{0B8ACBD9-6CA5-D4F2-5839-F5C9AD381F3F}"/>
              </a:ext>
            </a:extLst>
          </p:cNvPr>
          <p:cNvSpPr/>
          <p:nvPr/>
        </p:nvSpPr>
        <p:spPr>
          <a:xfrm>
            <a:off x="740731" y="165920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8" name="Multiplication Sign 117">
            <a:extLst>
              <a:ext uri="{FF2B5EF4-FFF2-40B4-BE49-F238E27FC236}">
                <a16:creationId xmlns:a16="http://schemas.microsoft.com/office/drawing/2014/main" id="{E3801A36-ACA8-922D-204B-3577D64CD1FD}"/>
              </a:ext>
            </a:extLst>
          </p:cNvPr>
          <p:cNvSpPr/>
          <p:nvPr/>
        </p:nvSpPr>
        <p:spPr>
          <a:xfrm>
            <a:off x="1015051" y="139250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0" name="Multiplication Sign 119">
            <a:extLst>
              <a:ext uri="{FF2B5EF4-FFF2-40B4-BE49-F238E27FC236}">
                <a16:creationId xmlns:a16="http://schemas.microsoft.com/office/drawing/2014/main" id="{12055909-48C1-D27D-E1BE-2EFA3886E666}"/>
              </a:ext>
            </a:extLst>
          </p:cNvPr>
          <p:cNvSpPr/>
          <p:nvPr/>
        </p:nvSpPr>
        <p:spPr>
          <a:xfrm>
            <a:off x="1144591" y="175826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1" name="Multiplication Sign 120">
            <a:extLst>
              <a:ext uri="{FF2B5EF4-FFF2-40B4-BE49-F238E27FC236}">
                <a16:creationId xmlns:a16="http://schemas.microsoft.com/office/drawing/2014/main" id="{8B55E475-3D41-4740-ABD5-64AF1CA18D52}"/>
              </a:ext>
            </a:extLst>
          </p:cNvPr>
          <p:cNvSpPr/>
          <p:nvPr/>
        </p:nvSpPr>
        <p:spPr>
          <a:xfrm>
            <a:off x="1223331" y="73971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5" name="Multiplication Sign 124">
            <a:extLst>
              <a:ext uri="{FF2B5EF4-FFF2-40B4-BE49-F238E27FC236}">
                <a16:creationId xmlns:a16="http://schemas.microsoft.com/office/drawing/2014/main" id="{2A433C9A-9B78-0585-B7E4-CC20A2C74099}"/>
              </a:ext>
            </a:extLst>
          </p:cNvPr>
          <p:cNvSpPr/>
          <p:nvPr/>
        </p:nvSpPr>
        <p:spPr>
          <a:xfrm>
            <a:off x="1492571" y="1481398"/>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7" name="Multiplication Sign 126">
            <a:extLst>
              <a:ext uri="{FF2B5EF4-FFF2-40B4-BE49-F238E27FC236}">
                <a16:creationId xmlns:a16="http://schemas.microsoft.com/office/drawing/2014/main" id="{7D4E8162-5966-8D8D-F712-E39F37AD1938}"/>
              </a:ext>
            </a:extLst>
          </p:cNvPr>
          <p:cNvSpPr/>
          <p:nvPr/>
        </p:nvSpPr>
        <p:spPr>
          <a:xfrm>
            <a:off x="1799911" y="74226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8" name="Multiplication Sign 127">
            <a:extLst>
              <a:ext uri="{FF2B5EF4-FFF2-40B4-BE49-F238E27FC236}">
                <a16:creationId xmlns:a16="http://schemas.microsoft.com/office/drawing/2014/main" id="{43FC5846-CDF4-B0FC-B9DA-CCDF01F0BB11}"/>
              </a:ext>
            </a:extLst>
          </p:cNvPr>
          <p:cNvSpPr/>
          <p:nvPr/>
        </p:nvSpPr>
        <p:spPr>
          <a:xfrm>
            <a:off x="636591" y="124772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A15DA780-74A6-8F41-9F51-79DBD431F815}"/>
              </a:ext>
            </a:extLst>
          </p:cNvPr>
          <p:cNvSpPr/>
          <p:nvPr/>
        </p:nvSpPr>
        <p:spPr>
          <a:xfrm>
            <a:off x="2287591" y="88958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 name="Oval 130">
            <a:extLst>
              <a:ext uri="{FF2B5EF4-FFF2-40B4-BE49-F238E27FC236}">
                <a16:creationId xmlns:a16="http://schemas.microsoft.com/office/drawing/2014/main" id="{06F557A3-7DBC-108C-9B8B-1A1BF6653A40}"/>
              </a:ext>
            </a:extLst>
          </p:cNvPr>
          <p:cNvSpPr/>
          <p:nvPr/>
        </p:nvSpPr>
        <p:spPr>
          <a:xfrm>
            <a:off x="2439991" y="104198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33" name="Oval 132">
            <a:extLst>
              <a:ext uri="{FF2B5EF4-FFF2-40B4-BE49-F238E27FC236}">
                <a16:creationId xmlns:a16="http://schemas.microsoft.com/office/drawing/2014/main" id="{C504206E-C771-6778-5493-A03EE511F4BC}"/>
              </a:ext>
            </a:extLst>
          </p:cNvPr>
          <p:cNvSpPr/>
          <p:nvPr/>
        </p:nvSpPr>
        <p:spPr>
          <a:xfrm>
            <a:off x="2592391" y="119438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 name="Oval 133">
            <a:extLst>
              <a:ext uri="{FF2B5EF4-FFF2-40B4-BE49-F238E27FC236}">
                <a16:creationId xmlns:a16="http://schemas.microsoft.com/office/drawing/2014/main" id="{E56FFD37-E807-1723-B3FD-DD867962ED65}"/>
              </a:ext>
            </a:extLst>
          </p:cNvPr>
          <p:cNvSpPr/>
          <p:nvPr/>
        </p:nvSpPr>
        <p:spPr>
          <a:xfrm>
            <a:off x="2177101" y="1365836"/>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 name="Oval 134">
            <a:extLst>
              <a:ext uri="{FF2B5EF4-FFF2-40B4-BE49-F238E27FC236}">
                <a16:creationId xmlns:a16="http://schemas.microsoft.com/office/drawing/2014/main" id="{0A135B74-22E0-E429-EFA1-08CEDCC30DFA}"/>
              </a:ext>
            </a:extLst>
          </p:cNvPr>
          <p:cNvSpPr/>
          <p:nvPr/>
        </p:nvSpPr>
        <p:spPr>
          <a:xfrm>
            <a:off x="2208851" y="1687142"/>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 name="Oval 135">
            <a:extLst>
              <a:ext uri="{FF2B5EF4-FFF2-40B4-BE49-F238E27FC236}">
                <a16:creationId xmlns:a16="http://schemas.microsoft.com/office/drawing/2014/main" id="{9A3155BE-2DC5-22CA-1B36-01969D0131B5}"/>
              </a:ext>
            </a:extLst>
          </p:cNvPr>
          <p:cNvSpPr/>
          <p:nvPr/>
        </p:nvSpPr>
        <p:spPr>
          <a:xfrm>
            <a:off x="1313502" y="1204533"/>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 name="Oval 136">
            <a:extLst>
              <a:ext uri="{FF2B5EF4-FFF2-40B4-BE49-F238E27FC236}">
                <a16:creationId xmlns:a16="http://schemas.microsoft.com/office/drawing/2014/main" id="{9BE3A4C7-CDC9-D68E-BC45-3913A2E979F1}"/>
              </a:ext>
            </a:extLst>
          </p:cNvPr>
          <p:cNvSpPr/>
          <p:nvPr/>
        </p:nvSpPr>
        <p:spPr>
          <a:xfrm>
            <a:off x="2660971" y="159062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 name="Oval 137">
            <a:extLst>
              <a:ext uri="{FF2B5EF4-FFF2-40B4-BE49-F238E27FC236}">
                <a16:creationId xmlns:a16="http://schemas.microsoft.com/office/drawing/2014/main" id="{27BA9D5F-FCD4-F90C-A6E9-F38E666FF98A}"/>
              </a:ext>
            </a:extLst>
          </p:cNvPr>
          <p:cNvSpPr/>
          <p:nvPr/>
        </p:nvSpPr>
        <p:spPr>
          <a:xfrm>
            <a:off x="3132141" y="87434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 name="Oval 138">
            <a:extLst>
              <a:ext uri="{FF2B5EF4-FFF2-40B4-BE49-F238E27FC236}">
                <a16:creationId xmlns:a16="http://schemas.microsoft.com/office/drawing/2014/main" id="{A2CE1D9E-230B-B9B6-E24A-C4AC03590FE1}"/>
              </a:ext>
            </a:extLst>
          </p:cNvPr>
          <p:cNvSpPr/>
          <p:nvPr/>
        </p:nvSpPr>
        <p:spPr>
          <a:xfrm>
            <a:off x="2947991" y="122105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 name="Oval 139">
            <a:extLst>
              <a:ext uri="{FF2B5EF4-FFF2-40B4-BE49-F238E27FC236}">
                <a16:creationId xmlns:a16="http://schemas.microsoft.com/office/drawing/2014/main" id="{72DDF90B-171E-6E4D-F642-62E1A5A5B692}"/>
              </a:ext>
            </a:extLst>
          </p:cNvPr>
          <p:cNvSpPr/>
          <p:nvPr/>
        </p:nvSpPr>
        <p:spPr>
          <a:xfrm>
            <a:off x="3274382" y="1365836"/>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 name="Oval 140">
            <a:extLst>
              <a:ext uri="{FF2B5EF4-FFF2-40B4-BE49-F238E27FC236}">
                <a16:creationId xmlns:a16="http://schemas.microsoft.com/office/drawing/2014/main" id="{2BA5EBDB-9DDA-11D9-2F4E-F8ED037D38C9}"/>
              </a:ext>
            </a:extLst>
          </p:cNvPr>
          <p:cNvSpPr/>
          <p:nvPr/>
        </p:nvSpPr>
        <p:spPr>
          <a:xfrm>
            <a:off x="2826072" y="85529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 name="Multiplication Sign 141">
            <a:extLst>
              <a:ext uri="{FF2B5EF4-FFF2-40B4-BE49-F238E27FC236}">
                <a16:creationId xmlns:a16="http://schemas.microsoft.com/office/drawing/2014/main" id="{2CFD4D9B-BF8B-5B3D-D192-D51973600B0B}"/>
              </a:ext>
            </a:extLst>
          </p:cNvPr>
          <p:cNvSpPr/>
          <p:nvPr/>
        </p:nvSpPr>
        <p:spPr>
          <a:xfrm>
            <a:off x="2219011" y="190813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3" name="Multiplication Sign 142">
            <a:extLst>
              <a:ext uri="{FF2B5EF4-FFF2-40B4-BE49-F238E27FC236}">
                <a16:creationId xmlns:a16="http://schemas.microsoft.com/office/drawing/2014/main" id="{8D106AB8-4F6F-F571-EB80-442CB9C2A590}"/>
              </a:ext>
            </a:extLst>
          </p:cNvPr>
          <p:cNvSpPr/>
          <p:nvPr/>
        </p:nvSpPr>
        <p:spPr>
          <a:xfrm>
            <a:off x="1937071" y="207066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4" name="Multiplication Sign 143">
            <a:extLst>
              <a:ext uri="{FF2B5EF4-FFF2-40B4-BE49-F238E27FC236}">
                <a16:creationId xmlns:a16="http://schemas.microsoft.com/office/drawing/2014/main" id="{1641B986-D237-2A1B-F513-B803E4D7EFBC}"/>
              </a:ext>
            </a:extLst>
          </p:cNvPr>
          <p:cNvSpPr/>
          <p:nvPr/>
        </p:nvSpPr>
        <p:spPr>
          <a:xfrm>
            <a:off x="2719391" y="204273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5" name="Multiplication Sign 144">
            <a:extLst>
              <a:ext uri="{FF2B5EF4-FFF2-40B4-BE49-F238E27FC236}">
                <a16:creationId xmlns:a16="http://schemas.microsoft.com/office/drawing/2014/main" id="{F148490C-4FA4-EA56-32C9-E0C0EEEE01A4}"/>
              </a:ext>
            </a:extLst>
          </p:cNvPr>
          <p:cNvSpPr/>
          <p:nvPr/>
        </p:nvSpPr>
        <p:spPr>
          <a:xfrm>
            <a:off x="1368111" y="193350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6" name="Multiplication Sign 145">
            <a:extLst>
              <a:ext uri="{FF2B5EF4-FFF2-40B4-BE49-F238E27FC236}">
                <a16:creationId xmlns:a16="http://schemas.microsoft.com/office/drawing/2014/main" id="{82E4D302-A583-C735-9AFF-CA90284B9764}"/>
              </a:ext>
            </a:extLst>
          </p:cNvPr>
          <p:cNvSpPr/>
          <p:nvPr/>
        </p:nvSpPr>
        <p:spPr>
          <a:xfrm>
            <a:off x="1777051" y="182684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7" name="Multiplication Sign 146">
            <a:extLst>
              <a:ext uri="{FF2B5EF4-FFF2-40B4-BE49-F238E27FC236}">
                <a16:creationId xmlns:a16="http://schemas.microsoft.com/office/drawing/2014/main" id="{8BAD49FD-098A-256C-05BE-A760658DC295}"/>
              </a:ext>
            </a:extLst>
          </p:cNvPr>
          <p:cNvSpPr/>
          <p:nvPr/>
        </p:nvSpPr>
        <p:spPr>
          <a:xfrm>
            <a:off x="2400621" y="2143080"/>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C7813A95-21A9-0D40-5E5D-B57C64ECFA16}"/>
                  </a:ext>
                </a:extLst>
              </p:cNvPr>
              <p:cNvSpPr txBox="1"/>
              <p:nvPr/>
            </p:nvSpPr>
            <p:spPr>
              <a:xfrm>
                <a:off x="2920053" y="2415608"/>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a:t>
                </a:r>
              </a:p>
            </p:txBody>
          </p:sp>
        </mc:Choice>
        <mc:Fallback xmlns="">
          <p:sp>
            <p:nvSpPr>
              <p:cNvPr id="148" name="TextBox 147">
                <a:extLst>
                  <a:ext uri="{FF2B5EF4-FFF2-40B4-BE49-F238E27FC236}">
                    <a16:creationId xmlns:a16="http://schemas.microsoft.com/office/drawing/2014/main" id="{C7813A95-21A9-0D40-5E5D-B57C64ECFA16}"/>
                  </a:ext>
                </a:extLst>
              </p:cNvPr>
              <p:cNvSpPr txBox="1">
                <a:spLocks noRot="1" noChangeAspect="1" noMove="1" noResize="1" noEditPoints="1" noAdjustHandles="1" noChangeArrowheads="1" noChangeShapeType="1" noTextEdit="1"/>
              </p:cNvSpPr>
              <p:nvPr/>
            </p:nvSpPr>
            <p:spPr>
              <a:xfrm>
                <a:off x="2920053" y="2415608"/>
                <a:ext cx="1311636" cy="369332"/>
              </a:xfrm>
              <a:prstGeom prst="rect">
                <a:avLst/>
              </a:prstGeom>
              <a:blipFill>
                <a:blip r:embed="rId7"/>
                <a:stretch>
                  <a:fillRect/>
                </a:stretch>
              </a:blipFill>
            </p:spPr>
            <p:txBody>
              <a:bodyPr/>
              <a:lstStyle/>
              <a:p>
                <a:r>
                  <a:rPr lang="en-US">
                    <a:noFill/>
                  </a:rPr>
                  <a:t> </a:t>
                </a:r>
              </a:p>
            </p:txBody>
          </p:sp>
        </mc:Fallback>
      </mc:AlternateContent>
      <p:sp>
        <p:nvSpPr>
          <p:cNvPr id="149" name="Oval 148">
            <a:extLst>
              <a:ext uri="{FF2B5EF4-FFF2-40B4-BE49-F238E27FC236}">
                <a16:creationId xmlns:a16="http://schemas.microsoft.com/office/drawing/2014/main" id="{7382883A-E48A-9D21-2C4F-D94CA1880A5B}"/>
              </a:ext>
            </a:extLst>
          </p:cNvPr>
          <p:cNvSpPr/>
          <p:nvPr/>
        </p:nvSpPr>
        <p:spPr>
          <a:xfrm>
            <a:off x="5602292" y="630504"/>
            <a:ext cx="699771" cy="64008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50" name="TextBox 149">
            <a:extLst>
              <a:ext uri="{FF2B5EF4-FFF2-40B4-BE49-F238E27FC236}">
                <a16:creationId xmlns:a16="http://schemas.microsoft.com/office/drawing/2014/main" id="{298F1D26-507B-6292-3AF4-C95C2DF24648}"/>
              </a:ext>
            </a:extLst>
          </p:cNvPr>
          <p:cNvSpPr txBox="1"/>
          <p:nvPr/>
        </p:nvSpPr>
        <p:spPr>
          <a:xfrm>
            <a:off x="7800457" y="501007"/>
            <a:ext cx="4515382" cy="1569660"/>
          </a:xfrm>
          <a:prstGeom prst="rect">
            <a:avLst/>
          </a:prstGeom>
          <a:noFill/>
        </p:spPr>
        <p:txBody>
          <a:bodyPr wrap="square" rtlCol="0">
            <a:spAutoFit/>
          </a:bodyPr>
          <a:lstStyle/>
          <a:p>
            <a:pPr marL="342900" indent="-342900">
              <a:buFont typeface="+mj-lt"/>
              <a:buAutoNum type="arabicPeriod" startAt="3"/>
            </a:pPr>
            <a:r>
              <a:rPr lang="en-US" sz="1600" dirty="0"/>
              <a:t>We now check the two regions A and B and repeat the same process that we did with the root node. Now region A is almost pure; this purity level is maybe enough for us (stopping criterion) so we will not split A. In this case, A is a leaf node.</a:t>
            </a:r>
          </a:p>
        </p:txBody>
      </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45E7355D-4E2C-CCBD-D6CE-18979A20D9CE}"/>
                  </a:ext>
                </a:extLst>
              </p:cNvPr>
              <p:cNvSpPr txBox="1"/>
              <p:nvPr/>
            </p:nvSpPr>
            <p:spPr>
              <a:xfrm>
                <a:off x="-452944" y="-3741"/>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t>
                </a:r>
              </a:p>
            </p:txBody>
          </p:sp>
        </mc:Choice>
        <mc:Fallback xmlns="">
          <p:sp>
            <p:nvSpPr>
              <p:cNvPr id="151" name="TextBox 150">
                <a:extLst>
                  <a:ext uri="{FF2B5EF4-FFF2-40B4-BE49-F238E27FC236}">
                    <a16:creationId xmlns:a16="http://schemas.microsoft.com/office/drawing/2014/main" id="{45E7355D-4E2C-CCBD-D6CE-18979A20D9CE}"/>
                  </a:ext>
                </a:extLst>
              </p:cNvPr>
              <p:cNvSpPr txBox="1">
                <a:spLocks noRot="1" noChangeAspect="1" noMove="1" noResize="1" noEditPoints="1" noAdjustHandles="1" noChangeArrowheads="1" noChangeShapeType="1" noTextEdit="1"/>
              </p:cNvSpPr>
              <p:nvPr/>
            </p:nvSpPr>
            <p:spPr>
              <a:xfrm>
                <a:off x="-452944" y="-3741"/>
                <a:ext cx="1311636" cy="369332"/>
              </a:xfrm>
              <a:prstGeom prst="rect">
                <a:avLst/>
              </a:prstGeom>
              <a:blipFill>
                <a:blip r:embed="rId8"/>
                <a:stretch>
                  <a:fillRect/>
                </a:stretch>
              </a:blipFill>
            </p:spPr>
            <p:txBody>
              <a:bodyPr/>
              <a:lstStyle/>
              <a:p>
                <a:r>
                  <a:rPr lang="en-US">
                    <a:noFill/>
                  </a:rPr>
                  <a:t> </a:t>
                </a:r>
              </a:p>
            </p:txBody>
          </p:sp>
        </mc:Fallback>
      </mc:AlternateContent>
      <p:cxnSp>
        <p:nvCxnSpPr>
          <p:cNvPr id="152" name="Straight Connector 151">
            <a:extLst>
              <a:ext uri="{FF2B5EF4-FFF2-40B4-BE49-F238E27FC236}">
                <a16:creationId xmlns:a16="http://schemas.microsoft.com/office/drawing/2014/main" id="{AD325B7E-3C32-8204-4C37-ADC44D8A241C}"/>
              </a:ext>
            </a:extLst>
          </p:cNvPr>
          <p:cNvCxnSpPr/>
          <p:nvPr/>
        </p:nvCxnSpPr>
        <p:spPr>
          <a:xfrm>
            <a:off x="2123289" y="216807"/>
            <a:ext cx="0" cy="237744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EA96923E-955F-5A06-E44B-FA817D5FBFEC}"/>
                  </a:ext>
                </a:extLst>
              </p:cNvPr>
              <p:cNvSpPr txBox="1"/>
              <p:nvPr/>
            </p:nvSpPr>
            <p:spPr>
              <a:xfrm>
                <a:off x="1539837" y="2588843"/>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m:t>
                        </m:r>
                      </m:sub>
                    </m:sSub>
                  </m:oMath>
                </a14:m>
                <a:r>
                  <a:rPr lang="en-US" dirty="0"/>
                  <a:t> </a:t>
                </a:r>
              </a:p>
            </p:txBody>
          </p:sp>
        </mc:Choice>
        <mc:Fallback xmlns="">
          <p:sp>
            <p:nvSpPr>
              <p:cNvPr id="153" name="TextBox 152">
                <a:extLst>
                  <a:ext uri="{FF2B5EF4-FFF2-40B4-BE49-F238E27FC236}">
                    <a16:creationId xmlns:a16="http://schemas.microsoft.com/office/drawing/2014/main" id="{EA96923E-955F-5A06-E44B-FA817D5FBFEC}"/>
                  </a:ext>
                </a:extLst>
              </p:cNvPr>
              <p:cNvSpPr txBox="1">
                <a:spLocks noRot="1" noChangeAspect="1" noMove="1" noResize="1" noEditPoints="1" noAdjustHandles="1" noChangeArrowheads="1" noChangeShapeType="1" noTextEdit="1"/>
              </p:cNvSpPr>
              <p:nvPr/>
            </p:nvSpPr>
            <p:spPr>
              <a:xfrm>
                <a:off x="1539837" y="2588843"/>
                <a:ext cx="13116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4" name="TextBox 153">
                <a:extLst>
                  <a:ext uri="{FF2B5EF4-FFF2-40B4-BE49-F238E27FC236}">
                    <a16:creationId xmlns:a16="http://schemas.microsoft.com/office/drawing/2014/main" id="{162AD703-5850-C463-16EF-E470B894F992}"/>
                  </a:ext>
                </a:extLst>
              </p:cNvPr>
              <p:cNvSpPr txBox="1"/>
              <p:nvPr/>
            </p:nvSpPr>
            <p:spPr>
              <a:xfrm>
                <a:off x="5172707" y="770971"/>
                <a:ext cx="1636410"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1</m:t>
                          </m:r>
                        </m:sub>
                      </m:sSub>
                      <m:r>
                        <a:rPr lang="en-US" sz="1600" i="1" smtClean="0">
                          <a:latin typeface="Cambria Math" panose="02040503050406030204" pitchFamily="18" charset="0"/>
                          <a:ea typeface="Cambria Math" panose="02040503050406030204" pitchFamily="18" charset="0"/>
                        </a:rPr>
                        <m:t>≤</m:t>
                      </m:r>
                      <m:sSub>
                        <m:sSubPr>
                          <m:ctrlPr>
                            <a:rPr lang="en-US" sz="1600" i="1" smtClean="0">
                              <a:latin typeface="Cambria Math" panose="02040503050406030204" pitchFamily="18" charset="0"/>
                              <a:ea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𝜃</m:t>
                          </m:r>
                        </m:e>
                        <m:sub>
                          <m:r>
                            <a:rPr lang="en-US" sz="1600" b="0" i="1" smtClean="0">
                              <a:latin typeface="Cambria Math" panose="02040503050406030204" pitchFamily="18" charset="0"/>
                              <a:ea typeface="Cambria Math" panose="02040503050406030204" pitchFamily="18" charset="0"/>
                            </a:rPr>
                            <m:t>1</m:t>
                          </m:r>
                        </m:sub>
                      </m:sSub>
                    </m:oMath>
                  </m:oMathPara>
                </a14:m>
                <a:endParaRPr lang="en-US" sz="1600" dirty="0"/>
              </a:p>
            </p:txBody>
          </p:sp>
        </mc:Choice>
        <mc:Fallback xmlns="">
          <p:sp>
            <p:nvSpPr>
              <p:cNvPr id="154" name="TextBox 153">
                <a:extLst>
                  <a:ext uri="{FF2B5EF4-FFF2-40B4-BE49-F238E27FC236}">
                    <a16:creationId xmlns:a16="http://schemas.microsoft.com/office/drawing/2014/main" id="{162AD703-5850-C463-16EF-E470B894F992}"/>
                  </a:ext>
                </a:extLst>
              </p:cNvPr>
              <p:cNvSpPr txBox="1">
                <a:spLocks noRot="1" noChangeAspect="1" noMove="1" noResize="1" noEditPoints="1" noAdjustHandles="1" noChangeArrowheads="1" noChangeShapeType="1" noTextEdit="1"/>
              </p:cNvSpPr>
              <p:nvPr/>
            </p:nvSpPr>
            <p:spPr>
              <a:xfrm>
                <a:off x="5172707" y="770971"/>
                <a:ext cx="1636410" cy="338554"/>
              </a:xfrm>
              <a:prstGeom prst="rect">
                <a:avLst/>
              </a:prstGeom>
              <a:blipFill>
                <a:blip r:embed="rId10"/>
                <a:stretch>
                  <a:fillRect/>
                </a:stretch>
              </a:blipFill>
            </p:spPr>
            <p:txBody>
              <a:bodyPr/>
              <a:lstStyle/>
              <a:p>
                <a:r>
                  <a:rPr lang="en-US">
                    <a:noFill/>
                  </a:rPr>
                  <a:t> </a:t>
                </a:r>
              </a:p>
            </p:txBody>
          </p:sp>
        </mc:Fallback>
      </mc:AlternateContent>
      <p:sp>
        <p:nvSpPr>
          <p:cNvPr id="155" name="Oval 154">
            <a:extLst>
              <a:ext uri="{FF2B5EF4-FFF2-40B4-BE49-F238E27FC236}">
                <a16:creationId xmlns:a16="http://schemas.microsoft.com/office/drawing/2014/main" id="{6BFBA489-71D1-67EA-CDF4-7579A494169A}"/>
              </a:ext>
            </a:extLst>
          </p:cNvPr>
          <p:cNvSpPr/>
          <p:nvPr/>
        </p:nvSpPr>
        <p:spPr>
          <a:xfrm>
            <a:off x="5022435" y="1461084"/>
            <a:ext cx="699771" cy="64008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A </a:t>
            </a:r>
          </a:p>
        </p:txBody>
      </p:sp>
      <p:sp>
        <p:nvSpPr>
          <p:cNvPr id="156" name="Oval 155">
            <a:extLst>
              <a:ext uri="{FF2B5EF4-FFF2-40B4-BE49-F238E27FC236}">
                <a16:creationId xmlns:a16="http://schemas.microsoft.com/office/drawing/2014/main" id="{C2C0D6F5-EC55-E3F0-B341-BA3133A738F7}"/>
              </a:ext>
            </a:extLst>
          </p:cNvPr>
          <p:cNvSpPr/>
          <p:nvPr/>
        </p:nvSpPr>
        <p:spPr>
          <a:xfrm>
            <a:off x="6214434" y="1471654"/>
            <a:ext cx="699771" cy="64008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B</a:t>
            </a:r>
          </a:p>
        </p:txBody>
      </p:sp>
      <p:sp>
        <p:nvSpPr>
          <p:cNvPr id="157" name="TextBox 156">
            <a:extLst>
              <a:ext uri="{FF2B5EF4-FFF2-40B4-BE49-F238E27FC236}">
                <a16:creationId xmlns:a16="http://schemas.microsoft.com/office/drawing/2014/main" id="{E92720B9-D7EF-E39F-2F0A-3D19086A9DD1}"/>
              </a:ext>
            </a:extLst>
          </p:cNvPr>
          <p:cNvSpPr txBox="1"/>
          <p:nvPr/>
        </p:nvSpPr>
        <p:spPr>
          <a:xfrm>
            <a:off x="1015051" y="137480"/>
            <a:ext cx="441487" cy="373633"/>
          </a:xfrm>
          <a:prstGeom prst="rect">
            <a:avLst/>
          </a:prstGeom>
          <a:noFill/>
        </p:spPr>
        <p:txBody>
          <a:bodyPr wrap="square" rtlCol="0">
            <a:spAutoFit/>
          </a:bodyPr>
          <a:lstStyle/>
          <a:p>
            <a:r>
              <a:rPr lang="en-US" dirty="0"/>
              <a:t>A</a:t>
            </a:r>
          </a:p>
        </p:txBody>
      </p:sp>
      <p:sp>
        <p:nvSpPr>
          <p:cNvPr id="158" name="TextBox 157">
            <a:extLst>
              <a:ext uri="{FF2B5EF4-FFF2-40B4-BE49-F238E27FC236}">
                <a16:creationId xmlns:a16="http://schemas.microsoft.com/office/drawing/2014/main" id="{77E3C85F-9424-7841-4028-B2CF8867642E}"/>
              </a:ext>
            </a:extLst>
          </p:cNvPr>
          <p:cNvSpPr txBox="1"/>
          <p:nvPr/>
        </p:nvSpPr>
        <p:spPr>
          <a:xfrm>
            <a:off x="2793228" y="98351"/>
            <a:ext cx="441487" cy="373633"/>
          </a:xfrm>
          <a:prstGeom prst="rect">
            <a:avLst/>
          </a:prstGeom>
          <a:noFill/>
        </p:spPr>
        <p:txBody>
          <a:bodyPr wrap="square" rtlCol="0">
            <a:spAutoFit/>
          </a:bodyPr>
          <a:lstStyle/>
          <a:p>
            <a:r>
              <a:rPr lang="en-US" dirty="0"/>
              <a:t>B</a:t>
            </a:r>
          </a:p>
        </p:txBody>
      </p:sp>
      <p:cxnSp>
        <p:nvCxnSpPr>
          <p:cNvPr id="159" name="Straight Arrow Connector 158">
            <a:extLst>
              <a:ext uri="{FF2B5EF4-FFF2-40B4-BE49-F238E27FC236}">
                <a16:creationId xmlns:a16="http://schemas.microsoft.com/office/drawing/2014/main" id="{3D777982-2399-D482-4F95-169C685039E5}"/>
              </a:ext>
            </a:extLst>
          </p:cNvPr>
          <p:cNvCxnSpPr>
            <a:cxnSpLocks/>
            <a:stCxn id="149" idx="3"/>
            <a:endCxn id="155" idx="0"/>
          </p:cNvCxnSpPr>
          <p:nvPr/>
        </p:nvCxnSpPr>
        <p:spPr>
          <a:xfrm flipH="1">
            <a:off x="5372321" y="1176846"/>
            <a:ext cx="332450" cy="2842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a:extLst>
              <a:ext uri="{FF2B5EF4-FFF2-40B4-BE49-F238E27FC236}">
                <a16:creationId xmlns:a16="http://schemas.microsoft.com/office/drawing/2014/main" id="{635650E8-EDF3-3F6C-1AC4-4EA921CD99E2}"/>
              </a:ext>
            </a:extLst>
          </p:cNvPr>
          <p:cNvCxnSpPr>
            <a:cxnSpLocks/>
            <a:stCxn id="149" idx="5"/>
            <a:endCxn id="156" idx="0"/>
          </p:cNvCxnSpPr>
          <p:nvPr/>
        </p:nvCxnSpPr>
        <p:spPr>
          <a:xfrm>
            <a:off x="6199584" y="1176846"/>
            <a:ext cx="364736" cy="2948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6863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9" name="Straight Arrow Connector 78">
            <a:extLst>
              <a:ext uri="{FF2B5EF4-FFF2-40B4-BE49-F238E27FC236}">
                <a16:creationId xmlns:a16="http://schemas.microsoft.com/office/drawing/2014/main" id="{C51E4914-6F1D-BF87-12A3-A62782F28355}"/>
              </a:ext>
            </a:extLst>
          </p:cNvPr>
          <p:cNvCxnSpPr/>
          <p:nvPr/>
        </p:nvCxnSpPr>
        <p:spPr>
          <a:xfrm>
            <a:off x="452292" y="5853346"/>
            <a:ext cx="3413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0" name="Straight Arrow Connector 79">
            <a:extLst>
              <a:ext uri="{FF2B5EF4-FFF2-40B4-BE49-F238E27FC236}">
                <a16:creationId xmlns:a16="http://schemas.microsoft.com/office/drawing/2014/main" id="{AB9F1EB8-FBFE-6702-C3C9-F944C05E6A79}"/>
              </a:ext>
            </a:extLst>
          </p:cNvPr>
          <p:cNvCxnSpPr>
            <a:cxnSpLocks/>
          </p:cNvCxnSpPr>
          <p:nvPr/>
        </p:nvCxnSpPr>
        <p:spPr>
          <a:xfrm rot="16200000">
            <a:off x="-572598" y="4867837"/>
            <a:ext cx="228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1" name="Multiplication Sign 80">
            <a:extLst>
              <a:ext uri="{FF2B5EF4-FFF2-40B4-BE49-F238E27FC236}">
                <a16:creationId xmlns:a16="http://schemas.microsoft.com/office/drawing/2014/main" id="{60913D59-91CF-7D32-2137-81A27479330F}"/>
              </a:ext>
            </a:extLst>
          </p:cNvPr>
          <p:cNvSpPr/>
          <p:nvPr/>
        </p:nvSpPr>
        <p:spPr>
          <a:xfrm>
            <a:off x="856152" y="423790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2" name="Multiplication Sign 81">
            <a:extLst>
              <a:ext uri="{FF2B5EF4-FFF2-40B4-BE49-F238E27FC236}">
                <a16:creationId xmlns:a16="http://schemas.microsoft.com/office/drawing/2014/main" id="{3AC6576F-B5AA-E3F8-9594-E3E9D7CC6007}"/>
              </a:ext>
            </a:extLst>
          </p:cNvPr>
          <p:cNvSpPr/>
          <p:nvPr/>
        </p:nvSpPr>
        <p:spPr>
          <a:xfrm>
            <a:off x="1008552" y="439030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3" name="Multiplication Sign 82">
            <a:extLst>
              <a:ext uri="{FF2B5EF4-FFF2-40B4-BE49-F238E27FC236}">
                <a16:creationId xmlns:a16="http://schemas.microsoft.com/office/drawing/2014/main" id="{D36CE6C5-1704-5137-5BC8-D6E0D37C701E}"/>
              </a:ext>
            </a:extLst>
          </p:cNvPr>
          <p:cNvSpPr/>
          <p:nvPr/>
        </p:nvSpPr>
        <p:spPr>
          <a:xfrm>
            <a:off x="1160952" y="454270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4" name="Multiplication Sign 83">
            <a:extLst>
              <a:ext uri="{FF2B5EF4-FFF2-40B4-BE49-F238E27FC236}">
                <a16:creationId xmlns:a16="http://schemas.microsoft.com/office/drawing/2014/main" id="{167C163C-EDCC-A34D-A21C-9BF4D0F0F8D9}"/>
              </a:ext>
            </a:extLst>
          </p:cNvPr>
          <p:cNvSpPr/>
          <p:nvPr/>
        </p:nvSpPr>
        <p:spPr>
          <a:xfrm>
            <a:off x="825672" y="509134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5" name="Multiplication Sign 84">
            <a:extLst>
              <a:ext uri="{FF2B5EF4-FFF2-40B4-BE49-F238E27FC236}">
                <a16:creationId xmlns:a16="http://schemas.microsoft.com/office/drawing/2014/main" id="{F2830B92-0A61-43FC-A263-A25B85917560}"/>
              </a:ext>
            </a:extLst>
          </p:cNvPr>
          <p:cNvSpPr/>
          <p:nvPr/>
        </p:nvSpPr>
        <p:spPr>
          <a:xfrm>
            <a:off x="1099992" y="482464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6" name="Multiplication Sign 85">
            <a:extLst>
              <a:ext uri="{FF2B5EF4-FFF2-40B4-BE49-F238E27FC236}">
                <a16:creationId xmlns:a16="http://schemas.microsoft.com/office/drawing/2014/main" id="{D4CF09CF-43B5-ECCF-6C5B-C0DB8903FCF6}"/>
              </a:ext>
            </a:extLst>
          </p:cNvPr>
          <p:cNvSpPr/>
          <p:nvPr/>
        </p:nvSpPr>
        <p:spPr>
          <a:xfrm>
            <a:off x="1229532" y="519040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7" name="Multiplication Sign 86">
            <a:extLst>
              <a:ext uri="{FF2B5EF4-FFF2-40B4-BE49-F238E27FC236}">
                <a16:creationId xmlns:a16="http://schemas.microsoft.com/office/drawing/2014/main" id="{39DD22C9-D53E-06C6-E05D-F4F2DC82A97B}"/>
              </a:ext>
            </a:extLst>
          </p:cNvPr>
          <p:cNvSpPr/>
          <p:nvPr/>
        </p:nvSpPr>
        <p:spPr>
          <a:xfrm>
            <a:off x="1308272" y="4171856"/>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8" name="Multiplication Sign 87">
            <a:extLst>
              <a:ext uri="{FF2B5EF4-FFF2-40B4-BE49-F238E27FC236}">
                <a16:creationId xmlns:a16="http://schemas.microsoft.com/office/drawing/2014/main" id="{41BE0CEF-75F9-385A-0D2A-7F05C2767556}"/>
              </a:ext>
            </a:extLst>
          </p:cNvPr>
          <p:cNvSpPr/>
          <p:nvPr/>
        </p:nvSpPr>
        <p:spPr>
          <a:xfrm>
            <a:off x="1577512" y="4913541"/>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9" name="Multiplication Sign 88">
            <a:extLst>
              <a:ext uri="{FF2B5EF4-FFF2-40B4-BE49-F238E27FC236}">
                <a16:creationId xmlns:a16="http://schemas.microsoft.com/office/drawing/2014/main" id="{1ADD7779-51F8-C8A0-9DD5-2761A386C13C}"/>
              </a:ext>
            </a:extLst>
          </p:cNvPr>
          <p:cNvSpPr/>
          <p:nvPr/>
        </p:nvSpPr>
        <p:spPr>
          <a:xfrm>
            <a:off x="1884852" y="417440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0" name="Multiplication Sign 89">
            <a:extLst>
              <a:ext uri="{FF2B5EF4-FFF2-40B4-BE49-F238E27FC236}">
                <a16:creationId xmlns:a16="http://schemas.microsoft.com/office/drawing/2014/main" id="{D54DA2A3-3463-064B-3577-27B08C67FE56}"/>
              </a:ext>
            </a:extLst>
          </p:cNvPr>
          <p:cNvSpPr/>
          <p:nvPr/>
        </p:nvSpPr>
        <p:spPr>
          <a:xfrm>
            <a:off x="721532" y="467986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8E8377D1-9DE1-9106-DA7B-7CE62AEC3B6A}"/>
              </a:ext>
            </a:extLst>
          </p:cNvPr>
          <p:cNvSpPr/>
          <p:nvPr/>
        </p:nvSpPr>
        <p:spPr>
          <a:xfrm>
            <a:off x="2372532" y="4321727"/>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 name="Oval 91">
            <a:extLst>
              <a:ext uri="{FF2B5EF4-FFF2-40B4-BE49-F238E27FC236}">
                <a16:creationId xmlns:a16="http://schemas.microsoft.com/office/drawing/2014/main" id="{39D493F1-CD7F-7F7F-F7F7-DA872B0B1A00}"/>
              </a:ext>
            </a:extLst>
          </p:cNvPr>
          <p:cNvSpPr/>
          <p:nvPr/>
        </p:nvSpPr>
        <p:spPr>
          <a:xfrm>
            <a:off x="2524932" y="4474127"/>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3" name="Oval 92">
            <a:extLst>
              <a:ext uri="{FF2B5EF4-FFF2-40B4-BE49-F238E27FC236}">
                <a16:creationId xmlns:a16="http://schemas.microsoft.com/office/drawing/2014/main" id="{FACC1423-9FBB-FDFD-994C-983686D64685}"/>
              </a:ext>
            </a:extLst>
          </p:cNvPr>
          <p:cNvSpPr/>
          <p:nvPr/>
        </p:nvSpPr>
        <p:spPr>
          <a:xfrm>
            <a:off x="2677332" y="4626527"/>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 name="Oval 93">
            <a:extLst>
              <a:ext uri="{FF2B5EF4-FFF2-40B4-BE49-F238E27FC236}">
                <a16:creationId xmlns:a16="http://schemas.microsoft.com/office/drawing/2014/main" id="{DA1DCCFE-9C21-C753-B16D-D573F69F97CC}"/>
              </a:ext>
            </a:extLst>
          </p:cNvPr>
          <p:cNvSpPr/>
          <p:nvPr/>
        </p:nvSpPr>
        <p:spPr>
          <a:xfrm>
            <a:off x="2262042" y="4797979"/>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 name="Oval 94">
            <a:extLst>
              <a:ext uri="{FF2B5EF4-FFF2-40B4-BE49-F238E27FC236}">
                <a16:creationId xmlns:a16="http://schemas.microsoft.com/office/drawing/2014/main" id="{AC128E66-58A6-6954-448E-DE6409EFC0DC}"/>
              </a:ext>
            </a:extLst>
          </p:cNvPr>
          <p:cNvSpPr/>
          <p:nvPr/>
        </p:nvSpPr>
        <p:spPr>
          <a:xfrm>
            <a:off x="2293792" y="511928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 name="Oval 95">
            <a:extLst>
              <a:ext uri="{FF2B5EF4-FFF2-40B4-BE49-F238E27FC236}">
                <a16:creationId xmlns:a16="http://schemas.microsoft.com/office/drawing/2014/main" id="{7ADF5E60-17FE-06BA-D21A-8AF292C1F989}"/>
              </a:ext>
            </a:extLst>
          </p:cNvPr>
          <p:cNvSpPr/>
          <p:nvPr/>
        </p:nvSpPr>
        <p:spPr>
          <a:xfrm>
            <a:off x="1398443" y="4636676"/>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 name="Oval 96">
            <a:extLst>
              <a:ext uri="{FF2B5EF4-FFF2-40B4-BE49-F238E27FC236}">
                <a16:creationId xmlns:a16="http://schemas.microsoft.com/office/drawing/2014/main" id="{8F9368FB-4E73-DF69-10F1-E035829A2347}"/>
              </a:ext>
            </a:extLst>
          </p:cNvPr>
          <p:cNvSpPr/>
          <p:nvPr/>
        </p:nvSpPr>
        <p:spPr>
          <a:xfrm>
            <a:off x="2745912" y="5022767"/>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 name="Oval 97">
            <a:extLst>
              <a:ext uri="{FF2B5EF4-FFF2-40B4-BE49-F238E27FC236}">
                <a16:creationId xmlns:a16="http://schemas.microsoft.com/office/drawing/2014/main" id="{7FF65FD9-7159-47FE-CEDA-BC1488F0BC0E}"/>
              </a:ext>
            </a:extLst>
          </p:cNvPr>
          <p:cNvSpPr/>
          <p:nvPr/>
        </p:nvSpPr>
        <p:spPr>
          <a:xfrm>
            <a:off x="3217082" y="4306487"/>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 name="Oval 98">
            <a:extLst>
              <a:ext uri="{FF2B5EF4-FFF2-40B4-BE49-F238E27FC236}">
                <a16:creationId xmlns:a16="http://schemas.microsoft.com/office/drawing/2014/main" id="{F00D79BF-58AC-7330-DCD8-0921133F625E}"/>
              </a:ext>
            </a:extLst>
          </p:cNvPr>
          <p:cNvSpPr/>
          <p:nvPr/>
        </p:nvSpPr>
        <p:spPr>
          <a:xfrm>
            <a:off x="3032932" y="4653198"/>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 name="Oval 99">
            <a:extLst>
              <a:ext uri="{FF2B5EF4-FFF2-40B4-BE49-F238E27FC236}">
                <a16:creationId xmlns:a16="http://schemas.microsoft.com/office/drawing/2014/main" id="{FF68C145-F406-C02F-0E76-7C6C7A3261ED}"/>
              </a:ext>
            </a:extLst>
          </p:cNvPr>
          <p:cNvSpPr/>
          <p:nvPr/>
        </p:nvSpPr>
        <p:spPr>
          <a:xfrm>
            <a:off x="3359323" y="4797979"/>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 name="Oval 100">
            <a:extLst>
              <a:ext uri="{FF2B5EF4-FFF2-40B4-BE49-F238E27FC236}">
                <a16:creationId xmlns:a16="http://schemas.microsoft.com/office/drawing/2014/main" id="{D3ACA364-2442-5150-140E-02450FC6596C}"/>
              </a:ext>
            </a:extLst>
          </p:cNvPr>
          <p:cNvSpPr/>
          <p:nvPr/>
        </p:nvSpPr>
        <p:spPr>
          <a:xfrm>
            <a:off x="2911013" y="4287438"/>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 name="Multiplication Sign 101">
            <a:extLst>
              <a:ext uri="{FF2B5EF4-FFF2-40B4-BE49-F238E27FC236}">
                <a16:creationId xmlns:a16="http://schemas.microsoft.com/office/drawing/2014/main" id="{4174D826-F5A4-02AB-F609-0BD54927F212}"/>
              </a:ext>
            </a:extLst>
          </p:cNvPr>
          <p:cNvSpPr/>
          <p:nvPr/>
        </p:nvSpPr>
        <p:spPr>
          <a:xfrm>
            <a:off x="2303952" y="534027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3" name="Multiplication Sign 102">
            <a:extLst>
              <a:ext uri="{FF2B5EF4-FFF2-40B4-BE49-F238E27FC236}">
                <a16:creationId xmlns:a16="http://schemas.microsoft.com/office/drawing/2014/main" id="{73034618-C330-ED8E-3D0E-51077D157491}"/>
              </a:ext>
            </a:extLst>
          </p:cNvPr>
          <p:cNvSpPr/>
          <p:nvPr/>
        </p:nvSpPr>
        <p:spPr>
          <a:xfrm>
            <a:off x="2022012" y="5502810"/>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4" name="Multiplication Sign 103">
            <a:extLst>
              <a:ext uri="{FF2B5EF4-FFF2-40B4-BE49-F238E27FC236}">
                <a16:creationId xmlns:a16="http://schemas.microsoft.com/office/drawing/2014/main" id="{95E629AA-AB14-55F1-B7B8-C0F295A1C89F}"/>
              </a:ext>
            </a:extLst>
          </p:cNvPr>
          <p:cNvSpPr/>
          <p:nvPr/>
        </p:nvSpPr>
        <p:spPr>
          <a:xfrm>
            <a:off x="2804332" y="5474876"/>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5" name="Multiplication Sign 104">
            <a:extLst>
              <a:ext uri="{FF2B5EF4-FFF2-40B4-BE49-F238E27FC236}">
                <a16:creationId xmlns:a16="http://schemas.microsoft.com/office/drawing/2014/main" id="{08BE4801-0F37-1EC8-3828-E5A23704FF9B}"/>
              </a:ext>
            </a:extLst>
          </p:cNvPr>
          <p:cNvSpPr/>
          <p:nvPr/>
        </p:nvSpPr>
        <p:spPr>
          <a:xfrm>
            <a:off x="1453052" y="5365650"/>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6" name="Multiplication Sign 105">
            <a:extLst>
              <a:ext uri="{FF2B5EF4-FFF2-40B4-BE49-F238E27FC236}">
                <a16:creationId xmlns:a16="http://schemas.microsoft.com/office/drawing/2014/main" id="{1958B128-3126-D6CF-5B73-0B7F98CAFFBC}"/>
              </a:ext>
            </a:extLst>
          </p:cNvPr>
          <p:cNvSpPr/>
          <p:nvPr/>
        </p:nvSpPr>
        <p:spPr>
          <a:xfrm>
            <a:off x="1861992" y="525898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7" name="Multiplication Sign 106">
            <a:extLst>
              <a:ext uri="{FF2B5EF4-FFF2-40B4-BE49-F238E27FC236}">
                <a16:creationId xmlns:a16="http://schemas.microsoft.com/office/drawing/2014/main" id="{E7759C9D-C87E-7F7F-B13C-0AA7C90D76AE}"/>
              </a:ext>
            </a:extLst>
          </p:cNvPr>
          <p:cNvSpPr/>
          <p:nvPr/>
        </p:nvSpPr>
        <p:spPr>
          <a:xfrm>
            <a:off x="2485562" y="557522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10F7B92F-41C0-EA7F-EC0D-5ECBE2756115}"/>
                  </a:ext>
                </a:extLst>
              </p:cNvPr>
              <p:cNvSpPr txBox="1"/>
              <p:nvPr/>
            </p:nvSpPr>
            <p:spPr>
              <a:xfrm>
                <a:off x="3004994" y="5847751"/>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a:t>
                </a:r>
              </a:p>
            </p:txBody>
          </p:sp>
        </mc:Choice>
        <mc:Fallback xmlns="">
          <p:sp>
            <p:nvSpPr>
              <p:cNvPr id="108" name="TextBox 107">
                <a:extLst>
                  <a:ext uri="{FF2B5EF4-FFF2-40B4-BE49-F238E27FC236}">
                    <a16:creationId xmlns:a16="http://schemas.microsoft.com/office/drawing/2014/main" id="{10F7B92F-41C0-EA7F-EC0D-5ECBE2756115}"/>
                  </a:ext>
                </a:extLst>
              </p:cNvPr>
              <p:cNvSpPr txBox="1">
                <a:spLocks noRot="1" noChangeAspect="1" noMove="1" noResize="1" noEditPoints="1" noAdjustHandles="1" noChangeArrowheads="1" noChangeShapeType="1" noTextEdit="1"/>
              </p:cNvSpPr>
              <p:nvPr/>
            </p:nvSpPr>
            <p:spPr>
              <a:xfrm>
                <a:off x="3004994" y="5847751"/>
                <a:ext cx="1311636" cy="369332"/>
              </a:xfrm>
              <a:prstGeom prst="rect">
                <a:avLst/>
              </a:prstGeom>
              <a:blipFill>
                <a:blip r:embed="rId2"/>
                <a:stretch>
                  <a:fillRect/>
                </a:stretch>
              </a:blipFill>
            </p:spPr>
            <p:txBody>
              <a:bodyPr/>
              <a:lstStyle/>
              <a:p>
                <a:r>
                  <a:rPr lang="en-US">
                    <a:noFill/>
                  </a:rPr>
                  <a:t> </a:t>
                </a:r>
              </a:p>
            </p:txBody>
          </p:sp>
        </mc:Fallback>
      </mc:AlternateContent>
      <p:sp>
        <p:nvSpPr>
          <p:cNvPr id="109" name="Oval 108">
            <a:extLst>
              <a:ext uri="{FF2B5EF4-FFF2-40B4-BE49-F238E27FC236}">
                <a16:creationId xmlns:a16="http://schemas.microsoft.com/office/drawing/2014/main" id="{1F62F78A-0A88-5C77-9203-314059571ACA}"/>
              </a:ext>
            </a:extLst>
          </p:cNvPr>
          <p:cNvSpPr/>
          <p:nvPr/>
        </p:nvSpPr>
        <p:spPr>
          <a:xfrm>
            <a:off x="5687233" y="4062647"/>
            <a:ext cx="699771" cy="64008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7C9959C8-0F24-727A-132A-1DB6F0DC3CB9}"/>
                  </a:ext>
                </a:extLst>
              </p:cNvPr>
              <p:cNvSpPr txBox="1"/>
              <p:nvPr/>
            </p:nvSpPr>
            <p:spPr>
              <a:xfrm>
                <a:off x="7829207" y="4382687"/>
                <a:ext cx="4362793" cy="1815882"/>
              </a:xfrm>
              <a:prstGeom prst="rect">
                <a:avLst/>
              </a:prstGeom>
              <a:noFill/>
            </p:spPr>
            <p:txBody>
              <a:bodyPr wrap="square" rtlCol="0">
                <a:spAutoFit/>
              </a:bodyPr>
              <a:lstStyle/>
              <a:p>
                <a:pPr marL="342900" indent="-342900">
                  <a:buFont typeface="+mj-lt"/>
                  <a:buAutoNum type="arabicPeriod" startAt="4"/>
                </a:pPr>
                <a:r>
                  <a:rPr lang="en-US" sz="1600" dirty="0"/>
                  <a:t>We now check region B to split it. We check for each feature all thresholds. Assume that we find that </a:t>
                </a:r>
                <a14:m>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2</m:t>
                        </m:r>
                      </m:sub>
                    </m:sSub>
                    <m:r>
                      <a:rPr lang="en-US" sz="1600" i="1" smtClean="0">
                        <a:latin typeface="Cambria Math" panose="02040503050406030204" pitchFamily="18" charset="0"/>
                        <a:ea typeface="Cambria Math" panose="02040503050406030204" pitchFamily="18" charset="0"/>
                      </a:rPr>
                      <m:t>≤</m:t>
                    </m:r>
                    <m:sSub>
                      <m:sSubPr>
                        <m:ctrlPr>
                          <a:rPr lang="en-US" sz="1600" i="1" smtClean="0">
                            <a:latin typeface="Cambria Math" panose="02040503050406030204" pitchFamily="18" charset="0"/>
                            <a:ea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𝜃</m:t>
                        </m:r>
                      </m:e>
                      <m:sub>
                        <m:r>
                          <a:rPr lang="en-US" sz="1600" b="0" i="1" smtClean="0">
                            <a:latin typeface="Cambria Math" panose="02040503050406030204" pitchFamily="18" charset="0"/>
                            <a:ea typeface="Cambria Math" panose="02040503050406030204" pitchFamily="18" charset="0"/>
                          </a:rPr>
                          <m:t>2</m:t>
                        </m:r>
                      </m:sub>
                    </m:sSub>
                  </m:oMath>
                </a14:m>
                <a:r>
                  <a:rPr lang="en-US" sz="1600" dirty="0"/>
                  <a:t> leads to the largest decrease in impurity. This test splits the region B into two regions C and D. C and D are pure regions, we stop splitting. C and D are two leaf nodes. </a:t>
                </a:r>
              </a:p>
            </p:txBody>
          </p:sp>
        </mc:Choice>
        <mc:Fallback xmlns="">
          <p:sp>
            <p:nvSpPr>
              <p:cNvPr id="110" name="TextBox 109">
                <a:extLst>
                  <a:ext uri="{FF2B5EF4-FFF2-40B4-BE49-F238E27FC236}">
                    <a16:creationId xmlns:a16="http://schemas.microsoft.com/office/drawing/2014/main" id="{7C9959C8-0F24-727A-132A-1DB6F0DC3CB9}"/>
                  </a:ext>
                </a:extLst>
              </p:cNvPr>
              <p:cNvSpPr txBox="1">
                <a:spLocks noRot="1" noChangeAspect="1" noMove="1" noResize="1" noEditPoints="1" noAdjustHandles="1" noChangeArrowheads="1" noChangeShapeType="1" noTextEdit="1"/>
              </p:cNvSpPr>
              <p:nvPr/>
            </p:nvSpPr>
            <p:spPr>
              <a:xfrm>
                <a:off x="7829207" y="4382687"/>
                <a:ext cx="4362793" cy="1815882"/>
              </a:xfrm>
              <a:prstGeom prst="rect">
                <a:avLst/>
              </a:prstGeom>
              <a:blipFill>
                <a:blip r:embed="rId3"/>
                <a:stretch>
                  <a:fillRect l="-698" t="-1007" r="-1536" b="-33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7A285476-C708-0FDE-68A3-AD7A8EA1CC52}"/>
                  </a:ext>
                </a:extLst>
              </p:cNvPr>
              <p:cNvSpPr txBox="1"/>
              <p:nvPr/>
            </p:nvSpPr>
            <p:spPr>
              <a:xfrm>
                <a:off x="-452944" y="3384957"/>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t>
                </a:r>
              </a:p>
            </p:txBody>
          </p:sp>
        </mc:Choice>
        <mc:Fallback xmlns="">
          <p:sp>
            <p:nvSpPr>
              <p:cNvPr id="111" name="TextBox 110">
                <a:extLst>
                  <a:ext uri="{FF2B5EF4-FFF2-40B4-BE49-F238E27FC236}">
                    <a16:creationId xmlns:a16="http://schemas.microsoft.com/office/drawing/2014/main" id="{7A285476-C708-0FDE-68A3-AD7A8EA1CC52}"/>
                  </a:ext>
                </a:extLst>
              </p:cNvPr>
              <p:cNvSpPr txBox="1">
                <a:spLocks noRot="1" noChangeAspect="1" noMove="1" noResize="1" noEditPoints="1" noAdjustHandles="1" noChangeArrowheads="1" noChangeShapeType="1" noTextEdit="1"/>
              </p:cNvSpPr>
              <p:nvPr/>
            </p:nvSpPr>
            <p:spPr>
              <a:xfrm>
                <a:off x="-452944" y="3384957"/>
                <a:ext cx="1311636" cy="369332"/>
              </a:xfrm>
              <a:prstGeom prst="rect">
                <a:avLst/>
              </a:prstGeom>
              <a:blipFill>
                <a:blip r:embed="rId4"/>
                <a:stretch>
                  <a:fillRect/>
                </a:stretch>
              </a:blipFill>
            </p:spPr>
            <p:txBody>
              <a:bodyPr/>
              <a:lstStyle/>
              <a:p>
                <a:r>
                  <a:rPr lang="en-US">
                    <a:noFill/>
                  </a:rPr>
                  <a:t> </a:t>
                </a:r>
              </a:p>
            </p:txBody>
          </p:sp>
        </mc:Fallback>
      </mc:AlternateContent>
      <p:cxnSp>
        <p:nvCxnSpPr>
          <p:cNvPr id="113" name="Straight Connector 112">
            <a:extLst>
              <a:ext uri="{FF2B5EF4-FFF2-40B4-BE49-F238E27FC236}">
                <a16:creationId xmlns:a16="http://schemas.microsoft.com/office/drawing/2014/main" id="{8A0E624E-03D0-1D70-22E1-F8C84C4EA1C8}"/>
              </a:ext>
            </a:extLst>
          </p:cNvPr>
          <p:cNvCxnSpPr/>
          <p:nvPr/>
        </p:nvCxnSpPr>
        <p:spPr>
          <a:xfrm>
            <a:off x="2208230" y="3648950"/>
            <a:ext cx="0" cy="237744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E937E2CC-903A-583F-3D74-CD8B72104909}"/>
                  </a:ext>
                </a:extLst>
              </p:cNvPr>
              <p:cNvSpPr txBox="1"/>
              <p:nvPr/>
            </p:nvSpPr>
            <p:spPr>
              <a:xfrm>
                <a:off x="1624778" y="6020986"/>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m:t>
                        </m:r>
                      </m:sub>
                    </m:sSub>
                  </m:oMath>
                </a14:m>
                <a:r>
                  <a:rPr lang="en-US" dirty="0"/>
                  <a:t> </a:t>
                </a:r>
              </a:p>
            </p:txBody>
          </p:sp>
        </mc:Choice>
        <mc:Fallback xmlns="">
          <p:sp>
            <p:nvSpPr>
              <p:cNvPr id="117" name="TextBox 116">
                <a:extLst>
                  <a:ext uri="{FF2B5EF4-FFF2-40B4-BE49-F238E27FC236}">
                    <a16:creationId xmlns:a16="http://schemas.microsoft.com/office/drawing/2014/main" id="{E937E2CC-903A-583F-3D74-CD8B72104909}"/>
                  </a:ext>
                </a:extLst>
              </p:cNvPr>
              <p:cNvSpPr txBox="1">
                <a:spLocks noRot="1" noChangeAspect="1" noMove="1" noResize="1" noEditPoints="1" noAdjustHandles="1" noChangeArrowheads="1" noChangeShapeType="1" noTextEdit="1"/>
              </p:cNvSpPr>
              <p:nvPr/>
            </p:nvSpPr>
            <p:spPr>
              <a:xfrm>
                <a:off x="1624778" y="6020986"/>
                <a:ext cx="131163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DF59F292-6F09-7956-3DBB-2C17EE65C9E3}"/>
                  </a:ext>
                </a:extLst>
              </p:cNvPr>
              <p:cNvSpPr txBox="1"/>
              <p:nvPr/>
            </p:nvSpPr>
            <p:spPr>
              <a:xfrm>
                <a:off x="5257648" y="4203114"/>
                <a:ext cx="1636410"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1</m:t>
                          </m:r>
                        </m:sub>
                      </m:sSub>
                      <m:r>
                        <a:rPr lang="en-US" sz="1600" i="1" smtClean="0">
                          <a:latin typeface="Cambria Math" panose="02040503050406030204" pitchFamily="18" charset="0"/>
                          <a:ea typeface="Cambria Math" panose="02040503050406030204" pitchFamily="18" charset="0"/>
                        </a:rPr>
                        <m:t>≤</m:t>
                      </m:r>
                      <m:sSub>
                        <m:sSubPr>
                          <m:ctrlPr>
                            <a:rPr lang="en-US" sz="1600" i="1" smtClean="0">
                              <a:latin typeface="Cambria Math" panose="02040503050406030204" pitchFamily="18" charset="0"/>
                              <a:ea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𝜃</m:t>
                          </m:r>
                        </m:e>
                        <m:sub>
                          <m:r>
                            <a:rPr lang="en-US" sz="1600" b="0" i="1" smtClean="0">
                              <a:latin typeface="Cambria Math" panose="02040503050406030204" pitchFamily="18" charset="0"/>
                              <a:ea typeface="Cambria Math" panose="02040503050406030204" pitchFamily="18" charset="0"/>
                            </a:rPr>
                            <m:t>1</m:t>
                          </m:r>
                        </m:sub>
                      </m:sSub>
                    </m:oMath>
                  </m:oMathPara>
                </a14:m>
                <a:endParaRPr lang="en-US" sz="1600" dirty="0"/>
              </a:p>
            </p:txBody>
          </p:sp>
        </mc:Choice>
        <mc:Fallback xmlns="">
          <p:sp>
            <p:nvSpPr>
              <p:cNvPr id="119" name="TextBox 118">
                <a:extLst>
                  <a:ext uri="{FF2B5EF4-FFF2-40B4-BE49-F238E27FC236}">
                    <a16:creationId xmlns:a16="http://schemas.microsoft.com/office/drawing/2014/main" id="{DF59F292-6F09-7956-3DBB-2C17EE65C9E3}"/>
                  </a:ext>
                </a:extLst>
              </p:cNvPr>
              <p:cNvSpPr txBox="1">
                <a:spLocks noRot="1" noChangeAspect="1" noMove="1" noResize="1" noEditPoints="1" noAdjustHandles="1" noChangeArrowheads="1" noChangeShapeType="1" noTextEdit="1"/>
              </p:cNvSpPr>
              <p:nvPr/>
            </p:nvSpPr>
            <p:spPr>
              <a:xfrm>
                <a:off x="5257648" y="4203114"/>
                <a:ext cx="1636410" cy="338554"/>
              </a:xfrm>
              <a:prstGeom prst="rect">
                <a:avLst/>
              </a:prstGeom>
              <a:blipFill>
                <a:blip r:embed="rId6"/>
                <a:stretch>
                  <a:fillRect/>
                </a:stretch>
              </a:blipFill>
            </p:spPr>
            <p:txBody>
              <a:bodyPr/>
              <a:lstStyle/>
              <a:p>
                <a:r>
                  <a:rPr lang="en-US">
                    <a:noFill/>
                  </a:rPr>
                  <a:t> </a:t>
                </a:r>
              </a:p>
            </p:txBody>
          </p:sp>
        </mc:Fallback>
      </mc:AlternateContent>
      <p:sp>
        <p:nvSpPr>
          <p:cNvPr id="122" name="Oval 121">
            <a:extLst>
              <a:ext uri="{FF2B5EF4-FFF2-40B4-BE49-F238E27FC236}">
                <a16:creationId xmlns:a16="http://schemas.microsoft.com/office/drawing/2014/main" id="{E0BD95E9-FCEE-AF04-FD92-4A6C9861055F}"/>
              </a:ext>
            </a:extLst>
          </p:cNvPr>
          <p:cNvSpPr/>
          <p:nvPr/>
        </p:nvSpPr>
        <p:spPr>
          <a:xfrm>
            <a:off x="5107376" y="4893227"/>
            <a:ext cx="699771" cy="64008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A</a:t>
            </a:r>
          </a:p>
        </p:txBody>
      </p:sp>
      <p:sp>
        <p:nvSpPr>
          <p:cNvPr id="123" name="Oval 122">
            <a:extLst>
              <a:ext uri="{FF2B5EF4-FFF2-40B4-BE49-F238E27FC236}">
                <a16:creationId xmlns:a16="http://schemas.microsoft.com/office/drawing/2014/main" id="{71626070-AFEA-B773-79A8-50A3EF20C373}"/>
              </a:ext>
            </a:extLst>
          </p:cNvPr>
          <p:cNvSpPr/>
          <p:nvPr/>
        </p:nvSpPr>
        <p:spPr>
          <a:xfrm>
            <a:off x="6299375" y="4903797"/>
            <a:ext cx="699771" cy="64008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124" name="TextBox 123">
            <a:extLst>
              <a:ext uri="{FF2B5EF4-FFF2-40B4-BE49-F238E27FC236}">
                <a16:creationId xmlns:a16="http://schemas.microsoft.com/office/drawing/2014/main" id="{534CBBC8-67B4-E76E-BBF9-FD6D37B0460A}"/>
              </a:ext>
            </a:extLst>
          </p:cNvPr>
          <p:cNvSpPr txBox="1"/>
          <p:nvPr/>
        </p:nvSpPr>
        <p:spPr>
          <a:xfrm>
            <a:off x="1099992" y="3569623"/>
            <a:ext cx="441487" cy="373633"/>
          </a:xfrm>
          <a:prstGeom prst="rect">
            <a:avLst/>
          </a:prstGeom>
          <a:noFill/>
        </p:spPr>
        <p:txBody>
          <a:bodyPr wrap="square" rtlCol="0">
            <a:spAutoFit/>
          </a:bodyPr>
          <a:lstStyle/>
          <a:p>
            <a:r>
              <a:rPr lang="en-US" dirty="0"/>
              <a:t>A</a:t>
            </a:r>
          </a:p>
        </p:txBody>
      </p:sp>
      <p:cxnSp>
        <p:nvCxnSpPr>
          <p:cNvPr id="130" name="Straight Arrow Connector 129">
            <a:extLst>
              <a:ext uri="{FF2B5EF4-FFF2-40B4-BE49-F238E27FC236}">
                <a16:creationId xmlns:a16="http://schemas.microsoft.com/office/drawing/2014/main" id="{0D78C6C4-D176-D06A-EA21-C2EDC2AC5844}"/>
              </a:ext>
            </a:extLst>
          </p:cNvPr>
          <p:cNvCxnSpPr>
            <a:cxnSpLocks/>
            <a:stCxn id="109" idx="3"/>
            <a:endCxn id="122" idx="0"/>
          </p:cNvCxnSpPr>
          <p:nvPr/>
        </p:nvCxnSpPr>
        <p:spPr>
          <a:xfrm flipH="1">
            <a:off x="5457262" y="4608989"/>
            <a:ext cx="332450" cy="2842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2" name="Straight Arrow Connector 131">
            <a:extLst>
              <a:ext uri="{FF2B5EF4-FFF2-40B4-BE49-F238E27FC236}">
                <a16:creationId xmlns:a16="http://schemas.microsoft.com/office/drawing/2014/main" id="{4BBA688F-0349-1C33-F27F-C1E13FC35242}"/>
              </a:ext>
            </a:extLst>
          </p:cNvPr>
          <p:cNvCxnSpPr>
            <a:cxnSpLocks/>
            <a:stCxn id="109" idx="5"/>
            <a:endCxn id="123" idx="0"/>
          </p:cNvCxnSpPr>
          <p:nvPr/>
        </p:nvCxnSpPr>
        <p:spPr>
          <a:xfrm>
            <a:off x="6284525" y="4608989"/>
            <a:ext cx="364736" cy="2948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a:extLst>
              <a:ext uri="{FF2B5EF4-FFF2-40B4-BE49-F238E27FC236}">
                <a16:creationId xmlns:a16="http://schemas.microsoft.com/office/drawing/2014/main" id="{7A3B75A5-7C05-29F5-72B4-722C008136C6}"/>
              </a:ext>
            </a:extLst>
          </p:cNvPr>
          <p:cNvCxnSpPr/>
          <p:nvPr/>
        </p:nvCxnSpPr>
        <p:spPr>
          <a:xfrm>
            <a:off x="367351" y="2421203"/>
            <a:ext cx="34137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a:extLst>
              <a:ext uri="{FF2B5EF4-FFF2-40B4-BE49-F238E27FC236}">
                <a16:creationId xmlns:a16="http://schemas.microsoft.com/office/drawing/2014/main" id="{13BEACC7-CEBE-33EB-FE2E-E185F81F4DC9}"/>
              </a:ext>
            </a:extLst>
          </p:cNvPr>
          <p:cNvCxnSpPr>
            <a:cxnSpLocks/>
          </p:cNvCxnSpPr>
          <p:nvPr/>
        </p:nvCxnSpPr>
        <p:spPr>
          <a:xfrm rot="16200000">
            <a:off x="-657539" y="1435694"/>
            <a:ext cx="228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2" name="Multiplication Sign 111">
            <a:extLst>
              <a:ext uri="{FF2B5EF4-FFF2-40B4-BE49-F238E27FC236}">
                <a16:creationId xmlns:a16="http://schemas.microsoft.com/office/drawing/2014/main" id="{0C949DC2-9FB6-B7C3-AFC7-4027DF76108D}"/>
              </a:ext>
            </a:extLst>
          </p:cNvPr>
          <p:cNvSpPr/>
          <p:nvPr/>
        </p:nvSpPr>
        <p:spPr>
          <a:xfrm>
            <a:off x="771211" y="80576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4" name="Multiplication Sign 113">
            <a:extLst>
              <a:ext uri="{FF2B5EF4-FFF2-40B4-BE49-F238E27FC236}">
                <a16:creationId xmlns:a16="http://schemas.microsoft.com/office/drawing/2014/main" id="{0E890C6A-2DE7-218E-28A6-E72327107B1C}"/>
              </a:ext>
            </a:extLst>
          </p:cNvPr>
          <p:cNvSpPr/>
          <p:nvPr/>
        </p:nvSpPr>
        <p:spPr>
          <a:xfrm>
            <a:off x="923611" y="95816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5" name="Multiplication Sign 114">
            <a:extLst>
              <a:ext uri="{FF2B5EF4-FFF2-40B4-BE49-F238E27FC236}">
                <a16:creationId xmlns:a16="http://schemas.microsoft.com/office/drawing/2014/main" id="{13311AA1-57A0-D845-DAE6-674301E53983}"/>
              </a:ext>
            </a:extLst>
          </p:cNvPr>
          <p:cNvSpPr/>
          <p:nvPr/>
        </p:nvSpPr>
        <p:spPr>
          <a:xfrm>
            <a:off x="1076011" y="111056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6" name="Multiplication Sign 115">
            <a:extLst>
              <a:ext uri="{FF2B5EF4-FFF2-40B4-BE49-F238E27FC236}">
                <a16:creationId xmlns:a16="http://schemas.microsoft.com/office/drawing/2014/main" id="{0B8ACBD9-6CA5-D4F2-5839-F5C9AD381F3F}"/>
              </a:ext>
            </a:extLst>
          </p:cNvPr>
          <p:cNvSpPr/>
          <p:nvPr/>
        </p:nvSpPr>
        <p:spPr>
          <a:xfrm>
            <a:off x="740731" y="165920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8" name="Multiplication Sign 117">
            <a:extLst>
              <a:ext uri="{FF2B5EF4-FFF2-40B4-BE49-F238E27FC236}">
                <a16:creationId xmlns:a16="http://schemas.microsoft.com/office/drawing/2014/main" id="{E3801A36-ACA8-922D-204B-3577D64CD1FD}"/>
              </a:ext>
            </a:extLst>
          </p:cNvPr>
          <p:cNvSpPr/>
          <p:nvPr/>
        </p:nvSpPr>
        <p:spPr>
          <a:xfrm>
            <a:off x="1015051" y="139250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0" name="Multiplication Sign 119">
            <a:extLst>
              <a:ext uri="{FF2B5EF4-FFF2-40B4-BE49-F238E27FC236}">
                <a16:creationId xmlns:a16="http://schemas.microsoft.com/office/drawing/2014/main" id="{12055909-48C1-D27D-E1BE-2EFA3886E666}"/>
              </a:ext>
            </a:extLst>
          </p:cNvPr>
          <p:cNvSpPr/>
          <p:nvPr/>
        </p:nvSpPr>
        <p:spPr>
          <a:xfrm>
            <a:off x="1144591" y="175826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1" name="Multiplication Sign 120">
            <a:extLst>
              <a:ext uri="{FF2B5EF4-FFF2-40B4-BE49-F238E27FC236}">
                <a16:creationId xmlns:a16="http://schemas.microsoft.com/office/drawing/2014/main" id="{8B55E475-3D41-4740-ABD5-64AF1CA18D52}"/>
              </a:ext>
            </a:extLst>
          </p:cNvPr>
          <p:cNvSpPr/>
          <p:nvPr/>
        </p:nvSpPr>
        <p:spPr>
          <a:xfrm>
            <a:off x="1223331" y="73971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5" name="Multiplication Sign 124">
            <a:extLst>
              <a:ext uri="{FF2B5EF4-FFF2-40B4-BE49-F238E27FC236}">
                <a16:creationId xmlns:a16="http://schemas.microsoft.com/office/drawing/2014/main" id="{2A433C9A-9B78-0585-B7E4-CC20A2C74099}"/>
              </a:ext>
            </a:extLst>
          </p:cNvPr>
          <p:cNvSpPr/>
          <p:nvPr/>
        </p:nvSpPr>
        <p:spPr>
          <a:xfrm>
            <a:off x="1492571" y="1481398"/>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7" name="Multiplication Sign 126">
            <a:extLst>
              <a:ext uri="{FF2B5EF4-FFF2-40B4-BE49-F238E27FC236}">
                <a16:creationId xmlns:a16="http://schemas.microsoft.com/office/drawing/2014/main" id="{7D4E8162-5966-8D8D-F712-E39F37AD1938}"/>
              </a:ext>
            </a:extLst>
          </p:cNvPr>
          <p:cNvSpPr/>
          <p:nvPr/>
        </p:nvSpPr>
        <p:spPr>
          <a:xfrm>
            <a:off x="1799911" y="74226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8" name="Multiplication Sign 127">
            <a:extLst>
              <a:ext uri="{FF2B5EF4-FFF2-40B4-BE49-F238E27FC236}">
                <a16:creationId xmlns:a16="http://schemas.microsoft.com/office/drawing/2014/main" id="{43FC5846-CDF4-B0FC-B9DA-CCDF01F0BB11}"/>
              </a:ext>
            </a:extLst>
          </p:cNvPr>
          <p:cNvSpPr/>
          <p:nvPr/>
        </p:nvSpPr>
        <p:spPr>
          <a:xfrm>
            <a:off x="636591" y="124772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A15DA780-74A6-8F41-9F51-79DBD431F815}"/>
              </a:ext>
            </a:extLst>
          </p:cNvPr>
          <p:cNvSpPr/>
          <p:nvPr/>
        </p:nvSpPr>
        <p:spPr>
          <a:xfrm>
            <a:off x="2287591" y="88958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 name="Oval 130">
            <a:extLst>
              <a:ext uri="{FF2B5EF4-FFF2-40B4-BE49-F238E27FC236}">
                <a16:creationId xmlns:a16="http://schemas.microsoft.com/office/drawing/2014/main" id="{06F557A3-7DBC-108C-9B8B-1A1BF6653A40}"/>
              </a:ext>
            </a:extLst>
          </p:cNvPr>
          <p:cNvSpPr/>
          <p:nvPr/>
        </p:nvSpPr>
        <p:spPr>
          <a:xfrm>
            <a:off x="2439991" y="104198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33" name="Oval 132">
            <a:extLst>
              <a:ext uri="{FF2B5EF4-FFF2-40B4-BE49-F238E27FC236}">
                <a16:creationId xmlns:a16="http://schemas.microsoft.com/office/drawing/2014/main" id="{C504206E-C771-6778-5493-A03EE511F4BC}"/>
              </a:ext>
            </a:extLst>
          </p:cNvPr>
          <p:cNvSpPr/>
          <p:nvPr/>
        </p:nvSpPr>
        <p:spPr>
          <a:xfrm>
            <a:off x="2592391" y="119438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 name="Oval 133">
            <a:extLst>
              <a:ext uri="{FF2B5EF4-FFF2-40B4-BE49-F238E27FC236}">
                <a16:creationId xmlns:a16="http://schemas.microsoft.com/office/drawing/2014/main" id="{E56FFD37-E807-1723-B3FD-DD867962ED65}"/>
              </a:ext>
            </a:extLst>
          </p:cNvPr>
          <p:cNvSpPr/>
          <p:nvPr/>
        </p:nvSpPr>
        <p:spPr>
          <a:xfrm>
            <a:off x="2177101" y="1365836"/>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 name="Oval 134">
            <a:extLst>
              <a:ext uri="{FF2B5EF4-FFF2-40B4-BE49-F238E27FC236}">
                <a16:creationId xmlns:a16="http://schemas.microsoft.com/office/drawing/2014/main" id="{0A135B74-22E0-E429-EFA1-08CEDCC30DFA}"/>
              </a:ext>
            </a:extLst>
          </p:cNvPr>
          <p:cNvSpPr/>
          <p:nvPr/>
        </p:nvSpPr>
        <p:spPr>
          <a:xfrm>
            <a:off x="2208851" y="1687142"/>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 name="Oval 135">
            <a:extLst>
              <a:ext uri="{FF2B5EF4-FFF2-40B4-BE49-F238E27FC236}">
                <a16:creationId xmlns:a16="http://schemas.microsoft.com/office/drawing/2014/main" id="{9A3155BE-2DC5-22CA-1B36-01969D0131B5}"/>
              </a:ext>
            </a:extLst>
          </p:cNvPr>
          <p:cNvSpPr/>
          <p:nvPr/>
        </p:nvSpPr>
        <p:spPr>
          <a:xfrm>
            <a:off x="1313502" y="1204533"/>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 name="Oval 136">
            <a:extLst>
              <a:ext uri="{FF2B5EF4-FFF2-40B4-BE49-F238E27FC236}">
                <a16:creationId xmlns:a16="http://schemas.microsoft.com/office/drawing/2014/main" id="{9BE3A4C7-CDC9-D68E-BC45-3913A2E979F1}"/>
              </a:ext>
            </a:extLst>
          </p:cNvPr>
          <p:cNvSpPr/>
          <p:nvPr/>
        </p:nvSpPr>
        <p:spPr>
          <a:xfrm>
            <a:off x="2660971" y="159062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 name="Oval 137">
            <a:extLst>
              <a:ext uri="{FF2B5EF4-FFF2-40B4-BE49-F238E27FC236}">
                <a16:creationId xmlns:a16="http://schemas.microsoft.com/office/drawing/2014/main" id="{27BA9D5F-FCD4-F90C-A6E9-F38E666FF98A}"/>
              </a:ext>
            </a:extLst>
          </p:cNvPr>
          <p:cNvSpPr/>
          <p:nvPr/>
        </p:nvSpPr>
        <p:spPr>
          <a:xfrm>
            <a:off x="3132141" y="874344"/>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 name="Oval 138">
            <a:extLst>
              <a:ext uri="{FF2B5EF4-FFF2-40B4-BE49-F238E27FC236}">
                <a16:creationId xmlns:a16="http://schemas.microsoft.com/office/drawing/2014/main" id="{A2CE1D9E-230B-B9B6-E24A-C4AC03590FE1}"/>
              </a:ext>
            </a:extLst>
          </p:cNvPr>
          <p:cNvSpPr/>
          <p:nvPr/>
        </p:nvSpPr>
        <p:spPr>
          <a:xfrm>
            <a:off x="2947991" y="122105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 name="Oval 139">
            <a:extLst>
              <a:ext uri="{FF2B5EF4-FFF2-40B4-BE49-F238E27FC236}">
                <a16:creationId xmlns:a16="http://schemas.microsoft.com/office/drawing/2014/main" id="{72DDF90B-171E-6E4D-F642-62E1A5A5B692}"/>
              </a:ext>
            </a:extLst>
          </p:cNvPr>
          <p:cNvSpPr/>
          <p:nvPr/>
        </p:nvSpPr>
        <p:spPr>
          <a:xfrm>
            <a:off x="3274382" y="1365836"/>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 name="Oval 140">
            <a:extLst>
              <a:ext uri="{FF2B5EF4-FFF2-40B4-BE49-F238E27FC236}">
                <a16:creationId xmlns:a16="http://schemas.microsoft.com/office/drawing/2014/main" id="{2BA5EBDB-9DDA-11D9-2F4E-F8ED037D38C9}"/>
              </a:ext>
            </a:extLst>
          </p:cNvPr>
          <p:cNvSpPr/>
          <p:nvPr/>
        </p:nvSpPr>
        <p:spPr>
          <a:xfrm>
            <a:off x="2826072" y="855295"/>
            <a:ext cx="137160" cy="13716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 name="Multiplication Sign 141">
            <a:extLst>
              <a:ext uri="{FF2B5EF4-FFF2-40B4-BE49-F238E27FC236}">
                <a16:creationId xmlns:a16="http://schemas.microsoft.com/office/drawing/2014/main" id="{2CFD4D9B-BF8B-5B3D-D192-D51973600B0B}"/>
              </a:ext>
            </a:extLst>
          </p:cNvPr>
          <p:cNvSpPr/>
          <p:nvPr/>
        </p:nvSpPr>
        <p:spPr>
          <a:xfrm>
            <a:off x="2219011" y="190813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3" name="Multiplication Sign 142">
            <a:extLst>
              <a:ext uri="{FF2B5EF4-FFF2-40B4-BE49-F238E27FC236}">
                <a16:creationId xmlns:a16="http://schemas.microsoft.com/office/drawing/2014/main" id="{8D106AB8-4F6F-F571-EB80-442CB9C2A590}"/>
              </a:ext>
            </a:extLst>
          </p:cNvPr>
          <p:cNvSpPr/>
          <p:nvPr/>
        </p:nvSpPr>
        <p:spPr>
          <a:xfrm>
            <a:off x="1937071" y="207066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4" name="Multiplication Sign 143">
            <a:extLst>
              <a:ext uri="{FF2B5EF4-FFF2-40B4-BE49-F238E27FC236}">
                <a16:creationId xmlns:a16="http://schemas.microsoft.com/office/drawing/2014/main" id="{1641B986-D237-2A1B-F513-B803E4D7EFBC}"/>
              </a:ext>
            </a:extLst>
          </p:cNvPr>
          <p:cNvSpPr/>
          <p:nvPr/>
        </p:nvSpPr>
        <p:spPr>
          <a:xfrm>
            <a:off x="2719391" y="2042733"/>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5" name="Multiplication Sign 144">
            <a:extLst>
              <a:ext uri="{FF2B5EF4-FFF2-40B4-BE49-F238E27FC236}">
                <a16:creationId xmlns:a16="http://schemas.microsoft.com/office/drawing/2014/main" id="{F148490C-4FA4-EA56-32C9-E0C0EEEE01A4}"/>
              </a:ext>
            </a:extLst>
          </p:cNvPr>
          <p:cNvSpPr/>
          <p:nvPr/>
        </p:nvSpPr>
        <p:spPr>
          <a:xfrm>
            <a:off x="1368111" y="1933507"/>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6" name="Multiplication Sign 145">
            <a:extLst>
              <a:ext uri="{FF2B5EF4-FFF2-40B4-BE49-F238E27FC236}">
                <a16:creationId xmlns:a16="http://schemas.microsoft.com/office/drawing/2014/main" id="{82E4D302-A583-C735-9AFF-CA90284B9764}"/>
              </a:ext>
            </a:extLst>
          </p:cNvPr>
          <p:cNvSpPr/>
          <p:nvPr/>
        </p:nvSpPr>
        <p:spPr>
          <a:xfrm>
            <a:off x="1777051" y="1826844"/>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7" name="Multiplication Sign 146">
            <a:extLst>
              <a:ext uri="{FF2B5EF4-FFF2-40B4-BE49-F238E27FC236}">
                <a16:creationId xmlns:a16="http://schemas.microsoft.com/office/drawing/2014/main" id="{8BAD49FD-098A-256C-05BE-A760658DC295}"/>
              </a:ext>
            </a:extLst>
          </p:cNvPr>
          <p:cNvSpPr/>
          <p:nvPr/>
        </p:nvSpPr>
        <p:spPr>
          <a:xfrm>
            <a:off x="2400621" y="2143080"/>
            <a:ext cx="137160" cy="137160"/>
          </a:xfrm>
          <a:prstGeom prst="mathMultiply">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C7813A95-21A9-0D40-5E5D-B57C64ECFA16}"/>
                  </a:ext>
                </a:extLst>
              </p:cNvPr>
              <p:cNvSpPr txBox="1"/>
              <p:nvPr/>
            </p:nvSpPr>
            <p:spPr>
              <a:xfrm>
                <a:off x="2920053" y="2415608"/>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a:t>
                </a:r>
              </a:p>
            </p:txBody>
          </p:sp>
        </mc:Choice>
        <mc:Fallback xmlns="">
          <p:sp>
            <p:nvSpPr>
              <p:cNvPr id="148" name="TextBox 147">
                <a:extLst>
                  <a:ext uri="{FF2B5EF4-FFF2-40B4-BE49-F238E27FC236}">
                    <a16:creationId xmlns:a16="http://schemas.microsoft.com/office/drawing/2014/main" id="{C7813A95-21A9-0D40-5E5D-B57C64ECFA16}"/>
                  </a:ext>
                </a:extLst>
              </p:cNvPr>
              <p:cNvSpPr txBox="1">
                <a:spLocks noRot="1" noChangeAspect="1" noMove="1" noResize="1" noEditPoints="1" noAdjustHandles="1" noChangeArrowheads="1" noChangeShapeType="1" noTextEdit="1"/>
              </p:cNvSpPr>
              <p:nvPr/>
            </p:nvSpPr>
            <p:spPr>
              <a:xfrm>
                <a:off x="2920053" y="2415608"/>
                <a:ext cx="1311636" cy="369332"/>
              </a:xfrm>
              <a:prstGeom prst="rect">
                <a:avLst/>
              </a:prstGeom>
              <a:blipFill>
                <a:blip r:embed="rId7"/>
                <a:stretch>
                  <a:fillRect/>
                </a:stretch>
              </a:blipFill>
            </p:spPr>
            <p:txBody>
              <a:bodyPr/>
              <a:lstStyle/>
              <a:p>
                <a:r>
                  <a:rPr lang="en-US">
                    <a:noFill/>
                  </a:rPr>
                  <a:t> </a:t>
                </a:r>
              </a:p>
            </p:txBody>
          </p:sp>
        </mc:Fallback>
      </mc:AlternateContent>
      <p:sp>
        <p:nvSpPr>
          <p:cNvPr id="149" name="Oval 148">
            <a:extLst>
              <a:ext uri="{FF2B5EF4-FFF2-40B4-BE49-F238E27FC236}">
                <a16:creationId xmlns:a16="http://schemas.microsoft.com/office/drawing/2014/main" id="{7382883A-E48A-9D21-2C4F-D94CA1880A5B}"/>
              </a:ext>
            </a:extLst>
          </p:cNvPr>
          <p:cNvSpPr/>
          <p:nvPr/>
        </p:nvSpPr>
        <p:spPr>
          <a:xfrm>
            <a:off x="5602292" y="630504"/>
            <a:ext cx="699771" cy="64008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50" name="TextBox 149">
            <a:extLst>
              <a:ext uri="{FF2B5EF4-FFF2-40B4-BE49-F238E27FC236}">
                <a16:creationId xmlns:a16="http://schemas.microsoft.com/office/drawing/2014/main" id="{298F1D26-507B-6292-3AF4-C95C2DF24648}"/>
              </a:ext>
            </a:extLst>
          </p:cNvPr>
          <p:cNvSpPr txBox="1"/>
          <p:nvPr/>
        </p:nvSpPr>
        <p:spPr>
          <a:xfrm>
            <a:off x="7800457" y="501007"/>
            <a:ext cx="4515382" cy="1815882"/>
          </a:xfrm>
          <a:prstGeom prst="rect">
            <a:avLst/>
          </a:prstGeom>
          <a:noFill/>
        </p:spPr>
        <p:txBody>
          <a:bodyPr wrap="square" rtlCol="0">
            <a:spAutoFit/>
          </a:bodyPr>
          <a:lstStyle/>
          <a:p>
            <a:pPr marL="342900" indent="-342900">
              <a:buFont typeface="+mj-lt"/>
              <a:buAutoNum type="arabicPeriod" startAt="3"/>
            </a:pPr>
            <a:r>
              <a:rPr lang="en-US" sz="1600" dirty="0"/>
              <a:t>We now check the two regions A and B and repeat the same process that we did with the root node. Now region A is almost pure; this purity level is maybe enough for us (stopping criterion) so we will not split A. In this case, A is a leaf node.</a:t>
            </a:r>
          </a:p>
          <a:p>
            <a:endParaRPr lang="en-US" sz="1600" dirty="0"/>
          </a:p>
        </p:txBody>
      </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45E7355D-4E2C-CCBD-D6CE-18979A20D9CE}"/>
                  </a:ext>
                </a:extLst>
              </p:cNvPr>
              <p:cNvSpPr txBox="1"/>
              <p:nvPr/>
            </p:nvSpPr>
            <p:spPr>
              <a:xfrm>
                <a:off x="-452944" y="-3741"/>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t>
                </a:r>
              </a:p>
            </p:txBody>
          </p:sp>
        </mc:Choice>
        <mc:Fallback xmlns="">
          <p:sp>
            <p:nvSpPr>
              <p:cNvPr id="151" name="TextBox 150">
                <a:extLst>
                  <a:ext uri="{FF2B5EF4-FFF2-40B4-BE49-F238E27FC236}">
                    <a16:creationId xmlns:a16="http://schemas.microsoft.com/office/drawing/2014/main" id="{45E7355D-4E2C-CCBD-D6CE-18979A20D9CE}"/>
                  </a:ext>
                </a:extLst>
              </p:cNvPr>
              <p:cNvSpPr txBox="1">
                <a:spLocks noRot="1" noChangeAspect="1" noMove="1" noResize="1" noEditPoints="1" noAdjustHandles="1" noChangeArrowheads="1" noChangeShapeType="1" noTextEdit="1"/>
              </p:cNvSpPr>
              <p:nvPr/>
            </p:nvSpPr>
            <p:spPr>
              <a:xfrm>
                <a:off x="-452944" y="-3741"/>
                <a:ext cx="1311636" cy="369332"/>
              </a:xfrm>
              <a:prstGeom prst="rect">
                <a:avLst/>
              </a:prstGeom>
              <a:blipFill>
                <a:blip r:embed="rId8"/>
                <a:stretch>
                  <a:fillRect/>
                </a:stretch>
              </a:blipFill>
            </p:spPr>
            <p:txBody>
              <a:bodyPr/>
              <a:lstStyle/>
              <a:p>
                <a:r>
                  <a:rPr lang="en-US">
                    <a:noFill/>
                  </a:rPr>
                  <a:t> </a:t>
                </a:r>
              </a:p>
            </p:txBody>
          </p:sp>
        </mc:Fallback>
      </mc:AlternateContent>
      <p:cxnSp>
        <p:nvCxnSpPr>
          <p:cNvPr id="152" name="Straight Connector 151">
            <a:extLst>
              <a:ext uri="{FF2B5EF4-FFF2-40B4-BE49-F238E27FC236}">
                <a16:creationId xmlns:a16="http://schemas.microsoft.com/office/drawing/2014/main" id="{AD325B7E-3C32-8204-4C37-ADC44D8A241C}"/>
              </a:ext>
            </a:extLst>
          </p:cNvPr>
          <p:cNvCxnSpPr/>
          <p:nvPr/>
        </p:nvCxnSpPr>
        <p:spPr>
          <a:xfrm>
            <a:off x="2123289" y="216807"/>
            <a:ext cx="0" cy="237744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EA96923E-955F-5A06-E44B-FA817D5FBFEC}"/>
                  </a:ext>
                </a:extLst>
              </p:cNvPr>
              <p:cNvSpPr txBox="1"/>
              <p:nvPr/>
            </p:nvSpPr>
            <p:spPr>
              <a:xfrm>
                <a:off x="1539837" y="2588843"/>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1</m:t>
                        </m:r>
                      </m:sub>
                    </m:sSub>
                  </m:oMath>
                </a14:m>
                <a:r>
                  <a:rPr lang="en-US" dirty="0"/>
                  <a:t> </a:t>
                </a:r>
              </a:p>
            </p:txBody>
          </p:sp>
        </mc:Choice>
        <mc:Fallback xmlns="">
          <p:sp>
            <p:nvSpPr>
              <p:cNvPr id="153" name="TextBox 152">
                <a:extLst>
                  <a:ext uri="{FF2B5EF4-FFF2-40B4-BE49-F238E27FC236}">
                    <a16:creationId xmlns:a16="http://schemas.microsoft.com/office/drawing/2014/main" id="{EA96923E-955F-5A06-E44B-FA817D5FBFEC}"/>
                  </a:ext>
                </a:extLst>
              </p:cNvPr>
              <p:cNvSpPr txBox="1">
                <a:spLocks noRot="1" noChangeAspect="1" noMove="1" noResize="1" noEditPoints="1" noAdjustHandles="1" noChangeArrowheads="1" noChangeShapeType="1" noTextEdit="1"/>
              </p:cNvSpPr>
              <p:nvPr/>
            </p:nvSpPr>
            <p:spPr>
              <a:xfrm>
                <a:off x="1539837" y="2588843"/>
                <a:ext cx="13116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4" name="TextBox 153">
                <a:extLst>
                  <a:ext uri="{FF2B5EF4-FFF2-40B4-BE49-F238E27FC236}">
                    <a16:creationId xmlns:a16="http://schemas.microsoft.com/office/drawing/2014/main" id="{162AD703-5850-C463-16EF-E470B894F992}"/>
                  </a:ext>
                </a:extLst>
              </p:cNvPr>
              <p:cNvSpPr txBox="1"/>
              <p:nvPr/>
            </p:nvSpPr>
            <p:spPr>
              <a:xfrm>
                <a:off x="5172707" y="770971"/>
                <a:ext cx="1636410"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1</m:t>
                          </m:r>
                        </m:sub>
                      </m:sSub>
                      <m:r>
                        <a:rPr lang="en-US" sz="1600" i="1" smtClean="0">
                          <a:latin typeface="Cambria Math" panose="02040503050406030204" pitchFamily="18" charset="0"/>
                          <a:ea typeface="Cambria Math" panose="02040503050406030204" pitchFamily="18" charset="0"/>
                        </a:rPr>
                        <m:t>≤</m:t>
                      </m:r>
                      <m:sSub>
                        <m:sSubPr>
                          <m:ctrlPr>
                            <a:rPr lang="en-US" sz="1600" i="1" smtClean="0">
                              <a:latin typeface="Cambria Math" panose="02040503050406030204" pitchFamily="18" charset="0"/>
                              <a:ea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𝜃</m:t>
                          </m:r>
                        </m:e>
                        <m:sub>
                          <m:r>
                            <a:rPr lang="en-US" sz="1600" b="0" i="1" smtClean="0">
                              <a:latin typeface="Cambria Math" panose="02040503050406030204" pitchFamily="18" charset="0"/>
                              <a:ea typeface="Cambria Math" panose="02040503050406030204" pitchFamily="18" charset="0"/>
                            </a:rPr>
                            <m:t>1</m:t>
                          </m:r>
                        </m:sub>
                      </m:sSub>
                    </m:oMath>
                  </m:oMathPara>
                </a14:m>
                <a:endParaRPr lang="en-US" sz="1600" dirty="0"/>
              </a:p>
            </p:txBody>
          </p:sp>
        </mc:Choice>
        <mc:Fallback xmlns="">
          <p:sp>
            <p:nvSpPr>
              <p:cNvPr id="154" name="TextBox 153">
                <a:extLst>
                  <a:ext uri="{FF2B5EF4-FFF2-40B4-BE49-F238E27FC236}">
                    <a16:creationId xmlns:a16="http://schemas.microsoft.com/office/drawing/2014/main" id="{162AD703-5850-C463-16EF-E470B894F992}"/>
                  </a:ext>
                </a:extLst>
              </p:cNvPr>
              <p:cNvSpPr txBox="1">
                <a:spLocks noRot="1" noChangeAspect="1" noMove="1" noResize="1" noEditPoints="1" noAdjustHandles="1" noChangeArrowheads="1" noChangeShapeType="1" noTextEdit="1"/>
              </p:cNvSpPr>
              <p:nvPr/>
            </p:nvSpPr>
            <p:spPr>
              <a:xfrm>
                <a:off x="5172707" y="770971"/>
                <a:ext cx="1636410" cy="338554"/>
              </a:xfrm>
              <a:prstGeom prst="rect">
                <a:avLst/>
              </a:prstGeom>
              <a:blipFill>
                <a:blip r:embed="rId10"/>
                <a:stretch>
                  <a:fillRect/>
                </a:stretch>
              </a:blipFill>
            </p:spPr>
            <p:txBody>
              <a:bodyPr/>
              <a:lstStyle/>
              <a:p>
                <a:r>
                  <a:rPr lang="en-US">
                    <a:noFill/>
                  </a:rPr>
                  <a:t> </a:t>
                </a:r>
              </a:p>
            </p:txBody>
          </p:sp>
        </mc:Fallback>
      </mc:AlternateContent>
      <p:sp>
        <p:nvSpPr>
          <p:cNvPr id="155" name="Oval 154">
            <a:extLst>
              <a:ext uri="{FF2B5EF4-FFF2-40B4-BE49-F238E27FC236}">
                <a16:creationId xmlns:a16="http://schemas.microsoft.com/office/drawing/2014/main" id="{6BFBA489-71D1-67EA-CDF4-7579A494169A}"/>
              </a:ext>
            </a:extLst>
          </p:cNvPr>
          <p:cNvSpPr/>
          <p:nvPr/>
        </p:nvSpPr>
        <p:spPr>
          <a:xfrm>
            <a:off x="5022435" y="1461084"/>
            <a:ext cx="699771" cy="64008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A </a:t>
            </a:r>
          </a:p>
        </p:txBody>
      </p:sp>
      <p:sp>
        <p:nvSpPr>
          <p:cNvPr id="156" name="Oval 155">
            <a:extLst>
              <a:ext uri="{FF2B5EF4-FFF2-40B4-BE49-F238E27FC236}">
                <a16:creationId xmlns:a16="http://schemas.microsoft.com/office/drawing/2014/main" id="{C2C0D6F5-EC55-E3F0-B341-BA3133A738F7}"/>
              </a:ext>
            </a:extLst>
          </p:cNvPr>
          <p:cNvSpPr/>
          <p:nvPr/>
        </p:nvSpPr>
        <p:spPr>
          <a:xfrm>
            <a:off x="6214434" y="1471654"/>
            <a:ext cx="699771" cy="64008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B</a:t>
            </a:r>
          </a:p>
        </p:txBody>
      </p:sp>
      <p:sp>
        <p:nvSpPr>
          <p:cNvPr id="157" name="TextBox 156">
            <a:extLst>
              <a:ext uri="{FF2B5EF4-FFF2-40B4-BE49-F238E27FC236}">
                <a16:creationId xmlns:a16="http://schemas.microsoft.com/office/drawing/2014/main" id="{E92720B9-D7EF-E39F-2F0A-3D19086A9DD1}"/>
              </a:ext>
            </a:extLst>
          </p:cNvPr>
          <p:cNvSpPr txBox="1"/>
          <p:nvPr/>
        </p:nvSpPr>
        <p:spPr>
          <a:xfrm>
            <a:off x="1015051" y="137480"/>
            <a:ext cx="441487" cy="373633"/>
          </a:xfrm>
          <a:prstGeom prst="rect">
            <a:avLst/>
          </a:prstGeom>
          <a:noFill/>
        </p:spPr>
        <p:txBody>
          <a:bodyPr wrap="square" rtlCol="0">
            <a:spAutoFit/>
          </a:bodyPr>
          <a:lstStyle/>
          <a:p>
            <a:r>
              <a:rPr lang="en-US" dirty="0"/>
              <a:t>A</a:t>
            </a:r>
          </a:p>
        </p:txBody>
      </p:sp>
      <p:sp>
        <p:nvSpPr>
          <p:cNvPr id="158" name="TextBox 157">
            <a:extLst>
              <a:ext uri="{FF2B5EF4-FFF2-40B4-BE49-F238E27FC236}">
                <a16:creationId xmlns:a16="http://schemas.microsoft.com/office/drawing/2014/main" id="{77E3C85F-9424-7841-4028-B2CF8867642E}"/>
              </a:ext>
            </a:extLst>
          </p:cNvPr>
          <p:cNvSpPr txBox="1"/>
          <p:nvPr/>
        </p:nvSpPr>
        <p:spPr>
          <a:xfrm>
            <a:off x="2793228" y="98351"/>
            <a:ext cx="441487" cy="373633"/>
          </a:xfrm>
          <a:prstGeom prst="rect">
            <a:avLst/>
          </a:prstGeom>
          <a:noFill/>
        </p:spPr>
        <p:txBody>
          <a:bodyPr wrap="square" rtlCol="0">
            <a:spAutoFit/>
          </a:bodyPr>
          <a:lstStyle/>
          <a:p>
            <a:r>
              <a:rPr lang="en-US" dirty="0"/>
              <a:t>B</a:t>
            </a:r>
          </a:p>
        </p:txBody>
      </p:sp>
      <p:cxnSp>
        <p:nvCxnSpPr>
          <p:cNvPr id="159" name="Straight Arrow Connector 158">
            <a:extLst>
              <a:ext uri="{FF2B5EF4-FFF2-40B4-BE49-F238E27FC236}">
                <a16:creationId xmlns:a16="http://schemas.microsoft.com/office/drawing/2014/main" id="{3D777982-2399-D482-4F95-169C685039E5}"/>
              </a:ext>
            </a:extLst>
          </p:cNvPr>
          <p:cNvCxnSpPr>
            <a:cxnSpLocks/>
            <a:stCxn id="149" idx="3"/>
            <a:endCxn id="155" idx="0"/>
          </p:cNvCxnSpPr>
          <p:nvPr/>
        </p:nvCxnSpPr>
        <p:spPr>
          <a:xfrm flipH="1">
            <a:off x="5372321" y="1176846"/>
            <a:ext cx="332450" cy="2842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0" name="Straight Arrow Connector 159">
            <a:extLst>
              <a:ext uri="{FF2B5EF4-FFF2-40B4-BE49-F238E27FC236}">
                <a16:creationId xmlns:a16="http://schemas.microsoft.com/office/drawing/2014/main" id="{635650E8-EDF3-3F6C-1AC4-4EA921CD99E2}"/>
              </a:ext>
            </a:extLst>
          </p:cNvPr>
          <p:cNvCxnSpPr>
            <a:cxnSpLocks/>
            <a:stCxn id="149" idx="5"/>
            <a:endCxn id="156" idx="0"/>
          </p:cNvCxnSpPr>
          <p:nvPr/>
        </p:nvCxnSpPr>
        <p:spPr>
          <a:xfrm>
            <a:off x="6199584" y="1176846"/>
            <a:ext cx="364736" cy="2948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2" name="Straight Connector 161">
            <a:extLst>
              <a:ext uri="{FF2B5EF4-FFF2-40B4-BE49-F238E27FC236}">
                <a16:creationId xmlns:a16="http://schemas.microsoft.com/office/drawing/2014/main" id="{A9DB9609-B020-3F07-9875-CF5775AE5CD0}"/>
              </a:ext>
            </a:extLst>
          </p:cNvPr>
          <p:cNvCxnSpPr>
            <a:cxnSpLocks/>
          </p:cNvCxnSpPr>
          <p:nvPr/>
        </p:nvCxnSpPr>
        <p:spPr>
          <a:xfrm rot="5400000">
            <a:off x="3013473" y="4496725"/>
            <a:ext cx="0" cy="164592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63" name="TextBox 162">
                <a:extLst>
                  <a:ext uri="{FF2B5EF4-FFF2-40B4-BE49-F238E27FC236}">
                    <a16:creationId xmlns:a16="http://schemas.microsoft.com/office/drawing/2014/main" id="{56FF6FA5-061C-1D4C-AE2C-63899DBC6622}"/>
                  </a:ext>
                </a:extLst>
              </p:cNvPr>
              <p:cNvSpPr txBox="1"/>
              <p:nvPr/>
            </p:nvSpPr>
            <p:spPr>
              <a:xfrm>
                <a:off x="-243371" y="5036459"/>
                <a:ext cx="1311636" cy="369332"/>
              </a:xfrm>
              <a:prstGeom prst="rect">
                <a:avLst/>
              </a:prstGeom>
              <a:noFill/>
            </p:spPr>
            <p:txBody>
              <a:bodyPr wrap="square" rtlCol="0">
                <a:spAutoFit/>
              </a:bodyPr>
              <a:lstStyle/>
              <a:p>
                <a:pPr algn="ct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oMath>
                </a14:m>
                <a:r>
                  <a:rPr lang="en-US" dirty="0"/>
                  <a:t> </a:t>
                </a:r>
              </a:p>
            </p:txBody>
          </p:sp>
        </mc:Choice>
        <mc:Fallback xmlns="">
          <p:sp>
            <p:nvSpPr>
              <p:cNvPr id="163" name="TextBox 162">
                <a:extLst>
                  <a:ext uri="{FF2B5EF4-FFF2-40B4-BE49-F238E27FC236}">
                    <a16:creationId xmlns:a16="http://schemas.microsoft.com/office/drawing/2014/main" id="{56FF6FA5-061C-1D4C-AE2C-63899DBC6622}"/>
                  </a:ext>
                </a:extLst>
              </p:cNvPr>
              <p:cNvSpPr txBox="1">
                <a:spLocks noRot="1" noChangeAspect="1" noMove="1" noResize="1" noEditPoints="1" noAdjustHandles="1" noChangeArrowheads="1" noChangeShapeType="1" noTextEdit="1"/>
              </p:cNvSpPr>
              <p:nvPr/>
            </p:nvSpPr>
            <p:spPr>
              <a:xfrm>
                <a:off x="-243371" y="5036459"/>
                <a:ext cx="1311636" cy="369332"/>
              </a:xfrm>
              <a:prstGeom prst="rect">
                <a:avLst/>
              </a:prstGeom>
              <a:blipFill>
                <a:blip r:embed="rId11"/>
                <a:stretch>
                  <a:fillRect/>
                </a:stretch>
              </a:blipFill>
            </p:spPr>
            <p:txBody>
              <a:bodyPr/>
              <a:lstStyle/>
              <a:p>
                <a:r>
                  <a:rPr lang="en-US">
                    <a:noFill/>
                  </a:rPr>
                  <a:t> </a:t>
                </a:r>
              </a:p>
            </p:txBody>
          </p:sp>
        </mc:Fallback>
      </mc:AlternateContent>
      <p:sp>
        <p:nvSpPr>
          <p:cNvPr id="164" name="TextBox 163">
            <a:extLst>
              <a:ext uri="{FF2B5EF4-FFF2-40B4-BE49-F238E27FC236}">
                <a16:creationId xmlns:a16="http://schemas.microsoft.com/office/drawing/2014/main" id="{1061953A-9B96-AF37-BCC2-ED1C69A3AF94}"/>
              </a:ext>
            </a:extLst>
          </p:cNvPr>
          <p:cNvSpPr txBox="1"/>
          <p:nvPr/>
        </p:nvSpPr>
        <p:spPr>
          <a:xfrm>
            <a:off x="3458646" y="5382694"/>
            <a:ext cx="441487" cy="373633"/>
          </a:xfrm>
          <a:prstGeom prst="rect">
            <a:avLst/>
          </a:prstGeom>
          <a:noFill/>
        </p:spPr>
        <p:txBody>
          <a:bodyPr wrap="square" rtlCol="0">
            <a:spAutoFit/>
          </a:bodyPr>
          <a:lstStyle/>
          <a:p>
            <a:r>
              <a:rPr lang="en-US" dirty="0"/>
              <a:t>C</a:t>
            </a:r>
          </a:p>
        </p:txBody>
      </p:sp>
      <p:sp>
        <p:nvSpPr>
          <p:cNvPr id="165" name="TextBox 164">
            <a:extLst>
              <a:ext uri="{FF2B5EF4-FFF2-40B4-BE49-F238E27FC236}">
                <a16:creationId xmlns:a16="http://schemas.microsoft.com/office/drawing/2014/main" id="{3C38275E-18D9-D0F9-1DA4-A6CE1CE68780}"/>
              </a:ext>
            </a:extLst>
          </p:cNvPr>
          <p:cNvSpPr txBox="1"/>
          <p:nvPr/>
        </p:nvSpPr>
        <p:spPr>
          <a:xfrm>
            <a:off x="3456726" y="3500966"/>
            <a:ext cx="441487" cy="373633"/>
          </a:xfrm>
          <a:prstGeom prst="rect">
            <a:avLst/>
          </a:prstGeom>
          <a:noFill/>
        </p:spPr>
        <p:txBody>
          <a:bodyPr wrap="square" rtlCol="0">
            <a:spAutoFit/>
          </a:bodyPr>
          <a:lstStyle/>
          <a:p>
            <a:r>
              <a:rPr lang="en-US" dirty="0"/>
              <a:t>D</a:t>
            </a:r>
          </a:p>
        </p:txBody>
      </p:sp>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CA2AC14E-C564-C294-3771-5489CF49C350}"/>
                  </a:ext>
                </a:extLst>
              </p:cNvPr>
              <p:cNvSpPr txBox="1"/>
              <p:nvPr/>
            </p:nvSpPr>
            <p:spPr>
              <a:xfrm>
                <a:off x="5857534" y="5050996"/>
                <a:ext cx="1636410"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2</m:t>
                          </m:r>
                        </m:sub>
                      </m:sSub>
                      <m:r>
                        <a:rPr lang="en-US" sz="1600" i="1" smtClean="0">
                          <a:latin typeface="Cambria Math" panose="02040503050406030204" pitchFamily="18" charset="0"/>
                          <a:ea typeface="Cambria Math" panose="02040503050406030204" pitchFamily="18" charset="0"/>
                        </a:rPr>
                        <m:t>≤</m:t>
                      </m:r>
                      <m:sSub>
                        <m:sSubPr>
                          <m:ctrlPr>
                            <a:rPr lang="en-US" sz="1600" i="1" smtClean="0">
                              <a:latin typeface="Cambria Math" panose="02040503050406030204" pitchFamily="18" charset="0"/>
                              <a:ea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𝜃</m:t>
                          </m:r>
                        </m:e>
                        <m:sub>
                          <m:r>
                            <a:rPr lang="en-US" sz="1600" b="0" i="1" smtClean="0">
                              <a:latin typeface="Cambria Math" panose="02040503050406030204" pitchFamily="18" charset="0"/>
                              <a:ea typeface="Cambria Math" panose="02040503050406030204" pitchFamily="18" charset="0"/>
                            </a:rPr>
                            <m:t>2</m:t>
                          </m:r>
                        </m:sub>
                      </m:sSub>
                    </m:oMath>
                  </m:oMathPara>
                </a14:m>
                <a:endParaRPr lang="en-US" sz="1600" dirty="0"/>
              </a:p>
            </p:txBody>
          </p:sp>
        </mc:Choice>
        <mc:Fallback xmlns="">
          <p:sp>
            <p:nvSpPr>
              <p:cNvPr id="166" name="TextBox 165">
                <a:extLst>
                  <a:ext uri="{FF2B5EF4-FFF2-40B4-BE49-F238E27FC236}">
                    <a16:creationId xmlns:a16="http://schemas.microsoft.com/office/drawing/2014/main" id="{CA2AC14E-C564-C294-3771-5489CF49C350}"/>
                  </a:ext>
                </a:extLst>
              </p:cNvPr>
              <p:cNvSpPr txBox="1">
                <a:spLocks noRot="1" noChangeAspect="1" noMove="1" noResize="1" noEditPoints="1" noAdjustHandles="1" noChangeArrowheads="1" noChangeShapeType="1" noTextEdit="1"/>
              </p:cNvSpPr>
              <p:nvPr/>
            </p:nvSpPr>
            <p:spPr>
              <a:xfrm>
                <a:off x="5857534" y="5050996"/>
                <a:ext cx="1636410" cy="338554"/>
              </a:xfrm>
              <a:prstGeom prst="rect">
                <a:avLst/>
              </a:prstGeom>
              <a:blipFill>
                <a:blip r:embed="rId12"/>
                <a:stretch>
                  <a:fillRect/>
                </a:stretch>
              </a:blipFill>
            </p:spPr>
            <p:txBody>
              <a:bodyPr/>
              <a:lstStyle/>
              <a:p>
                <a:r>
                  <a:rPr lang="en-US">
                    <a:noFill/>
                  </a:rPr>
                  <a:t> </a:t>
                </a:r>
              </a:p>
            </p:txBody>
          </p:sp>
        </mc:Fallback>
      </mc:AlternateContent>
      <p:cxnSp>
        <p:nvCxnSpPr>
          <p:cNvPr id="167" name="Straight Arrow Connector 166">
            <a:extLst>
              <a:ext uri="{FF2B5EF4-FFF2-40B4-BE49-F238E27FC236}">
                <a16:creationId xmlns:a16="http://schemas.microsoft.com/office/drawing/2014/main" id="{9D19C808-4762-48EE-D439-02E7F1A139B8}"/>
              </a:ext>
            </a:extLst>
          </p:cNvPr>
          <p:cNvCxnSpPr>
            <a:cxnSpLocks/>
          </p:cNvCxnSpPr>
          <p:nvPr/>
        </p:nvCxnSpPr>
        <p:spPr>
          <a:xfrm flipH="1">
            <a:off x="5457261" y="4608989"/>
            <a:ext cx="332450" cy="2842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a:extLst>
              <a:ext uri="{FF2B5EF4-FFF2-40B4-BE49-F238E27FC236}">
                <a16:creationId xmlns:a16="http://schemas.microsoft.com/office/drawing/2014/main" id="{6F73F41A-EBF8-17B9-3F5A-1C4EF176E8D7}"/>
              </a:ext>
            </a:extLst>
          </p:cNvPr>
          <p:cNvCxnSpPr>
            <a:cxnSpLocks/>
          </p:cNvCxnSpPr>
          <p:nvPr/>
        </p:nvCxnSpPr>
        <p:spPr>
          <a:xfrm>
            <a:off x="6284524" y="4608989"/>
            <a:ext cx="364736" cy="2948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9" name="Oval 168">
            <a:extLst>
              <a:ext uri="{FF2B5EF4-FFF2-40B4-BE49-F238E27FC236}">
                <a16:creationId xmlns:a16="http://schemas.microsoft.com/office/drawing/2014/main" id="{F5F807FA-34BC-6F25-4C30-BC21C9F63B3E}"/>
              </a:ext>
            </a:extLst>
          </p:cNvPr>
          <p:cNvSpPr/>
          <p:nvPr/>
        </p:nvSpPr>
        <p:spPr>
          <a:xfrm>
            <a:off x="5910626" y="5825089"/>
            <a:ext cx="699771" cy="64008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C</a:t>
            </a:r>
          </a:p>
        </p:txBody>
      </p:sp>
      <p:cxnSp>
        <p:nvCxnSpPr>
          <p:cNvPr id="170" name="Straight Arrow Connector 169">
            <a:extLst>
              <a:ext uri="{FF2B5EF4-FFF2-40B4-BE49-F238E27FC236}">
                <a16:creationId xmlns:a16="http://schemas.microsoft.com/office/drawing/2014/main" id="{69E6EDCC-AA99-93FE-5A5A-DE5FC96ED988}"/>
              </a:ext>
            </a:extLst>
          </p:cNvPr>
          <p:cNvCxnSpPr>
            <a:cxnSpLocks/>
            <a:stCxn id="123" idx="3"/>
            <a:endCxn id="169" idx="0"/>
          </p:cNvCxnSpPr>
          <p:nvPr/>
        </p:nvCxnSpPr>
        <p:spPr>
          <a:xfrm flipH="1">
            <a:off x="6260512" y="5450139"/>
            <a:ext cx="141342" cy="3749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1" name="Straight Arrow Connector 170">
            <a:extLst>
              <a:ext uri="{FF2B5EF4-FFF2-40B4-BE49-F238E27FC236}">
                <a16:creationId xmlns:a16="http://schemas.microsoft.com/office/drawing/2014/main" id="{C86EF9E3-5087-B21B-A30C-9E17E55E73BF}"/>
              </a:ext>
            </a:extLst>
          </p:cNvPr>
          <p:cNvCxnSpPr>
            <a:cxnSpLocks/>
            <a:stCxn id="123" idx="5"/>
            <a:endCxn id="172" idx="0"/>
          </p:cNvCxnSpPr>
          <p:nvPr/>
        </p:nvCxnSpPr>
        <p:spPr>
          <a:xfrm>
            <a:off x="6896667" y="5450139"/>
            <a:ext cx="293483" cy="3749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2" name="Oval 171">
            <a:extLst>
              <a:ext uri="{FF2B5EF4-FFF2-40B4-BE49-F238E27FC236}">
                <a16:creationId xmlns:a16="http://schemas.microsoft.com/office/drawing/2014/main" id="{C33187BF-7E22-51E1-87CC-FEE7E8562644}"/>
              </a:ext>
            </a:extLst>
          </p:cNvPr>
          <p:cNvSpPr/>
          <p:nvPr/>
        </p:nvSpPr>
        <p:spPr>
          <a:xfrm>
            <a:off x="6840264" y="5825089"/>
            <a:ext cx="699771" cy="64008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D</a:t>
            </a:r>
          </a:p>
        </p:txBody>
      </p:sp>
    </p:spTree>
    <p:extLst>
      <p:ext uri="{BB962C8B-B14F-4D97-AF65-F5344CB8AC3E}">
        <p14:creationId xmlns:p14="http://schemas.microsoft.com/office/powerpoint/2010/main" val="3587546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12F0C-4BFF-003A-1738-782E2F48C43D}"/>
              </a:ext>
            </a:extLst>
          </p:cNvPr>
          <p:cNvSpPr>
            <a:spLocks noGrp="1"/>
          </p:cNvSpPr>
          <p:nvPr>
            <p:ph type="title"/>
          </p:nvPr>
        </p:nvSpPr>
        <p:spPr/>
        <p:txBody>
          <a:bodyPr/>
          <a:lstStyle/>
          <a:p>
            <a:r>
              <a:rPr lang="en-US" b="1" dirty="0"/>
              <a:t>Prediction Phase</a:t>
            </a:r>
          </a:p>
        </p:txBody>
      </p:sp>
      <p:sp>
        <p:nvSpPr>
          <p:cNvPr id="3" name="Text Placeholder 2">
            <a:extLst>
              <a:ext uri="{FF2B5EF4-FFF2-40B4-BE49-F238E27FC236}">
                <a16:creationId xmlns:a16="http://schemas.microsoft.com/office/drawing/2014/main" id="{BC658C1F-A8F9-AE1A-9930-BF180F14CBC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56016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CFF28-B1E7-497E-ACF4-E0FA5DBE7DEC}"/>
              </a:ext>
            </a:extLst>
          </p:cNvPr>
          <p:cNvSpPr>
            <a:spLocks noGrp="1"/>
          </p:cNvSpPr>
          <p:nvPr>
            <p:ph type="title"/>
          </p:nvPr>
        </p:nvSpPr>
        <p:spPr/>
        <p:txBody>
          <a:bodyPr/>
          <a:lstStyle/>
          <a:p>
            <a:r>
              <a:rPr lang="en-US" b="1" dirty="0"/>
              <a:t>Prediction Phase</a:t>
            </a:r>
          </a:p>
        </p:txBody>
      </p:sp>
      <p:sp>
        <p:nvSpPr>
          <p:cNvPr id="3" name="Content Placeholder 2">
            <a:extLst>
              <a:ext uri="{FF2B5EF4-FFF2-40B4-BE49-F238E27FC236}">
                <a16:creationId xmlns:a16="http://schemas.microsoft.com/office/drawing/2014/main" id="{BD3802BA-8B16-4F69-9485-FF58AC371280}"/>
              </a:ext>
            </a:extLst>
          </p:cNvPr>
          <p:cNvSpPr>
            <a:spLocks noGrp="1"/>
          </p:cNvSpPr>
          <p:nvPr>
            <p:ph idx="1"/>
          </p:nvPr>
        </p:nvSpPr>
        <p:spPr/>
        <p:txBody>
          <a:bodyPr/>
          <a:lstStyle/>
          <a:p>
            <a:r>
              <a:rPr lang="en-US" dirty="0"/>
              <a:t>Prediction phase is simple, we just need to traverse the tree.</a:t>
            </a:r>
          </a:p>
        </p:txBody>
      </p:sp>
      <mc:AlternateContent xmlns:mc="http://schemas.openxmlformats.org/markup-compatibility/2006" xmlns:a14="http://schemas.microsoft.com/office/drawing/2010/main">
        <mc:Choice Requires="a14">
          <p:sp>
            <p:nvSpPr>
              <p:cNvPr id="4" name="Rectangle: Rounded Corners 3">
                <a:extLst>
                  <a:ext uri="{FF2B5EF4-FFF2-40B4-BE49-F238E27FC236}">
                    <a16:creationId xmlns:a16="http://schemas.microsoft.com/office/drawing/2014/main" id="{248F69F3-9645-DAF8-6059-FE612AAAF6D7}"/>
                  </a:ext>
                </a:extLst>
              </p:cNvPr>
              <p:cNvSpPr/>
              <p:nvPr/>
            </p:nvSpPr>
            <p:spPr>
              <a:xfrm>
                <a:off x="2266055" y="2463165"/>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oMath>
                  </m:oMathPara>
                </a14:m>
                <a:endParaRPr lang="en-US" dirty="0"/>
              </a:p>
            </p:txBody>
          </p:sp>
        </mc:Choice>
        <mc:Fallback xmlns="">
          <p:sp>
            <p:nvSpPr>
              <p:cNvPr id="4" name="Rectangle: Rounded Corners 3">
                <a:extLst>
                  <a:ext uri="{FF2B5EF4-FFF2-40B4-BE49-F238E27FC236}">
                    <a16:creationId xmlns:a16="http://schemas.microsoft.com/office/drawing/2014/main" id="{248F69F3-9645-DAF8-6059-FE612AAAF6D7}"/>
                  </a:ext>
                </a:extLst>
              </p:cNvPr>
              <p:cNvSpPr>
                <a:spLocks noRot="1" noChangeAspect="1" noMove="1" noResize="1" noEditPoints="1" noAdjustHandles="1" noChangeArrowheads="1" noChangeShapeType="1" noTextEdit="1"/>
              </p:cNvSpPr>
              <p:nvPr/>
            </p:nvSpPr>
            <p:spPr>
              <a:xfrm>
                <a:off x="2266055" y="2463165"/>
                <a:ext cx="1253447" cy="760288"/>
              </a:xfrm>
              <a:prstGeom prst="round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Rounded Corners 4">
                <a:extLst>
                  <a:ext uri="{FF2B5EF4-FFF2-40B4-BE49-F238E27FC236}">
                    <a16:creationId xmlns:a16="http://schemas.microsoft.com/office/drawing/2014/main" id="{2EC3BCB3-FEE2-F955-A7A1-6C6550328560}"/>
                  </a:ext>
                </a:extLst>
              </p:cNvPr>
              <p:cNvSpPr/>
              <p:nvPr/>
            </p:nvSpPr>
            <p:spPr>
              <a:xfrm>
                <a:off x="944936" y="3510066"/>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oMath>
                  </m:oMathPara>
                </a14:m>
                <a:endParaRPr lang="en-US" dirty="0"/>
              </a:p>
            </p:txBody>
          </p:sp>
        </mc:Choice>
        <mc:Fallback xmlns="">
          <p:sp>
            <p:nvSpPr>
              <p:cNvPr id="5" name="Rectangle: Rounded Corners 4">
                <a:extLst>
                  <a:ext uri="{FF2B5EF4-FFF2-40B4-BE49-F238E27FC236}">
                    <a16:creationId xmlns:a16="http://schemas.microsoft.com/office/drawing/2014/main" id="{2EC3BCB3-FEE2-F955-A7A1-6C6550328560}"/>
                  </a:ext>
                </a:extLst>
              </p:cNvPr>
              <p:cNvSpPr>
                <a:spLocks noRot="1" noChangeAspect="1" noMove="1" noResize="1" noEditPoints="1" noAdjustHandles="1" noChangeArrowheads="1" noChangeShapeType="1" noTextEdit="1"/>
              </p:cNvSpPr>
              <p:nvPr/>
            </p:nvSpPr>
            <p:spPr>
              <a:xfrm>
                <a:off x="944936" y="3510066"/>
                <a:ext cx="1253447" cy="760288"/>
              </a:xfrm>
              <a:prstGeom prst="round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Rounded Corners 5">
                <a:extLst>
                  <a:ext uri="{FF2B5EF4-FFF2-40B4-BE49-F238E27FC236}">
                    <a16:creationId xmlns:a16="http://schemas.microsoft.com/office/drawing/2014/main" id="{B8728C3F-1460-00E0-FFB1-0AB727754B65}"/>
                  </a:ext>
                </a:extLst>
              </p:cNvPr>
              <p:cNvSpPr/>
              <p:nvPr/>
            </p:nvSpPr>
            <p:spPr>
              <a:xfrm>
                <a:off x="3558258" y="3510066"/>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5</m:t>
                      </m:r>
                    </m:oMath>
                  </m:oMathPara>
                </a14:m>
                <a:endParaRPr lang="en-US" dirty="0"/>
              </a:p>
            </p:txBody>
          </p:sp>
        </mc:Choice>
        <mc:Fallback xmlns="">
          <p:sp>
            <p:nvSpPr>
              <p:cNvPr id="6" name="Rectangle: Rounded Corners 5">
                <a:extLst>
                  <a:ext uri="{FF2B5EF4-FFF2-40B4-BE49-F238E27FC236}">
                    <a16:creationId xmlns:a16="http://schemas.microsoft.com/office/drawing/2014/main" id="{B8728C3F-1460-00E0-FFB1-0AB727754B65}"/>
                  </a:ext>
                </a:extLst>
              </p:cNvPr>
              <p:cNvSpPr>
                <a:spLocks noRot="1" noChangeAspect="1" noMove="1" noResize="1" noEditPoints="1" noAdjustHandles="1" noChangeArrowheads="1" noChangeShapeType="1" noTextEdit="1"/>
              </p:cNvSpPr>
              <p:nvPr/>
            </p:nvSpPr>
            <p:spPr>
              <a:xfrm>
                <a:off x="3558258" y="3510066"/>
                <a:ext cx="1253447" cy="760288"/>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Rounded Corners 6">
                <a:extLst>
                  <a:ext uri="{FF2B5EF4-FFF2-40B4-BE49-F238E27FC236}">
                    <a16:creationId xmlns:a16="http://schemas.microsoft.com/office/drawing/2014/main" id="{A9F7595A-11F9-6875-0BCD-5D894FC1D985}"/>
                  </a:ext>
                </a:extLst>
              </p:cNvPr>
              <p:cNvSpPr/>
              <p:nvPr/>
            </p:nvSpPr>
            <p:spPr>
              <a:xfrm>
                <a:off x="3168116" y="4720911"/>
                <a:ext cx="1253447" cy="76028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≤6</m:t>
                      </m:r>
                    </m:oMath>
                  </m:oMathPara>
                </a14:m>
                <a:endParaRPr lang="en-US" dirty="0"/>
              </a:p>
            </p:txBody>
          </p:sp>
        </mc:Choice>
        <mc:Fallback xmlns="">
          <p:sp>
            <p:nvSpPr>
              <p:cNvPr id="7" name="Rectangle: Rounded Corners 6">
                <a:extLst>
                  <a:ext uri="{FF2B5EF4-FFF2-40B4-BE49-F238E27FC236}">
                    <a16:creationId xmlns:a16="http://schemas.microsoft.com/office/drawing/2014/main" id="{A9F7595A-11F9-6875-0BCD-5D894FC1D985}"/>
                  </a:ext>
                </a:extLst>
              </p:cNvPr>
              <p:cNvSpPr>
                <a:spLocks noRot="1" noChangeAspect="1" noMove="1" noResize="1" noEditPoints="1" noAdjustHandles="1" noChangeArrowheads="1" noChangeShapeType="1" noTextEdit="1"/>
              </p:cNvSpPr>
              <p:nvPr/>
            </p:nvSpPr>
            <p:spPr>
              <a:xfrm>
                <a:off x="3168116" y="4720911"/>
                <a:ext cx="1253447" cy="760288"/>
              </a:xfrm>
              <a:prstGeom prst="roundRect">
                <a:avLst/>
              </a:prstGeom>
              <a:blipFill>
                <a:blip r:embed="rId5"/>
                <a:stretch>
                  <a:fillRect/>
                </a:stretch>
              </a:blipFill>
            </p:spPr>
            <p:txBody>
              <a:bodyPr/>
              <a:lstStyle/>
              <a:p>
                <a:r>
                  <a:rPr lang="en-US">
                    <a:noFill/>
                  </a:rPr>
                  <a:t> </a:t>
                </a:r>
              </a:p>
            </p:txBody>
          </p:sp>
        </mc:Fallback>
      </mc:AlternateContent>
      <p:sp>
        <p:nvSpPr>
          <p:cNvPr id="8" name="Rectangle: Rounded Corners 7">
            <a:extLst>
              <a:ext uri="{FF2B5EF4-FFF2-40B4-BE49-F238E27FC236}">
                <a16:creationId xmlns:a16="http://schemas.microsoft.com/office/drawing/2014/main" id="{A7585D8B-FC7F-7D1D-8069-69B2A8BB6AE9}"/>
              </a:ext>
            </a:extLst>
          </p:cNvPr>
          <p:cNvSpPr/>
          <p:nvPr/>
        </p:nvSpPr>
        <p:spPr>
          <a:xfrm>
            <a:off x="462307" y="4720911"/>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A : 0</a:t>
            </a:r>
          </a:p>
        </p:txBody>
      </p:sp>
      <p:sp>
        <p:nvSpPr>
          <p:cNvPr id="9" name="Rectangle: Rounded Corners 8">
            <a:extLst>
              <a:ext uri="{FF2B5EF4-FFF2-40B4-BE49-F238E27FC236}">
                <a16:creationId xmlns:a16="http://schemas.microsoft.com/office/drawing/2014/main" id="{C2AF7914-4E34-D10F-A5BE-E433D723032B}"/>
              </a:ext>
            </a:extLst>
          </p:cNvPr>
          <p:cNvSpPr/>
          <p:nvPr/>
        </p:nvSpPr>
        <p:spPr>
          <a:xfrm>
            <a:off x="1830953" y="4720911"/>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B : 2</a:t>
            </a:r>
          </a:p>
        </p:txBody>
      </p:sp>
      <p:sp>
        <p:nvSpPr>
          <p:cNvPr id="10" name="Rectangle: Rounded Corners 9">
            <a:extLst>
              <a:ext uri="{FF2B5EF4-FFF2-40B4-BE49-F238E27FC236}">
                <a16:creationId xmlns:a16="http://schemas.microsoft.com/office/drawing/2014/main" id="{6755D008-D4BF-5660-9795-D5DE720C3DC3}"/>
              </a:ext>
            </a:extLst>
          </p:cNvPr>
          <p:cNvSpPr/>
          <p:nvPr/>
        </p:nvSpPr>
        <p:spPr>
          <a:xfrm>
            <a:off x="4635506" y="4720911"/>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E : 1</a:t>
            </a:r>
          </a:p>
        </p:txBody>
      </p:sp>
      <p:sp>
        <p:nvSpPr>
          <p:cNvPr id="11" name="Rectangle: Rounded Corners 10">
            <a:extLst>
              <a:ext uri="{FF2B5EF4-FFF2-40B4-BE49-F238E27FC236}">
                <a16:creationId xmlns:a16="http://schemas.microsoft.com/office/drawing/2014/main" id="{90DBEA3A-C6CF-531C-9500-9BADDBF8D4C4}"/>
              </a:ext>
            </a:extLst>
          </p:cNvPr>
          <p:cNvSpPr/>
          <p:nvPr/>
        </p:nvSpPr>
        <p:spPr>
          <a:xfrm>
            <a:off x="2814464" y="5931756"/>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C : 1</a:t>
            </a:r>
          </a:p>
        </p:txBody>
      </p:sp>
      <p:sp>
        <p:nvSpPr>
          <p:cNvPr id="12" name="Rectangle: Rounded Corners 11">
            <a:extLst>
              <a:ext uri="{FF2B5EF4-FFF2-40B4-BE49-F238E27FC236}">
                <a16:creationId xmlns:a16="http://schemas.microsoft.com/office/drawing/2014/main" id="{AC32DBB6-44CE-2C22-47D7-A1574BD87868}"/>
              </a:ext>
            </a:extLst>
          </p:cNvPr>
          <p:cNvSpPr/>
          <p:nvPr/>
        </p:nvSpPr>
        <p:spPr>
          <a:xfrm>
            <a:off x="3961525" y="5931756"/>
            <a:ext cx="965257" cy="76028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D : 2</a:t>
            </a:r>
          </a:p>
        </p:txBody>
      </p:sp>
      <p:cxnSp>
        <p:nvCxnSpPr>
          <p:cNvPr id="13" name="Straight Arrow Connector 12">
            <a:extLst>
              <a:ext uri="{FF2B5EF4-FFF2-40B4-BE49-F238E27FC236}">
                <a16:creationId xmlns:a16="http://schemas.microsoft.com/office/drawing/2014/main" id="{AEEA1E06-9B40-AC40-DF7D-14FCBAFBA479}"/>
              </a:ext>
            </a:extLst>
          </p:cNvPr>
          <p:cNvCxnSpPr>
            <a:cxnSpLocks/>
            <a:endCxn id="5" idx="0"/>
          </p:cNvCxnSpPr>
          <p:nvPr/>
        </p:nvCxnSpPr>
        <p:spPr>
          <a:xfrm flipH="1">
            <a:off x="1571660" y="3223453"/>
            <a:ext cx="961523"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A57850C5-2B6A-E08E-1144-5C990E4F6FB3}"/>
              </a:ext>
            </a:extLst>
          </p:cNvPr>
          <p:cNvCxnSpPr>
            <a:cxnSpLocks/>
            <a:endCxn id="6" idx="0"/>
          </p:cNvCxnSpPr>
          <p:nvPr/>
        </p:nvCxnSpPr>
        <p:spPr>
          <a:xfrm>
            <a:off x="3297092" y="3223453"/>
            <a:ext cx="887890" cy="286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2FA00B7C-EB8B-1903-2B58-C3C28BBA9FD8}"/>
              </a:ext>
            </a:extLst>
          </p:cNvPr>
          <p:cNvCxnSpPr>
            <a:cxnSpLocks/>
            <a:endCxn id="8" idx="0"/>
          </p:cNvCxnSpPr>
          <p:nvPr/>
        </p:nvCxnSpPr>
        <p:spPr>
          <a:xfrm flipH="1">
            <a:off x="944936" y="4270354"/>
            <a:ext cx="197237"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3C559B2D-B544-F534-4859-36E068DD636C}"/>
              </a:ext>
            </a:extLst>
          </p:cNvPr>
          <p:cNvCxnSpPr>
            <a:cxnSpLocks/>
            <a:endCxn id="9" idx="0"/>
          </p:cNvCxnSpPr>
          <p:nvPr/>
        </p:nvCxnSpPr>
        <p:spPr>
          <a:xfrm>
            <a:off x="2008883" y="4270354"/>
            <a:ext cx="304699"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A1C032D8-D109-F838-D329-3A448378816F}"/>
              </a:ext>
            </a:extLst>
          </p:cNvPr>
          <p:cNvCxnSpPr>
            <a:cxnSpLocks/>
          </p:cNvCxnSpPr>
          <p:nvPr/>
        </p:nvCxnSpPr>
        <p:spPr>
          <a:xfrm flipH="1">
            <a:off x="3817745" y="4270354"/>
            <a:ext cx="132632"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9D62B722-6605-B06C-6F27-6C1E8BC05417}"/>
              </a:ext>
            </a:extLst>
          </p:cNvPr>
          <p:cNvCxnSpPr>
            <a:cxnSpLocks/>
            <a:endCxn id="10" idx="0"/>
          </p:cNvCxnSpPr>
          <p:nvPr/>
        </p:nvCxnSpPr>
        <p:spPr>
          <a:xfrm>
            <a:off x="4493834" y="4270354"/>
            <a:ext cx="624301"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B4E8D17B-A364-AD79-0C36-4CB5FC30B9E4}"/>
              </a:ext>
            </a:extLst>
          </p:cNvPr>
          <p:cNvCxnSpPr>
            <a:cxnSpLocks/>
            <a:endCxn id="11" idx="0"/>
          </p:cNvCxnSpPr>
          <p:nvPr/>
        </p:nvCxnSpPr>
        <p:spPr>
          <a:xfrm flipH="1">
            <a:off x="3297093" y="5481199"/>
            <a:ext cx="99119"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FB3F6E38-F8CF-1E17-6E23-559ED06745CC}"/>
              </a:ext>
            </a:extLst>
          </p:cNvPr>
          <p:cNvCxnSpPr>
            <a:cxnSpLocks/>
            <a:endCxn id="12" idx="0"/>
          </p:cNvCxnSpPr>
          <p:nvPr/>
        </p:nvCxnSpPr>
        <p:spPr>
          <a:xfrm>
            <a:off x="4184981" y="5481199"/>
            <a:ext cx="259173" cy="450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0F805B9F-6BA1-9194-4D33-D6E3BE819DBD}"/>
              </a:ext>
            </a:extLst>
          </p:cNvPr>
          <p:cNvSpPr txBox="1"/>
          <p:nvPr/>
        </p:nvSpPr>
        <p:spPr>
          <a:xfrm>
            <a:off x="1691992" y="2930035"/>
            <a:ext cx="647274" cy="369332"/>
          </a:xfrm>
          <a:prstGeom prst="rect">
            <a:avLst/>
          </a:prstGeom>
          <a:noFill/>
        </p:spPr>
        <p:txBody>
          <a:bodyPr wrap="square" rtlCol="0">
            <a:spAutoFit/>
          </a:bodyPr>
          <a:lstStyle/>
          <a:p>
            <a:r>
              <a:rPr lang="en-US" dirty="0"/>
              <a:t>Yes</a:t>
            </a:r>
          </a:p>
        </p:txBody>
      </p:sp>
      <p:sp>
        <p:nvSpPr>
          <p:cNvPr id="22" name="TextBox 21">
            <a:extLst>
              <a:ext uri="{FF2B5EF4-FFF2-40B4-BE49-F238E27FC236}">
                <a16:creationId xmlns:a16="http://schemas.microsoft.com/office/drawing/2014/main" id="{7565ADE2-E498-67D9-C817-35959637CB9E}"/>
              </a:ext>
            </a:extLst>
          </p:cNvPr>
          <p:cNvSpPr txBox="1"/>
          <p:nvPr/>
        </p:nvSpPr>
        <p:spPr>
          <a:xfrm>
            <a:off x="3556719" y="2945256"/>
            <a:ext cx="647274" cy="36933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7172073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2DF24-499D-56B8-0485-2645AC3E28E8}"/>
              </a:ext>
            </a:extLst>
          </p:cNvPr>
          <p:cNvSpPr>
            <a:spLocks noGrp="1"/>
          </p:cNvSpPr>
          <p:nvPr>
            <p:ph type="title"/>
          </p:nvPr>
        </p:nvSpPr>
        <p:spPr/>
        <p:txBody>
          <a:bodyPr/>
          <a:lstStyle/>
          <a:p>
            <a:r>
              <a:rPr lang="en-US" b="1" dirty="0"/>
              <a:t>Computational Complexity - FYI</a:t>
            </a:r>
          </a:p>
        </p:txBody>
      </p:sp>
      <p:sp>
        <p:nvSpPr>
          <p:cNvPr id="3" name="Content Placeholder 2">
            <a:extLst>
              <a:ext uri="{FF2B5EF4-FFF2-40B4-BE49-F238E27FC236}">
                <a16:creationId xmlns:a16="http://schemas.microsoft.com/office/drawing/2014/main" id="{A29359EE-C1AC-9160-E9A5-5D4D89198AB9}"/>
              </a:ext>
            </a:extLst>
          </p:cNvPr>
          <p:cNvSpPr>
            <a:spLocks noGrp="1"/>
          </p:cNvSpPr>
          <p:nvPr>
            <p:ph idx="1"/>
          </p:nvPr>
        </p:nvSpPr>
        <p:spPr/>
        <p:txBody>
          <a:bodyPr/>
          <a:lstStyle/>
          <a:p>
            <a:pPr marL="0" indent="0">
              <a:buNone/>
            </a:pPr>
            <a:r>
              <a:rPr lang="en-US" dirty="0"/>
              <a:t>n: number of training samples</a:t>
            </a:r>
          </a:p>
          <a:p>
            <a:pPr marL="0" indent="0">
              <a:buNone/>
            </a:pPr>
            <a:r>
              <a:rPr lang="en-US" dirty="0"/>
              <a:t>m: number of features</a:t>
            </a:r>
          </a:p>
          <a:p>
            <a:pPr marL="0" indent="0">
              <a:buNone/>
            </a:pPr>
            <a:endParaRPr lang="en-US" dirty="0"/>
          </a:p>
          <a:p>
            <a:pPr marL="0" indent="0">
              <a:buNone/>
            </a:pPr>
            <a:r>
              <a:rPr lang="en-US" dirty="0"/>
              <a:t>Training phase: O(m*</a:t>
            </a:r>
            <a:r>
              <a:rPr lang="en-US" dirty="0" err="1"/>
              <a:t>nlogn</a:t>
            </a:r>
            <a:r>
              <a:rPr lang="en-US" dirty="0"/>
              <a:t>)</a:t>
            </a:r>
          </a:p>
          <a:p>
            <a:pPr marL="0" indent="0">
              <a:buNone/>
            </a:pPr>
            <a:r>
              <a:rPr lang="en-US" dirty="0"/>
              <a:t>Prediction phase: O(depth) (if balance of trees is </a:t>
            </a:r>
            <a:r>
              <a:rPr lang="en-US"/>
              <a:t>maintained: O</a:t>
            </a:r>
            <a:r>
              <a:rPr lang="en-US" dirty="0"/>
              <a:t>(log n))</a:t>
            </a:r>
          </a:p>
        </p:txBody>
      </p:sp>
    </p:spTree>
    <p:extLst>
      <p:ext uri="{BB962C8B-B14F-4D97-AF65-F5344CB8AC3E}">
        <p14:creationId xmlns:p14="http://schemas.microsoft.com/office/powerpoint/2010/main" val="4231150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619A03-143D-027A-C6AC-6FF75295BD19}"/>
              </a:ext>
            </a:extLst>
          </p:cNvPr>
          <p:cNvSpPr>
            <a:spLocks noGrp="1"/>
          </p:cNvSpPr>
          <p:nvPr>
            <p:ph type="title"/>
          </p:nvPr>
        </p:nvSpPr>
        <p:spPr/>
        <p:txBody>
          <a:bodyPr/>
          <a:lstStyle/>
          <a:p>
            <a:r>
              <a:rPr lang="en-US" b="1" dirty="0"/>
              <a:t>Tree Structure</a:t>
            </a:r>
          </a:p>
        </p:txBody>
      </p:sp>
      <p:sp>
        <p:nvSpPr>
          <p:cNvPr id="5" name="Text Placeholder 4">
            <a:extLst>
              <a:ext uri="{FF2B5EF4-FFF2-40B4-BE49-F238E27FC236}">
                <a16:creationId xmlns:a16="http://schemas.microsoft.com/office/drawing/2014/main" id="{C36960D1-0DF7-DB00-D485-99E20131C13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455921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624D6-4A0D-87B5-99CC-D296B5E14E7C}"/>
              </a:ext>
            </a:extLst>
          </p:cNvPr>
          <p:cNvSpPr>
            <a:spLocks noGrp="1"/>
          </p:cNvSpPr>
          <p:nvPr>
            <p:ph type="title"/>
          </p:nvPr>
        </p:nvSpPr>
        <p:spPr/>
        <p:txBody>
          <a:bodyPr/>
          <a:lstStyle/>
          <a:p>
            <a:r>
              <a:rPr lang="en-US" b="1" dirty="0"/>
              <a:t>Tree Structure</a:t>
            </a:r>
          </a:p>
        </p:txBody>
      </p:sp>
      <p:sp>
        <p:nvSpPr>
          <p:cNvPr id="3" name="Content Placeholder 2">
            <a:extLst>
              <a:ext uri="{FF2B5EF4-FFF2-40B4-BE49-F238E27FC236}">
                <a16:creationId xmlns:a16="http://schemas.microsoft.com/office/drawing/2014/main" id="{09DA2D25-E6D3-76DE-0B68-2599FC2F21E9}"/>
              </a:ext>
            </a:extLst>
          </p:cNvPr>
          <p:cNvSpPr>
            <a:spLocks noGrp="1"/>
          </p:cNvSpPr>
          <p:nvPr>
            <p:ph idx="1"/>
          </p:nvPr>
        </p:nvSpPr>
        <p:spPr/>
        <p:txBody>
          <a:bodyPr>
            <a:normAutofit/>
          </a:bodyPr>
          <a:lstStyle/>
          <a:p>
            <a:pPr>
              <a:lnSpc>
                <a:spcPct val="100000"/>
              </a:lnSpc>
            </a:pPr>
            <a:r>
              <a:rPr lang="en-US" sz="2400" dirty="0"/>
              <a:t>We stop to split a region once we reach a stopping criterion: maximum tree depth, minimum number of samples in a node, minimum purity level, ... </a:t>
            </a:r>
          </a:p>
          <a:p>
            <a:pPr>
              <a:lnSpc>
                <a:spcPct val="100000"/>
              </a:lnSpc>
            </a:pPr>
            <a:r>
              <a:rPr lang="en-US" sz="2400" dirty="0"/>
              <a:t>If the tree is left unconstrained, i.e., if we continue splitting each region until we obtain completely pure regions, the tree will fit the training data closely and will suffer from overfitting. </a:t>
            </a:r>
          </a:p>
          <a:p>
            <a:pPr>
              <a:lnSpc>
                <a:spcPct val="100000"/>
              </a:lnSpc>
            </a:pPr>
            <a:r>
              <a:rPr lang="en-US" sz="2400" dirty="0"/>
              <a:t>In fact, choosing the right structure or depth of the decision tree is about finding a good balance between overfitting and underfitting.</a:t>
            </a:r>
          </a:p>
        </p:txBody>
      </p:sp>
    </p:spTree>
    <p:extLst>
      <p:ext uri="{BB962C8B-B14F-4D97-AF65-F5344CB8AC3E}">
        <p14:creationId xmlns:p14="http://schemas.microsoft.com/office/powerpoint/2010/main" val="10800107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0E1AF-4583-D257-1358-F30BD7A37C8B}"/>
              </a:ext>
            </a:extLst>
          </p:cNvPr>
          <p:cNvSpPr>
            <a:spLocks noGrp="1"/>
          </p:cNvSpPr>
          <p:nvPr>
            <p:ph type="title"/>
          </p:nvPr>
        </p:nvSpPr>
        <p:spPr/>
        <p:txBody>
          <a:bodyPr/>
          <a:lstStyle/>
          <a:p>
            <a:r>
              <a:rPr lang="en-US" b="1" dirty="0"/>
              <a:t>Tree Structure</a:t>
            </a:r>
          </a:p>
        </p:txBody>
      </p:sp>
      <p:sp>
        <p:nvSpPr>
          <p:cNvPr id="3" name="Content Placeholder 2">
            <a:extLst>
              <a:ext uri="{FF2B5EF4-FFF2-40B4-BE49-F238E27FC236}">
                <a16:creationId xmlns:a16="http://schemas.microsoft.com/office/drawing/2014/main" id="{146C9DEC-CC3B-8B8A-C93F-A9CE7EB5B376}"/>
              </a:ext>
            </a:extLst>
          </p:cNvPr>
          <p:cNvSpPr>
            <a:spLocks noGrp="1"/>
          </p:cNvSpPr>
          <p:nvPr>
            <p:ph idx="1"/>
          </p:nvPr>
        </p:nvSpPr>
        <p:spPr>
          <a:xfrm>
            <a:off x="228600" y="1807696"/>
            <a:ext cx="4217894" cy="4351338"/>
          </a:xfrm>
        </p:spPr>
        <p:txBody>
          <a:bodyPr>
            <a:normAutofit/>
          </a:bodyPr>
          <a:lstStyle/>
          <a:p>
            <a:pPr>
              <a:lnSpc>
                <a:spcPct val="100000"/>
              </a:lnSpc>
            </a:pPr>
            <a:r>
              <a:rPr lang="en-US" sz="2000" dirty="0"/>
              <a:t> A shallow tree might be too simple and not complex enough to properly divide the feature space into sufficiently pure regions. </a:t>
            </a:r>
          </a:p>
          <a:p>
            <a:pPr>
              <a:lnSpc>
                <a:spcPct val="100000"/>
              </a:lnSpc>
            </a:pPr>
            <a:r>
              <a:rPr lang="en-US" sz="2000" dirty="0"/>
              <a:t>A very deep tree might be too complex that might not generalize well.</a:t>
            </a:r>
          </a:p>
          <a:p>
            <a:pPr>
              <a:lnSpc>
                <a:spcPct val="100000"/>
              </a:lnSpc>
            </a:pPr>
            <a:r>
              <a:rPr lang="en-US" sz="2000" dirty="0"/>
              <a:t>We can use cross-validation to choose the appropriate </a:t>
            </a:r>
            <a:r>
              <a:rPr lang="en-US" sz="2000" dirty="0" err="1"/>
              <a:t>max_depth</a:t>
            </a:r>
            <a:r>
              <a:rPr lang="en-US" sz="2000" dirty="0"/>
              <a:t>.</a:t>
            </a:r>
          </a:p>
        </p:txBody>
      </p:sp>
      <p:pic>
        <p:nvPicPr>
          <p:cNvPr id="5" name="Picture 4" descr="A picture containing graphical user interface&#10;&#10;Description automatically generated">
            <a:extLst>
              <a:ext uri="{FF2B5EF4-FFF2-40B4-BE49-F238E27FC236}">
                <a16:creationId xmlns:a16="http://schemas.microsoft.com/office/drawing/2014/main" id="{D5B93F61-51D8-2FEE-50CA-0DD4C87E86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6604" y="1371599"/>
            <a:ext cx="7419799" cy="4563316"/>
          </a:xfrm>
          <a:prstGeom prst="rect">
            <a:avLst/>
          </a:prstGeom>
        </p:spPr>
      </p:pic>
    </p:spTree>
    <p:extLst>
      <p:ext uri="{BB962C8B-B14F-4D97-AF65-F5344CB8AC3E}">
        <p14:creationId xmlns:p14="http://schemas.microsoft.com/office/powerpoint/2010/main" val="39760746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4FDB3-2C0E-13C4-118F-E0EC2999A34E}"/>
              </a:ext>
            </a:extLst>
          </p:cNvPr>
          <p:cNvSpPr>
            <a:spLocks noGrp="1"/>
          </p:cNvSpPr>
          <p:nvPr>
            <p:ph type="title"/>
          </p:nvPr>
        </p:nvSpPr>
        <p:spPr/>
        <p:txBody>
          <a:bodyPr/>
          <a:lstStyle/>
          <a:p>
            <a:r>
              <a:rPr lang="en-US" b="1" dirty="0"/>
              <a:t>Sensitive to Feature Scaling?</a:t>
            </a:r>
          </a:p>
        </p:txBody>
      </p:sp>
      <p:pic>
        <p:nvPicPr>
          <p:cNvPr id="5" name="Content Placeholder 4">
            <a:extLst>
              <a:ext uri="{FF2B5EF4-FFF2-40B4-BE49-F238E27FC236}">
                <a16:creationId xmlns:a16="http://schemas.microsoft.com/office/drawing/2014/main" id="{16485856-26F1-289E-B3A2-1D7E443958E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9966" y="2253404"/>
            <a:ext cx="5485714" cy="3657143"/>
          </a:xfrm>
        </p:spPr>
      </p:pic>
      <p:pic>
        <p:nvPicPr>
          <p:cNvPr id="7" name="Picture 6">
            <a:extLst>
              <a:ext uri="{FF2B5EF4-FFF2-40B4-BE49-F238E27FC236}">
                <a16:creationId xmlns:a16="http://schemas.microsoft.com/office/drawing/2014/main" id="{B4696B93-3781-4667-CF6E-FE10F92187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04296" y="2253404"/>
            <a:ext cx="5485714" cy="3657143"/>
          </a:xfrm>
          <a:prstGeom prst="rect">
            <a:avLst/>
          </a:prstGeom>
        </p:spPr>
      </p:pic>
    </p:spTree>
    <p:extLst>
      <p:ext uri="{BB962C8B-B14F-4D97-AF65-F5344CB8AC3E}">
        <p14:creationId xmlns:p14="http://schemas.microsoft.com/office/powerpoint/2010/main" val="20952592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C86F69-EBEB-971B-0AC3-9560AC1E5509}"/>
              </a:ext>
            </a:extLst>
          </p:cNvPr>
          <p:cNvSpPr>
            <a:spLocks noGrp="1"/>
          </p:cNvSpPr>
          <p:nvPr>
            <p:ph type="title"/>
          </p:nvPr>
        </p:nvSpPr>
        <p:spPr/>
        <p:txBody>
          <a:bodyPr/>
          <a:lstStyle/>
          <a:p>
            <a:r>
              <a:rPr lang="en-US" b="1" dirty="0" err="1"/>
              <a:t>Advatanges</a:t>
            </a:r>
            <a:r>
              <a:rPr lang="en-US" b="1" dirty="0"/>
              <a:t>, </a:t>
            </a:r>
            <a:r>
              <a:rPr lang="en-US" b="1" dirty="0" err="1"/>
              <a:t>Disadvatanges</a:t>
            </a:r>
            <a:endParaRPr lang="en-US" b="1" dirty="0"/>
          </a:p>
        </p:txBody>
      </p:sp>
      <p:sp>
        <p:nvSpPr>
          <p:cNvPr id="5" name="Text Placeholder 4">
            <a:extLst>
              <a:ext uri="{FF2B5EF4-FFF2-40B4-BE49-F238E27FC236}">
                <a16:creationId xmlns:a16="http://schemas.microsoft.com/office/drawing/2014/main" id="{636DBFA5-97CF-5385-D2B0-3AC45660B9F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426052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051830-A50F-CBBC-9F3A-78FD121D737B}"/>
              </a:ext>
            </a:extLst>
          </p:cNvPr>
          <p:cNvSpPr>
            <a:spLocks noGrp="1"/>
          </p:cNvSpPr>
          <p:nvPr>
            <p:ph type="title"/>
          </p:nvPr>
        </p:nvSpPr>
        <p:spPr/>
        <p:txBody>
          <a:bodyPr/>
          <a:lstStyle/>
          <a:p>
            <a:r>
              <a:rPr lang="en-US" b="1" dirty="0"/>
              <a:t>Advantages</a:t>
            </a:r>
          </a:p>
        </p:txBody>
      </p:sp>
      <p:sp>
        <p:nvSpPr>
          <p:cNvPr id="5" name="Content Placeholder 4">
            <a:extLst>
              <a:ext uri="{FF2B5EF4-FFF2-40B4-BE49-F238E27FC236}">
                <a16:creationId xmlns:a16="http://schemas.microsoft.com/office/drawing/2014/main" id="{A769F4A8-8E76-9BA8-BEF2-2F17DF20C64B}"/>
              </a:ext>
            </a:extLst>
          </p:cNvPr>
          <p:cNvSpPr>
            <a:spLocks noGrp="1"/>
          </p:cNvSpPr>
          <p:nvPr>
            <p:ph idx="1"/>
          </p:nvPr>
        </p:nvSpPr>
        <p:spPr/>
        <p:txBody>
          <a:bodyPr>
            <a:normAutofit fontScale="55000" lnSpcReduction="20000"/>
          </a:bodyPr>
          <a:lstStyle/>
          <a:p>
            <a:pPr>
              <a:lnSpc>
                <a:spcPct val="120000"/>
              </a:lnSpc>
            </a:pPr>
            <a:r>
              <a:rPr lang="en-US" b="1" dirty="0"/>
              <a:t>Interpretability</a:t>
            </a:r>
            <a:r>
              <a:rPr lang="en-US" dirty="0"/>
              <a:t>: Decision trees are easy to interpret, each leaf node can be represented with a combination of </a:t>
            </a:r>
            <a:r>
              <a:rPr lang="en-US" dirty="0" err="1"/>
              <a:t>boolean</a:t>
            </a:r>
            <a:r>
              <a:rPr lang="en-US" dirty="0"/>
              <a:t> expression that can explain why a particular decision was made. </a:t>
            </a:r>
          </a:p>
          <a:p>
            <a:pPr>
              <a:lnSpc>
                <a:spcPct val="120000"/>
              </a:lnSpc>
            </a:pPr>
            <a:r>
              <a:rPr lang="en-US" b="1" dirty="0"/>
              <a:t>Extends easily to multi-class problem</a:t>
            </a:r>
            <a:r>
              <a:rPr lang="en-US" dirty="0"/>
              <a:t>: Like KNN, decision tree works no matter how many classes we have to classify, it does not only work for binary classification. The label of each leaf node is the majority vote. The proportion of each class in each leaf node can be used as to represent the likelihood of a feature vector to belong to that class. </a:t>
            </a:r>
          </a:p>
          <a:p>
            <a:pPr>
              <a:lnSpc>
                <a:spcPct val="120000"/>
              </a:lnSpc>
            </a:pPr>
            <a:r>
              <a:rPr lang="en-US" b="1" dirty="0"/>
              <a:t>Requires little pre-processing</a:t>
            </a:r>
            <a:r>
              <a:rPr lang="en-US" dirty="0"/>
              <a:t>: Decision trees are insensitive to feature scaling, can handle categorical and numerical features an features with missing values. </a:t>
            </a:r>
          </a:p>
          <a:p>
            <a:pPr>
              <a:lnSpc>
                <a:spcPct val="120000"/>
              </a:lnSpc>
            </a:pPr>
            <a:r>
              <a:rPr lang="en-US" b="1" dirty="0"/>
              <a:t>Robust to irrelevant features</a:t>
            </a:r>
            <a:r>
              <a:rPr lang="en-US" dirty="0"/>
              <a:t>: Decision Tree algorithm is greedy, it picks the ”best” feature at each node. In this way, decision trees will only use features that are predictive. With other models, we may need to evaluate models on different combinations of features to find the best model (feature selection). Decision trees do this for you and automate part of model building. </a:t>
            </a:r>
          </a:p>
          <a:p>
            <a:pPr>
              <a:lnSpc>
                <a:spcPct val="120000"/>
              </a:lnSpc>
            </a:pPr>
            <a:r>
              <a:rPr lang="en-US" b="1" dirty="0"/>
              <a:t>Handles interaction between features: </a:t>
            </a:r>
            <a:r>
              <a:rPr lang="en-US" dirty="0"/>
              <a:t>Decision trees consider feature combinations naturally through Boolean Expressions: if feature 1 &gt; 5 and feature 2 &lt; 10, then the sample is A; if feature 1 ≤ 5, then the sample is B</a:t>
            </a:r>
          </a:p>
        </p:txBody>
      </p:sp>
    </p:spTree>
    <p:extLst>
      <p:ext uri="{BB962C8B-B14F-4D97-AF65-F5344CB8AC3E}">
        <p14:creationId xmlns:p14="http://schemas.microsoft.com/office/powerpoint/2010/main" val="13801995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051830-A50F-CBBC-9F3A-78FD121D737B}"/>
              </a:ext>
            </a:extLst>
          </p:cNvPr>
          <p:cNvSpPr>
            <a:spLocks noGrp="1"/>
          </p:cNvSpPr>
          <p:nvPr>
            <p:ph type="title"/>
          </p:nvPr>
        </p:nvSpPr>
        <p:spPr/>
        <p:txBody>
          <a:bodyPr/>
          <a:lstStyle/>
          <a:p>
            <a:r>
              <a:rPr lang="en-US" b="1" dirty="0"/>
              <a:t>Disadvantages</a:t>
            </a:r>
          </a:p>
        </p:txBody>
      </p:sp>
      <p:sp>
        <p:nvSpPr>
          <p:cNvPr id="5" name="Content Placeholder 4">
            <a:extLst>
              <a:ext uri="{FF2B5EF4-FFF2-40B4-BE49-F238E27FC236}">
                <a16:creationId xmlns:a16="http://schemas.microsoft.com/office/drawing/2014/main" id="{A769F4A8-8E76-9BA8-BEF2-2F17DF20C64B}"/>
              </a:ext>
            </a:extLst>
          </p:cNvPr>
          <p:cNvSpPr>
            <a:spLocks noGrp="1"/>
          </p:cNvSpPr>
          <p:nvPr>
            <p:ph idx="1"/>
          </p:nvPr>
        </p:nvSpPr>
        <p:spPr/>
        <p:txBody>
          <a:bodyPr>
            <a:normAutofit fontScale="92500" lnSpcReduction="20000"/>
          </a:bodyPr>
          <a:lstStyle/>
          <a:p>
            <a:pPr>
              <a:lnSpc>
                <a:spcPct val="120000"/>
              </a:lnSpc>
            </a:pPr>
            <a:r>
              <a:rPr lang="en-US" b="1" dirty="0"/>
              <a:t>Prone to overfitting</a:t>
            </a:r>
            <a:r>
              <a:rPr lang="en-US" dirty="0"/>
              <a:t>: Decisions tree are easy to overfit and can fail to generalize to unseen data. Overfitting can be regularized by determining some stopping criteria or by performing pruning. </a:t>
            </a:r>
          </a:p>
          <a:p>
            <a:pPr>
              <a:lnSpc>
                <a:spcPct val="120000"/>
              </a:lnSpc>
            </a:pPr>
            <a:r>
              <a:rPr lang="en-US" b="1" dirty="0"/>
              <a:t>Sensitive to small changes in the dataset</a:t>
            </a:r>
            <a:r>
              <a:rPr lang="en-US" dirty="0"/>
              <a:t>: This is closely related to the fact that decision trees are prone to overfitting. Decision trees can have high variance, which means that a small change in the training data can cause a large change in the final estimated tree. </a:t>
            </a:r>
          </a:p>
          <a:p>
            <a:pPr>
              <a:lnSpc>
                <a:spcPct val="120000"/>
              </a:lnSpc>
            </a:pPr>
            <a:r>
              <a:rPr lang="en-US" b="1" dirty="0"/>
              <a:t>Limited predictive power</a:t>
            </a:r>
            <a:r>
              <a:rPr lang="en-US" dirty="0"/>
              <a:t>: In general decision trees do not have the same level of predictive power as some of the other regression and classification models. </a:t>
            </a:r>
          </a:p>
        </p:txBody>
      </p:sp>
    </p:spTree>
    <p:extLst>
      <p:ext uri="{BB962C8B-B14F-4D97-AF65-F5344CB8AC3E}">
        <p14:creationId xmlns:p14="http://schemas.microsoft.com/office/powerpoint/2010/main" val="42673636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DD1F0-BD6F-D3CB-6C20-37E56246CA4E}"/>
              </a:ext>
            </a:extLst>
          </p:cNvPr>
          <p:cNvSpPr>
            <a:spLocks noGrp="1"/>
          </p:cNvSpPr>
          <p:nvPr>
            <p:ph type="title"/>
          </p:nvPr>
        </p:nvSpPr>
        <p:spPr/>
        <p:txBody>
          <a:bodyPr/>
          <a:lstStyle/>
          <a:p>
            <a:r>
              <a:rPr lang="en-US" b="1" dirty="0"/>
              <a:t>Disadvantages</a:t>
            </a:r>
          </a:p>
        </p:txBody>
      </p:sp>
      <p:pic>
        <p:nvPicPr>
          <p:cNvPr id="5" name="Content Placeholder 4" descr="A picture containing text&#10;&#10;Description automatically generated">
            <a:extLst>
              <a:ext uri="{FF2B5EF4-FFF2-40B4-BE49-F238E27FC236}">
                <a16:creationId xmlns:a16="http://schemas.microsoft.com/office/drawing/2014/main" id="{EF97E928-A948-798E-3600-37794DA108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3600" y="2378751"/>
            <a:ext cx="9000000" cy="2707204"/>
          </a:xfrm>
        </p:spPr>
      </p:pic>
      <p:sp>
        <p:nvSpPr>
          <p:cNvPr id="7" name="TextBox 6">
            <a:extLst>
              <a:ext uri="{FF2B5EF4-FFF2-40B4-BE49-F238E27FC236}">
                <a16:creationId xmlns:a16="http://schemas.microsoft.com/office/drawing/2014/main" id="{B509EEB5-F0FB-AB39-0BD4-9DC3F9A8DBCE}"/>
              </a:ext>
            </a:extLst>
          </p:cNvPr>
          <p:cNvSpPr txBox="1"/>
          <p:nvPr/>
        </p:nvSpPr>
        <p:spPr>
          <a:xfrm>
            <a:off x="2895600" y="5312353"/>
            <a:ext cx="6096000" cy="923330"/>
          </a:xfrm>
          <a:prstGeom prst="rect">
            <a:avLst/>
          </a:prstGeom>
          <a:noFill/>
        </p:spPr>
        <p:txBody>
          <a:bodyPr wrap="square">
            <a:spAutoFit/>
          </a:bodyPr>
          <a:lstStyle/>
          <a:p>
            <a:r>
              <a:rPr lang="en-US" dirty="0"/>
              <a:t>A decision tree can only perform splits parallel to the axes. It cannot find a linear decision boundary when the data is linearly separable</a:t>
            </a:r>
          </a:p>
        </p:txBody>
      </p:sp>
    </p:spTree>
    <p:extLst>
      <p:ext uri="{BB962C8B-B14F-4D97-AF65-F5344CB8AC3E}">
        <p14:creationId xmlns:p14="http://schemas.microsoft.com/office/powerpoint/2010/main" val="4226822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DE6A00-7859-844F-2E55-E62970B5E18F}"/>
              </a:ext>
            </a:extLst>
          </p:cNvPr>
          <p:cNvSpPr>
            <a:spLocks noGrp="1"/>
          </p:cNvSpPr>
          <p:nvPr>
            <p:ph type="title"/>
          </p:nvPr>
        </p:nvSpPr>
        <p:spPr/>
        <p:txBody>
          <a:bodyPr/>
          <a:lstStyle/>
          <a:p>
            <a:r>
              <a:rPr lang="en-US" dirty="0"/>
              <a:t>Extensions</a:t>
            </a:r>
          </a:p>
        </p:txBody>
      </p:sp>
      <p:sp>
        <p:nvSpPr>
          <p:cNvPr id="5" name="Text Placeholder 4">
            <a:extLst>
              <a:ext uri="{FF2B5EF4-FFF2-40B4-BE49-F238E27FC236}">
                <a16:creationId xmlns:a16="http://schemas.microsoft.com/office/drawing/2014/main" id="{06D16417-19C1-1B6A-0189-07417432B91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803753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3F073-194D-A37E-E7D9-98D11A6E1E24}"/>
              </a:ext>
            </a:extLst>
          </p:cNvPr>
          <p:cNvSpPr>
            <a:spLocks noGrp="1"/>
          </p:cNvSpPr>
          <p:nvPr>
            <p:ph type="title"/>
          </p:nvPr>
        </p:nvSpPr>
        <p:spPr/>
        <p:txBody>
          <a:bodyPr/>
          <a:lstStyle/>
          <a:p>
            <a:r>
              <a:rPr lang="en-US" dirty="0"/>
              <a:t>Ensemble Methods</a:t>
            </a:r>
          </a:p>
        </p:txBody>
      </p:sp>
      <p:sp>
        <p:nvSpPr>
          <p:cNvPr id="3" name="Content Placeholder 2">
            <a:extLst>
              <a:ext uri="{FF2B5EF4-FFF2-40B4-BE49-F238E27FC236}">
                <a16:creationId xmlns:a16="http://schemas.microsoft.com/office/drawing/2014/main" id="{25842749-5EEC-B2B7-01D1-049F230A762A}"/>
              </a:ext>
            </a:extLst>
          </p:cNvPr>
          <p:cNvSpPr>
            <a:spLocks noGrp="1"/>
          </p:cNvSpPr>
          <p:nvPr>
            <p:ph idx="1"/>
          </p:nvPr>
        </p:nvSpPr>
        <p:spPr/>
        <p:txBody>
          <a:bodyPr>
            <a:normAutofit/>
          </a:bodyPr>
          <a:lstStyle/>
          <a:p>
            <a:r>
              <a:rPr lang="en-US" dirty="0"/>
              <a:t>A single tree is powerful, but can be unstable and overfit.</a:t>
            </a:r>
          </a:p>
          <a:p>
            <a:r>
              <a:rPr lang="en-US" dirty="0"/>
              <a:t>Ensemble methods combine many trees to make a stronger model.</a:t>
            </a:r>
          </a:p>
        </p:txBody>
      </p:sp>
      <p:pic>
        <p:nvPicPr>
          <p:cNvPr id="1028" name="Picture 4">
            <a:extLst>
              <a:ext uri="{FF2B5EF4-FFF2-40B4-BE49-F238E27FC236}">
                <a16:creationId xmlns:a16="http://schemas.microsoft.com/office/drawing/2014/main" id="{1EF225BE-3BBB-479C-E803-A2DFB7C30B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9992" y="3225631"/>
            <a:ext cx="9412015" cy="3267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6790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BD18-E222-A512-5AA9-487D156F56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3659FB-B701-4D04-FDDE-70C9EDCA44D4}"/>
              </a:ext>
            </a:extLst>
          </p:cNvPr>
          <p:cNvSpPr>
            <a:spLocks noGrp="1"/>
          </p:cNvSpPr>
          <p:nvPr>
            <p:ph type="title"/>
          </p:nvPr>
        </p:nvSpPr>
        <p:spPr/>
        <p:txBody>
          <a:bodyPr/>
          <a:lstStyle/>
          <a:p>
            <a:r>
              <a:rPr lang="en-US" dirty="0"/>
              <a:t>Bagging and Random Forests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46FA61E-8AC2-EF3F-0500-CF091212BFC9}"/>
                  </a:ext>
                </a:extLst>
              </p:cNvPr>
              <p:cNvSpPr>
                <a:spLocks noGrp="1"/>
              </p:cNvSpPr>
              <p:nvPr>
                <p:ph idx="1"/>
              </p:nvPr>
            </p:nvSpPr>
            <p:spPr/>
            <p:txBody>
              <a:bodyPr/>
              <a:lstStyle/>
              <a:p>
                <a:r>
                  <a:rPr lang="en-US" dirty="0"/>
                  <a:t>Each tree gets a </a:t>
                </a:r>
                <a:r>
                  <a:rPr lang="en-US" b="1" dirty="0"/>
                  <a:t>bootstrap sample</a:t>
                </a:r>
                <a:r>
                  <a:rPr lang="en-US" dirty="0"/>
                  <a:t> (random subset </a:t>
                </a:r>
                <a:r>
                  <a:rPr lang="en-US" i="1" dirty="0"/>
                  <a:t>with replacement</a:t>
                </a:r>
                <a:r>
                  <a:rPr lang="en-US" dirty="0"/>
                  <a:t>).</a:t>
                </a:r>
              </a:p>
              <a:p>
                <a:endParaRPr lang="en-US" dirty="0"/>
              </a:p>
              <a:p>
                <a:r>
                  <a:rPr lang="en-US" dirty="0"/>
                  <a:t>Train all trees </a:t>
                </a:r>
                <a:r>
                  <a:rPr lang="en-US" b="1" dirty="0"/>
                  <a:t>in parallel</a:t>
                </a:r>
                <a:r>
                  <a:rPr lang="en-US" dirty="0"/>
                  <a:t> on their own datasets.</a:t>
                </a:r>
              </a:p>
              <a:p>
                <a:endParaRPr lang="en-US" dirty="0"/>
              </a:p>
              <a:p>
                <a:r>
                  <a:rPr lang="en-US" dirty="0"/>
                  <a:t>Combine their predictions by </a:t>
                </a:r>
                <a:r>
                  <a:rPr lang="en-US" b="1" dirty="0"/>
                  <a:t>averaging</a:t>
                </a:r>
                <a:r>
                  <a:rPr lang="en-US" dirty="0"/>
                  <a:t> (regression) or </a:t>
                </a:r>
                <a:r>
                  <a:rPr lang="en-US" b="1" dirty="0"/>
                  <a:t>voting</a:t>
                </a:r>
                <a:r>
                  <a:rPr lang="en-US" dirty="0"/>
                  <a:t> (classification).</a:t>
                </a:r>
              </a:p>
              <a:p>
                <a:pPr marL="0" indent="0">
                  <a:buNone/>
                </a:pPr>
                <a14:m>
                  <m:oMathPara xmlns:m="http://schemas.openxmlformats.org/officeDocument/2006/math">
                    <m:oMathParaPr>
                      <m:jc m:val="centerGroup"/>
                    </m:oMathParaPr>
                    <m:oMath xmlns:m="http://schemas.openxmlformats.org/officeDocument/2006/math">
                      <m:acc>
                        <m:accPr>
                          <m:chr m:val="̂"/>
                          <m:ctrlPr>
                            <a:rPr lang="ar-AE"/>
                          </m:ctrlPr>
                        </m:accPr>
                        <m:e>
                          <m:r>
                            <a:rPr lang="ar-AE" i="1"/>
                            <m:t>𝑦</m:t>
                          </m:r>
                        </m:e>
                      </m:acc>
                      <m:r>
                        <a:rPr lang="ar-AE"/>
                        <m:t>=</m:t>
                      </m:r>
                      <m:r>
                        <m:rPr>
                          <m:nor/>
                        </m:rPr>
                        <a:rPr lang="en-US" i="1"/>
                        <m:t>mode</m:t>
                      </m:r>
                      <m:d>
                        <m:dPr>
                          <m:begChr m:val="{"/>
                          <m:endChr m:val="}"/>
                          <m:sepChr m:val=","/>
                          <m:ctrlPr>
                            <a:rPr lang="ar-AE" i="1"/>
                          </m:ctrlPr>
                        </m:dPr>
                        <m:e>
                          <m:sSub>
                            <m:sSubPr>
                              <m:ctrlPr>
                                <a:rPr lang="ar-AE" i="1"/>
                              </m:ctrlPr>
                            </m:sSubPr>
                            <m:e>
                              <m:r>
                                <a:rPr lang="ar-AE" i="1"/>
                                <m:t>h</m:t>
                              </m:r>
                            </m:e>
                            <m:sub>
                              <m:r>
                                <a:rPr lang="ar-AE"/>
                                <m:t>1</m:t>
                              </m:r>
                            </m:sub>
                          </m:sSub>
                        </m:e>
                        <m:e>
                          <m:d>
                            <m:dPr>
                              <m:ctrlPr>
                                <a:rPr lang="ar-AE" i="1"/>
                              </m:ctrlPr>
                            </m:dPr>
                            <m:e>
                              <m:r>
                                <a:rPr lang="ar-AE" i="1"/>
                                <m:t>𝑥</m:t>
                              </m:r>
                            </m:e>
                          </m:d>
                        </m:e>
                        <m:e>
                          <m:r>
                            <a:rPr lang="ar-AE"/>
                            <m:t>…</m:t>
                          </m:r>
                          <m:sSub>
                            <m:sSubPr>
                              <m:ctrlPr>
                                <a:rPr lang="ar-AE" i="1"/>
                              </m:ctrlPr>
                            </m:sSubPr>
                            <m:e>
                              <m:r>
                                <a:rPr lang="ar-AE" i="1"/>
                                <m:t>h</m:t>
                              </m:r>
                            </m:e>
                            <m:sub>
                              <m:r>
                                <a:rPr lang="ar-AE" i="1"/>
                                <m:t>𝑇</m:t>
                              </m:r>
                            </m:sub>
                          </m:sSub>
                          <m:d>
                            <m:dPr>
                              <m:ctrlPr>
                                <a:rPr lang="ar-AE" i="1"/>
                              </m:ctrlPr>
                            </m:dPr>
                            <m:e>
                              <m:r>
                                <a:rPr lang="ar-AE" i="1"/>
                                <m:t>𝑥</m:t>
                              </m:r>
                            </m:e>
                          </m:d>
                        </m:e>
                      </m:d>
                      <m:r>
                        <a:rPr lang="ar-AE"/>
                        <m:t> </m:t>
                      </m:r>
                      <m:r>
                        <m:rPr>
                          <m:nor/>
                        </m:rPr>
                        <a:rPr lang="en-US" i="1"/>
                        <m:t>or</m:t>
                      </m:r>
                      <m:r>
                        <a:rPr lang="en-US"/>
                        <m:t> </m:t>
                      </m:r>
                      <m:acc>
                        <m:accPr>
                          <m:chr m:val="̂"/>
                          <m:ctrlPr>
                            <a:rPr lang="ar-AE" i="1"/>
                          </m:ctrlPr>
                        </m:accPr>
                        <m:e>
                          <m:r>
                            <a:rPr lang="ar-AE" i="1"/>
                            <m:t>𝑦</m:t>
                          </m:r>
                        </m:e>
                      </m:acc>
                      <m:r>
                        <a:rPr lang="ar-AE"/>
                        <m:t>=</m:t>
                      </m:r>
                      <m:f>
                        <m:fPr>
                          <m:ctrlPr>
                            <a:rPr lang="ar-AE" i="1"/>
                          </m:ctrlPr>
                        </m:fPr>
                        <m:num>
                          <m:r>
                            <a:rPr lang="ar-AE"/>
                            <m:t>1</m:t>
                          </m:r>
                        </m:num>
                        <m:den>
                          <m:r>
                            <a:rPr lang="ar-AE" i="1"/>
                            <m:t>𝑇</m:t>
                          </m:r>
                        </m:den>
                      </m:f>
                      <m:nary>
                        <m:naryPr>
                          <m:chr m:val="∑"/>
                          <m:grow m:val="on"/>
                          <m:ctrlPr>
                            <a:rPr lang="ar-AE" i="1"/>
                          </m:ctrlPr>
                        </m:naryPr>
                        <m:sub>
                          <m:r>
                            <a:rPr lang="ar-AE" i="1"/>
                            <m:t>𝑡</m:t>
                          </m:r>
                          <m:r>
                            <a:rPr lang="ar-AE"/>
                            <m:t>=1</m:t>
                          </m:r>
                        </m:sub>
                        <m:sup>
                          <m:r>
                            <a:rPr lang="ar-AE" i="1"/>
                            <m:t>𝑇</m:t>
                          </m:r>
                        </m:sup>
                        <m:e>
                          <m:sSub>
                            <m:sSubPr>
                              <m:ctrlPr>
                                <a:rPr lang="ar-AE" i="1"/>
                              </m:ctrlPr>
                            </m:sSubPr>
                            <m:e>
                              <m:r>
                                <a:rPr lang="ar-AE" i="1"/>
                                <m:t>h</m:t>
                              </m:r>
                            </m:e>
                            <m:sub>
                              <m:r>
                                <a:rPr lang="ar-AE" i="1"/>
                                <m:t>𝑡</m:t>
                              </m:r>
                            </m:sub>
                          </m:sSub>
                        </m:e>
                      </m:nary>
                      <m:d>
                        <m:dPr>
                          <m:ctrlPr>
                            <a:rPr lang="ar-AE" i="1"/>
                          </m:ctrlPr>
                        </m:dPr>
                        <m:e>
                          <m:r>
                            <a:rPr lang="ar-AE" i="1"/>
                            <m:t>𝑥</m:t>
                          </m:r>
                        </m:e>
                      </m:d>
                    </m:oMath>
                  </m:oMathPara>
                </a14:m>
                <a:endParaRPr lang="ar-AE" b="0" dirty="0"/>
              </a:p>
              <a:p>
                <a:endParaRPr lang="en-US" dirty="0"/>
              </a:p>
            </p:txBody>
          </p:sp>
        </mc:Choice>
        <mc:Fallback>
          <p:sp>
            <p:nvSpPr>
              <p:cNvPr id="3" name="Content Placeholder 2">
                <a:extLst>
                  <a:ext uri="{FF2B5EF4-FFF2-40B4-BE49-F238E27FC236}">
                    <a16:creationId xmlns:a16="http://schemas.microsoft.com/office/drawing/2014/main" id="{D46FA61E-8AC2-EF3F-0500-CF091212BFC9}"/>
                  </a:ext>
                </a:extLst>
              </p:cNvPr>
              <p:cNvSpPr>
                <a:spLocks noGrp="1" noRot="1" noChangeAspect="1" noMove="1" noResize="1" noEditPoints="1" noAdjustHandles="1" noChangeArrowheads="1" noChangeShapeType="1" noTextEdit="1"/>
              </p:cNvSpPr>
              <p:nvPr>
                <p:ph idx="1"/>
              </p:nvPr>
            </p:nvSpPr>
            <p:spPr>
              <a:blipFill>
                <a:blip r:embed="rId2"/>
                <a:stretch>
                  <a:fillRect l="-1086" t="-2326" r="-965" b="-40116"/>
                </a:stretch>
              </a:blipFill>
            </p:spPr>
            <p:txBody>
              <a:bodyPr/>
              <a:lstStyle/>
              <a:p>
                <a:r>
                  <a:rPr lang="en-US">
                    <a:noFill/>
                  </a:rPr>
                  <a:t> </a:t>
                </a:r>
              </a:p>
            </p:txBody>
          </p:sp>
        </mc:Fallback>
      </mc:AlternateContent>
    </p:spTree>
    <p:extLst>
      <p:ext uri="{BB962C8B-B14F-4D97-AF65-F5344CB8AC3E}">
        <p14:creationId xmlns:p14="http://schemas.microsoft.com/office/powerpoint/2010/main" val="3668902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E05E2-D8CD-8D2C-465D-C34238C6D945}"/>
              </a:ext>
            </a:extLst>
          </p:cNvPr>
          <p:cNvSpPr>
            <a:spLocks noGrp="1"/>
          </p:cNvSpPr>
          <p:nvPr>
            <p:ph type="title"/>
          </p:nvPr>
        </p:nvSpPr>
        <p:spPr/>
        <p:txBody>
          <a:bodyPr/>
          <a:lstStyle/>
          <a:p>
            <a:r>
              <a:rPr lang="en-US" dirty="0"/>
              <a:t>Bootstrapping and Feature Selection</a:t>
            </a:r>
          </a:p>
        </p:txBody>
      </p:sp>
      <p:pic>
        <p:nvPicPr>
          <p:cNvPr id="12290" name="Picture 2" descr="figure 2">
            <a:extLst>
              <a:ext uri="{FF2B5EF4-FFF2-40B4-BE49-F238E27FC236}">
                <a16:creationId xmlns:a16="http://schemas.microsoft.com/office/drawing/2014/main" id="{F9224202-647D-7F98-4B3E-305F9B8AF8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6214" y="1967826"/>
            <a:ext cx="6199571" cy="4787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13506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04223-9A6B-FE30-3D16-4A0DBD5F3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4BF79-D97F-D79F-E674-791A25FC89C3}"/>
              </a:ext>
            </a:extLst>
          </p:cNvPr>
          <p:cNvSpPr>
            <a:spLocks noGrp="1"/>
          </p:cNvSpPr>
          <p:nvPr>
            <p:ph type="title"/>
          </p:nvPr>
        </p:nvSpPr>
        <p:spPr/>
        <p:txBody>
          <a:bodyPr/>
          <a:lstStyle/>
          <a:p>
            <a:r>
              <a:rPr lang="en-US" dirty="0"/>
              <a:t>Why Random Forests Work</a:t>
            </a:r>
          </a:p>
        </p:txBody>
      </p:sp>
      <p:sp>
        <p:nvSpPr>
          <p:cNvPr id="3" name="Content Placeholder 2">
            <a:extLst>
              <a:ext uri="{FF2B5EF4-FFF2-40B4-BE49-F238E27FC236}">
                <a16:creationId xmlns:a16="http://schemas.microsoft.com/office/drawing/2014/main" id="{001963FD-D4D1-3296-5AB9-51ACB3185C60}"/>
              </a:ext>
            </a:extLst>
          </p:cNvPr>
          <p:cNvSpPr>
            <a:spLocks noGrp="1"/>
          </p:cNvSpPr>
          <p:nvPr>
            <p:ph idx="1"/>
          </p:nvPr>
        </p:nvSpPr>
        <p:spPr/>
        <p:txBody>
          <a:bodyPr/>
          <a:lstStyle/>
          <a:p>
            <a:r>
              <a:rPr lang="en-US" dirty="0"/>
              <a:t>Averaging many independent trees reduces variance.</a:t>
            </a:r>
          </a:p>
          <a:p>
            <a:endParaRPr lang="en-US" dirty="0"/>
          </a:p>
          <a:p>
            <a:r>
              <a:rPr lang="en-US" dirty="0"/>
              <a:t>Randomizing data and feature selection keeps trees decorrelated.</a:t>
            </a:r>
          </a:p>
          <a:p>
            <a:endParaRPr lang="en-US" dirty="0"/>
          </a:p>
          <a:p>
            <a:r>
              <a:rPr lang="en-US" dirty="0"/>
              <a:t>The result: stable predictions and lower overfitting.</a:t>
            </a:r>
          </a:p>
        </p:txBody>
      </p:sp>
    </p:spTree>
    <p:extLst>
      <p:ext uri="{BB962C8B-B14F-4D97-AF65-F5344CB8AC3E}">
        <p14:creationId xmlns:p14="http://schemas.microsoft.com/office/powerpoint/2010/main" val="1729505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328B8-6434-6302-C2F7-47FF5537A0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3CCCD-BE1A-D7F3-9B6D-5E443BFBB89B}"/>
              </a:ext>
            </a:extLst>
          </p:cNvPr>
          <p:cNvSpPr>
            <a:spLocks noGrp="1"/>
          </p:cNvSpPr>
          <p:nvPr>
            <p:ph type="title"/>
          </p:nvPr>
        </p:nvSpPr>
        <p:spPr/>
        <p:txBody>
          <a:bodyPr/>
          <a:lstStyle/>
          <a:p>
            <a:r>
              <a:rPr lang="en-US" dirty="0"/>
              <a:t>Boosting = Sequential Ensemble</a:t>
            </a:r>
          </a:p>
        </p:txBody>
      </p:sp>
      <p:sp>
        <p:nvSpPr>
          <p:cNvPr id="3" name="Content Placeholder 2">
            <a:extLst>
              <a:ext uri="{FF2B5EF4-FFF2-40B4-BE49-F238E27FC236}">
                <a16:creationId xmlns:a16="http://schemas.microsoft.com/office/drawing/2014/main" id="{6B478E12-BF86-AA58-EC12-5E01AE1D49C9}"/>
              </a:ext>
            </a:extLst>
          </p:cNvPr>
          <p:cNvSpPr>
            <a:spLocks noGrp="1"/>
          </p:cNvSpPr>
          <p:nvPr>
            <p:ph idx="1"/>
          </p:nvPr>
        </p:nvSpPr>
        <p:spPr/>
        <p:txBody>
          <a:bodyPr/>
          <a:lstStyle/>
          <a:p>
            <a:r>
              <a:rPr lang="en-US" dirty="0"/>
              <a:t>Instead of training trees independently, we train them one after another.</a:t>
            </a:r>
          </a:p>
          <a:p>
            <a:endParaRPr lang="en-US" dirty="0"/>
          </a:p>
          <a:p>
            <a:r>
              <a:rPr lang="en-US" dirty="0"/>
              <a:t>Each new tree focuses on the examples the previous trees got wrong.</a:t>
            </a:r>
          </a:p>
          <a:p>
            <a:endParaRPr lang="en-US" dirty="0"/>
          </a:p>
          <a:p>
            <a:r>
              <a:rPr lang="en-US" dirty="0"/>
              <a:t>The ensemble “learns from its mistakes” step by step.</a:t>
            </a:r>
          </a:p>
        </p:txBody>
      </p:sp>
    </p:spTree>
    <p:extLst>
      <p:ext uri="{BB962C8B-B14F-4D97-AF65-F5344CB8AC3E}">
        <p14:creationId xmlns:p14="http://schemas.microsoft.com/office/powerpoint/2010/main" val="8508938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37109-5CD1-7426-5A93-070E07EA8D63}"/>
              </a:ext>
            </a:extLst>
          </p:cNvPr>
          <p:cNvSpPr>
            <a:spLocks noGrp="1"/>
          </p:cNvSpPr>
          <p:nvPr>
            <p:ph type="title"/>
          </p:nvPr>
        </p:nvSpPr>
        <p:spPr/>
        <p:txBody>
          <a:bodyPr/>
          <a:lstStyle/>
          <a:p>
            <a:r>
              <a:rPr lang="en-US" dirty="0"/>
              <a:t>Boosting</a:t>
            </a:r>
          </a:p>
        </p:txBody>
      </p:sp>
      <p:pic>
        <p:nvPicPr>
          <p:cNvPr id="13314" name="Picture 2">
            <a:extLst>
              <a:ext uri="{FF2B5EF4-FFF2-40B4-BE49-F238E27FC236}">
                <a16:creationId xmlns:a16="http://schemas.microsoft.com/office/drawing/2014/main" id="{3E336DF0-22F1-EF23-FF14-F0D1A37ABD8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0218"/>
          <a:stretch>
            <a:fillRect/>
          </a:stretch>
        </p:blipFill>
        <p:spPr bwMode="auto">
          <a:xfrm>
            <a:off x="1395322" y="1690688"/>
            <a:ext cx="9401356" cy="4486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12313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FBF3B-542B-16DF-55B3-4CC246988F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5E61B-C1CC-99A1-0D36-8C58AAF619DC}"/>
              </a:ext>
            </a:extLst>
          </p:cNvPr>
          <p:cNvSpPr>
            <a:spLocks noGrp="1"/>
          </p:cNvSpPr>
          <p:nvPr>
            <p:ph type="title"/>
          </p:nvPr>
        </p:nvSpPr>
        <p:spPr/>
        <p:txBody>
          <a:bodyPr/>
          <a:lstStyle/>
          <a:p>
            <a:r>
              <a:rPr lang="en-US" dirty="0"/>
              <a:t>Boosting Intuition</a:t>
            </a:r>
          </a:p>
        </p:txBody>
      </p:sp>
      <p:sp>
        <p:nvSpPr>
          <p:cNvPr id="3" name="Content Placeholder 2">
            <a:extLst>
              <a:ext uri="{FF2B5EF4-FFF2-40B4-BE49-F238E27FC236}">
                <a16:creationId xmlns:a16="http://schemas.microsoft.com/office/drawing/2014/main" id="{03D58AC6-6FAE-190E-DCB9-9E2E9CBBDEEB}"/>
              </a:ext>
            </a:extLst>
          </p:cNvPr>
          <p:cNvSpPr>
            <a:spLocks noGrp="1"/>
          </p:cNvSpPr>
          <p:nvPr>
            <p:ph idx="1"/>
          </p:nvPr>
        </p:nvSpPr>
        <p:spPr/>
        <p:txBody>
          <a:bodyPr/>
          <a:lstStyle/>
          <a:p>
            <a:r>
              <a:rPr lang="en-US" dirty="0"/>
              <a:t>Start with a simple tree (a “weak learner”).</a:t>
            </a:r>
          </a:p>
          <a:p>
            <a:endParaRPr lang="en-US" dirty="0"/>
          </a:p>
          <a:p>
            <a:r>
              <a:rPr lang="en-US" dirty="0"/>
              <a:t>Evaluate which observations were misclassified or had large errors.</a:t>
            </a:r>
          </a:p>
          <a:p>
            <a:endParaRPr lang="en-US" dirty="0"/>
          </a:p>
          <a:p>
            <a:r>
              <a:rPr lang="en-US" dirty="0"/>
              <a:t>Give those observations more weight in the next round.</a:t>
            </a:r>
          </a:p>
          <a:p>
            <a:endParaRPr lang="en-US" dirty="0"/>
          </a:p>
          <a:p>
            <a:r>
              <a:rPr lang="en-US" dirty="0"/>
              <a:t>Combine all the trees using a weighted average of their predictions.</a:t>
            </a:r>
          </a:p>
        </p:txBody>
      </p:sp>
    </p:spTree>
    <p:extLst>
      <p:ext uri="{BB962C8B-B14F-4D97-AF65-F5344CB8AC3E}">
        <p14:creationId xmlns:p14="http://schemas.microsoft.com/office/powerpoint/2010/main" val="38234668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5AB93-3F9D-62FF-3A05-0638936B8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80DA8-F382-A0B1-DCC0-344235904CDC}"/>
              </a:ext>
            </a:extLst>
          </p:cNvPr>
          <p:cNvSpPr>
            <a:spLocks noGrp="1"/>
          </p:cNvSpPr>
          <p:nvPr>
            <p:ph type="title"/>
          </p:nvPr>
        </p:nvSpPr>
        <p:spPr/>
        <p:txBody>
          <a:bodyPr/>
          <a:lstStyle/>
          <a:p>
            <a:r>
              <a:rPr lang="en-US" dirty="0"/>
              <a:t>Comparing Forests vs Boosting</a:t>
            </a:r>
          </a:p>
        </p:txBody>
      </p:sp>
      <p:graphicFrame>
        <p:nvGraphicFramePr>
          <p:cNvPr id="12" name="Content Placeholder 11">
            <a:extLst>
              <a:ext uri="{FF2B5EF4-FFF2-40B4-BE49-F238E27FC236}">
                <a16:creationId xmlns:a16="http://schemas.microsoft.com/office/drawing/2014/main" id="{A2013B15-DB5D-B28F-4081-A6724E0A5016}"/>
              </a:ext>
            </a:extLst>
          </p:cNvPr>
          <p:cNvGraphicFramePr>
            <a:graphicFrameLocks noGrp="1"/>
          </p:cNvGraphicFramePr>
          <p:nvPr>
            <p:ph idx="1"/>
            <p:extLst>
              <p:ext uri="{D42A27DB-BD31-4B8C-83A1-F6EECF244321}">
                <p14:modId xmlns:p14="http://schemas.microsoft.com/office/powerpoint/2010/main" val="3842736892"/>
              </p:ext>
            </p:extLst>
          </p:nvPr>
        </p:nvGraphicFramePr>
        <p:xfrm>
          <a:off x="838200" y="1825624"/>
          <a:ext cx="10515597" cy="4355718"/>
        </p:xfrm>
        <a:graphic>
          <a:graphicData uri="http://schemas.openxmlformats.org/drawingml/2006/table">
            <a:tbl>
              <a:tblPr firstRow="1" bandRow="1">
                <a:tableStyleId>{F5AB1C69-6EDB-4FF4-983F-18BD219EF322}</a:tableStyleId>
              </a:tblPr>
              <a:tblGrid>
                <a:gridCol w="3505199">
                  <a:extLst>
                    <a:ext uri="{9D8B030D-6E8A-4147-A177-3AD203B41FA5}">
                      <a16:colId xmlns:a16="http://schemas.microsoft.com/office/drawing/2014/main" val="1576232277"/>
                    </a:ext>
                  </a:extLst>
                </a:gridCol>
                <a:gridCol w="3505199">
                  <a:extLst>
                    <a:ext uri="{9D8B030D-6E8A-4147-A177-3AD203B41FA5}">
                      <a16:colId xmlns:a16="http://schemas.microsoft.com/office/drawing/2014/main" val="3706013456"/>
                    </a:ext>
                  </a:extLst>
                </a:gridCol>
                <a:gridCol w="3505199">
                  <a:extLst>
                    <a:ext uri="{9D8B030D-6E8A-4147-A177-3AD203B41FA5}">
                      <a16:colId xmlns:a16="http://schemas.microsoft.com/office/drawing/2014/main" val="1377729051"/>
                    </a:ext>
                  </a:extLst>
                </a:gridCol>
              </a:tblGrid>
              <a:tr h="725953">
                <a:tc>
                  <a:txBody>
                    <a:bodyPr/>
                    <a:lstStyle/>
                    <a:p>
                      <a:pPr algn="ctr"/>
                      <a:r>
                        <a:rPr lang="en-US" sz="3200" b="1" i="0" u="none" strike="noStrike" kern="1200" dirty="0">
                          <a:solidFill>
                            <a:schemeClr val="lt1"/>
                          </a:solidFill>
                          <a:effectLst/>
                        </a:rPr>
                        <a:t>Aspect</a:t>
                      </a:r>
                      <a:endParaRPr lang="en-US" sz="3200" b="1" i="0" dirty="0"/>
                    </a:p>
                  </a:txBody>
                  <a:tcPr/>
                </a:tc>
                <a:tc>
                  <a:txBody>
                    <a:bodyPr/>
                    <a:lstStyle/>
                    <a:p>
                      <a:pPr algn="ctr"/>
                      <a:r>
                        <a:rPr lang="en-US" sz="3200" b="1" u="none" strike="noStrike" kern="1200" dirty="0">
                          <a:solidFill>
                            <a:schemeClr val="lt1"/>
                          </a:solidFill>
                          <a:effectLst/>
                        </a:rPr>
                        <a:t>Random Forest</a:t>
                      </a:r>
                      <a:endParaRPr lang="en-US" sz="3200" b="1" dirty="0"/>
                    </a:p>
                  </a:txBody>
                  <a:tcPr/>
                </a:tc>
                <a:tc>
                  <a:txBody>
                    <a:bodyPr/>
                    <a:lstStyle/>
                    <a:p>
                      <a:pPr algn="ctr"/>
                      <a:r>
                        <a:rPr lang="en-US" sz="3200" b="1" dirty="0"/>
                        <a:t>Boosting</a:t>
                      </a:r>
                    </a:p>
                  </a:txBody>
                  <a:tcPr/>
                </a:tc>
                <a:extLst>
                  <a:ext uri="{0D108BD9-81ED-4DB2-BD59-A6C34878D82A}">
                    <a16:rowId xmlns:a16="http://schemas.microsoft.com/office/drawing/2014/main" val="3811118853"/>
                  </a:ext>
                </a:extLst>
              </a:tr>
              <a:tr h="725953">
                <a:tc>
                  <a:txBody>
                    <a:bodyPr/>
                    <a:lstStyle/>
                    <a:p>
                      <a:pPr algn="l"/>
                      <a:r>
                        <a:rPr lang="en-US" i="1" dirty="0"/>
                        <a:t>Tree Training</a:t>
                      </a:r>
                    </a:p>
                  </a:txBody>
                  <a:tcPr/>
                </a:tc>
                <a:tc>
                  <a:txBody>
                    <a:bodyPr/>
                    <a:lstStyle/>
                    <a:p>
                      <a:pPr algn="l"/>
                      <a:r>
                        <a:rPr lang="en-US" dirty="0"/>
                        <a:t>Parallel</a:t>
                      </a:r>
                    </a:p>
                  </a:txBody>
                  <a:tcPr/>
                </a:tc>
                <a:tc>
                  <a:txBody>
                    <a:bodyPr/>
                    <a:lstStyle/>
                    <a:p>
                      <a:pPr algn="l"/>
                      <a:r>
                        <a:rPr lang="en-US" dirty="0"/>
                        <a:t>Sequential</a:t>
                      </a:r>
                    </a:p>
                  </a:txBody>
                  <a:tcPr/>
                </a:tc>
                <a:extLst>
                  <a:ext uri="{0D108BD9-81ED-4DB2-BD59-A6C34878D82A}">
                    <a16:rowId xmlns:a16="http://schemas.microsoft.com/office/drawing/2014/main" val="3841600461"/>
                  </a:ext>
                </a:extLst>
              </a:tr>
              <a:tr h="725953">
                <a:tc>
                  <a:txBody>
                    <a:bodyPr/>
                    <a:lstStyle/>
                    <a:p>
                      <a:pPr algn="l"/>
                      <a:r>
                        <a:rPr lang="en-US" i="1" dirty="0"/>
                        <a:t>Goal</a:t>
                      </a:r>
                    </a:p>
                  </a:txBody>
                  <a:tcPr/>
                </a:tc>
                <a:tc>
                  <a:txBody>
                    <a:bodyPr/>
                    <a:lstStyle/>
                    <a:p>
                      <a:pPr algn="l"/>
                      <a:r>
                        <a:rPr lang="en-US" dirty="0"/>
                        <a:t>Reduce variance</a:t>
                      </a:r>
                    </a:p>
                  </a:txBody>
                  <a:tcPr/>
                </a:tc>
                <a:tc>
                  <a:txBody>
                    <a:bodyPr/>
                    <a:lstStyle/>
                    <a:p>
                      <a:pPr algn="l"/>
                      <a:r>
                        <a:rPr lang="en-US" dirty="0"/>
                        <a:t>Reduce bias</a:t>
                      </a:r>
                    </a:p>
                  </a:txBody>
                  <a:tcPr/>
                </a:tc>
                <a:extLst>
                  <a:ext uri="{0D108BD9-81ED-4DB2-BD59-A6C34878D82A}">
                    <a16:rowId xmlns:a16="http://schemas.microsoft.com/office/drawing/2014/main" val="2673147668"/>
                  </a:ext>
                </a:extLst>
              </a:tr>
              <a:tr h="725953">
                <a:tc>
                  <a:txBody>
                    <a:bodyPr/>
                    <a:lstStyle/>
                    <a:p>
                      <a:pPr algn="l"/>
                      <a:r>
                        <a:rPr lang="en-US" i="1" dirty="0"/>
                        <a:t>Data Sampling</a:t>
                      </a:r>
                    </a:p>
                  </a:txBody>
                  <a:tcPr/>
                </a:tc>
                <a:tc>
                  <a:txBody>
                    <a:bodyPr/>
                    <a:lstStyle/>
                    <a:p>
                      <a:pPr algn="l"/>
                      <a:r>
                        <a:rPr lang="en-US" dirty="0"/>
                        <a:t>Bootstrapping</a:t>
                      </a:r>
                    </a:p>
                  </a:txBody>
                  <a:tcPr/>
                </a:tc>
                <a:tc>
                  <a:txBody>
                    <a:bodyPr/>
                    <a:lstStyle/>
                    <a:p>
                      <a:pPr algn="l"/>
                      <a:r>
                        <a:rPr lang="en-US" dirty="0"/>
                        <a:t>Weight by previous error</a:t>
                      </a:r>
                    </a:p>
                  </a:txBody>
                  <a:tcPr/>
                </a:tc>
                <a:extLst>
                  <a:ext uri="{0D108BD9-81ED-4DB2-BD59-A6C34878D82A}">
                    <a16:rowId xmlns:a16="http://schemas.microsoft.com/office/drawing/2014/main" val="1814111713"/>
                  </a:ext>
                </a:extLst>
              </a:tr>
              <a:tr h="725953">
                <a:tc>
                  <a:txBody>
                    <a:bodyPr/>
                    <a:lstStyle/>
                    <a:p>
                      <a:pPr algn="l"/>
                      <a:r>
                        <a:rPr lang="en-US" i="1" dirty="0"/>
                        <a:t>Aggregation</a:t>
                      </a:r>
                    </a:p>
                  </a:txBody>
                  <a:tcPr/>
                </a:tc>
                <a:tc>
                  <a:txBody>
                    <a:bodyPr/>
                    <a:lstStyle/>
                    <a:p>
                      <a:pPr algn="l"/>
                      <a:r>
                        <a:rPr lang="en-US" dirty="0"/>
                        <a:t>Voting / Average</a:t>
                      </a:r>
                    </a:p>
                  </a:txBody>
                  <a:tcPr/>
                </a:tc>
                <a:tc>
                  <a:txBody>
                    <a:bodyPr/>
                    <a:lstStyle/>
                    <a:p>
                      <a:pPr algn="l"/>
                      <a:r>
                        <a:rPr lang="en-US" dirty="0"/>
                        <a:t>Weighted Sum</a:t>
                      </a:r>
                    </a:p>
                  </a:txBody>
                  <a:tcPr/>
                </a:tc>
                <a:extLst>
                  <a:ext uri="{0D108BD9-81ED-4DB2-BD59-A6C34878D82A}">
                    <a16:rowId xmlns:a16="http://schemas.microsoft.com/office/drawing/2014/main" val="3623262705"/>
                  </a:ext>
                </a:extLst>
              </a:tr>
              <a:tr h="725953">
                <a:tc>
                  <a:txBody>
                    <a:bodyPr/>
                    <a:lstStyle/>
                    <a:p>
                      <a:pPr algn="l"/>
                      <a:r>
                        <a:rPr lang="en-US" i="1" dirty="0"/>
                        <a:t>Risk</a:t>
                      </a:r>
                    </a:p>
                  </a:txBody>
                  <a:tcPr/>
                </a:tc>
                <a:tc>
                  <a:txBody>
                    <a:bodyPr/>
                    <a:lstStyle/>
                    <a:p>
                      <a:pPr algn="l"/>
                      <a:r>
                        <a:rPr lang="en-US" dirty="0"/>
                        <a:t>Underfit</a:t>
                      </a:r>
                    </a:p>
                  </a:txBody>
                  <a:tcPr/>
                </a:tc>
                <a:tc>
                  <a:txBody>
                    <a:bodyPr/>
                    <a:lstStyle/>
                    <a:p>
                      <a:pPr algn="l"/>
                      <a:r>
                        <a:rPr lang="en-US" dirty="0"/>
                        <a:t>Overfit</a:t>
                      </a:r>
                    </a:p>
                  </a:txBody>
                  <a:tcPr/>
                </a:tc>
                <a:extLst>
                  <a:ext uri="{0D108BD9-81ED-4DB2-BD59-A6C34878D82A}">
                    <a16:rowId xmlns:a16="http://schemas.microsoft.com/office/drawing/2014/main" val="2684139393"/>
                  </a:ext>
                </a:extLst>
              </a:tr>
            </a:tbl>
          </a:graphicData>
        </a:graphic>
      </p:graphicFrame>
    </p:spTree>
    <p:extLst>
      <p:ext uri="{BB962C8B-B14F-4D97-AF65-F5344CB8AC3E}">
        <p14:creationId xmlns:p14="http://schemas.microsoft.com/office/powerpoint/2010/main" val="8371583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08793-23FD-D42C-ADC7-B34E8DE29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222F8-58C4-3634-5322-6EFE130C4355}"/>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118C948B-91B1-1D25-200C-763FD1809651}"/>
              </a:ext>
            </a:extLst>
          </p:cNvPr>
          <p:cNvSpPr>
            <a:spLocks noGrp="1"/>
          </p:cNvSpPr>
          <p:nvPr>
            <p:ph idx="1"/>
          </p:nvPr>
        </p:nvSpPr>
        <p:spPr/>
        <p:txBody>
          <a:bodyPr/>
          <a:lstStyle/>
          <a:p>
            <a:r>
              <a:rPr lang="en-US" b="1" dirty="0"/>
              <a:t>Bagging</a:t>
            </a:r>
            <a:r>
              <a:rPr lang="en-US" dirty="0"/>
              <a:t> improves stability by averaging multiple trees.</a:t>
            </a:r>
          </a:p>
          <a:p>
            <a:r>
              <a:rPr lang="en-US" b="1" dirty="0"/>
              <a:t>Boosting</a:t>
            </a:r>
            <a:r>
              <a:rPr lang="en-US" dirty="0"/>
              <a:t> improves accuracy by iteratively refining mistakes.</a:t>
            </a:r>
          </a:p>
          <a:p>
            <a:endParaRPr lang="en-US" dirty="0"/>
          </a:p>
          <a:p>
            <a:r>
              <a:rPr lang="en-US" dirty="0"/>
              <a:t>Both are ways to get better performance from simple trees —</a:t>
            </a:r>
          </a:p>
          <a:p>
            <a:pPr lvl="1"/>
            <a:r>
              <a:rPr lang="en-US" dirty="0"/>
              <a:t>one by combining many independent models,</a:t>
            </a:r>
          </a:p>
          <a:p>
            <a:pPr lvl="1"/>
            <a:r>
              <a:rPr lang="en-US" dirty="0"/>
              <a:t>the other by combining many corrective ones.</a:t>
            </a:r>
          </a:p>
        </p:txBody>
      </p:sp>
    </p:spTree>
    <p:extLst>
      <p:ext uri="{BB962C8B-B14F-4D97-AF65-F5344CB8AC3E}">
        <p14:creationId xmlns:p14="http://schemas.microsoft.com/office/powerpoint/2010/main" val="252559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17187</TotalTime>
  <Words>2617</Words>
  <Application>Microsoft Macintosh PowerPoint</Application>
  <PresentationFormat>Widescreen</PresentationFormat>
  <Paragraphs>440</Paragraphs>
  <Slides>47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Calibri Light</vt:lpstr>
      <vt:lpstr>Cambria Math</vt:lpstr>
      <vt:lpstr>Courier New</vt:lpstr>
      <vt:lpstr>Office Theme</vt:lpstr>
      <vt:lpstr>Decision Trees</vt:lpstr>
      <vt:lpstr>Plan</vt:lpstr>
      <vt:lpstr>Decision Trees</vt:lpstr>
      <vt:lpstr>Terminology</vt:lpstr>
      <vt:lpstr>Terminology</vt:lpstr>
      <vt:lpstr>Geometric Interpretation of Decision Trees</vt:lpstr>
      <vt:lpstr>Decision Trees</vt:lpstr>
      <vt:lpstr>Decision Trees - Prediction</vt:lpstr>
      <vt:lpstr>PowerPoint Presentation</vt:lpstr>
      <vt:lpstr>PowerPoint Presentation</vt:lpstr>
      <vt:lpstr>How to construct a tree?  Training Phase </vt:lpstr>
      <vt:lpstr>Optimal Tree</vt:lpstr>
      <vt:lpstr>Optimal Tree</vt:lpstr>
      <vt:lpstr>Example</vt:lpstr>
      <vt:lpstr>Example</vt:lpstr>
      <vt:lpstr>Optimal Tree</vt:lpstr>
      <vt:lpstr>Greedy Strategy  –  CART (Classification and Regression Trees)</vt:lpstr>
      <vt:lpstr>CART (Classification and Regression Trees)</vt:lpstr>
      <vt:lpstr>Optimization/Splitting Criterion</vt:lpstr>
      <vt:lpstr>Possible Thresholds</vt:lpstr>
      <vt:lpstr>When to Stop?</vt:lpstr>
      <vt:lpstr>Illustration of the Algorithm</vt:lpstr>
      <vt:lpstr>PowerPoint Presentation</vt:lpstr>
      <vt:lpstr>PowerPoint Presentation</vt:lpstr>
      <vt:lpstr>PowerPoint Presentation</vt:lpstr>
      <vt:lpstr>PowerPoint Presentation</vt:lpstr>
      <vt:lpstr>Prediction Phase</vt:lpstr>
      <vt:lpstr>Prediction Phase</vt:lpstr>
      <vt:lpstr>Computational Complexity - FYI</vt:lpstr>
      <vt:lpstr>Tree Structure</vt:lpstr>
      <vt:lpstr>Tree Structure</vt:lpstr>
      <vt:lpstr>Tree Structure</vt:lpstr>
      <vt:lpstr>Sensitive to Feature Scaling?</vt:lpstr>
      <vt:lpstr>Advatanges, Disadvatanges</vt:lpstr>
      <vt:lpstr>Advantages</vt:lpstr>
      <vt:lpstr>Disadvantages</vt:lpstr>
      <vt:lpstr>Disadvantages</vt:lpstr>
      <vt:lpstr>Extensions</vt:lpstr>
      <vt:lpstr>Ensemble Methods</vt:lpstr>
      <vt:lpstr>Bagging and Random Forests</vt:lpstr>
      <vt:lpstr>Bootstrapping and Feature Selection</vt:lpstr>
      <vt:lpstr>Why Random Forests Work</vt:lpstr>
      <vt:lpstr>Boosting = Sequential Ensemble</vt:lpstr>
      <vt:lpstr>Boosting</vt:lpstr>
      <vt:lpstr>Boosting Intuition</vt:lpstr>
      <vt:lpstr>Comparing Forests vs Boosting</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dc:title>
  <dc:creator>Nowling, RJ</dc:creator>
  <cp:lastModifiedBy>Bukowy, John</cp:lastModifiedBy>
  <cp:revision>72</cp:revision>
  <dcterms:created xsi:type="dcterms:W3CDTF">2018-10-01T16:21:54Z</dcterms:created>
  <dcterms:modified xsi:type="dcterms:W3CDTF">2025-10-10T18:37:06Z</dcterms:modified>
</cp:coreProperties>
</file>