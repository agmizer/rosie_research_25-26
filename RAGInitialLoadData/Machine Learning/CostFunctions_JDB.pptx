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601" r:id="rId3"/>
    <p:sldId id="602" r:id="rId4"/>
    <p:sldId id="603" r:id="rId5"/>
    <p:sldId id="500" r:id="rId6"/>
    <p:sldId id="503" r:id="rId7"/>
    <p:sldId id="492" r:id="rId8"/>
    <p:sldId id="573" r:id="rId9"/>
    <p:sldId id="604" r:id="rId10"/>
    <p:sldId id="493" r:id="rId11"/>
    <p:sldId id="498" r:id="rId12"/>
    <p:sldId id="495" r:id="rId13"/>
    <p:sldId id="496" r:id="rId14"/>
    <p:sldId id="497" r:id="rId15"/>
    <p:sldId id="605" r:id="rId16"/>
    <p:sldId id="289" r:id="rId17"/>
    <p:sldId id="606" r:id="rId18"/>
    <p:sldId id="607" r:id="rId19"/>
    <p:sldId id="560" r:id="rId20"/>
    <p:sldId id="562" r:id="rId21"/>
    <p:sldId id="563" r:id="rId22"/>
    <p:sldId id="564" r:id="rId23"/>
    <p:sldId id="566" r:id="rId24"/>
    <p:sldId id="567" r:id="rId25"/>
    <p:sldId id="568" r:id="rId26"/>
    <p:sldId id="569" r:id="rId27"/>
    <p:sldId id="570" r:id="rId28"/>
    <p:sldId id="571" r:id="rId29"/>
    <p:sldId id="572" r:id="rId30"/>
    <p:sldId id="574" r:id="rId31"/>
    <p:sldId id="575" r:id="rId32"/>
    <p:sldId id="576" r:id="rId33"/>
    <p:sldId id="577" r:id="rId34"/>
    <p:sldId id="580" r:id="rId35"/>
    <p:sldId id="582" r:id="rId36"/>
    <p:sldId id="581" r:id="rId37"/>
    <p:sldId id="583" r:id="rId38"/>
    <p:sldId id="58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3" autoAdjust="0"/>
    <p:restoredTop sz="94660"/>
  </p:normalViewPr>
  <p:slideViewPr>
    <p:cSldViewPr snapToGrid="0">
      <p:cViewPr varScale="1">
        <p:scale>
          <a:sx n="118" d="100"/>
          <a:sy n="118" d="100"/>
        </p:scale>
        <p:origin x="240"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4969C-C4A3-CA95-D0A2-44098DADAD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A3B690-C72C-CA35-CD66-BD9A1FE0D8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F400B3-F12A-9D58-2B36-56D7D63EE4DC}"/>
              </a:ext>
            </a:extLst>
          </p:cNvPr>
          <p:cNvSpPr>
            <a:spLocks noGrp="1"/>
          </p:cNvSpPr>
          <p:nvPr>
            <p:ph type="dt" sz="half" idx="10"/>
          </p:nvPr>
        </p:nvSpPr>
        <p:spPr/>
        <p:txBody>
          <a:bodyPr/>
          <a:lstStyle/>
          <a:p>
            <a:fld id="{1CCCBF73-038B-4B7B-A614-EE94DF6DB8E4}" type="datetimeFigureOut">
              <a:rPr lang="en-US" smtClean="0"/>
              <a:t>3/25/24</a:t>
            </a:fld>
            <a:endParaRPr lang="en-US"/>
          </a:p>
        </p:txBody>
      </p:sp>
      <p:sp>
        <p:nvSpPr>
          <p:cNvPr id="5" name="Footer Placeholder 4">
            <a:extLst>
              <a:ext uri="{FF2B5EF4-FFF2-40B4-BE49-F238E27FC236}">
                <a16:creationId xmlns:a16="http://schemas.microsoft.com/office/drawing/2014/main" id="{66D6EA88-F599-384E-34BE-B8290A3B65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056DBC-E54F-2FA0-E051-5790FA9426A0}"/>
              </a:ext>
            </a:extLst>
          </p:cNvPr>
          <p:cNvSpPr>
            <a:spLocks noGrp="1"/>
          </p:cNvSpPr>
          <p:nvPr>
            <p:ph type="sldNum" sz="quarter" idx="12"/>
          </p:nvPr>
        </p:nvSpPr>
        <p:spPr/>
        <p:txBody>
          <a:bodyPr/>
          <a:lstStyle/>
          <a:p>
            <a:fld id="{B786F20B-6E13-4124-9CC9-4D2BD6C83126}" type="slidenum">
              <a:rPr lang="en-US" smtClean="0"/>
              <a:t>‹#›</a:t>
            </a:fld>
            <a:endParaRPr lang="en-US"/>
          </a:p>
        </p:txBody>
      </p:sp>
    </p:spTree>
    <p:extLst>
      <p:ext uri="{BB962C8B-B14F-4D97-AF65-F5344CB8AC3E}">
        <p14:creationId xmlns:p14="http://schemas.microsoft.com/office/powerpoint/2010/main" val="1155093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18DE7-6BAF-0C58-8B1F-05F7435B0A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62FD69-D92C-45F8-5632-8A2EF8CAC0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75A09-5C3E-F7D1-BD53-2C35B5386911}"/>
              </a:ext>
            </a:extLst>
          </p:cNvPr>
          <p:cNvSpPr>
            <a:spLocks noGrp="1"/>
          </p:cNvSpPr>
          <p:nvPr>
            <p:ph type="dt" sz="half" idx="10"/>
          </p:nvPr>
        </p:nvSpPr>
        <p:spPr/>
        <p:txBody>
          <a:bodyPr/>
          <a:lstStyle/>
          <a:p>
            <a:fld id="{1CCCBF73-038B-4B7B-A614-EE94DF6DB8E4}" type="datetimeFigureOut">
              <a:rPr lang="en-US" smtClean="0"/>
              <a:t>3/25/24</a:t>
            </a:fld>
            <a:endParaRPr lang="en-US"/>
          </a:p>
        </p:txBody>
      </p:sp>
      <p:sp>
        <p:nvSpPr>
          <p:cNvPr id="5" name="Footer Placeholder 4">
            <a:extLst>
              <a:ext uri="{FF2B5EF4-FFF2-40B4-BE49-F238E27FC236}">
                <a16:creationId xmlns:a16="http://schemas.microsoft.com/office/drawing/2014/main" id="{B7AC9D4E-DC61-CF11-FB76-7EF36C93E8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510693-6DA3-FF55-DB82-697F9C38CC1D}"/>
              </a:ext>
            </a:extLst>
          </p:cNvPr>
          <p:cNvSpPr>
            <a:spLocks noGrp="1"/>
          </p:cNvSpPr>
          <p:nvPr>
            <p:ph type="sldNum" sz="quarter" idx="12"/>
          </p:nvPr>
        </p:nvSpPr>
        <p:spPr/>
        <p:txBody>
          <a:bodyPr/>
          <a:lstStyle/>
          <a:p>
            <a:fld id="{B786F20B-6E13-4124-9CC9-4D2BD6C83126}" type="slidenum">
              <a:rPr lang="en-US" smtClean="0"/>
              <a:t>‹#›</a:t>
            </a:fld>
            <a:endParaRPr lang="en-US"/>
          </a:p>
        </p:txBody>
      </p:sp>
    </p:spTree>
    <p:extLst>
      <p:ext uri="{BB962C8B-B14F-4D97-AF65-F5344CB8AC3E}">
        <p14:creationId xmlns:p14="http://schemas.microsoft.com/office/powerpoint/2010/main" val="3615005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2466-61F5-B53B-4D2B-1210C81588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655D71-1EA6-6084-61EA-B64D17E096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58C87F-6D53-44E9-45F4-A32B7F106037}"/>
              </a:ext>
            </a:extLst>
          </p:cNvPr>
          <p:cNvSpPr>
            <a:spLocks noGrp="1"/>
          </p:cNvSpPr>
          <p:nvPr>
            <p:ph type="dt" sz="half" idx="10"/>
          </p:nvPr>
        </p:nvSpPr>
        <p:spPr/>
        <p:txBody>
          <a:bodyPr/>
          <a:lstStyle/>
          <a:p>
            <a:fld id="{1CCCBF73-038B-4B7B-A614-EE94DF6DB8E4}" type="datetimeFigureOut">
              <a:rPr lang="en-US" smtClean="0"/>
              <a:t>3/25/24</a:t>
            </a:fld>
            <a:endParaRPr lang="en-US"/>
          </a:p>
        </p:txBody>
      </p:sp>
      <p:sp>
        <p:nvSpPr>
          <p:cNvPr id="5" name="Footer Placeholder 4">
            <a:extLst>
              <a:ext uri="{FF2B5EF4-FFF2-40B4-BE49-F238E27FC236}">
                <a16:creationId xmlns:a16="http://schemas.microsoft.com/office/drawing/2014/main" id="{5AADA464-C7B1-9B6F-988C-DF06B15512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AE7D4-67B4-FF75-003C-6688CF1D094B}"/>
              </a:ext>
            </a:extLst>
          </p:cNvPr>
          <p:cNvSpPr>
            <a:spLocks noGrp="1"/>
          </p:cNvSpPr>
          <p:nvPr>
            <p:ph type="sldNum" sz="quarter" idx="12"/>
          </p:nvPr>
        </p:nvSpPr>
        <p:spPr/>
        <p:txBody>
          <a:bodyPr/>
          <a:lstStyle/>
          <a:p>
            <a:fld id="{B786F20B-6E13-4124-9CC9-4D2BD6C83126}" type="slidenum">
              <a:rPr lang="en-US" smtClean="0"/>
              <a:t>‹#›</a:t>
            </a:fld>
            <a:endParaRPr lang="en-US"/>
          </a:p>
        </p:txBody>
      </p:sp>
    </p:spTree>
    <p:extLst>
      <p:ext uri="{BB962C8B-B14F-4D97-AF65-F5344CB8AC3E}">
        <p14:creationId xmlns:p14="http://schemas.microsoft.com/office/powerpoint/2010/main" val="824740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51FCA-23AC-7552-D202-0F4BE69CC0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F9E8FB-5F96-4A32-23D5-C652B74107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BB4C50-0590-AE77-A15B-D17DF7F622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6AFF4D-4657-2279-4688-33CF6FA66353}"/>
              </a:ext>
            </a:extLst>
          </p:cNvPr>
          <p:cNvSpPr>
            <a:spLocks noGrp="1"/>
          </p:cNvSpPr>
          <p:nvPr>
            <p:ph type="dt" sz="half" idx="10"/>
          </p:nvPr>
        </p:nvSpPr>
        <p:spPr/>
        <p:txBody>
          <a:bodyPr/>
          <a:lstStyle/>
          <a:p>
            <a:fld id="{1CCCBF73-038B-4B7B-A614-EE94DF6DB8E4}" type="datetimeFigureOut">
              <a:rPr lang="en-US" smtClean="0"/>
              <a:t>3/25/24</a:t>
            </a:fld>
            <a:endParaRPr lang="en-US"/>
          </a:p>
        </p:txBody>
      </p:sp>
      <p:sp>
        <p:nvSpPr>
          <p:cNvPr id="6" name="Footer Placeholder 5">
            <a:extLst>
              <a:ext uri="{FF2B5EF4-FFF2-40B4-BE49-F238E27FC236}">
                <a16:creationId xmlns:a16="http://schemas.microsoft.com/office/drawing/2014/main" id="{3A4605EC-954A-B56F-56D0-83F8A589CF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F9E388-8BA9-5675-7A7B-D9346CC41A73}"/>
              </a:ext>
            </a:extLst>
          </p:cNvPr>
          <p:cNvSpPr>
            <a:spLocks noGrp="1"/>
          </p:cNvSpPr>
          <p:nvPr>
            <p:ph type="sldNum" sz="quarter" idx="12"/>
          </p:nvPr>
        </p:nvSpPr>
        <p:spPr/>
        <p:txBody>
          <a:bodyPr/>
          <a:lstStyle/>
          <a:p>
            <a:fld id="{B786F20B-6E13-4124-9CC9-4D2BD6C83126}" type="slidenum">
              <a:rPr lang="en-US" smtClean="0"/>
              <a:t>‹#›</a:t>
            </a:fld>
            <a:endParaRPr lang="en-US"/>
          </a:p>
        </p:txBody>
      </p:sp>
    </p:spTree>
    <p:extLst>
      <p:ext uri="{BB962C8B-B14F-4D97-AF65-F5344CB8AC3E}">
        <p14:creationId xmlns:p14="http://schemas.microsoft.com/office/powerpoint/2010/main" val="1488137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8D158-48C5-8C09-DE77-2F96B4B6C8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1BD47A-5226-7C21-7587-867552CD5B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377876-F6D3-71B7-3A90-5E3C78FBDD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CD410F-B14F-19EF-DE48-E7BEDC4B4C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3B7725-3EDB-B14D-B4FD-ABACFD1854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11E6C5-6F4B-9798-98EA-505C63C671E6}"/>
              </a:ext>
            </a:extLst>
          </p:cNvPr>
          <p:cNvSpPr>
            <a:spLocks noGrp="1"/>
          </p:cNvSpPr>
          <p:nvPr>
            <p:ph type="dt" sz="half" idx="10"/>
          </p:nvPr>
        </p:nvSpPr>
        <p:spPr/>
        <p:txBody>
          <a:bodyPr/>
          <a:lstStyle/>
          <a:p>
            <a:fld id="{1CCCBF73-038B-4B7B-A614-EE94DF6DB8E4}" type="datetimeFigureOut">
              <a:rPr lang="en-US" smtClean="0"/>
              <a:t>3/25/24</a:t>
            </a:fld>
            <a:endParaRPr lang="en-US"/>
          </a:p>
        </p:txBody>
      </p:sp>
      <p:sp>
        <p:nvSpPr>
          <p:cNvPr id="8" name="Footer Placeholder 7">
            <a:extLst>
              <a:ext uri="{FF2B5EF4-FFF2-40B4-BE49-F238E27FC236}">
                <a16:creationId xmlns:a16="http://schemas.microsoft.com/office/drawing/2014/main" id="{1B591E76-12EB-574B-C243-A4BF766709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993E1E-ED76-9C92-F3EE-D72790A86B5A}"/>
              </a:ext>
            </a:extLst>
          </p:cNvPr>
          <p:cNvSpPr>
            <a:spLocks noGrp="1"/>
          </p:cNvSpPr>
          <p:nvPr>
            <p:ph type="sldNum" sz="quarter" idx="12"/>
          </p:nvPr>
        </p:nvSpPr>
        <p:spPr/>
        <p:txBody>
          <a:bodyPr/>
          <a:lstStyle/>
          <a:p>
            <a:fld id="{B786F20B-6E13-4124-9CC9-4D2BD6C83126}" type="slidenum">
              <a:rPr lang="en-US" smtClean="0"/>
              <a:t>‹#›</a:t>
            </a:fld>
            <a:endParaRPr lang="en-US"/>
          </a:p>
        </p:txBody>
      </p:sp>
    </p:spTree>
    <p:extLst>
      <p:ext uri="{BB962C8B-B14F-4D97-AF65-F5344CB8AC3E}">
        <p14:creationId xmlns:p14="http://schemas.microsoft.com/office/powerpoint/2010/main" val="3192229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570A8-9C47-0378-46A9-68D981FB7E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2AAD5A-D51D-A72B-F571-A228EE5B1F98}"/>
              </a:ext>
            </a:extLst>
          </p:cNvPr>
          <p:cNvSpPr>
            <a:spLocks noGrp="1"/>
          </p:cNvSpPr>
          <p:nvPr>
            <p:ph type="dt" sz="half" idx="10"/>
          </p:nvPr>
        </p:nvSpPr>
        <p:spPr/>
        <p:txBody>
          <a:bodyPr/>
          <a:lstStyle/>
          <a:p>
            <a:fld id="{1CCCBF73-038B-4B7B-A614-EE94DF6DB8E4}" type="datetimeFigureOut">
              <a:rPr lang="en-US" smtClean="0"/>
              <a:t>3/25/24</a:t>
            </a:fld>
            <a:endParaRPr lang="en-US"/>
          </a:p>
        </p:txBody>
      </p:sp>
      <p:sp>
        <p:nvSpPr>
          <p:cNvPr id="4" name="Footer Placeholder 3">
            <a:extLst>
              <a:ext uri="{FF2B5EF4-FFF2-40B4-BE49-F238E27FC236}">
                <a16:creationId xmlns:a16="http://schemas.microsoft.com/office/drawing/2014/main" id="{7543C6EE-34BB-68FD-86D9-94050FFB29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5F4F26-7218-47C4-0DA8-3F3DC63AFD14}"/>
              </a:ext>
            </a:extLst>
          </p:cNvPr>
          <p:cNvSpPr>
            <a:spLocks noGrp="1"/>
          </p:cNvSpPr>
          <p:nvPr>
            <p:ph type="sldNum" sz="quarter" idx="12"/>
          </p:nvPr>
        </p:nvSpPr>
        <p:spPr/>
        <p:txBody>
          <a:bodyPr/>
          <a:lstStyle/>
          <a:p>
            <a:fld id="{B786F20B-6E13-4124-9CC9-4D2BD6C83126}" type="slidenum">
              <a:rPr lang="en-US" smtClean="0"/>
              <a:t>‹#›</a:t>
            </a:fld>
            <a:endParaRPr lang="en-US"/>
          </a:p>
        </p:txBody>
      </p:sp>
    </p:spTree>
    <p:extLst>
      <p:ext uri="{BB962C8B-B14F-4D97-AF65-F5344CB8AC3E}">
        <p14:creationId xmlns:p14="http://schemas.microsoft.com/office/powerpoint/2010/main" val="1462630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AE09CE-C018-4105-6A8F-C537B792D9BA}"/>
              </a:ext>
            </a:extLst>
          </p:cNvPr>
          <p:cNvSpPr>
            <a:spLocks noGrp="1"/>
          </p:cNvSpPr>
          <p:nvPr>
            <p:ph type="dt" sz="half" idx="10"/>
          </p:nvPr>
        </p:nvSpPr>
        <p:spPr/>
        <p:txBody>
          <a:bodyPr/>
          <a:lstStyle/>
          <a:p>
            <a:fld id="{1CCCBF73-038B-4B7B-A614-EE94DF6DB8E4}" type="datetimeFigureOut">
              <a:rPr lang="en-US" smtClean="0"/>
              <a:t>3/25/24</a:t>
            </a:fld>
            <a:endParaRPr lang="en-US"/>
          </a:p>
        </p:txBody>
      </p:sp>
      <p:sp>
        <p:nvSpPr>
          <p:cNvPr id="3" name="Footer Placeholder 2">
            <a:extLst>
              <a:ext uri="{FF2B5EF4-FFF2-40B4-BE49-F238E27FC236}">
                <a16:creationId xmlns:a16="http://schemas.microsoft.com/office/drawing/2014/main" id="{38943432-F75F-01CE-E77A-E9174DD44A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B2B63F-88B3-9331-E6D4-3B9117D2D12C}"/>
              </a:ext>
            </a:extLst>
          </p:cNvPr>
          <p:cNvSpPr>
            <a:spLocks noGrp="1"/>
          </p:cNvSpPr>
          <p:nvPr>
            <p:ph type="sldNum" sz="quarter" idx="12"/>
          </p:nvPr>
        </p:nvSpPr>
        <p:spPr/>
        <p:txBody>
          <a:bodyPr/>
          <a:lstStyle/>
          <a:p>
            <a:fld id="{B786F20B-6E13-4124-9CC9-4D2BD6C83126}" type="slidenum">
              <a:rPr lang="en-US" smtClean="0"/>
              <a:t>‹#›</a:t>
            </a:fld>
            <a:endParaRPr lang="en-US"/>
          </a:p>
        </p:txBody>
      </p:sp>
    </p:spTree>
    <p:extLst>
      <p:ext uri="{BB962C8B-B14F-4D97-AF65-F5344CB8AC3E}">
        <p14:creationId xmlns:p14="http://schemas.microsoft.com/office/powerpoint/2010/main" val="1645060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47E65-216B-05D0-3C9C-723A467EC2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16BB1C-4D1B-9B93-6425-836AFB8BDF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806540-73BF-13FD-458C-0833140CED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E2BBC8-1882-D3E8-4A8E-DE5DB0CC06D8}"/>
              </a:ext>
            </a:extLst>
          </p:cNvPr>
          <p:cNvSpPr>
            <a:spLocks noGrp="1"/>
          </p:cNvSpPr>
          <p:nvPr>
            <p:ph type="dt" sz="half" idx="10"/>
          </p:nvPr>
        </p:nvSpPr>
        <p:spPr/>
        <p:txBody>
          <a:bodyPr/>
          <a:lstStyle/>
          <a:p>
            <a:fld id="{1CCCBF73-038B-4B7B-A614-EE94DF6DB8E4}" type="datetimeFigureOut">
              <a:rPr lang="en-US" smtClean="0"/>
              <a:t>3/25/24</a:t>
            </a:fld>
            <a:endParaRPr lang="en-US"/>
          </a:p>
        </p:txBody>
      </p:sp>
      <p:sp>
        <p:nvSpPr>
          <p:cNvPr id="6" name="Footer Placeholder 5">
            <a:extLst>
              <a:ext uri="{FF2B5EF4-FFF2-40B4-BE49-F238E27FC236}">
                <a16:creationId xmlns:a16="http://schemas.microsoft.com/office/drawing/2014/main" id="{11793829-12AA-1F35-49D0-094727AC65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9BFB1E-700C-61A7-476B-9D5ED83AF946}"/>
              </a:ext>
            </a:extLst>
          </p:cNvPr>
          <p:cNvSpPr>
            <a:spLocks noGrp="1"/>
          </p:cNvSpPr>
          <p:nvPr>
            <p:ph type="sldNum" sz="quarter" idx="12"/>
          </p:nvPr>
        </p:nvSpPr>
        <p:spPr/>
        <p:txBody>
          <a:bodyPr/>
          <a:lstStyle/>
          <a:p>
            <a:fld id="{B786F20B-6E13-4124-9CC9-4D2BD6C83126}" type="slidenum">
              <a:rPr lang="en-US" smtClean="0"/>
              <a:t>‹#›</a:t>
            </a:fld>
            <a:endParaRPr lang="en-US"/>
          </a:p>
        </p:txBody>
      </p:sp>
    </p:spTree>
    <p:extLst>
      <p:ext uri="{BB962C8B-B14F-4D97-AF65-F5344CB8AC3E}">
        <p14:creationId xmlns:p14="http://schemas.microsoft.com/office/powerpoint/2010/main" val="3264797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8DBB6-F5C2-8A15-75CB-125464EA5E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65DBA0-EF57-E2B9-8EC3-4862060665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DF0075-9DD0-FD99-92EF-600D5196FC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0684C-74DC-4046-F744-EA9B38F40888}"/>
              </a:ext>
            </a:extLst>
          </p:cNvPr>
          <p:cNvSpPr>
            <a:spLocks noGrp="1"/>
          </p:cNvSpPr>
          <p:nvPr>
            <p:ph type="dt" sz="half" idx="10"/>
          </p:nvPr>
        </p:nvSpPr>
        <p:spPr/>
        <p:txBody>
          <a:bodyPr/>
          <a:lstStyle/>
          <a:p>
            <a:fld id="{1CCCBF73-038B-4B7B-A614-EE94DF6DB8E4}" type="datetimeFigureOut">
              <a:rPr lang="en-US" smtClean="0"/>
              <a:t>3/25/24</a:t>
            </a:fld>
            <a:endParaRPr lang="en-US"/>
          </a:p>
        </p:txBody>
      </p:sp>
      <p:sp>
        <p:nvSpPr>
          <p:cNvPr id="6" name="Footer Placeholder 5">
            <a:extLst>
              <a:ext uri="{FF2B5EF4-FFF2-40B4-BE49-F238E27FC236}">
                <a16:creationId xmlns:a16="http://schemas.microsoft.com/office/drawing/2014/main" id="{39384966-7C31-9259-C23B-C8C4F8D892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39C1DD-43C8-05A1-91CE-70EF3CC91EB4}"/>
              </a:ext>
            </a:extLst>
          </p:cNvPr>
          <p:cNvSpPr>
            <a:spLocks noGrp="1"/>
          </p:cNvSpPr>
          <p:nvPr>
            <p:ph type="sldNum" sz="quarter" idx="12"/>
          </p:nvPr>
        </p:nvSpPr>
        <p:spPr/>
        <p:txBody>
          <a:bodyPr/>
          <a:lstStyle/>
          <a:p>
            <a:fld id="{B786F20B-6E13-4124-9CC9-4D2BD6C83126}" type="slidenum">
              <a:rPr lang="en-US" smtClean="0"/>
              <a:t>‹#›</a:t>
            </a:fld>
            <a:endParaRPr lang="en-US"/>
          </a:p>
        </p:txBody>
      </p:sp>
    </p:spTree>
    <p:extLst>
      <p:ext uri="{BB962C8B-B14F-4D97-AF65-F5344CB8AC3E}">
        <p14:creationId xmlns:p14="http://schemas.microsoft.com/office/powerpoint/2010/main" val="3576431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02D36-0B3F-0DE1-DF8F-0116224315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4E9A52-BB53-C8CF-EE2A-2D797FD275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B028CF-2DF5-F9E1-E15E-15230ADF20D6}"/>
              </a:ext>
            </a:extLst>
          </p:cNvPr>
          <p:cNvSpPr>
            <a:spLocks noGrp="1"/>
          </p:cNvSpPr>
          <p:nvPr>
            <p:ph type="dt" sz="half" idx="10"/>
          </p:nvPr>
        </p:nvSpPr>
        <p:spPr/>
        <p:txBody>
          <a:bodyPr/>
          <a:lstStyle/>
          <a:p>
            <a:fld id="{1CCCBF73-038B-4B7B-A614-EE94DF6DB8E4}" type="datetimeFigureOut">
              <a:rPr lang="en-US" smtClean="0"/>
              <a:t>3/25/24</a:t>
            </a:fld>
            <a:endParaRPr lang="en-US"/>
          </a:p>
        </p:txBody>
      </p:sp>
      <p:sp>
        <p:nvSpPr>
          <p:cNvPr id="5" name="Footer Placeholder 4">
            <a:extLst>
              <a:ext uri="{FF2B5EF4-FFF2-40B4-BE49-F238E27FC236}">
                <a16:creationId xmlns:a16="http://schemas.microsoft.com/office/drawing/2014/main" id="{C734C32B-400D-AD7B-FB4E-BA8A51E5F8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D62C22-2AEF-5016-965D-2117AF648EB9}"/>
              </a:ext>
            </a:extLst>
          </p:cNvPr>
          <p:cNvSpPr>
            <a:spLocks noGrp="1"/>
          </p:cNvSpPr>
          <p:nvPr>
            <p:ph type="sldNum" sz="quarter" idx="12"/>
          </p:nvPr>
        </p:nvSpPr>
        <p:spPr/>
        <p:txBody>
          <a:bodyPr/>
          <a:lstStyle/>
          <a:p>
            <a:fld id="{B786F20B-6E13-4124-9CC9-4D2BD6C83126}" type="slidenum">
              <a:rPr lang="en-US" smtClean="0"/>
              <a:t>‹#›</a:t>
            </a:fld>
            <a:endParaRPr lang="en-US"/>
          </a:p>
        </p:txBody>
      </p:sp>
    </p:spTree>
    <p:extLst>
      <p:ext uri="{BB962C8B-B14F-4D97-AF65-F5344CB8AC3E}">
        <p14:creationId xmlns:p14="http://schemas.microsoft.com/office/powerpoint/2010/main" val="1251158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AD6B7E-833C-94AE-3917-1668F67657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D3A2DEC-7041-8216-AB14-044ACB1813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B2BE48-2357-3776-8537-48F994FDA771}"/>
              </a:ext>
            </a:extLst>
          </p:cNvPr>
          <p:cNvSpPr>
            <a:spLocks noGrp="1"/>
          </p:cNvSpPr>
          <p:nvPr>
            <p:ph type="dt" sz="half" idx="10"/>
          </p:nvPr>
        </p:nvSpPr>
        <p:spPr/>
        <p:txBody>
          <a:bodyPr/>
          <a:lstStyle/>
          <a:p>
            <a:fld id="{1CCCBF73-038B-4B7B-A614-EE94DF6DB8E4}" type="datetimeFigureOut">
              <a:rPr lang="en-US" smtClean="0"/>
              <a:t>3/25/24</a:t>
            </a:fld>
            <a:endParaRPr lang="en-US"/>
          </a:p>
        </p:txBody>
      </p:sp>
      <p:sp>
        <p:nvSpPr>
          <p:cNvPr id="5" name="Footer Placeholder 4">
            <a:extLst>
              <a:ext uri="{FF2B5EF4-FFF2-40B4-BE49-F238E27FC236}">
                <a16:creationId xmlns:a16="http://schemas.microsoft.com/office/drawing/2014/main" id="{C71B9075-AA2C-1AA9-0649-06C8C14AB5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8FDE51-C153-7BFF-AC12-85BE5E43CFC7}"/>
              </a:ext>
            </a:extLst>
          </p:cNvPr>
          <p:cNvSpPr>
            <a:spLocks noGrp="1"/>
          </p:cNvSpPr>
          <p:nvPr>
            <p:ph type="sldNum" sz="quarter" idx="12"/>
          </p:nvPr>
        </p:nvSpPr>
        <p:spPr/>
        <p:txBody>
          <a:bodyPr/>
          <a:lstStyle/>
          <a:p>
            <a:fld id="{B786F20B-6E13-4124-9CC9-4D2BD6C83126}" type="slidenum">
              <a:rPr lang="en-US" smtClean="0"/>
              <a:t>‹#›</a:t>
            </a:fld>
            <a:endParaRPr lang="en-US"/>
          </a:p>
        </p:txBody>
      </p:sp>
    </p:spTree>
    <p:extLst>
      <p:ext uri="{BB962C8B-B14F-4D97-AF65-F5344CB8AC3E}">
        <p14:creationId xmlns:p14="http://schemas.microsoft.com/office/powerpoint/2010/main" val="94070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D206A8-8BBE-0BA1-BB02-8A86433752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B2E363-5EAC-C108-C108-F8C6DDEF11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03CC29-4FDC-89B5-7F56-3BEB3C56F6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CCBF73-038B-4B7B-A614-EE94DF6DB8E4}" type="datetimeFigureOut">
              <a:rPr lang="en-US" smtClean="0"/>
              <a:t>3/25/24</a:t>
            </a:fld>
            <a:endParaRPr lang="en-US"/>
          </a:p>
        </p:txBody>
      </p:sp>
      <p:sp>
        <p:nvSpPr>
          <p:cNvPr id="5" name="Footer Placeholder 4">
            <a:extLst>
              <a:ext uri="{FF2B5EF4-FFF2-40B4-BE49-F238E27FC236}">
                <a16:creationId xmlns:a16="http://schemas.microsoft.com/office/drawing/2014/main" id="{7CF0FBD3-9803-031D-516E-99F3944F40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CBF1D1-406C-F47F-5442-934219C309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86F20B-6E13-4124-9CC9-4D2BD6C83126}" type="slidenum">
              <a:rPr lang="en-US" smtClean="0"/>
              <a:t>‹#›</a:t>
            </a:fld>
            <a:endParaRPr lang="en-US"/>
          </a:p>
        </p:txBody>
      </p:sp>
    </p:spTree>
    <p:extLst>
      <p:ext uri="{BB962C8B-B14F-4D97-AF65-F5344CB8AC3E}">
        <p14:creationId xmlns:p14="http://schemas.microsoft.com/office/powerpoint/2010/main" val="3512912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40.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analyticsvidhya.com/blog/2017/02/lintroductory-guide-on-linear-programming-explained-in-simple-english/"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slideLayout" Target="../slideLayouts/slideLayout2.xml"/><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relate.cs.illinois.edu/course/cs357-f17/f/lectures/upload/sec-svd.pdf" TargetMode="External"/><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hyperlink" Target="http://www.seas.ucla.edu/~vandenbe/133A/lectures/ls.pdf" TargetMode="External"/><Relationship Id="rId4" Type="http://schemas.openxmlformats.org/officeDocument/2006/relationships/hyperlink" Target="http://www.seas.ucla.edu/~vandenbe/133A/lectures/qr.pdf"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B932-E397-4929-95D5-E688161E314F}"/>
              </a:ext>
            </a:extLst>
          </p:cNvPr>
          <p:cNvSpPr>
            <a:spLocks noGrp="1"/>
          </p:cNvSpPr>
          <p:nvPr>
            <p:ph type="ctrTitle"/>
          </p:nvPr>
        </p:nvSpPr>
        <p:spPr/>
        <p:txBody>
          <a:bodyPr>
            <a:normAutofit/>
          </a:bodyPr>
          <a:lstStyle/>
          <a:p>
            <a:r>
              <a:rPr lang="en-US" sz="4800" b="1" dirty="0"/>
              <a:t>Objective Functions – </a:t>
            </a:r>
            <a:br>
              <a:rPr lang="en-US" sz="4800" b="1" dirty="0"/>
            </a:br>
            <a:r>
              <a:rPr lang="en-US" sz="4800" b="1" dirty="0"/>
              <a:t>Loss &amp; Cost Functions - I</a:t>
            </a:r>
            <a:endParaRPr lang="en-US" sz="7200" b="1" dirty="0"/>
          </a:p>
        </p:txBody>
      </p:sp>
      <p:sp>
        <p:nvSpPr>
          <p:cNvPr id="3" name="Subtitle 2">
            <a:extLst>
              <a:ext uri="{FF2B5EF4-FFF2-40B4-BE49-F238E27FC236}">
                <a16:creationId xmlns:a16="http://schemas.microsoft.com/office/drawing/2014/main" id="{F8DE6D2B-55C7-4A2B-B516-E6D8FFBE9A9B}"/>
              </a:ext>
            </a:extLst>
          </p:cNvPr>
          <p:cNvSpPr>
            <a:spLocks noGrp="1"/>
          </p:cNvSpPr>
          <p:nvPr>
            <p:ph type="subTitle" idx="1"/>
          </p:nvPr>
        </p:nvSpPr>
        <p:spPr/>
        <p:txBody>
          <a:bodyPr>
            <a:normAutofit/>
          </a:bodyPr>
          <a:lstStyle/>
          <a:p>
            <a:r>
              <a:rPr lang="en-US" dirty="0"/>
              <a:t>CSC4601 Theory of Machine Learning</a:t>
            </a:r>
          </a:p>
        </p:txBody>
      </p:sp>
    </p:spTree>
    <p:extLst>
      <p:ext uri="{BB962C8B-B14F-4D97-AF65-F5344CB8AC3E}">
        <p14:creationId xmlns:p14="http://schemas.microsoft.com/office/powerpoint/2010/main" val="953135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D5F4DBC-D9F5-2CFB-E25D-27011AF664EC}"/>
              </a:ext>
            </a:extLst>
          </p:cNvPr>
          <p:cNvSpPr txBox="1"/>
          <p:nvPr/>
        </p:nvSpPr>
        <p:spPr>
          <a:xfrm>
            <a:off x="4038636" y="3156576"/>
            <a:ext cx="1115255" cy="27242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endParaRPr lang="en-US" dirty="0"/>
          </a:p>
        </p:txBody>
      </p:sp>
      <p:sp>
        <p:nvSpPr>
          <p:cNvPr id="5" name="Rectangle 4">
            <a:extLst>
              <a:ext uri="{FF2B5EF4-FFF2-40B4-BE49-F238E27FC236}">
                <a16:creationId xmlns:a16="http://schemas.microsoft.com/office/drawing/2014/main" id="{42C69428-62D3-61D5-B48D-2EB8DE609FA3}"/>
              </a:ext>
            </a:extLst>
          </p:cNvPr>
          <p:cNvSpPr/>
          <p:nvPr/>
        </p:nvSpPr>
        <p:spPr>
          <a:xfrm>
            <a:off x="3666993" y="2220238"/>
            <a:ext cx="2217107" cy="241752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Training</a:t>
            </a:r>
          </a:p>
          <a:p>
            <a:r>
              <a:rPr lang="en-US" sz="1600" dirty="0"/>
              <a:t>Use the training set to perform:</a:t>
            </a:r>
          </a:p>
          <a:p>
            <a:pPr marL="285750" indent="-285750">
              <a:buFontTx/>
              <a:buChar char="-"/>
            </a:pPr>
            <a:r>
              <a:rPr lang="en-US" sz="1600" dirty="0"/>
              <a:t>Model Fitting</a:t>
            </a:r>
          </a:p>
          <a:p>
            <a:pPr marL="285750" indent="-285750">
              <a:buFontTx/>
              <a:buChar char="-"/>
            </a:pPr>
            <a:r>
              <a:rPr lang="en-US" sz="1600" dirty="0"/>
              <a:t>Model selection: cross-validation, model tuning</a:t>
            </a:r>
          </a:p>
          <a:p>
            <a:endParaRPr lang="en-US" sz="1600" dirty="0"/>
          </a:p>
        </p:txBody>
      </p:sp>
      <p:sp>
        <p:nvSpPr>
          <p:cNvPr id="2" name="Title 1">
            <a:extLst>
              <a:ext uri="{FF2B5EF4-FFF2-40B4-BE49-F238E27FC236}">
                <a16:creationId xmlns:a16="http://schemas.microsoft.com/office/drawing/2014/main" id="{E98ED324-FE56-AB0D-608F-10F286E55590}"/>
              </a:ext>
            </a:extLst>
          </p:cNvPr>
          <p:cNvSpPr>
            <a:spLocks noGrp="1"/>
          </p:cNvSpPr>
          <p:nvPr>
            <p:ph type="title"/>
          </p:nvPr>
        </p:nvSpPr>
        <p:spPr/>
        <p:txBody>
          <a:bodyPr/>
          <a:lstStyle/>
          <a:p>
            <a:r>
              <a:rPr lang="en-US" b="1" dirty="0"/>
              <a:t>Overview</a:t>
            </a:r>
          </a:p>
        </p:txBody>
      </p:sp>
      <p:sp>
        <p:nvSpPr>
          <p:cNvPr id="4" name="Rectangle 3">
            <a:extLst>
              <a:ext uri="{FF2B5EF4-FFF2-40B4-BE49-F238E27FC236}">
                <a16:creationId xmlns:a16="http://schemas.microsoft.com/office/drawing/2014/main" id="{84EDFEA6-71B2-0B7F-F332-8D2BBDB2E147}"/>
              </a:ext>
            </a:extLst>
          </p:cNvPr>
          <p:cNvSpPr/>
          <p:nvPr/>
        </p:nvSpPr>
        <p:spPr>
          <a:xfrm>
            <a:off x="959283" y="2220238"/>
            <a:ext cx="2217107" cy="2417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Data Pre-processing</a:t>
            </a:r>
          </a:p>
          <a:p>
            <a:pPr marL="285750" indent="-285750">
              <a:buFontTx/>
              <a:buChar char="-"/>
            </a:pPr>
            <a:r>
              <a:rPr lang="en-US" sz="1600" dirty="0"/>
              <a:t>Feature Engineering</a:t>
            </a:r>
          </a:p>
          <a:p>
            <a:pPr marL="285750" indent="-285750">
              <a:buFontTx/>
              <a:buChar char="-"/>
            </a:pPr>
            <a:r>
              <a:rPr lang="en-US" sz="1600" dirty="0"/>
              <a:t>Feature Scaling</a:t>
            </a:r>
          </a:p>
          <a:p>
            <a:pPr marL="285750" indent="-285750">
              <a:buFontTx/>
              <a:buChar char="-"/>
            </a:pPr>
            <a:r>
              <a:rPr lang="en-US" sz="1600" dirty="0"/>
              <a:t>Data Splitting into training and testing sets</a:t>
            </a:r>
          </a:p>
          <a:p>
            <a:endParaRPr lang="en-US" dirty="0"/>
          </a:p>
          <a:p>
            <a:endParaRPr lang="en-US" dirty="0"/>
          </a:p>
        </p:txBody>
      </p:sp>
      <p:sp>
        <p:nvSpPr>
          <p:cNvPr id="6" name="Rectangle 5">
            <a:extLst>
              <a:ext uri="{FF2B5EF4-FFF2-40B4-BE49-F238E27FC236}">
                <a16:creationId xmlns:a16="http://schemas.microsoft.com/office/drawing/2014/main" id="{1AEDB2BA-F294-D9CE-6405-3513980E82B1}"/>
              </a:ext>
            </a:extLst>
          </p:cNvPr>
          <p:cNvSpPr/>
          <p:nvPr/>
        </p:nvSpPr>
        <p:spPr>
          <a:xfrm>
            <a:off x="6401843" y="2220238"/>
            <a:ext cx="2217107" cy="2417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Evaluation</a:t>
            </a:r>
          </a:p>
          <a:p>
            <a:r>
              <a:rPr lang="en-US" sz="1600" dirty="0"/>
              <a:t>Evaluation of final model on testing set</a:t>
            </a:r>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p:txBody>
      </p:sp>
      <p:sp>
        <p:nvSpPr>
          <p:cNvPr id="7" name="Rectangle 6">
            <a:extLst>
              <a:ext uri="{FF2B5EF4-FFF2-40B4-BE49-F238E27FC236}">
                <a16:creationId xmlns:a16="http://schemas.microsoft.com/office/drawing/2014/main" id="{B78AD4D2-5418-85DA-3C02-E6F562F556CA}"/>
              </a:ext>
            </a:extLst>
          </p:cNvPr>
          <p:cNvSpPr/>
          <p:nvPr/>
        </p:nvSpPr>
        <p:spPr>
          <a:xfrm>
            <a:off x="9136693" y="2220238"/>
            <a:ext cx="2217107" cy="2417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endParaRPr lang="en-US" sz="1600" b="1" dirty="0">
              <a:solidFill>
                <a:schemeClr val="accent1"/>
              </a:solidFill>
            </a:endParaRPr>
          </a:p>
          <a:p>
            <a:r>
              <a:rPr lang="en-US" sz="1600" b="1" dirty="0">
                <a:solidFill>
                  <a:schemeClr val="accent1"/>
                </a:solidFill>
              </a:rPr>
              <a:t>Prediction</a:t>
            </a:r>
          </a:p>
          <a:p>
            <a:r>
              <a:rPr lang="en-US" sz="1600" dirty="0"/>
              <a:t>Use the final model to predict the labels for new unlabeled data</a:t>
            </a:r>
          </a:p>
          <a:p>
            <a:endParaRPr lang="en-US" dirty="0"/>
          </a:p>
          <a:p>
            <a:endParaRPr lang="en-US" dirty="0"/>
          </a:p>
          <a:p>
            <a:endParaRPr lang="en-US" dirty="0"/>
          </a:p>
          <a:p>
            <a:endParaRPr lang="en-US" dirty="0"/>
          </a:p>
          <a:p>
            <a:pPr algn="ctr"/>
            <a:endParaRPr lang="en-US" dirty="0"/>
          </a:p>
        </p:txBody>
      </p:sp>
      <p:sp>
        <p:nvSpPr>
          <p:cNvPr id="8" name="Arrow: Down 7">
            <a:extLst>
              <a:ext uri="{FF2B5EF4-FFF2-40B4-BE49-F238E27FC236}">
                <a16:creationId xmlns:a16="http://schemas.microsoft.com/office/drawing/2014/main" id="{3C11D2FD-A206-3A58-375C-6C674B121627}"/>
              </a:ext>
            </a:extLst>
          </p:cNvPr>
          <p:cNvSpPr/>
          <p:nvPr/>
        </p:nvSpPr>
        <p:spPr>
          <a:xfrm rot="16200000">
            <a:off x="3202486" y="3161778"/>
            <a:ext cx="465551" cy="4634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F5F8C428-A58B-BCC8-0DDB-D63C9EB5D033}"/>
              </a:ext>
            </a:extLst>
          </p:cNvPr>
          <p:cNvSpPr/>
          <p:nvPr/>
        </p:nvSpPr>
        <p:spPr>
          <a:xfrm rot="16200000">
            <a:off x="5935248" y="3161777"/>
            <a:ext cx="465551" cy="4634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75C8DA10-2809-C161-0E4C-E8C61DF63C68}"/>
              </a:ext>
            </a:extLst>
          </p:cNvPr>
          <p:cNvSpPr/>
          <p:nvPr/>
        </p:nvSpPr>
        <p:spPr>
          <a:xfrm rot="16200000">
            <a:off x="8672186" y="3161777"/>
            <a:ext cx="465551" cy="4634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3231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4A81B-9B47-F161-F586-2D879CD19AA3}"/>
              </a:ext>
            </a:extLst>
          </p:cNvPr>
          <p:cNvSpPr>
            <a:spLocks noGrp="1"/>
          </p:cNvSpPr>
          <p:nvPr>
            <p:ph type="title"/>
          </p:nvPr>
        </p:nvSpPr>
        <p:spPr/>
        <p:txBody>
          <a:bodyPr/>
          <a:lstStyle/>
          <a:p>
            <a:r>
              <a:rPr lang="en-US" b="1" dirty="0"/>
              <a:t>What is model fitting?</a:t>
            </a:r>
          </a:p>
        </p:txBody>
      </p:sp>
      <p:sp>
        <p:nvSpPr>
          <p:cNvPr id="3" name="Content Placeholder 2">
            <a:extLst>
              <a:ext uri="{FF2B5EF4-FFF2-40B4-BE49-F238E27FC236}">
                <a16:creationId xmlns:a16="http://schemas.microsoft.com/office/drawing/2014/main" id="{058C945F-A7F1-8082-CA84-0CBB6CBD0C04}"/>
              </a:ext>
            </a:extLst>
          </p:cNvPr>
          <p:cNvSpPr>
            <a:spLocks noGrp="1"/>
          </p:cNvSpPr>
          <p:nvPr>
            <p:ph idx="1"/>
          </p:nvPr>
        </p:nvSpPr>
        <p:spPr/>
        <p:txBody>
          <a:bodyPr/>
          <a:lstStyle/>
          <a:p>
            <a:r>
              <a:rPr lang="en-US" dirty="0"/>
              <a:t>What is given to us? (known)</a:t>
            </a:r>
          </a:p>
          <a:p>
            <a:endParaRPr lang="en-US" dirty="0"/>
          </a:p>
          <a:p>
            <a:r>
              <a:rPr lang="en-US" dirty="0"/>
              <a:t>What is not given to us? (unknown) </a:t>
            </a:r>
          </a:p>
          <a:p>
            <a:endParaRPr lang="en-US" dirty="0"/>
          </a:p>
          <a:p>
            <a:r>
              <a:rPr lang="en-US" dirty="0"/>
              <a:t>What is the goal of model fitting? </a:t>
            </a:r>
          </a:p>
        </p:txBody>
      </p:sp>
    </p:spTree>
    <p:extLst>
      <p:ext uri="{BB962C8B-B14F-4D97-AF65-F5344CB8AC3E}">
        <p14:creationId xmlns:p14="http://schemas.microsoft.com/office/powerpoint/2010/main" val="838792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4A81B-9B47-F161-F586-2D879CD19AA3}"/>
              </a:ext>
            </a:extLst>
          </p:cNvPr>
          <p:cNvSpPr>
            <a:spLocks noGrp="1"/>
          </p:cNvSpPr>
          <p:nvPr>
            <p:ph type="title"/>
          </p:nvPr>
        </p:nvSpPr>
        <p:spPr/>
        <p:txBody>
          <a:bodyPr/>
          <a:lstStyle/>
          <a:p>
            <a:r>
              <a:rPr lang="en-US" b="1" dirty="0"/>
              <a:t>What is model fitting?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8C945F-A7F1-8082-CA84-0CBB6CBD0C04}"/>
                  </a:ext>
                </a:extLst>
              </p:cNvPr>
              <p:cNvSpPr>
                <a:spLocks noGrp="1"/>
              </p:cNvSpPr>
              <p:nvPr>
                <p:ph idx="1"/>
              </p:nvPr>
            </p:nvSpPr>
            <p:spPr/>
            <p:txBody>
              <a:bodyPr/>
              <a:lstStyle/>
              <a:p>
                <a:r>
                  <a:rPr lang="en-US" dirty="0"/>
                  <a:t>What is given to us? </a:t>
                </a:r>
                <a:r>
                  <a:rPr lang="en-US" dirty="0">
                    <a:solidFill>
                      <a:srgbClr val="C00000"/>
                    </a:solidFill>
                  </a:rPr>
                  <a:t>Labeled data: set of feature vectors and corresponding labels:</a:t>
                </a:r>
                <a14:m>
                  <m:oMath xmlns:m="http://schemas.openxmlformats.org/officeDocument/2006/math">
                    <m:sSubSup>
                      <m:sSubSupPr>
                        <m:ctrlPr>
                          <a:rPr lang="en-US" i="1" smtClean="0">
                            <a:solidFill>
                              <a:srgbClr val="C00000"/>
                            </a:solidFill>
                            <a:latin typeface="Cambria Math" panose="02040503050406030204" pitchFamily="18" charset="0"/>
                          </a:rPr>
                        </m:ctrlPr>
                      </m:sSubSupPr>
                      <m:e>
                        <m:r>
                          <a:rPr lang="en-US" b="0" i="1" smtClean="0">
                            <a:solidFill>
                              <a:srgbClr val="C00000"/>
                            </a:solidFill>
                            <a:latin typeface="Cambria Math" panose="02040503050406030204" pitchFamily="18" charset="0"/>
                          </a:rPr>
                          <m:t> </m:t>
                        </m:r>
                        <m:d>
                          <m:dPr>
                            <m:begChr m:val="{"/>
                            <m:endChr m:val="}"/>
                            <m:ctrlPr>
                              <a:rPr lang="en-US" i="1" smtClean="0">
                                <a:solidFill>
                                  <a:srgbClr val="C00000"/>
                                </a:solidFill>
                                <a:latin typeface="Cambria Math" panose="02040503050406030204" pitchFamily="18" charset="0"/>
                              </a:rPr>
                            </m:ctrlPr>
                          </m:dPr>
                          <m:e>
                            <m:d>
                              <m:dPr>
                                <m:ctrlPr>
                                  <a:rPr lang="en-US" i="1" smtClean="0">
                                    <a:solidFill>
                                      <a:srgbClr val="C00000"/>
                                    </a:solidFill>
                                    <a:latin typeface="Cambria Math" panose="02040503050406030204" pitchFamily="18" charset="0"/>
                                  </a:rPr>
                                </m:ctrlPr>
                              </m:dPr>
                              <m:e>
                                <m:sSup>
                                  <m:sSupPr>
                                    <m:ctrlPr>
                                      <a:rPr lang="en-US" i="1" smtClean="0">
                                        <a:solidFill>
                                          <a:srgbClr val="C00000"/>
                                        </a:solidFill>
                                        <a:latin typeface="Cambria Math" panose="02040503050406030204" pitchFamily="18" charset="0"/>
                                      </a:rPr>
                                    </m:ctrlPr>
                                  </m:sSupPr>
                                  <m:e>
                                    <m:r>
                                      <a:rPr lang="en-US" b="1" i="1" smtClean="0">
                                        <a:solidFill>
                                          <a:srgbClr val="C00000"/>
                                        </a:solidFill>
                                        <a:latin typeface="Cambria Math" panose="02040503050406030204" pitchFamily="18" charset="0"/>
                                      </a:rPr>
                                      <m:t>𝒙</m:t>
                                    </m:r>
                                  </m:e>
                                  <m:sup>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𝑗</m:t>
                                    </m:r>
                                    <m:r>
                                      <a:rPr lang="en-US" b="0" i="1" smtClean="0">
                                        <a:solidFill>
                                          <a:srgbClr val="C00000"/>
                                        </a:solidFill>
                                        <a:latin typeface="Cambria Math" panose="02040503050406030204" pitchFamily="18" charset="0"/>
                                      </a:rPr>
                                      <m:t>)</m:t>
                                    </m:r>
                                  </m:sup>
                                </m:sSup>
                                <m:r>
                                  <a:rPr lang="en-US" b="0" i="1" smtClean="0">
                                    <a:solidFill>
                                      <a:srgbClr val="C00000"/>
                                    </a:solidFill>
                                    <a:latin typeface="Cambria Math" panose="02040503050406030204" pitchFamily="18" charset="0"/>
                                  </a:rPr>
                                  <m:t>, </m:t>
                                </m:r>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𝑦</m:t>
                                    </m:r>
                                  </m:e>
                                  <m:sup>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𝑗</m:t>
                                    </m:r>
                                    <m:r>
                                      <a:rPr lang="en-US" b="0" i="1" smtClean="0">
                                        <a:solidFill>
                                          <a:srgbClr val="C00000"/>
                                        </a:solidFill>
                                        <a:latin typeface="Cambria Math" panose="02040503050406030204" pitchFamily="18" charset="0"/>
                                      </a:rPr>
                                      <m:t>)</m:t>
                                    </m:r>
                                  </m:sup>
                                </m:sSup>
                              </m:e>
                            </m:d>
                          </m:e>
                        </m:d>
                      </m:e>
                      <m:sub>
                        <m:r>
                          <a:rPr lang="en-US" b="0" i="1" smtClean="0">
                            <a:solidFill>
                              <a:srgbClr val="C00000"/>
                            </a:solidFill>
                            <a:latin typeface="Cambria Math" panose="02040503050406030204" pitchFamily="18" charset="0"/>
                          </a:rPr>
                          <m:t>𝑗</m:t>
                        </m:r>
                        <m:r>
                          <a:rPr lang="en-US" b="0" i="1" smtClean="0">
                            <a:solidFill>
                              <a:srgbClr val="C00000"/>
                            </a:solidFill>
                            <a:latin typeface="Cambria Math" panose="02040503050406030204" pitchFamily="18" charset="0"/>
                          </a:rPr>
                          <m:t>=1</m:t>
                        </m:r>
                      </m:sub>
                      <m:sup>
                        <m:r>
                          <a:rPr lang="en-US" b="0" i="1" smtClean="0">
                            <a:solidFill>
                              <a:srgbClr val="C00000"/>
                            </a:solidFill>
                            <a:latin typeface="Cambria Math" panose="02040503050406030204" pitchFamily="18" charset="0"/>
                          </a:rPr>
                          <m:t>𝑁</m:t>
                        </m:r>
                      </m:sup>
                    </m:sSubSup>
                  </m:oMath>
                </a14:m>
                <a:endParaRPr lang="en-US" dirty="0"/>
              </a:p>
              <a:p>
                <a:endParaRPr lang="en-US" dirty="0"/>
              </a:p>
              <a:p>
                <a:r>
                  <a:rPr lang="en-US" dirty="0"/>
                  <a:t>What is not given to us? </a:t>
                </a:r>
                <a:r>
                  <a:rPr lang="en-US" dirty="0">
                    <a:solidFill>
                      <a:srgbClr val="C00000"/>
                    </a:solidFill>
                  </a:rPr>
                  <a:t>Model Parameters</a:t>
                </a:r>
              </a:p>
              <a:p>
                <a:endParaRPr lang="en-US" dirty="0"/>
              </a:p>
              <a:p>
                <a:r>
                  <a:rPr lang="en-US" dirty="0"/>
                  <a:t>What is the goal of model fitting / model training? </a:t>
                </a:r>
                <a:r>
                  <a:rPr lang="en-US" dirty="0">
                    <a:solidFill>
                      <a:srgbClr val="C00000"/>
                    </a:solidFill>
                  </a:rPr>
                  <a:t>Learning the model parameters from the training data</a:t>
                </a:r>
              </a:p>
            </p:txBody>
          </p:sp>
        </mc:Choice>
        <mc:Fallback xmlns="">
          <p:sp>
            <p:nvSpPr>
              <p:cNvPr id="3" name="Content Placeholder 2">
                <a:extLst>
                  <a:ext uri="{FF2B5EF4-FFF2-40B4-BE49-F238E27FC236}">
                    <a16:creationId xmlns:a16="http://schemas.microsoft.com/office/drawing/2014/main" id="{058C945F-A7F1-8082-CA84-0CBB6CBD0C04}"/>
                  </a:ext>
                </a:extLst>
              </p:cNvPr>
              <p:cNvSpPr>
                <a:spLocks noGrp="1" noRot="1" noChangeAspect="1" noMove="1" noResize="1" noEditPoints="1" noAdjustHandles="1" noChangeArrowheads="1" noChangeShapeType="1" noTextEdit="1"/>
              </p:cNvSpPr>
              <p:nvPr>
                <p:ph idx="1"/>
              </p:nvPr>
            </p:nvSpPr>
            <p:spPr>
              <a:blipFill>
                <a:blip r:embed="rId2"/>
                <a:stretch>
                  <a:fillRect l="-1043" t="-2241" r="-1913"/>
                </a:stretch>
              </a:blipFill>
            </p:spPr>
            <p:txBody>
              <a:bodyPr/>
              <a:lstStyle/>
              <a:p>
                <a:r>
                  <a:rPr lang="en-US">
                    <a:noFill/>
                  </a:rPr>
                  <a:t> </a:t>
                </a:r>
              </a:p>
            </p:txBody>
          </p:sp>
        </mc:Fallback>
      </mc:AlternateContent>
    </p:spTree>
    <p:extLst>
      <p:ext uri="{BB962C8B-B14F-4D97-AF65-F5344CB8AC3E}">
        <p14:creationId xmlns:p14="http://schemas.microsoft.com/office/powerpoint/2010/main" val="3477405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C305C-F861-D064-105E-1BA9CE00A31E}"/>
              </a:ext>
            </a:extLst>
          </p:cNvPr>
          <p:cNvSpPr>
            <a:spLocks noGrp="1"/>
          </p:cNvSpPr>
          <p:nvPr>
            <p:ph type="title"/>
          </p:nvPr>
        </p:nvSpPr>
        <p:spPr/>
        <p:txBody>
          <a:bodyPr/>
          <a:lstStyle/>
          <a:p>
            <a:r>
              <a:rPr lang="en-US" b="1" dirty="0"/>
              <a:t>Training phase – Model fitting </a:t>
            </a:r>
            <a:r>
              <a:rPr lang="en-US" sz="3200" b="1" dirty="0"/>
              <a:t>(Supervised Learning)</a:t>
            </a:r>
          </a:p>
        </p:txBody>
      </p:sp>
      <p:grpSp>
        <p:nvGrpSpPr>
          <p:cNvPr id="4" name="Group 3">
            <a:extLst>
              <a:ext uri="{FF2B5EF4-FFF2-40B4-BE49-F238E27FC236}">
                <a16:creationId xmlns:a16="http://schemas.microsoft.com/office/drawing/2014/main" id="{B320966E-618F-4B0C-461E-9F164D034EA1}"/>
              </a:ext>
            </a:extLst>
          </p:cNvPr>
          <p:cNvGrpSpPr/>
          <p:nvPr/>
        </p:nvGrpSpPr>
        <p:grpSpPr>
          <a:xfrm>
            <a:off x="295275" y="1900264"/>
            <a:ext cx="10879876" cy="4314799"/>
            <a:chOff x="656062" y="809769"/>
            <a:chExt cx="10879876" cy="4314799"/>
          </a:xfrm>
        </p:grpSpPr>
        <p:pic>
          <p:nvPicPr>
            <p:cNvPr id="5" name="Content Placeholder 4">
              <a:extLst>
                <a:ext uri="{FF2B5EF4-FFF2-40B4-BE49-F238E27FC236}">
                  <a16:creationId xmlns:a16="http://schemas.microsoft.com/office/drawing/2014/main" id="{06B3B183-1CC4-901D-6F72-856ECE0501B2}"/>
                </a:ext>
              </a:extLst>
            </p:cNvPr>
            <p:cNvPicPr>
              <a:picLocks noChangeAspect="1"/>
            </p:cNvPicPr>
            <p:nvPr/>
          </p:nvPicPr>
          <p:blipFill rotWithShape="1">
            <a:blip r:embed="rId2">
              <a:extLst>
                <a:ext uri="{28A0092B-C50C-407E-A947-70E740481C1C}">
                  <a14:useLocalDpi xmlns:a14="http://schemas.microsoft.com/office/drawing/2010/main" val="0"/>
                </a:ext>
              </a:extLst>
            </a:blip>
            <a:srcRect b="50444"/>
            <a:stretch/>
          </p:blipFill>
          <p:spPr>
            <a:xfrm>
              <a:off x="4504162" y="1571319"/>
              <a:ext cx="7031776" cy="249229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8ABC961-A156-D5E0-D704-A649351CEDA0}"/>
                    </a:ext>
                  </a:extLst>
                </p:cNvPr>
                <p:cNvSpPr txBox="1"/>
                <p:nvPr/>
              </p:nvSpPr>
              <p:spPr>
                <a:xfrm>
                  <a:off x="2339076" y="3794332"/>
                  <a:ext cx="2728439" cy="133023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m>
                              <m:mPr>
                                <m:mcs>
                                  <m:mc>
                                    <m:mcPr>
                                      <m:count m:val="4"/>
                                      <m:mcJc m:val="center"/>
                                    </m:mcPr>
                                  </m:mc>
                                </m:mcs>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mPr>
                              <m:mr>
                                <m:e>
                                  <m:sSubSup>
                                    <m:sSub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d>
                                    </m:sup>
                                  </m:sSubSup>
                                </m:e>
                                <m:e>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up>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d>
                                    </m:sup>
                                  </m:sSubSup>
                                </m:e>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e>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m:t>
                                      </m:r>
                                    </m:sub>
                                    <m:sup>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d>
                                    </m:sup>
                                  </m:sSubSup>
                                </m:e>
                              </m:mr>
                              <m:mr>
                                <m:e>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e>
                                      </m:d>
                                    </m:sup>
                                  </m:sSubSup>
                                </m:e>
                                <m:e>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up>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e>
                                      </m:d>
                                    </m:sup>
                                  </m:sSubSup>
                                </m:e>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e>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m:t>
                                      </m:r>
                                    </m:sub>
                                    <m:sup>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e>
                                      </m:d>
                                    </m:sup>
                                  </m:sSubSup>
                                </m:e>
                              </m:mr>
                              <m:mr>
                                <m:e>
                                  <m:eqArr>
                                    <m:eqArr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eqArr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e>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up>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e>
                                          </m:d>
                                        </m:sup>
                                      </m:sSubSup>
                                    </m:e>
                                  </m:eqArr>
                                </m:e>
                                <m:e>
                                  <m:eqArr>
                                    <m:eqArr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eqArr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e>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up>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e>
                                          </m:d>
                                        </m:sup>
                                      </m:sSubSup>
                                    </m:e>
                                  </m:eqArr>
                                </m:e>
                                <m:e>
                                  <m:eqArr>
                                    <m:eqArr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eqArr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eqArr>
                                </m:e>
                                <m:e>
                                  <m:eqArr>
                                    <m:eqArr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eqArr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e>
                                      <m:sSubSup>
                                        <m:sSub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m:t>
                                          </m:r>
                                        </m:sub>
                                        <m:sup>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e>
                                          </m:d>
                                        </m:sup>
                                      </m:sSubSup>
                                    </m:e>
                                  </m:eqArr>
                                </m:e>
                              </m:mr>
                            </m:m>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1F55833D-5690-DA5E-0F7C-F564EB5012DF}"/>
                    </a:ext>
                  </a:extLst>
                </p:cNvPr>
                <p:cNvSpPr txBox="1">
                  <a:spLocks noRot="1" noChangeAspect="1" noMove="1" noResize="1" noEditPoints="1" noAdjustHandles="1" noChangeArrowheads="1" noChangeShapeType="1" noTextEdit="1"/>
                </p:cNvSpPr>
                <p:nvPr/>
              </p:nvSpPr>
              <p:spPr>
                <a:xfrm>
                  <a:off x="2339076" y="3794332"/>
                  <a:ext cx="2728439" cy="1330236"/>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A7BD222-76B3-92A3-0002-2D583A35A697}"/>
                </a:ext>
              </a:extLst>
            </p:cNvPr>
            <p:cNvSpPr txBox="1"/>
            <p:nvPr/>
          </p:nvSpPr>
          <p:spPr>
            <a:xfrm>
              <a:off x="656062" y="3912060"/>
              <a:ext cx="1672111"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lumMod val="50000"/>
                    </a:srgbClr>
                  </a:solidFill>
                  <a:effectLst/>
                  <a:uLnTx/>
                  <a:uFillTx/>
                  <a:latin typeface="Calibri" panose="020F0502020204030204"/>
                  <a:ea typeface="+mn-ea"/>
                  <a:cs typeface="+mn-cs"/>
                </a:rPr>
                <a:t>Feature matrix that consists of training data</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5670AE8-2DAF-1C81-F78F-7BA032FA30BA}"/>
                    </a:ext>
                  </a:extLst>
                </p:cNvPr>
                <p:cNvSpPr txBox="1"/>
                <p:nvPr/>
              </p:nvSpPr>
              <p:spPr>
                <a:xfrm>
                  <a:off x="3410830" y="809769"/>
                  <a:ext cx="1053302" cy="116115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eqArr>
                              <m:eqArr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eqArrPr>
                              <m:e>
                                <m:sSup>
                                  <m:s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p>
                                </m:sSup>
                              </m:e>
                              <m:e>
                                <m:eqArr>
                                  <m:eqArr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eqArrPr>
                                  <m:e>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up>
                                    </m:sSup>
                                  </m:e>
                                  <m:e>
                                    <m:eqArr>
                                      <m:eqArr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eqArr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e>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up>
                                        </m:sSup>
                                      </m:e>
                                    </m:eqArr>
                                  </m:e>
                                </m:eqArr>
                              </m:e>
                            </m:eqArr>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8" name="TextBox 7">
                  <a:extLst>
                    <a:ext uri="{FF2B5EF4-FFF2-40B4-BE49-F238E27FC236}">
                      <a16:creationId xmlns:a16="http://schemas.microsoft.com/office/drawing/2014/main" id="{66BB4DFC-F278-1BD0-3E5F-768A7F59FFC1}"/>
                    </a:ext>
                  </a:extLst>
                </p:cNvPr>
                <p:cNvSpPr txBox="1">
                  <a:spLocks noRot="1" noChangeAspect="1" noMove="1" noResize="1" noEditPoints="1" noAdjustHandles="1" noChangeArrowheads="1" noChangeShapeType="1" noTextEdit="1"/>
                </p:cNvSpPr>
                <p:nvPr/>
              </p:nvSpPr>
              <p:spPr>
                <a:xfrm>
                  <a:off x="3410830" y="809769"/>
                  <a:ext cx="1053302" cy="1161152"/>
                </a:xfrm>
                <a:prstGeom prst="rect">
                  <a:avLst/>
                </a:prstGeo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B4D71F9-0B51-F3F3-43A9-FEAA9A443AC5}"/>
                </a:ext>
              </a:extLst>
            </p:cNvPr>
            <p:cNvSpPr txBox="1"/>
            <p:nvPr/>
          </p:nvSpPr>
          <p:spPr>
            <a:xfrm>
              <a:off x="2234301" y="1067179"/>
              <a:ext cx="131445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lumMod val="50000"/>
                    </a:srgbClr>
                  </a:solidFill>
                  <a:effectLst/>
                  <a:uLnTx/>
                  <a:uFillTx/>
                  <a:latin typeface="Calibri" panose="020F0502020204030204"/>
                  <a:ea typeface="+mn-ea"/>
                  <a:cs typeface="+mn-cs"/>
                </a:rPr>
                <a:t>Label vector</a:t>
              </a:r>
            </a:p>
          </p:txBody>
        </p:sp>
      </p:grpSp>
    </p:spTree>
    <p:extLst>
      <p:ext uri="{BB962C8B-B14F-4D97-AF65-F5344CB8AC3E}">
        <p14:creationId xmlns:p14="http://schemas.microsoft.com/office/powerpoint/2010/main" val="3172066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45E12E-E281-2796-80F6-A44F285FAC54}"/>
              </a:ext>
            </a:extLst>
          </p:cNvPr>
          <p:cNvSpPr>
            <a:spLocks noGrp="1"/>
          </p:cNvSpPr>
          <p:nvPr>
            <p:ph type="title"/>
          </p:nvPr>
        </p:nvSpPr>
        <p:spPr/>
        <p:txBody>
          <a:bodyPr/>
          <a:lstStyle/>
          <a:p>
            <a:r>
              <a:rPr lang="en-US" b="1" dirty="0"/>
              <a:t>Using Machine Learning Models</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7BF449E4-A884-279F-2706-1A8DA87E641E}"/>
                  </a:ext>
                </a:extLst>
              </p:cNvPr>
              <p:cNvSpPr/>
              <p:nvPr/>
            </p:nvSpPr>
            <p:spPr>
              <a:xfrm>
                <a:off x="4495801" y="2749511"/>
                <a:ext cx="1981200" cy="10670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Learned/Trained Model</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𝑓</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Rectangle 5">
                <a:extLst>
                  <a:ext uri="{FF2B5EF4-FFF2-40B4-BE49-F238E27FC236}">
                    <a16:creationId xmlns:a16="http://schemas.microsoft.com/office/drawing/2014/main" id="{7BF449E4-A884-279F-2706-1A8DA87E641E}"/>
                  </a:ext>
                </a:extLst>
              </p:cNvPr>
              <p:cNvSpPr>
                <a:spLocks noRot="1" noChangeAspect="1" noMove="1" noResize="1" noEditPoints="1" noAdjustHandles="1" noChangeArrowheads="1" noChangeShapeType="1" noTextEdit="1"/>
              </p:cNvSpPr>
              <p:nvPr/>
            </p:nvSpPr>
            <p:spPr>
              <a:xfrm>
                <a:off x="4495801" y="2749511"/>
                <a:ext cx="1981200" cy="1067001"/>
              </a:xfrm>
              <a:prstGeom prst="rect">
                <a:avLst/>
              </a:prstGeom>
              <a:blipFill>
                <a:blip r:embed="rId2"/>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87B56ACA-A0F3-1B07-3F43-4E7CC8952221}"/>
              </a:ext>
            </a:extLst>
          </p:cNvPr>
          <p:cNvCxnSpPr>
            <a:cxnSpLocks/>
          </p:cNvCxnSpPr>
          <p:nvPr/>
        </p:nvCxnSpPr>
        <p:spPr>
          <a:xfrm rot="16200000">
            <a:off x="4058187" y="2719332"/>
            <a:ext cx="0" cy="875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19EE371E-252F-6134-B3D7-3753EC4D03AB}"/>
              </a:ext>
            </a:extLst>
          </p:cNvPr>
          <p:cNvCxnSpPr>
            <a:cxnSpLocks/>
          </p:cNvCxnSpPr>
          <p:nvPr/>
        </p:nvCxnSpPr>
        <p:spPr>
          <a:xfrm rot="16200000">
            <a:off x="6914616" y="2719331"/>
            <a:ext cx="0" cy="875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977F37F0-BF82-59D1-63E7-4BB389EFEEB1}"/>
              </a:ext>
            </a:extLst>
          </p:cNvPr>
          <p:cNvSpPr txBox="1"/>
          <p:nvPr/>
        </p:nvSpPr>
        <p:spPr>
          <a:xfrm>
            <a:off x="1712892" y="2749511"/>
            <a:ext cx="188916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Future data with unknown label (Input)</a:t>
            </a:r>
          </a:p>
        </p:txBody>
      </p:sp>
      <p:sp>
        <p:nvSpPr>
          <p:cNvPr id="10" name="TextBox 9">
            <a:extLst>
              <a:ext uri="{FF2B5EF4-FFF2-40B4-BE49-F238E27FC236}">
                <a16:creationId xmlns:a16="http://schemas.microsoft.com/office/drawing/2014/main" id="{59E57024-9D33-0B50-7AE6-4F113B997A28}"/>
              </a:ext>
            </a:extLst>
          </p:cNvPr>
          <p:cNvSpPr txBox="1"/>
          <p:nvPr/>
        </p:nvSpPr>
        <p:spPr>
          <a:xfrm>
            <a:off x="7599347" y="2848451"/>
            <a:ext cx="198119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Predicted label (Output)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DA2C24A-0945-1F78-7E86-9071CF3763A9}"/>
                  </a:ext>
                </a:extLst>
              </p:cNvPr>
              <p:cNvSpPr txBox="1"/>
              <p:nvPr/>
            </p:nvSpPr>
            <p:spPr>
              <a:xfrm>
                <a:off x="2058010" y="3816514"/>
                <a:ext cx="970329" cy="102047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eqArr>
                            <m:eqArr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eqArrPr>
                            <m:e>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e>
                            <m:e>
                              <m:eqArr>
                                <m:eqArr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eqArrPr>
                                <m:e>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e>
                                <m:e>
                                  <m:eqArr>
                                    <m:eqArr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eqArr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e>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m:t>
                                          </m:r>
                                        </m:sub>
                                      </m:sSub>
                                    </m:e>
                                  </m:eqArr>
                                </m:e>
                              </m:eqArr>
                            </m:e>
                          </m:eqArr>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1" name="TextBox 10">
                <a:extLst>
                  <a:ext uri="{FF2B5EF4-FFF2-40B4-BE49-F238E27FC236}">
                    <a16:creationId xmlns:a16="http://schemas.microsoft.com/office/drawing/2014/main" id="{5DA2C24A-0945-1F78-7E86-9071CF3763A9}"/>
                  </a:ext>
                </a:extLst>
              </p:cNvPr>
              <p:cNvSpPr txBox="1">
                <a:spLocks noRot="1" noChangeAspect="1" noMove="1" noResize="1" noEditPoints="1" noAdjustHandles="1" noChangeArrowheads="1" noChangeShapeType="1" noTextEdit="1"/>
              </p:cNvSpPr>
              <p:nvPr/>
            </p:nvSpPr>
            <p:spPr>
              <a:xfrm>
                <a:off x="2058010" y="3816514"/>
                <a:ext cx="970329" cy="102047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35EAD23-0777-E53E-7C1F-A990E6EC93F8}"/>
                  </a:ext>
                </a:extLst>
              </p:cNvPr>
              <p:cNvSpPr txBox="1"/>
              <p:nvPr/>
            </p:nvSpPr>
            <p:spPr>
              <a:xfrm>
                <a:off x="8182878" y="3871696"/>
                <a:ext cx="944233"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𝑓</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2" name="TextBox 11">
                <a:extLst>
                  <a:ext uri="{FF2B5EF4-FFF2-40B4-BE49-F238E27FC236}">
                    <a16:creationId xmlns:a16="http://schemas.microsoft.com/office/drawing/2014/main" id="{135EAD23-0777-E53E-7C1F-A990E6EC93F8}"/>
                  </a:ext>
                </a:extLst>
              </p:cNvPr>
              <p:cNvSpPr txBox="1">
                <a:spLocks noRot="1" noChangeAspect="1" noMove="1" noResize="1" noEditPoints="1" noAdjustHandles="1" noChangeArrowheads="1" noChangeShapeType="1" noTextEdit="1"/>
              </p:cNvSpPr>
              <p:nvPr/>
            </p:nvSpPr>
            <p:spPr>
              <a:xfrm>
                <a:off x="8182878" y="3871696"/>
                <a:ext cx="944233" cy="276999"/>
              </a:xfrm>
              <a:prstGeom prst="rect">
                <a:avLst/>
              </a:prstGeom>
              <a:blipFill>
                <a:blip r:embed="rId4"/>
                <a:stretch>
                  <a:fillRect l="-5806" t="-2174" r="-9032" b="-32609"/>
                </a:stretch>
              </a:blipFill>
            </p:spPr>
            <p:txBody>
              <a:bodyPr/>
              <a:lstStyle/>
              <a:p>
                <a:r>
                  <a:rPr lang="en-US">
                    <a:noFill/>
                  </a:rPr>
                  <a:t> </a:t>
                </a:r>
              </a:p>
            </p:txBody>
          </p:sp>
        </mc:Fallback>
      </mc:AlternateContent>
      <p:sp>
        <p:nvSpPr>
          <p:cNvPr id="13" name="Rectangle: Rounded Corners 12">
            <a:extLst>
              <a:ext uri="{FF2B5EF4-FFF2-40B4-BE49-F238E27FC236}">
                <a16:creationId xmlns:a16="http://schemas.microsoft.com/office/drawing/2014/main" id="{691DECF7-DF5D-F589-8A9C-0390D3EAB2C2}"/>
              </a:ext>
            </a:extLst>
          </p:cNvPr>
          <p:cNvSpPr/>
          <p:nvPr/>
        </p:nvSpPr>
        <p:spPr>
          <a:xfrm>
            <a:off x="1600200" y="2353628"/>
            <a:ext cx="8210550" cy="263842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8179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9B09-0878-4230-A33F-80F49DEB7D93}"/>
              </a:ext>
            </a:extLst>
          </p:cNvPr>
          <p:cNvSpPr>
            <a:spLocks noGrp="1"/>
          </p:cNvSpPr>
          <p:nvPr>
            <p:ph type="title"/>
          </p:nvPr>
        </p:nvSpPr>
        <p:spPr/>
        <p:txBody>
          <a:bodyPr/>
          <a:lstStyle/>
          <a:p>
            <a:r>
              <a:rPr lang="en-US" b="1" dirty="0"/>
              <a:t>Model Fitting</a:t>
            </a:r>
          </a:p>
        </p:txBody>
      </p:sp>
      <p:sp>
        <p:nvSpPr>
          <p:cNvPr id="3" name="Content Placeholder 2">
            <a:extLst>
              <a:ext uri="{FF2B5EF4-FFF2-40B4-BE49-F238E27FC236}">
                <a16:creationId xmlns:a16="http://schemas.microsoft.com/office/drawing/2014/main" id="{805B5DBC-9E74-4345-929F-F42CCB1D4D70}"/>
              </a:ext>
            </a:extLst>
          </p:cNvPr>
          <p:cNvSpPr>
            <a:spLocks noGrp="1"/>
          </p:cNvSpPr>
          <p:nvPr>
            <p:ph idx="1"/>
          </p:nvPr>
        </p:nvSpPr>
        <p:spPr>
          <a:xfrm>
            <a:off x="838200" y="1900440"/>
            <a:ext cx="10515600" cy="4351338"/>
          </a:xfrm>
        </p:spPr>
        <p:txBody>
          <a:bodyPr>
            <a:noAutofit/>
          </a:bodyPr>
          <a:lstStyle/>
          <a:p>
            <a:r>
              <a:rPr lang="en-US" sz="2400" dirty="0"/>
              <a:t>To fit a machine learning model in scikit-learn,</a:t>
            </a:r>
          </a:p>
          <a:p>
            <a:pPr marL="0" indent="0">
              <a:buNone/>
            </a:pPr>
            <a:r>
              <a:rPr lang="en-US" sz="2400" dirty="0"/>
              <a:t>      1. you instantiate the model</a:t>
            </a:r>
          </a:p>
          <a:p>
            <a:pPr marL="0" indent="0">
              <a:buNone/>
            </a:pPr>
            <a:r>
              <a:rPr lang="en-US" sz="2400" dirty="0"/>
              <a:t>      2. </a:t>
            </a:r>
            <a:r>
              <a:rPr lang="en-US" sz="2400" dirty="0" err="1"/>
              <a:t>model.fit</a:t>
            </a:r>
            <a:r>
              <a:rPr lang="en-US" sz="2400" dirty="0"/>
              <a:t>(</a:t>
            </a:r>
            <a:r>
              <a:rPr lang="en-US" sz="2400" dirty="0" err="1"/>
              <a:t>X_train</a:t>
            </a:r>
            <a:r>
              <a:rPr lang="en-US" sz="2400" dirty="0"/>
              <a:t>, </a:t>
            </a:r>
            <a:r>
              <a:rPr lang="en-US" sz="2400" dirty="0" err="1"/>
              <a:t>y_train</a:t>
            </a:r>
            <a:r>
              <a:rPr lang="en-US" sz="2400" dirty="0"/>
              <a:t>)</a:t>
            </a:r>
          </a:p>
          <a:p>
            <a:pPr marL="0" indent="0">
              <a:buNone/>
            </a:pPr>
            <a:r>
              <a:rPr lang="en-US" sz="2400" dirty="0"/>
              <a:t>      3. the model contains the learned model’s parameters</a:t>
            </a:r>
          </a:p>
          <a:p>
            <a:pPr marL="0" indent="0">
              <a:buNone/>
            </a:pPr>
            <a:endParaRPr lang="en-US" sz="2400" dirty="0"/>
          </a:p>
          <a:p>
            <a:r>
              <a:rPr lang="en-US" sz="2400" dirty="0"/>
              <a:t>You can directly implement machine learning models without knowing what’s under the hood (implementation details):</a:t>
            </a:r>
          </a:p>
          <a:p>
            <a:pPr marL="514350" indent="-285750">
              <a:buFont typeface="Courier New" panose="02070309020205020404" pitchFamily="49" charset="0"/>
              <a:buChar char="o"/>
            </a:pPr>
            <a:r>
              <a:rPr lang="en-US" sz="2400" dirty="0"/>
              <a:t>However, understanding the implementation details helps you debug any issues, what to choose for the model’s hyperparameters, what models to try, ….</a:t>
            </a:r>
          </a:p>
        </p:txBody>
      </p:sp>
    </p:spTree>
    <p:extLst>
      <p:ext uri="{BB962C8B-B14F-4D97-AF65-F5344CB8AC3E}">
        <p14:creationId xmlns:p14="http://schemas.microsoft.com/office/powerpoint/2010/main" val="3412689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9B09-0878-4230-A33F-80F49DEB7D93}"/>
              </a:ext>
            </a:extLst>
          </p:cNvPr>
          <p:cNvSpPr>
            <a:spLocks noGrp="1"/>
          </p:cNvSpPr>
          <p:nvPr>
            <p:ph type="title"/>
          </p:nvPr>
        </p:nvSpPr>
        <p:spPr/>
        <p:txBody>
          <a:bodyPr/>
          <a:lstStyle/>
          <a:p>
            <a:r>
              <a:rPr lang="en-US" b="1" dirty="0"/>
              <a:t>Overview</a:t>
            </a:r>
          </a:p>
        </p:txBody>
      </p:sp>
      <p:sp>
        <p:nvSpPr>
          <p:cNvPr id="3" name="Content Placeholder 2">
            <a:extLst>
              <a:ext uri="{FF2B5EF4-FFF2-40B4-BE49-F238E27FC236}">
                <a16:creationId xmlns:a16="http://schemas.microsoft.com/office/drawing/2014/main" id="{805B5DBC-9E74-4345-929F-F42CCB1D4D70}"/>
              </a:ext>
            </a:extLst>
          </p:cNvPr>
          <p:cNvSpPr>
            <a:spLocks noGrp="1"/>
          </p:cNvSpPr>
          <p:nvPr>
            <p:ph idx="1"/>
          </p:nvPr>
        </p:nvSpPr>
        <p:spPr/>
        <p:txBody>
          <a:bodyPr>
            <a:noAutofit/>
          </a:bodyPr>
          <a:lstStyle/>
          <a:p>
            <a:pPr>
              <a:lnSpc>
                <a:spcPct val="100000"/>
              </a:lnSpc>
            </a:pPr>
            <a:r>
              <a:rPr lang="en-US" sz="2400" dirty="0"/>
              <a:t>This </a:t>
            </a:r>
            <a:r>
              <a:rPr lang="en-US" sz="2400" dirty="0" err="1"/>
              <a:t>sklearn</a:t>
            </a:r>
            <a:r>
              <a:rPr lang="en-US" sz="2400" dirty="0"/>
              <a:t> fit method consists of the steps needed to learn the model’s parameters using the training data set: training algorithm.</a:t>
            </a:r>
          </a:p>
          <a:p>
            <a:pPr>
              <a:lnSpc>
                <a:spcPct val="100000"/>
              </a:lnSpc>
            </a:pPr>
            <a:r>
              <a:rPr lang="en-US" sz="2400" dirty="0"/>
              <a:t>We already know how:</a:t>
            </a:r>
          </a:p>
          <a:p>
            <a:pPr lvl="1">
              <a:lnSpc>
                <a:spcPct val="100000"/>
              </a:lnSpc>
            </a:pPr>
            <a:r>
              <a:rPr lang="en-US" dirty="0"/>
              <a:t>KNN fits the data</a:t>
            </a:r>
          </a:p>
          <a:p>
            <a:pPr lvl="1">
              <a:lnSpc>
                <a:spcPct val="100000"/>
              </a:lnSpc>
            </a:pPr>
            <a:r>
              <a:rPr lang="en-US" dirty="0"/>
              <a:t>Decision tree fits the data</a:t>
            </a:r>
          </a:p>
          <a:p>
            <a:pPr>
              <a:lnSpc>
                <a:spcPct val="100000"/>
              </a:lnSpc>
            </a:pPr>
            <a:r>
              <a:rPr lang="en-US" sz="2400" dirty="0"/>
              <a:t>For some other machine learning models (linear regression, logistic regression, SVM), the training algorithm consists of solving an optimization problem. </a:t>
            </a:r>
          </a:p>
          <a:p>
            <a:pPr>
              <a:lnSpc>
                <a:spcPct val="100000"/>
              </a:lnSpc>
            </a:pPr>
            <a:r>
              <a:rPr lang="en-US" sz="2400" dirty="0"/>
              <a:t>What do we mean by optimization problem?</a:t>
            </a:r>
          </a:p>
        </p:txBody>
      </p:sp>
    </p:spTree>
    <p:extLst>
      <p:ext uri="{BB962C8B-B14F-4D97-AF65-F5344CB8AC3E}">
        <p14:creationId xmlns:p14="http://schemas.microsoft.com/office/powerpoint/2010/main" val="2979194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7DA9AF-BB9B-D8E7-9EC9-35550ACC3640}"/>
              </a:ext>
            </a:extLst>
          </p:cNvPr>
          <p:cNvSpPr>
            <a:spLocks noGrp="1"/>
          </p:cNvSpPr>
          <p:nvPr>
            <p:ph type="title"/>
          </p:nvPr>
        </p:nvSpPr>
        <p:spPr/>
        <p:txBody>
          <a:bodyPr/>
          <a:lstStyle/>
          <a:p>
            <a:r>
              <a:rPr lang="en-US" b="1" dirty="0"/>
              <a:t>Optimization Problem</a:t>
            </a:r>
          </a:p>
        </p:txBody>
      </p:sp>
      <p:sp>
        <p:nvSpPr>
          <p:cNvPr id="5" name="Text Placeholder 4">
            <a:extLst>
              <a:ext uri="{FF2B5EF4-FFF2-40B4-BE49-F238E27FC236}">
                <a16:creationId xmlns:a16="http://schemas.microsoft.com/office/drawing/2014/main" id="{D42CAA9F-AA76-C44D-7F60-A2ED93343F6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1520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F6757-FC6A-4938-8027-F1D81DDE3273}"/>
              </a:ext>
            </a:extLst>
          </p:cNvPr>
          <p:cNvSpPr>
            <a:spLocks noGrp="1"/>
          </p:cNvSpPr>
          <p:nvPr>
            <p:ph type="title"/>
          </p:nvPr>
        </p:nvSpPr>
        <p:spPr/>
        <p:txBody>
          <a:bodyPr/>
          <a:lstStyle/>
          <a:p>
            <a:r>
              <a:rPr lang="en-US" b="1" dirty="0"/>
              <a:t>Optimization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9746FF-B984-4834-8AE0-9FECE00187CF}"/>
                  </a:ext>
                </a:extLst>
              </p:cNvPr>
              <p:cNvSpPr>
                <a:spLocks noGrp="1"/>
              </p:cNvSpPr>
              <p:nvPr>
                <p:ph idx="1"/>
              </p:nvPr>
            </p:nvSpPr>
            <p:spPr>
              <a:xfrm>
                <a:off x="838200" y="1834503"/>
                <a:ext cx="10515600" cy="4351338"/>
              </a:xfrm>
            </p:spPr>
            <p:txBody>
              <a:bodyPr>
                <a:normAutofit lnSpcReduction="10000"/>
              </a:bodyPr>
              <a:lstStyle/>
              <a:p>
                <a:pPr marL="0" indent="0">
                  <a:lnSpc>
                    <a:spcPct val="100000"/>
                  </a:lnSpc>
                  <a:buNone/>
                </a:pPr>
                <a:r>
                  <a:rPr lang="en-US" sz="2600" dirty="0"/>
                  <a:t>Mathematical Optimization Problem (Unconstrained Optimization):</a:t>
                </a:r>
              </a:p>
              <a:p>
                <a:pPr marL="0" indent="0">
                  <a:lnSpc>
                    <a:spcPct val="100000"/>
                  </a:lnSpc>
                  <a:buNone/>
                </a:pPr>
                <a:endParaRPr lang="en-US" sz="2600" dirty="0"/>
              </a:p>
              <a:p>
                <a:pPr marL="0" indent="0">
                  <a:lnSpc>
                    <a:spcPct val="100000"/>
                  </a:lnSpc>
                  <a:buNone/>
                </a:pPr>
                <a14:m>
                  <m:oMathPara xmlns:m="http://schemas.openxmlformats.org/officeDocument/2006/math">
                    <m:oMathParaPr>
                      <m:jc m:val="centerGroup"/>
                    </m:oMathParaPr>
                    <m:oMath xmlns:m="http://schemas.openxmlformats.org/officeDocument/2006/math">
                      <m:func>
                        <m:funcPr>
                          <m:ctrlPr>
                            <a:rPr lang="en-US" sz="2600" i="1">
                              <a:latin typeface="Cambria Math" panose="02040503050406030204" pitchFamily="18" charset="0"/>
                            </a:rPr>
                          </m:ctrlPr>
                        </m:funcPr>
                        <m:fName>
                          <m:limLow>
                            <m:limLowPr>
                              <m:ctrlPr>
                                <a:rPr lang="en-US" sz="2600" i="1">
                                  <a:latin typeface="Cambria Math" panose="02040503050406030204" pitchFamily="18" charset="0"/>
                                </a:rPr>
                              </m:ctrlPr>
                            </m:limLowPr>
                            <m:e>
                              <m:r>
                                <m:rPr>
                                  <m:sty m:val="p"/>
                                </m:rPr>
                                <a:rPr lang="en-US" sz="2600">
                                  <a:latin typeface="Cambria Math" panose="02040503050406030204" pitchFamily="18" charset="0"/>
                                </a:rPr>
                                <m:t>min</m:t>
                              </m:r>
                            </m:e>
                            <m:lim>
                              <m:r>
                                <a:rPr lang="en-US" sz="2600" b="1" i="1" smtClean="0">
                                  <a:latin typeface="Cambria Math" panose="02040503050406030204" pitchFamily="18" charset="0"/>
                                </a:rPr>
                                <m:t>𝒖</m:t>
                              </m:r>
                            </m:lim>
                          </m:limLow>
                        </m:fName>
                        <m:e>
                          <m:r>
                            <a:rPr lang="en-US" sz="2600" i="1">
                              <a:latin typeface="Cambria Math" panose="02040503050406030204" pitchFamily="18" charset="0"/>
                            </a:rPr>
                            <m:t>𝑓</m:t>
                          </m:r>
                          <m:d>
                            <m:dPr>
                              <m:ctrlPr>
                                <a:rPr lang="en-US" sz="2600" i="1">
                                  <a:latin typeface="Cambria Math" panose="02040503050406030204" pitchFamily="18" charset="0"/>
                                </a:rPr>
                              </m:ctrlPr>
                            </m:dPr>
                            <m:e>
                              <m:r>
                                <a:rPr lang="en-US" sz="2600" b="1" i="1" smtClean="0">
                                  <a:latin typeface="Cambria Math" panose="02040503050406030204" pitchFamily="18" charset="0"/>
                                </a:rPr>
                                <m:t>𝒖</m:t>
                              </m:r>
                            </m:e>
                          </m:d>
                          <m:r>
                            <a:rPr lang="en-US" sz="2600" i="1">
                              <a:latin typeface="Cambria Math" panose="02040503050406030204" pitchFamily="18" charset="0"/>
                            </a:rPr>
                            <m:t> </m:t>
                          </m:r>
                        </m:e>
                      </m:func>
                    </m:oMath>
                  </m:oMathPara>
                </a14:m>
                <a:endParaRPr lang="en-US" sz="2600" dirty="0"/>
              </a:p>
              <a:p>
                <a:pPr marL="0" indent="0">
                  <a:lnSpc>
                    <a:spcPct val="100000"/>
                  </a:lnSpc>
                  <a:buNone/>
                </a:pPr>
                <a:endParaRPr lang="en-US" sz="2600" dirty="0"/>
              </a:p>
              <a:p>
                <a:pPr>
                  <a:lnSpc>
                    <a:spcPct val="100000"/>
                  </a:lnSpc>
                </a:pPr>
                <a14:m>
                  <m:oMath xmlns:m="http://schemas.openxmlformats.org/officeDocument/2006/math">
                    <m:r>
                      <a:rPr lang="en-US" sz="2600" b="1" i="1" smtClean="0">
                        <a:latin typeface="Cambria Math" panose="02040503050406030204" pitchFamily="18" charset="0"/>
                      </a:rPr>
                      <m:t>𝒖</m:t>
                    </m:r>
                    <m:r>
                      <a:rPr lang="en-US" sz="2600" b="0" i="1" smtClean="0">
                        <a:latin typeface="Cambria Math" panose="02040503050406030204" pitchFamily="18" charset="0"/>
                      </a:rPr>
                      <m:t>=</m:t>
                    </m:r>
                    <m:d>
                      <m:dPr>
                        <m:ctrlPr>
                          <a:rPr lang="en-US" sz="2600" b="0" i="1" smtClean="0">
                            <a:latin typeface="Cambria Math" panose="02040503050406030204" pitchFamily="18" charset="0"/>
                          </a:rPr>
                        </m:ctrlPr>
                      </m:dPr>
                      <m:e>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𝑢</m:t>
                            </m:r>
                          </m:e>
                          <m:sub>
                            <m:r>
                              <a:rPr lang="en-US" sz="2600" b="0" i="1" smtClean="0">
                                <a:latin typeface="Cambria Math" panose="02040503050406030204" pitchFamily="18" charset="0"/>
                              </a:rPr>
                              <m:t>1</m:t>
                            </m:r>
                          </m:sub>
                        </m:sSub>
                        <m:r>
                          <a:rPr lang="en-US" sz="2600" b="0" i="1" smtClean="0">
                            <a:latin typeface="Cambria Math" panose="02040503050406030204" pitchFamily="18" charset="0"/>
                          </a:rPr>
                          <m:t>, </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𝑢</m:t>
                            </m:r>
                          </m:e>
                          <m:sub>
                            <m:r>
                              <a:rPr lang="en-US" sz="2600" b="0" i="1" smtClean="0">
                                <a:latin typeface="Cambria Math" panose="02040503050406030204" pitchFamily="18" charset="0"/>
                              </a:rPr>
                              <m:t>2</m:t>
                            </m:r>
                          </m:sub>
                        </m:sSub>
                        <m:r>
                          <a:rPr lang="en-US" sz="2600" b="0" i="1" smtClean="0">
                            <a:latin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m:t>
                        </m:r>
                        <m:sSub>
                          <m:sSubPr>
                            <m:ctrlPr>
                              <a:rPr lang="en-US" sz="2600" b="0" i="1" smtClean="0">
                                <a:latin typeface="Cambria Math" panose="02040503050406030204" pitchFamily="18" charset="0"/>
                                <a:ea typeface="Cambria Math" panose="02040503050406030204" pitchFamily="18" charset="0"/>
                              </a:rPr>
                            </m:ctrlPr>
                          </m:sSubPr>
                          <m:e>
                            <m:r>
                              <a:rPr lang="en-US" sz="2600" b="0" i="1" smtClean="0">
                                <a:latin typeface="Cambria Math" panose="02040503050406030204" pitchFamily="18" charset="0"/>
                                <a:ea typeface="Cambria Math" panose="02040503050406030204" pitchFamily="18" charset="0"/>
                              </a:rPr>
                              <m:t>𝑢</m:t>
                            </m:r>
                          </m:e>
                          <m:sub>
                            <m:r>
                              <a:rPr lang="en-US" sz="2600" b="0" i="1" smtClean="0">
                                <a:latin typeface="Cambria Math" panose="02040503050406030204" pitchFamily="18" charset="0"/>
                                <a:ea typeface="Cambria Math" panose="02040503050406030204" pitchFamily="18" charset="0"/>
                              </a:rPr>
                              <m:t>𝑚</m:t>
                            </m:r>
                          </m:sub>
                        </m:sSub>
                      </m:e>
                    </m:d>
                    <m:r>
                      <a:rPr lang="en-US" sz="2600" b="0" i="1" smtClean="0">
                        <a:latin typeface="Cambria Math" panose="02040503050406030204" pitchFamily="18" charset="0"/>
                        <a:ea typeface="Cambria Math" panose="02040503050406030204" pitchFamily="18" charset="0"/>
                      </a:rPr>
                      <m:t>∈ </m:t>
                    </m:r>
                    <m:sSup>
                      <m:sSupPr>
                        <m:ctrlPr>
                          <a:rPr lang="en-US" sz="2600" b="0" i="1" smtClean="0">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𝑅</m:t>
                        </m:r>
                      </m:e>
                      <m:sup>
                        <m:r>
                          <a:rPr lang="en-US" sz="2600" b="0" i="1" smtClean="0">
                            <a:latin typeface="Cambria Math" panose="02040503050406030204" pitchFamily="18" charset="0"/>
                            <a:ea typeface="Cambria Math" panose="02040503050406030204" pitchFamily="18" charset="0"/>
                          </a:rPr>
                          <m:t>𝑚</m:t>
                        </m:r>
                      </m:sup>
                    </m:sSup>
                  </m:oMath>
                </a14:m>
                <a:r>
                  <a:rPr lang="en-US" sz="2600" dirty="0"/>
                  <a:t>: optimization variables</a:t>
                </a:r>
              </a:p>
              <a:p>
                <a:pPr>
                  <a:lnSpc>
                    <a:spcPct val="100000"/>
                  </a:lnSpc>
                </a:pPr>
                <a14:m>
                  <m:oMath xmlns:m="http://schemas.openxmlformats.org/officeDocument/2006/math">
                    <m:r>
                      <a:rPr lang="en-US" sz="2600" b="0" i="1" smtClean="0">
                        <a:latin typeface="Cambria Math" panose="02040503050406030204" pitchFamily="18" charset="0"/>
                      </a:rPr>
                      <m:t>𝑓</m:t>
                    </m:r>
                    <m:r>
                      <a:rPr lang="en-US" sz="2600" b="0" i="1" smtClean="0">
                        <a:latin typeface="Cambria Math" panose="02040503050406030204" pitchFamily="18" charset="0"/>
                      </a:rPr>
                      <m:t>:</m:t>
                    </m:r>
                    <m:sSup>
                      <m:sSupPr>
                        <m:ctrlPr>
                          <a:rPr lang="en-US" sz="2600" i="1">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𝑅</m:t>
                        </m:r>
                      </m:e>
                      <m:sup>
                        <m:r>
                          <a:rPr lang="en-US" sz="2600" b="0" i="1" smtClean="0">
                            <a:latin typeface="Cambria Math" panose="02040503050406030204" pitchFamily="18" charset="0"/>
                            <a:ea typeface="Cambria Math" panose="02040503050406030204" pitchFamily="18" charset="0"/>
                          </a:rPr>
                          <m:t>𝑚</m:t>
                        </m:r>
                      </m:sup>
                    </m:sSup>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𝑅</m:t>
                    </m:r>
                    <m:r>
                      <a:rPr lang="en-US" sz="2600" b="0" i="1" smtClean="0">
                        <a:latin typeface="Cambria Math" panose="02040503050406030204" pitchFamily="18" charset="0"/>
                        <a:ea typeface="Cambria Math" panose="02040503050406030204" pitchFamily="18" charset="0"/>
                      </a:rPr>
                      <m:t>: </m:t>
                    </m:r>
                  </m:oMath>
                </a14:m>
                <a:r>
                  <a:rPr lang="en-US" sz="2600" dirty="0"/>
                  <a:t>objective or cost function</a:t>
                </a:r>
              </a:p>
              <a:p>
                <a:pPr marL="0" indent="0">
                  <a:lnSpc>
                    <a:spcPct val="100000"/>
                  </a:lnSpc>
                  <a:buNone/>
                </a:pPr>
                <a:endParaRPr lang="en-US" sz="2600" dirty="0"/>
              </a:p>
              <a:p>
                <a:pPr marL="0" indent="0">
                  <a:lnSpc>
                    <a:spcPct val="100000"/>
                  </a:lnSpc>
                  <a:buNone/>
                </a:pPr>
                <a:r>
                  <a:rPr lang="en-US" sz="2600" dirty="0"/>
                  <a:t>To solve this optimization problem means to find the optimal variable </a:t>
                </a:r>
                <a14:m>
                  <m:oMath xmlns:m="http://schemas.openxmlformats.org/officeDocument/2006/math">
                    <m:sSup>
                      <m:sSupPr>
                        <m:ctrlPr>
                          <a:rPr lang="en-US" sz="2600" i="1" smtClean="0">
                            <a:latin typeface="Cambria Math" panose="02040503050406030204" pitchFamily="18" charset="0"/>
                          </a:rPr>
                        </m:ctrlPr>
                      </m:sSupPr>
                      <m:e>
                        <m:r>
                          <a:rPr lang="en-US" sz="2600" b="1" i="1" smtClean="0">
                            <a:latin typeface="Cambria Math" panose="02040503050406030204" pitchFamily="18" charset="0"/>
                          </a:rPr>
                          <m:t>𝒖</m:t>
                        </m:r>
                      </m:e>
                      <m:sup>
                        <m:r>
                          <a:rPr lang="en-US" sz="2600" b="0" i="1" smtClean="0">
                            <a:latin typeface="Cambria Math" panose="02040503050406030204" pitchFamily="18" charset="0"/>
                          </a:rPr>
                          <m:t>∗</m:t>
                        </m:r>
                      </m:sup>
                    </m:sSup>
                  </m:oMath>
                </a14:m>
                <a:r>
                  <a:rPr lang="en-US" sz="2600" dirty="0"/>
                  <a:t> such that </a:t>
                </a:r>
                <a14:m>
                  <m:oMath xmlns:m="http://schemas.openxmlformats.org/officeDocument/2006/math">
                    <m:r>
                      <a:rPr lang="en-US" sz="2600" b="0" i="1" smtClean="0">
                        <a:latin typeface="Cambria Math" panose="02040503050406030204" pitchFamily="18" charset="0"/>
                      </a:rPr>
                      <m:t>𝑓</m:t>
                    </m:r>
                    <m:d>
                      <m:dPr>
                        <m:ctrlPr>
                          <a:rPr lang="en-US" sz="2600" b="0" i="1" smtClean="0">
                            <a:latin typeface="Cambria Math" panose="02040503050406030204" pitchFamily="18" charset="0"/>
                          </a:rPr>
                        </m:ctrlPr>
                      </m:dPr>
                      <m:e>
                        <m:sSup>
                          <m:sSupPr>
                            <m:ctrlPr>
                              <a:rPr lang="en-US" sz="2600" b="0" i="1" smtClean="0">
                                <a:latin typeface="Cambria Math" panose="02040503050406030204" pitchFamily="18" charset="0"/>
                              </a:rPr>
                            </m:ctrlPr>
                          </m:sSupPr>
                          <m:e>
                            <m:r>
                              <a:rPr lang="en-US" sz="2600" b="1" i="1" smtClean="0">
                                <a:latin typeface="Cambria Math" panose="02040503050406030204" pitchFamily="18" charset="0"/>
                              </a:rPr>
                              <m:t>𝒖</m:t>
                            </m:r>
                          </m:e>
                          <m:sup>
                            <m:r>
                              <a:rPr lang="en-US" sz="2600" b="0" i="1" smtClean="0">
                                <a:latin typeface="Cambria Math" panose="02040503050406030204" pitchFamily="18" charset="0"/>
                              </a:rPr>
                              <m:t>∗</m:t>
                            </m:r>
                          </m:sup>
                        </m:sSup>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𝑓</m:t>
                    </m:r>
                    <m:d>
                      <m:dPr>
                        <m:ctrlPr>
                          <a:rPr lang="en-US" sz="2600" b="0" i="1" smtClean="0">
                            <a:latin typeface="Cambria Math" panose="02040503050406030204" pitchFamily="18" charset="0"/>
                            <a:ea typeface="Cambria Math" panose="02040503050406030204" pitchFamily="18" charset="0"/>
                          </a:rPr>
                        </m:ctrlPr>
                      </m:dPr>
                      <m:e>
                        <m:r>
                          <a:rPr lang="en-US" sz="2600" b="1" i="1" smtClean="0">
                            <a:latin typeface="Cambria Math" panose="02040503050406030204" pitchFamily="18" charset="0"/>
                            <a:ea typeface="Cambria Math" panose="02040503050406030204" pitchFamily="18" charset="0"/>
                          </a:rPr>
                          <m:t>𝒖</m:t>
                        </m:r>
                      </m:e>
                    </m:d>
                  </m:oMath>
                </a14:m>
                <a:r>
                  <a:rPr lang="en-US" sz="2600" dirty="0"/>
                  <a:t> for any </a:t>
                </a:r>
                <a14:m>
                  <m:oMath xmlns:m="http://schemas.openxmlformats.org/officeDocument/2006/math">
                    <m:r>
                      <a:rPr lang="en-US" sz="2600" b="1" i="1" smtClean="0">
                        <a:latin typeface="Cambria Math" panose="02040503050406030204" pitchFamily="18" charset="0"/>
                      </a:rPr>
                      <m:t>𝒖</m:t>
                    </m:r>
                    <m:r>
                      <a:rPr lang="en-US" sz="2600" i="1">
                        <a:latin typeface="Cambria Math" panose="02040503050406030204" pitchFamily="18" charset="0"/>
                        <a:ea typeface="Cambria Math" panose="02040503050406030204" pitchFamily="18" charset="0"/>
                      </a:rPr>
                      <m:t>∈ </m:t>
                    </m:r>
                    <m:sSup>
                      <m:sSupPr>
                        <m:ctrlPr>
                          <a:rPr lang="en-US" sz="2600" i="1">
                            <a:latin typeface="Cambria Math" panose="02040503050406030204" pitchFamily="18" charset="0"/>
                            <a:ea typeface="Cambria Math" panose="02040503050406030204" pitchFamily="18" charset="0"/>
                          </a:rPr>
                        </m:ctrlPr>
                      </m:sSupPr>
                      <m:e>
                        <m:r>
                          <a:rPr lang="en-US" sz="2600" i="1">
                            <a:latin typeface="Cambria Math" panose="02040503050406030204" pitchFamily="18" charset="0"/>
                            <a:ea typeface="Cambria Math" panose="02040503050406030204" pitchFamily="18" charset="0"/>
                          </a:rPr>
                          <m:t>𝑅</m:t>
                        </m:r>
                      </m:e>
                      <m:sup>
                        <m:r>
                          <a:rPr lang="en-US" sz="2600" b="0" i="1" smtClean="0">
                            <a:latin typeface="Cambria Math" panose="02040503050406030204" pitchFamily="18" charset="0"/>
                            <a:ea typeface="Cambria Math" panose="02040503050406030204" pitchFamily="18" charset="0"/>
                          </a:rPr>
                          <m:t>𝑚</m:t>
                        </m:r>
                      </m:sup>
                    </m:sSup>
                    <m:r>
                      <a:rPr lang="en-US" sz="2600" b="0" i="0" smtClean="0">
                        <a:latin typeface="Cambria Math" panose="02040503050406030204" pitchFamily="18" charset="0"/>
                        <a:ea typeface="Cambria Math" panose="02040503050406030204" pitchFamily="18" charset="0"/>
                      </a:rPr>
                      <m:t> </m:t>
                    </m:r>
                  </m:oMath>
                </a14:m>
                <a:r>
                  <a:rPr lang="en-US" sz="2600" dirty="0"/>
                  <a:t>.</a:t>
                </a:r>
              </a:p>
            </p:txBody>
          </p:sp>
        </mc:Choice>
        <mc:Fallback xmlns="">
          <p:sp>
            <p:nvSpPr>
              <p:cNvPr id="3" name="Content Placeholder 2">
                <a:extLst>
                  <a:ext uri="{FF2B5EF4-FFF2-40B4-BE49-F238E27FC236}">
                    <a16:creationId xmlns:a16="http://schemas.microsoft.com/office/drawing/2014/main" id="{1D9746FF-B984-4834-8AE0-9FECE00187CF}"/>
                  </a:ext>
                </a:extLst>
              </p:cNvPr>
              <p:cNvSpPr>
                <a:spLocks noGrp="1" noRot="1" noChangeAspect="1" noMove="1" noResize="1" noEditPoints="1" noAdjustHandles="1" noChangeArrowheads="1" noChangeShapeType="1" noTextEdit="1"/>
              </p:cNvSpPr>
              <p:nvPr>
                <p:ph idx="1"/>
              </p:nvPr>
            </p:nvSpPr>
            <p:spPr>
              <a:xfrm>
                <a:off x="838200" y="1834503"/>
                <a:ext cx="10515600" cy="4351338"/>
              </a:xfrm>
              <a:blipFill>
                <a:blip r:embed="rId2"/>
                <a:stretch>
                  <a:fillRect l="-1043" t="-2101" b="-560"/>
                </a:stretch>
              </a:blipFill>
            </p:spPr>
            <p:txBody>
              <a:bodyPr/>
              <a:lstStyle/>
              <a:p>
                <a:r>
                  <a:rPr lang="en-US">
                    <a:noFill/>
                  </a:rPr>
                  <a:t> </a:t>
                </a:r>
              </a:p>
            </p:txBody>
          </p:sp>
        </mc:Fallback>
      </mc:AlternateContent>
    </p:spTree>
    <p:extLst>
      <p:ext uri="{BB962C8B-B14F-4D97-AF65-F5344CB8AC3E}">
        <p14:creationId xmlns:p14="http://schemas.microsoft.com/office/powerpoint/2010/main" val="3089945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F6757-FC6A-4938-8027-F1D81DDE3273}"/>
              </a:ext>
            </a:extLst>
          </p:cNvPr>
          <p:cNvSpPr>
            <a:spLocks noGrp="1"/>
          </p:cNvSpPr>
          <p:nvPr>
            <p:ph type="title"/>
          </p:nvPr>
        </p:nvSpPr>
        <p:spPr/>
        <p:txBody>
          <a:bodyPr/>
          <a:lstStyle/>
          <a:p>
            <a:r>
              <a:rPr lang="en-US" b="1" dirty="0"/>
              <a:t>Optimization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9746FF-B984-4834-8AE0-9FECE00187CF}"/>
                  </a:ext>
                </a:extLst>
              </p:cNvPr>
              <p:cNvSpPr>
                <a:spLocks noGrp="1"/>
              </p:cNvSpPr>
              <p:nvPr>
                <p:ph idx="1"/>
              </p:nvPr>
            </p:nvSpPr>
            <p:spPr/>
            <p:txBody>
              <a:bodyPr>
                <a:normAutofit fontScale="85000" lnSpcReduction="10000"/>
              </a:bodyPr>
              <a:lstStyle/>
              <a:p>
                <a:pPr marL="0" indent="0">
                  <a:lnSpc>
                    <a:spcPct val="110000"/>
                  </a:lnSpc>
                  <a:buNone/>
                </a:pPr>
                <a:r>
                  <a:rPr lang="en-US" dirty="0"/>
                  <a:t>Mathematical Optimization Problem (Unconstrained Optimization):</a:t>
                </a:r>
              </a:p>
              <a:p>
                <a:pPr marL="0" indent="0">
                  <a:lnSpc>
                    <a:spcPct val="110000"/>
                  </a:lnSpc>
                  <a:buNone/>
                </a:pPr>
                <a:endParaRPr lang="en-US" dirty="0"/>
              </a:p>
              <a:p>
                <a:pPr marL="0" indent="0">
                  <a:lnSpc>
                    <a:spcPct val="110000"/>
                  </a:lnSpc>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r>
                                <a:rPr lang="en-US" b="1" i="1" smtClean="0">
                                  <a:latin typeface="Cambria Math" panose="02040503050406030204" pitchFamily="18" charset="0"/>
                                </a:rPr>
                                <m:t>𝒖</m:t>
                              </m:r>
                            </m:lim>
                          </m:limLow>
                        </m:fName>
                        <m:e>
                          <m:r>
                            <a:rPr lang="en-US" i="1">
                              <a:latin typeface="Cambria Math" panose="02040503050406030204" pitchFamily="18" charset="0"/>
                            </a:rPr>
                            <m:t>𝑓</m:t>
                          </m:r>
                          <m:d>
                            <m:dPr>
                              <m:ctrlPr>
                                <a:rPr lang="en-US" i="1">
                                  <a:latin typeface="Cambria Math" panose="02040503050406030204" pitchFamily="18" charset="0"/>
                                </a:rPr>
                              </m:ctrlPr>
                            </m:dPr>
                            <m:e>
                              <m:r>
                                <a:rPr lang="en-US" b="1" i="1" smtClean="0">
                                  <a:latin typeface="Cambria Math" panose="02040503050406030204" pitchFamily="18" charset="0"/>
                                </a:rPr>
                                <m:t>𝒖</m:t>
                              </m:r>
                            </m:e>
                          </m:d>
                          <m:r>
                            <a:rPr lang="en-US" i="1">
                              <a:latin typeface="Cambria Math" panose="02040503050406030204" pitchFamily="18" charset="0"/>
                            </a:rPr>
                            <m:t> </m:t>
                          </m:r>
                          <m:r>
                            <a:rPr lang="en-US" b="1" i="0" smtClean="0">
                              <a:latin typeface="Cambria Math" panose="02040503050406030204" pitchFamily="18" charset="0"/>
                            </a:rPr>
                            <m:t>(</m:t>
                          </m:r>
                          <m:r>
                            <a:rPr lang="en-US" b="1" i="0">
                              <a:latin typeface="Cambria Math" panose="02040503050406030204" pitchFamily="18" charset="0"/>
                            </a:rPr>
                            <m:t>𝐨𝐫</m:t>
                          </m:r>
                          <m:r>
                            <a:rPr lang="en-US" b="0" i="1" smtClean="0">
                              <a:latin typeface="Cambria Math" panose="02040503050406030204" pitchFamily="18" charset="0"/>
                            </a:rPr>
                            <m:t> </m:t>
                          </m:r>
                          <m:func>
                            <m:funcPr>
                              <m:ctrlPr>
                                <a:rPr lang="en-US" b="0" i="1" smtClean="0">
                                  <a:solidFill>
                                    <a:srgbClr val="C00000"/>
                                  </a:solidFill>
                                  <a:latin typeface="Cambria Math" panose="02040503050406030204" pitchFamily="18" charset="0"/>
                                </a:rPr>
                              </m:ctrlPr>
                            </m:funcPr>
                            <m:fName>
                              <m:limLow>
                                <m:limLowPr>
                                  <m:ctrlPr>
                                    <a:rPr lang="en-US" b="0" i="1" smtClean="0">
                                      <a:solidFill>
                                        <a:srgbClr val="C00000"/>
                                      </a:solidFill>
                                      <a:latin typeface="Cambria Math" panose="02040503050406030204" pitchFamily="18" charset="0"/>
                                    </a:rPr>
                                  </m:ctrlPr>
                                </m:limLowPr>
                                <m:e>
                                  <m:r>
                                    <m:rPr>
                                      <m:sty m:val="p"/>
                                    </m:rPr>
                                    <a:rPr lang="en-US" b="0" i="0" smtClean="0">
                                      <a:solidFill>
                                        <a:srgbClr val="C00000"/>
                                      </a:solidFill>
                                      <a:latin typeface="Cambria Math" panose="02040503050406030204" pitchFamily="18" charset="0"/>
                                    </a:rPr>
                                    <m:t>max</m:t>
                                  </m:r>
                                </m:e>
                                <m:lim>
                                  <m:r>
                                    <a:rPr lang="en-US" b="1" i="1" smtClean="0">
                                      <a:solidFill>
                                        <a:srgbClr val="C00000"/>
                                      </a:solidFill>
                                      <a:latin typeface="Cambria Math" panose="02040503050406030204" pitchFamily="18" charset="0"/>
                                    </a:rPr>
                                    <m:t>𝒖</m:t>
                                  </m:r>
                                </m:lim>
                              </m:limLow>
                            </m:fName>
                            <m:e>
                              <m:r>
                                <a:rPr lang="en-US" b="0" i="1" smtClean="0">
                                  <a:solidFill>
                                    <a:srgbClr val="C00000"/>
                                  </a:solidFill>
                                  <a:latin typeface="Cambria Math" panose="02040503050406030204" pitchFamily="18" charset="0"/>
                                </a:rPr>
                                <m:t> </m:t>
                              </m:r>
                              <m:r>
                                <a:rPr lang="en-US" b="0" i="1" smtClean="0">
                                  <a:solidFill>
                                    <a:srgbClr val="C00000"/>
                                  </a:solidFill>
                                  <a:latin typeface="Cambria Math" panose="02040503050406030204" pitchFamily="18" charset="0"/>
                                </a:rPr>
                                <m:t>𝑔</m:t>
                              </m:r>
                              <m:r>
                                <a:rPr lang="en-US" b="0"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𝒖</m:t>
                              </m:r>
                              <m:r>
                                <a:rPr lang="en-US" b="0" i="1" smtClean="0">
                                  <a:solidFill>
                                    <a:srgbClr val="C00000"/>
                                  </a:solidFill>
                                  <a:latin typeface="Cambria Math" panose="02040503050406030204" pitchFamily="18" charset="0"/>
                                </a:rPr>
                                <m:t>)</m:t>
                              </m:r>
                            </m:e>
                          </m:func>
                        </m:e>
                      </m:func>
                      <m:r>
                        <a:rPr lang="en-US" b="0" i="1" smtClean="0">
                          <a:latin typeface="Cambria Math" panose="02040503050406030204" pitchFamily="18" charset="0"/>
                        </a:rPr>
                        <m:t>)</m:t>
                      </m:r>
                    </m:oMath>
                  </m:oMathPara>
                </a14:m>
                <a:endParaRPr lang="en-US" dirty="0"/>
              </a:p>
              <a:p>
                <a:pPr marL="0" indent="0">
                  <a:lnSpc>
                    <a:spcPct val="110000"/>
                  </a:lnSpc>
                  <a:buNone/>
                </a:pPr>
                <a:endParaRPr lang="en-US" dirty="0"/>
              </a:p>
              <a:p>
                <a:pPr>
                  <a:lnSpc>
                    <a:spcPct val="110000"/>
                  </a:lnSpc>
                </a:pPr>
                <a14:m>
                  <m:oMath xmlns:m="http://schemas.openxmlformats.org/officeDocument/2006/math">
                    <m:r>
                      <a:rPr lang="en-US" b="1" i="1" smtClean="0">
                        <a:latin typeface="Cambria Math" panose="02040503050406030204" pitchFamily="18" charset="0"/>
                      </a:rPr>
                      <m:t>𝒖</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𝑚</m:t>
                            </m:r>
                          </m:sub>
                        </m:sSub>
                      </m:e>
                    </m:d>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𝑅</m:t>
                        </m:r>
                      </m:e>
                      <m:sup>
                        <m:r>
                          <a:rPr lang="en-US" b="0" i="1" smtClean="0">
                            <a:latin typeface="Cambria Math" panose="02040503050406030204" pitchFamily="18" charset="0"/>
                            <a:ea typeface="Cambria Math" panose="02040503050406030204" pitchFamily="18" charset="0"/>
                          </a:rPr>
                          <m:t>𝑚</m:t>
                        </m:r>
                      </m:sup>
                    </m:sSup>
                  </m:oMath>
                </a14:m>
                <a:r>
                  <a:rPr lang="en-US" dirty="0"/>
                  <a:t>: optimization variables</a:t>
                </a:r>
              </a:p>
              <a:p>
                <a:pPr>
                  <a:lnSpc>
                    <a:spcPct val="110000"/>
                  </a:lnSpc>
                </a:pP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𝑅</m:t>
                        </m:r>
                      </m:e>
                      <m:sup>
                        <m:r>
                          <a:rPr lang="en-US" b="0" i="1" smtClean="0">
                            <a:latin typeface="Cambria Math" panose="02040503050406030204" pitchFamily="18" charset="0"/>
                            <a:ea typeface="Cambria Math" panose="02040503050406030204" pitchFamily="18" charset="0"/>
                          </a:rPr>
                          <m:t>𝑚</m:t>
                        </m:r>
                      </m:sup>
                    </m:s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 </m:t>
                    </m:r>
                  </m:oMath>
                </a14:m>
                <a:r>
                  <a:rPr lang="en-US" dirty="0"/>
                  <a:t>objective or cost function ( or </a:t>
                </a:r>
                <a:r>
                  <a:rPr lang="en-US" dirty="0">
                    <a:solidFill>
                      <a:srgbClr val="C00000"/>
                    </a:solidFill>
                  </a:rPr>
                  <a:t>utility</a:t>
                </a:r>
                <a:r>
                  <a:rPr lang="en-US" dirty="0"/>
                  <a:t>)</a:t>
                </a:r>
              </a:p>
              <a:p>
                <a:pPr marL="0" indent="0">
                  <a:lnSpc>
                    <a:spcPct val="110000"/>
                  </a:lnSpc>
                  <a:buNone/>
                </a:pPr>
                <a:endParaRPr lang="en-US" dirty="0"/>
              </a:p>
              <a:p>
                <a:pPr marL="0" indent="0">
                  <a:lnSpc>
                    <a:spcPct val="110000"/>
                  </a:lnSpc>
                  <a:buNone/>
                </a:pPr>
                <a:r>
                  <a:rPr lang="en-US" dirty="0"/>
                  <a:t>To solve this optimization problem means to find the optimal variable </a:t>
                </a:r>
                <a14:m>
                  <m:oMath xmlns:m="http://schemas.openxmlformats.org/officeDocument/2006/math">
                    <m:sSup>
                      <m:sSupPr>
                        <m:ctrlPr>
                          <a:rPr lang="en-US" i="1">
                            <a:latin typeface="Cambria Math" panose="02040503050406030204" pitchFamily="18" charset="0"/>
                          </a:rPr>
                        </m:ctrlPr>
                      </m:sSupPr>
                      <m:e>
                        <m:r>
                          <a:rPr lang="en-US" b="1" i="1">
                            <a:latin typeface="Cambria Math" panose="02040503050406030204" pitchFamily="18" charset="0"/>
                          </a:rPr>
                          <m:t>𝒖</m:t>
                        </m:r>
                      </m:e>
                      <m:sup>
                        <m:r>
                          <a:rPr lang="en-US" i="1">
                            <a:latin typeface="Cambria Math" panose="02040503050406030204" pitchFamily="18" charset="0"/>
                          </a:rPr>
                          <m:t>∗</m:t>
                        </m:r>
                      </m:sup>
                    </m:sSup>
                  </m:oMath>
                </a14:m>
                <a:r>
                  <a:rPr lang="en-US" dirty="0"/>
                  <a:t> such that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b="1" i="1">
                                <a:latin typeface="Cambria Math" panose="02040503050406030204" pitchFamily="18" charset="0"/>
                              </a:rPr>
                              <m:t>𝒖</m:t>
                            </m:r>
                          </m:e>
                          <m:sup>
                            <m:r>
                              <a:rPr lang="en-US" i="1">
                                <a:latin typeface="Cambria Math" panose="02040503050406030204" pitchFamily="18" charset="0"/>
                              </a:rPr>
                              <m:t>∗</m:t>
                            </m:r>
                          </m:sup>
                        </m:sSup>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𝒖</m:t>
                        </m:r>
                      </m:e>
                    </m:d>
                  </m:oMath>
                </a14:m>
                <a:r>
                  <a:rPr lang="en-US" dirty="0"/>
                  <a:t> for any </a:t>
                </a:r>
                <a14:m>
                  <m:oMath xmlns:m="http://schemas.openxmlformats.org/officeDocument/2006/math">
                    <m:r>
                      <a:rPr lang="en-US" b="1" i="1">
                        <a:latin typeface="Cambria Math" panose="02040503050406030204" pitchFamily="18" charset="0"/>
                      </a:rPr>
                      <m:t>𝒖</m:t>
                    </m:r>
                    <m:r>
                      <a:rPr lang="en-US" i="1">
                        <a:latin typeface="Cambria Math" panose="02040503050406030204" pitchFamily="18" charset="0"/>
                        <a:ea typeface="Cambria Math" panose="02040503050406030204" pitchFamily="18" charset="0"/>
                      </a:rPr>
                      <m:t>∈ </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𝑅</m:t>
                        </m:r>
                      </m:e>
                      <m:sup>
                        <m:r>
                          <a:rPr lang="en-US" i="1">
                            <a:latin typeface="Cambria Math" panose="02040503050406030204" pitchFamily="18" charset="0"/>
                            <a:ea typeface="Cambria Math" panose="02040503050406030204" pitchFamily="18" charset="0"/>
                          </a:rPr>
                          <m:t>𝑚</m:t>
                        </m:r>
                      </m:sup>
                    </m:sSup>
                    <m:r>
                      <a:rPr lang="en-US">
                        <a:latin typeface="Cambria Math" panose="02040503050406030204" pitchFamily="18" charset="0"/>
                        <a:ea typeface="Cambria Math" panose="02040503050406030204" pitchFamily="18" charset="0"/>
                      </a:rPr>
                      <m:t> </m:t>
                    </m:r>
                  </m:oMath>
                </a14:m>
                <a:r>
                  <a:rPr lang="en-US" dirty="0"/>
                  <a:t>. (</a:t>
                </a:r>
                <a:r>
                  <a:rPr lang="en-US" dirty="0">
                    <a:solidFill>
                      <a:srgbClr val="C00000"/>
                    </a:solidFill>
                  </a:rPr>
                  <a:t>or </a:t>
                </a:r>
                <a14:m>
                  <m:oMath xmlns:m="http://schemas.openxmlformats.org/officeDocument/2006/math">
                    <m:sSup>
                      <m:sSupPr>
                        <m:ctrlPr>
                          <a:rPr lang="en-US" i="1">
                            <a:solidFill>
                              <a:srgbClr val="C00000"/>
                            </a:solidFill>
                            <a:latin typeface="Cambria Math" panose="02040503050406030204" pitchFamily="18" charset="0"/>
                          </a:rPr>
                        </m:ctrlPr>
                      </m:sSupPr>
                      <m:e>
                        <m:r>
                          <a:rPr lang="en-US" b="1" i="1">
                            <a:solidFill>
                              <a:srgbClr val="C00000"/>
                            </a:solidFill>
                            <a:latin typeface="Cambria Math" panose="02040503050406030204" pitchFamily="18" charset="0"/>
                          </a:rPr>
                          <m:t>𝒖</m:t>
                        </m:r>
                      </m:e>
                      <m:sup>
                        <m:r>
                          <a:rPr lang="en-US" i="1">
                            <a:solidFill>
                              <a:srgbClr val="C00000"/>
                            </a:solidFill>
                            <a:latin typeface="Cambria Math" panose="02040503050406030204" pitchFamily="18" charset="0"/>
                          </a:rPr>
                          <m:t>∗</m:t>
                        </m:r>
                      </m:sup>
                    </m:sSup>
                  </m:oMath>
                </a14:m>
                <a:r>
                  <a:rPr lang="en-US" dirty="0">
                    <a:solidFill>
                      <a:srgbClr val="C00000"/>
                    </a:solidFill>
                  </a:rPr>
                  <a:t> such that g</a:t>
                </a:r>
                <a14:m>
                  <m:oMath xmlns:m="http://schemas.openxmlformats.org/officeDocument/2006/math">
                    <m:d>
                      <m:dPr>
                        <m:ctrlPr>
                          <a:rPr lang="en-US" i="1">
                            <a:solidFill>
                              <a:srgbClr val="C00000"/>
                            </a:solidFill>
                            <a:latin typeface="Cambria Math" panose="02040503050406030204" pitchFamily="18" charset="0"/>
                          </a:rPr>
                        </m:ctrlPr>
                      </m:dPr>
                      <m:e>
                        <m:sSup>
                          <m:sSupPr>
                            <m:ctrlPr>
                              <a:rPr lang="en-US" i="1">
                                <a:solidFill>
                                  <a:srgbClr val="C00000"/>
                                </a:solidFill>
                                <a:latin typeface="Cambria Math" panose="02040503050406030204" pitchFamily="18" charset="0"/>
                              </a:rPr>
                            </m:ctrlPr>
                          </m:sSupPr>
                          <m:e>
                            <m:r>
                              <a:rPr lang="en-US" b="1" i="1">
                                <a:solidFill>
                                  <a:srgbClr val="C00000"/>
                                </a:solidFill>
                                <a:latin typeface="Cambria Math" panose="02040503050406030204" pitchFamily="18" charset="0"/>
                              </a:rPr>
                              <m:t>𝒖</m:t>
                            </m:r>
                          </m:e>
                          <m:sup>
                            <m:r>
                              <a:rPr lang="en-US" i="1">
                                <a:solidFill>
                                  <a:srgbClr val="C00000"/>
                                </a:solidFill>
                                <a:latin typeface="Cambria Math" panose="02040503050406030204" pitchFamily="18" charset="0"/>
                              </a:rPr>
                              <m:t>∗</m:t>
                            </m:r>
                          </m:sup>
                        </m:sSup>
                      </m:e>
                    </m:d>
                    <m:r>
                      <a:rPr lang="en-US" i="1" smtClean="0">
                        <a:solidFill>
                          <a:srgbClr val="C00000"/>
                        </a:solidFill>
                        <a:latin typeface="Cambria Math" panose="02040503050406030204" pitchFamily="18" charset="0"/>
                        <a:ea typeface="Cambria Math" panose="02040503050406030204" pitchFamily="18" charset="0"/>
                      </a:rPr>
                      <m:t>≥</m:t>
                    </m:r>
                    <m:r>
                      <a:rPr lang="en-US" b="0" i="1" smtClean="0">
                        <a:solidFill>
                          <a:srgbClr val="C00000"/>
                        </a:solidFill>
                        <a:latin typeface="Cambria Math" panose="02040503050406030204" pitchFamily="18" charset="0"/>
                        <a:ea typeface="Cambria Math" panose="02040503050406030204" pitchFamily="18" charset="0"/>
                      </a:rPr>
                      <m:t>𝑔</m:t>
                    </m:r>
                    <m:d>
                      <m:dPr>
                        <m:ctrlPr>
                          <a:rPr lang="en-US" i="1">
                            <a:solidFill>
                              <a:srgbClr val="C00000"/>
                            </a:solidFill>
                            <a:latin typeface="Cambria Math" panose="02040503050406030204" pitchFamily="18" charset="0"/>
                            <a:ea typeface="Cambria Math" panose="02040503050406030204" pitchFamily="18" charset="0"/>
                          </a:rPr>
                        </m:ctrlPr>
                      </m:dPr>
                      <m:e>
                        <m:r>
                          <a:rPr lang="en-US" b="1" i="1" smtClean="0">
                            <a:solidFill>
                              <a:srgbClr val="C00000"/>
                            </a:solidFill>
                            <a:latin typeface="Cambria Math" panose="02040503050406030204" pitchFamily="18" charset="0"/>
                            <a:ea typeface="Cambria Math" panose="02040503050406030204" pitchFamily="18" charset="0"/>
                          </a:rPr>
                          <m:t>𝒖</m:t>
                        </m:r>
                      </m:e>
                    </m:d>
                  </m:oMath>
                </a14:m>
                <a:r>
                  <a:rPr lang="en-US" dirty="0">
                    <a:solidFill>
                      <a:srgbClr val="C00000"/>
                    </a:solidFill>
                  </a:rPr>
                  <a:t> for any </a:t>
                </a:r>
                <a14:m>
                  <m:oMath xmlns:m="http://schemas.openxmlformats.org/officeDocument/2006/math">
                    <m:r>
                      <a:rPr lang="en-US" b="1" i="1" smtClean="0">
                        <a:solidFill>
                          <a:srgbClr val="C00000"/>
                        </a:solidFill>
                        <a:latin typeface="Cambria Math" panose="02040503050406030204" pitchFamily="18" charset="0"/>
                      </a:rPr>
                      <m:t>𝒖</m:t>
                    </m:r>
                    <m:r>
                      <a:rPr lang="en-US" i="1">
                        <a:solidFill>
                          <a:srgbClr val="C00000"/>
                        </a:solidFill>
                        <a:latin typeface="Cambria Math" panose="02040503050406030204" pitchFamily="18" charset="0"/>
                        <a:ea typeface="Cambria Math" panose="02040503050406030204" pitchFamily="18" charset="0"/>
                      </a:rPr>
                      <m:t>∈ </m:t>
                    </m:r>
                    <m:sSup>
                      <m:sSupPr>
                        <m:ctrlPr>
                          <a:rPr lang="en-US" i="1">
                            <a:solidFill>
                              <a:srgbClr val="C00000"/>
                            </a:solidFill>
                            <a:latin typeface="Cambria Math" panose="02040503050406030204" pitchFamily="18" charset="0"/>
                            <a:ea typeface="Cambria Math" panose="02040503050406030204" pitchFamily="18" charset="0"/>
                          </a:rPr>
                        </m:ctrlPr>
                      </m:sSupPr>
                      <m:e>
                        <m:r>
                          <a:rPr lang="en-US" i="1">
                            <a:solidFill>
                              <a:srgbClr val="C00000"/>
                            </a:solidFill>
                            <a:latin typeface="Cambria Math" panose="02040503050406030204" pitchFamily="18" charset="0"/>
                            <a:ea typeface="Cambria Math" panose="02040503050406030204" pitchFamily="18" charset="0"/>
                          </a:rPr>
                          <m:t>𝑅</m:t>
                        </m:r>
                      </m:e>
                      <m:sup>
                        <m:r>
                          <a:rPr lang="en-US" b="0" i="1" smtClean="0">
                            <a:solidFill>
                              <a:srgbClr val="C00000"/>
                            </a:solidFill>
                            <a:latin typeface="Cambria Math" panose="02040503050406030204" pitchFamily="18" charset="0"/>
                            <a:ea typeface="Cambria Math" panose="02040503050406030204" pitchFamily="18" charset="0"/>
                          </a:rPr>
                          <m:t>𝑚</m:t>
                        </m:r>
                      </m:sup>
                    </m:sSup>
                    <m:r>
                      <a:rPr lang="en-US">
                        <a:latin typeface="Cambria Math" panose="02040503050406030204" pitchFamily="18" charset="0"/>
                        <a:ea typeface="Cambria Math" panose="02040503050406030204" pitchFamily="18" charset="0"/>
                      </a:rPr>
                      <m:t> </m:t>
                    </m:r>
                  </m:oMath>
                </a14:m>
                <a:r>
                  <a:rPr lang="en-US" dirty="0"/>
                  <a:t>)</a:t>
                </a:r>
              </a:p>
            </p:txBody>
          </p:sp>
        </mc:Choice>
        <mc:Fallback xmlns="">
          <p:sp>
            <p:nvSpPr>
              <p:cNvPr id="3" name="Content Placeholder 2">
                <a:extLst>
                  <a:ext uri="{FF2B5EF4-FFF2-40B4-BE49-F238E27FC236}">
                    <a16:creationId xmlns:a16="http://schemas.microsoft.com/office/drawing/2014/main" id="{1D9746FF-B984-4834-8AE0-9FECE00187CF}"/>
                  </a:ext>
                </a:extLst>
              </p:cNvPr>
              <p:cNvSpPr>
                <a:spLocks noGrp="1" noRot="1" noChangeAspect="1" noMove="1" noResize="1" noEditPoints="1" noAdjustHandles="1" noChangeArrowheads="1" noChangeShapeType="1" noTextEdit="1"/>
              </p:cNvSpPr>
              <p:nvPr>
                <p:ph idx="1"/>
              </p:nvPr>
            </p:nvSpPr>
            <p:spPr>
              <a:blipFill>
                <a:blip r:embed="rId2"/>
                <a:stretch>
                  <a:fillRect l="-928" t="-1120" b="-2101"/>
                </a:stretch>
              </a:blipFill>
            </p:spPr>
            <p:txBody>
              <a:bodyPr/>
              <a:lstStyle/>
              <a:p>
                <a:r>
                  <a:rPr lang="en-US">
                    <a:noFill/>
                  </a:rPr>
                  <a:t> </a:t>
                </a:r>
              </a:p>
            </p:txBody>
          </p:sp>
        </mc:Fallback>
      </mc:AlternateContent>
    </p:spTree>
    <p:extLst>
      <p:ext uri="{BB962C8B-B14F-4D97-AF65-F5344CB8AC3E}">
        <p14:creationId xmlns:p14="http://schemas.microsoft.com/office/powerpoint/2010/main" val="2634066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F6757-FC6A-4938-8027-F1D81DDE3273}"/>
              </a:ext>
            </a:extLst>
          </p:cNvPr>
          <p:cNvSpPr>
            <a:spLocks noGrp="1"/>
          </p:cNvSpPr>
          <p:nvPr>
            <p:ph type="title"/>
          </p:nvPr>
        </p:nvSpPr>
        <p:spPr/>
        <p:txBody>
          <a:bodyPr/>
          <a:lstStyle/>
          <a:p>
            <a:r>
              <a:rPr lang="en-US" b="1" dirty="0"/>
              <a:t>Optimization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9746FF-B984-4834-8AE0-9FECE00187CF}"/>
                  </a:ext>
                </a:extLst>
              </p:cNvPr>
              <p:cNvSpPr>
                <a:spLocks noGrp="1"/>
              </p:cNvSpPr>
              <p:nvPr>
                <p:ph idx="1"/>
              </p:nvPr>
            </p:nvSpPr>
            <p:spPr/>
            <p:txBody>
              <a:bodyPr>
                <a:normAutofit fontScale="85000" lnSpcReduction="20000"/>
              </a:bodyPr>
              <a:lstStyle/>
              <a:p>
                <a:pPr marL="0" indent="0">
                  <a:lnSpc>
                    <a:spcPct val="110000"/>
                  </a:lnSpc>
                  <a:buNone/>
                </a:pPr>
                <a:r>
                  <a:rPr lang="en-US" dirty="0"/>
                  <a:t>Mathematical Optimization Problem (constrained Optimization):</a:t>
                </a:r>
              </a:p>
              <a:p>
                <a:pPr marL="0" indent="0">
                  <a:lnSpc>
                    <a:spcPct val="110000"/>
                  </a:lnSpc>
                  <a:buNone/>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min</m:t>
                              </m:r>
                            </m:e>
                            <m:lim>
                              <m:eqArr>
                                <m:eqArrPr>
                                  <m:ctrlPr>
                                    <a:rPr lang="en-US" b="0" i="1" smtClean="0">
                                      <a:latin typeface="Cambria Math" panose="02040503050406030204" pitchFamily="18" charset="0"/>
                                    </a:rPr>
                                  </m:ctrlPr>
                                </m:eqArrPr>
                                <m:e>
                                  <m:r>
                                    <m:rPr>
                                      <m:sty m:val="p"/>
                                    </m:rPr>
                                    <a:rPr lang="en-US">
                                      <a:latin typeface="Cambria Math" panose="02040503050406030204" pitchFamily="18" charset="0"/>
                                    </a:rPr>
                                    <m:t>subject</m:t>
                                  </m:r>
                                  <m:r>
                                    <a:rPr lang="en-US">
                                      <a:latin typeface="Cambria Math" panose="02040503050406030204" pitchFamily="18" charset="0"/>
                                    </a:rPr>
                                    <m:t> </m:t>
                                  </m:r>
                                  <m:r>
                                    <m:rPr>
                                      <m:sty m:val="p"/>
                                    </m:rPr>
                                    <a:rPr lang="en-US">
                                      <a:latin typeface="Cambria Math" panose="02040503050406030204" pitchFamily="18" charset="0"/>
                                    </a:rPr>
                                    <m:t>to</m:t>
                                  </m:r>
                                  <m:r>
                                    <a:rPr lang="en-US">
                                      <a:latin typeface="Cambria Math" panose="02040503050406030204" pitchFamily="18" charset="0"/>
                                    </a:rPr>
                                    <m:t> </m:t>
                                  </m:r>
                                </m:e>
                                <m:e>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𝑓</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b="1" i="1" smtClean="0">
                                          <a:latin typeface="Cambria Math" panose="02040503050406030204" pitchFamily="18" charset="0"/>
                                        </a:rPr>
                                        <m:t>𝒖</m:t>
                                      </m:r>
                                    </m:e>
                                  </m:d>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1,   2,</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𝑚</m:t>
                                  </m:r>
                                </m:e>
                                <m:e>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𝑗</m:t>
                                      </m:r>
                                    </m:sub>
                                  </m:sSub>
                                  <m:d>
                                    <m:dPr>
                                      <m:ctrlPr>
                                        <a:rPr lang="en-US" i="1">
                                          <a:latin typeface="Cambria Math" panose="02040503050406030204" pitchFamily="18" charset="0"/>
                                        </a:rPr>
                                      </m:ctrlPr>
                                    </m:dPr>
                                    <m:e>
                                      <m:r>
                                        <a:rPr lang="en-US" b="1" i="1" smtClean="0">
                                          <a:latin typeface="Cambria Math" panose="02040503050406030204" pitchFamily="18" charset="0"/>
                                        </a:rPr>
                                        <m:t>𝒖</m:t>
                                      </m:r>
                                    </m:e>
                                  </m:d>
                                  <m:r>
                                    <a:rPr lang="en-US" b="0" i="1" smtClean="0">
                                      <a:latin typeface="Cambria Math" panose="02040503050406030204" pitchFamily="18" charset="0"/>
                                    </a:rPr>
                                    <m:t> </m:t>
                                  </m:r>
                                  <m: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0,   </m:t>
                                  </m:r>
                                  <m:r>
                                    <a:rPr lang="en-US" b="0" i="1" smtClean="0">
                                      <a:latin typeface="Cambria Math" panose="02040503050406030204" pitchFamily="18" charset="0"/>
                                    </a:rPr>
                                    <m:t>𝑗</m:t>
                                  </m:r>
                                  <m:r>
                                    <a:rPr lang="en-US" b="0" i="1" smtClean="0">
                                      <a:latin typeface="Cambria Math" panose="02040503050406030204" pitchFamily="18" charset="0"/>
                                    </a:rPr>
                                    <m:t> = 1,  2,  ⋯,  </m:t>
                                  </m:r>
                                  <m:r>
                                    <a:rPr lang="en-US" i="1">
                                      <a:latin typeface="Cambria Math" panose="02040503050406030204" pitchFamily="18" charset="0"/>
                                      <a:ea typeface="Cambria Math" panose="02040503050406030204" pitchFamily="18" charset="0"/>
                                    </a:rPr>
                                    <m:t>𝑛</m:t>
                                  </m:r>
                                </m:e>
                              </m:eqArr>
                            </m:lim>
                          </m:limLow>
                        </m:fName>
                        <m:e>
                          <m:r>
                            <a:rPr lang="en-US" b="0" i="1" smtClean="0">
                              <a:latin typeface="Cambria Math" panose="02040503050406030204" pitchFamily="18" charset="0"/>
                            </a:rPr>
                            <m:t>𝑓</m:t>
                          </m:r>
                          <m:r>
                            <a:rPr lang="en-US" b="0" i="1" smtClean="0">
                              <a:latin typeface="Cambria Math" panose="02040503050406030204" pitchFamily="18" charset="0"/>
                            </a:rPr>
                            <m:t>(</m:t>
                          </m:r>
                          <m:r>
                            <a:rPr lang="en-US" b="1" i="1" smtClean="0">
                              <a:latin typeface="Cambria Math" panose="02040503050406030204" pitchFamily="18" charset="0"/>
                            </a:rPr>
                            <m:t>𝒖</m:t>
                          </m:r>
                          <m:r>
                            <a:rPr lang="en-US" b="0" i="1" smtClean="0">
                              <a:latin typeface="Cambria Math" panose="02040503050406030204" pitchFamily="18" charset="0"/>
                            </a:rPr>
                            <m:t>)</m:t>
                          </m:r>
                        </m:e>
                      </m:func>
                    </m:oMath>
                  </m:oMathPara>
                </a14:m>
                <a:endParaRPr lang="en-US" dirty="0"/>
              </a:p>
              <a:p>
                <a:pPr>
                  <a:lnSpc>
                    <a:spcPct val="110000"/>
                  </a:lnSpc>
                </a:pPr>
                <a:endParaRPr lang="en-US" b="0" i="1" dirty="0">
                  <a:latin typeface="Cambria Math" panose="02040503050406030204" pitchFamily="18" charset="0"/>
                </a:endParaRPr>
              </a:p>
              <a:p>
                <a:pPr>
                  <a:lnSpc>
                    <a:spcPct val="110000"/>
                  </a:lnSpc>
                </a:pPr>
                <a14:m>
                  <m:oMath xmlns:m="http://schemas.openxmlformats.org/officeDocument/2006/math">
                    <m:r>
                      <a:rPr lang="en-US" b="1" i="1" smtClean="0">
                        <a:latin typeface="Cambria Math" panose="02040503050406030204" pitchFamily="18" charset="0"/>
                      </a:rPr>
                      <m:t>𝒖</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𝑚</m:t>
                            </m:r>
                          </m:sub>
                        </m:sSub>
                      </m:e>
                    </m:d>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𝑅</m:t>
                        </m:r>
                      </m:e>
                      <m:sup>
                        <m:r>
                          <a:rPr lang="en-US" b="0" i="1" smtClean="0">
                            <a:latin typeface="Cambria Math" panose="02040503050406030204" pitchFamily="18" charset="0"/>
                            <a:ea typeface="Cambria Math" panose="02040503050406030204" pitchFamily="18" charset="0"/>
                          </a:rPr>
                          <m:t>𝑚</m:t>
                        </m:r>
                      </m:sup>
                    </m:sSup>
                  </m:oMath>
                </a14:m>
                <a:r>
                  <a:rPr lang="en-US" dirty="0"/>
                  <a:t>: optimization variables</a:t>
                </a:r>
              </a:p>
              <a:p>
                <a:pPr>
                  <a:lnSpc>
                    <a:spcPct val="110000"/>
                  </a:lnSpc>
                </a:pP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𝑅</m:t>
                        </m:r>
                      </m:e>
                      <m:sup>
                        <m:r>
                          <a:rPr lang="en-US" b="0" i="1" smtClean="0">
                            <a:latin typeface="Cambria Math" panose="02040503050406030204" pitchFamily="18" charset="0"/>
                            <a:ea typeface="Cambria Math" panose="02040503050406030204" pitchFamily="18" charset="0"/>
                          </a:rPr>
                          <m:t>𝑚</m:t>
                        </m:r>
                      </m:sup>
                    </m:s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 </m:t>
                    </m:r>
                  </m:oMath>
                </a14:m>
                <a:r>
                  <a:rPr lang="en-US" dirty="0"/>
                  <a:t>objective or cost function</a:t>
                </a:r>
              </a:p>
              <a:p>
                <a:pPr marL="0" indent="0">
                  <a:lnSpc>
                    <a:spcPct val="110000"/>
                  </a:lnSpc>
                  <a:buNone/>
                </a:pPr>
                <a:endParaRPr lang="en-US" dirty="0"/>
              </a:p>
              <a:p>
                <a:pPr marL="0" indent="0">
                  <a:lnSpc>
                    <a:spcPct val="110000"/>
                  </a:lnSpc>
                  <a:buNone/>
                </a:pPr>
                <a:r>
                  <a:rPr lang="en-US" dirty="0"/>
                  <a:t>To solve this optimization problem means to find the optimal variable </a:t>
                </a:r>
                <a14:m>
                  <m:oMath xmlns:m="http://schemas.openxmlformats.org/officeDocument/2006/math">
                    <m:sSup>
                      <m:sSupPr>
                        <m:ctrlPr>
                          <a:rPr lang="en-US" i="1" smtClean="0">
                            <a:latin typeface="Cambria Math" panose="02040503050406030204" pitchFamily="18" charset="0"/>
                          </a:rPr>
                        </m:ctrlPr>
                      </m:sSupPr>
                      <m:e>
                        <m:r>
                          <a:rPr lang="en-US" b="1" i="1" smtClean="0">
                            <a:latin typeface="Cambria Math" panose="02040503050406030204" pitchFamily="18" charset="0"/>
                          </a:rPr>
                          <m:t>𝒖</m:t>
                        </m:r>
                      </m:e>
                      <m:sup>
                        <m:r>
                          <a:rPr lang="en-US" b="0" i="1" smtClean="0">
                            <a:latin typeface="Cambria Math" panose="02040503050406030204" pitchFamily="18" charset="0"/>
                          </a:rPr>
                          <m:t>∗</m:t>
                        </m:r>
                      </m:sup>
                    </m:sSup>
                  </m:oMath>
                </a14:m>
                <a:r>
                  <a:rPr lang="en-US" dirty="0"/>
                  <a:t> such that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1" i="1" smtClean="0">
                                <a:latin typeface="Cambria Math" panose="02040503050406030204" pitchFamily="18" charset="0"/>
                              </a:rPr>
                              <m:t>𝒖</m:t>
                            </m:r>
                          </m:e>
                          <m:sup>
                            <m:r>
                              <a:rPr lang="en-US" b="0" i="1" smtClean="0">
                                <a:latin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𝒖</m:t>
                        </m:r>
                      </m:e>
                    </m:d>
                  </m:oMath>
                </a14:m>
                <a:r>
                  <a:rPr lang="en-US" dirty="0"/>
                  <a:t> for any </a:t>
                </a:r>
                <a14:m>
                  <m:oMath xmlns:m="http://schemas.openxmlformats.org/officeDocument/2006/math">
                    <m:r>
                      <a:rPr lang="en-US" b="1" i="1" smtClean="0">
                        <a:latin typeface="Cambria Math" panose="02040503050406030204" pitchFamily="18" charset="0"/>
                      </a:rPr>
                      <m:t>𝒖</m:t>
                    </m:r>
                    <m:r>
                      <a:rPr lang="en-US" i="1">
                        <a:latin typeface="Cambria Math" panose="02040503050406030204" pitchFamily="18" charset="0"/>
                        <a:ea typeface="Cambria Math" panose="02040503050406030204" pitchFamily="18" charset="0"/>
                      </a:rPr>
                      <m:t>∈ </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𝑅</m:t>
                        </m:r>
                      </m:e>
                      <m:sup>
                        <m:r>
                          <a:rPr lang="en-US" b="0" i="1" smtClean="0">
                            <a:latin typeface="Cambria Math" panose="02040503050406030204" pitchFamily="18" charset="0"/>
                            <a:ea typeface="Cambria Math" panose="02040503050406030204" pitchFamily="18" charset="0"/>
                          </a:rPr>
                          <m:t>𝑚</m:t>
                        </m:r>
                      </m:sup>
                    </m:sSup>
                    <m:r>
                      <a:rPr lang="en-US" b="0" i="0" smtClean="0">
                        <a:latin typeface="Cambria Math" panose="02040503050406030204" pitchFamily="18" charset="0"/>
                        <a:ea typeface="Cambria Math" panose="02040503050406030204" pitchFamily="18" charset="0"/>
                      </a:rPr>
                      <m:t> </m:t>
                    </m:r>
                  </m:oMath>
                </a14:m>
                <a:r>
                  <a:rPr lang="en-US" dirty="0"/>
                  <a:t>that satisfy the inequality and equality constraints.</a:t>
                </a:r>
              </a:p>
            </p:txBody>
          </p:sp>
        </mc:Choice>
        <mc:Fallback xmlns="">
          <p:sp>
            <p:nvSpPr>
              <p:cNvPr id="3" name="Content Placeholder 2">
                <a:extLst>
                  <a:ext uri="{FF2B5EF4-FFF2-40B4-BE49-F238E27FC236}">
                    <a16:creationId xmlns:a16="http://schemas.microsoft.com/office/drawing/2014/main" id="{1D9746FF-B984-4834-8AE0-9FECE00187CF}"/>
                  </a:ext>
                </a:extLst>
              </p:cNvPr>
              <p:cNvSpPr>
                <a:spLocks noGrp="1" noRot="1" noChangeAspect="1" noMove="1" noResize="1" noEditPoints="1" noAdjustHandles="1" noChangeArrowheads="1" noChangeShapeType="1" noTextEdit="1"/>
              </p:cNvSpPr>
              <p:nvPr>
                <p:ph idx="1"/>
              </p:nvPr>
            </p:nvSpPr>
            <p:spPr>
              <a:blipFill>
                <a:blip r:embed="rId2"/>
                <a:stretch>
                  <a:fillRect l="-928" t="-1961" b="-1261"/>
                </a:stretch>
              </a:blipFill>
            </p:spPr>
            <p:txBody>
              <a:bodyPr/>
              <a:lstStyle/>
              <a:p>
                <a:r>
                  <a:rPr lang="en-US">
                    <a:noFill/>
                  </a:rPr>
                  <a:t> </a:t>
                </a:r>
              </a:p>
            </p:txBody>
          </p:sp>
        </mc:Fallback>
      </mc:AlternateContent>
    </p:spTree>
    <p:extLst>
      <p:ext uri="{BB962C8B-B14F-4D97-AF65-F5344CB8AC3E}">
        <p14:creationId xmlns:p14="http://schemas.microsoft.com/office/powerpoint/2010/main" val="1494430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84AD-37F9-4E5F-A813-CD3E5D5D6019}"/>
              </a:ext>
            </a:extLst>
          </p:cNvPr>
          <p:cNvSpPr>
            <a:spLocks noGrp="1"/>
          </p:cNvSpPr>
          <p:nvPr>
            <p:ph type="title"/>
          </p:nvPr>
        </p:nvSpPr>
        <p:spPr/>
        <p:txBody>
          <a:bodyPr/>
          <a:lstStyle/>
          <a:p>
            <a:r>
              <a:rPr lang="en-US" b="1" dirty="0"/>
              <a:t>Example</a:t>
            </a:r>
          </a:p>
        </p:txBody>
      </p:sp>
      <p:sp>
        <p:nvSpPr>
          <p:cNvPr id="3" name="Content Placeholder 2">
            <a:extLst>
              <a:ext uri="{FF2B5EF4-FFF2-40B4-BE49-F238E27FC236}">
                <a16:creationId xmlns:a16="http://schemas.microsoft.com/office/drawing/2014/main" id="{CEF279F9-575D-4826-9644-8AD61A863F61}"/>
              </a:ext>
            </a:extLst>
          </p:cNvPr>
          <p:cNvSpPr>
            <a:spLocks noGrp="1"/>
          </p:cNvSpPr>
          <p:nvPr>
            <p:ph idx="1"/>
          </p:nvPr>
        </p:nvSpPr>
        <p:spPr/>
        <p:txBody>
          <a:bodyPr>
            <a:normAutofit lnSpcReduction="10000"/>
          </a:bodyPr>
          <a:lstStyle/>
          <a:p>
            <a:pPr marL="0" indent="0">
              <a:buNone/>
            </a:pPr>
            <a:r>
              <a:rPr lang="en-US" sz="2400" dirty="0"/>
              <a:t>An advertising company wants to find the best advertising strategy:</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b="1" dirty="0"/>
              <a:t>Goal</a:t>
            </a:r>
            <a:r>
              <a:rPr lang="en-US" sz="2400" dirty="0"/>
              <a:t>: To figure out how many ads should be run in each media:</a:t>
            </a:r>
          </a:p>
          <a:p>
            <a:r>
              <a:rPr lang="en-US" sz="2400" dirty="0"/>
              <a:t>such as the total number of audience is maximized</a:t>
            </a:r>
          </a:p>
          <a:p>
            <a:r>
              <a:rPr lang="en-US" sz="2400" dirty="0"/>
              <a:t>while not exceeding the budget of $18,200 and at least 10% of the ads should occur in TV.</a:t>
            </a:r>
          </a:p>
          <a:p>
            <a:pPr marL="0" indent="0">
              <a:buNone/>
            </a:pPr>
            <a:endParaRPr lang="en-US" sz="2400" dirty="0"/>
          </a:p>
        </p:txBody>
      </p:sp>
      <p:graphicFrame>
        <p:nvGraphicFramePr>
          <p:cNvPr id="4" name="Table 4">
            <a:extLst>
              <a:ext uri="{FF2B5EF4-FFF2-40B4-BE49-F238E27FC236}">
                <a16:creationId xmlns:a16="http://schemas.microsoft.com/office/drawing/2014/main" id="{81239C80-5B56-42C2-9BDC-0742CC769517}"/>
              </a:ext>
            </a:extLst>
          </p:cNvPr>
          <p:cNvGraphicFramePr>
            <a:graphicFrameLocks noGrp="1"/>
          </p:cNvGraphicFramePr>
          <p:nvPr/>
        </p:nvGraphicFramePr>
        <p:xfrm>
          <a:off x="1593850" y="2621280"/>
          <a:ext cx="8128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60697599"/>
                    </a:ext>
                  </a:extLst>
                </a:gridCol>
                <a:gridCol w="2032000">
                  <a:extLst>
                    <a:ext uri="{9D8B030D-6E8A-4147-A177-3AD203B41FA5}">
                      <a16:colId xmlns:a16="http://schemas.microsoft.com/office/drawing/2014/main" val="2787204224"/>
                    </a:ext>
                  </a:extLst>
                </a:gridCol>
                <a:gridCol w="2032000">
                  <a:extLst>
                    <a:ext uri="{9D8B030D-6E8A-4147-A177-3AD203B41FA5}">
                      <a16:colId xmlns:a16="http://schemas.microsoft.com/office/drawing/2014/main" val="1845249825"/>
                    </a:ext>
                  </a:extLst>
                </a:gridCol>
                <a:gridCol w="2032000">
                  <a:extLst>
                    <a:ext uri="{9D8B030D-6E8A-4147-A177-3AD203B41FA5}">
                      <a16:colId xmlns:a16="http://schemas.microsoft.com/office/drawing/2014/main" val="2260201764"/>
                    </a:ext>
                  </a:extLst>
                </a:gridCol>
              </a:tblGrid>
              <a:tr h="370840">
                <a:tc>
                  <a:txBody>
                    <a:bodyPr/>
                    <a:lstStyle/>
                    <a:p>
                      <a:endParaRPr lang="en-US"/>
                    </a:p>
                  </a:txBody>
                  <a:tcPr/>
                </a:tc>
                <a:tc>
                  <a:txBody>
                    <a:bodyPr/>
                    <a:lstStyle/>
                    <a:p>
                      <a:r>
                        <a:rPr lang="en-US" dirty="0"/>
                        <a:t>TV</a:t>
                      </a:r>
                    </a:p>
                  </a:txBody>
                  <a:tcPr/>
                </a:tc>
                <a:tc>
                  <a:txBody>
                    <a:bodyPr/>
                    <a:lstStyle/>
                    <a:p>
                      <a:r>
                        <a:rPr lang="en-US" dirty="0"/>
                        <a:t>Newspaper</a:t>
                      </a:r>
                    </a:p>
                  </a:txBody>
                  <a:tcPr/>
                </a:tc>
                <a:tc>
                  <a:txBody>
                    <a:bodyPr/>
                    <a:lstStyle/>
                    <a:p>
                      <a:r>
                        <a:rPr lang="en-US" dirty="0"/>
                        <a:t>Radio</a:t>
                      </a:r>
                    </a:p>
                  </a:txBody>
                  <a:tcPr/>
                </a:tc>
                <a:extLst>
                  <a:ext uri="{0D108BD9-81ED-4DB2-BD59-A6C34878D82A}">
                    <a16:rowId xmlns:a16="http://schemas.microsoft.com/office/drawing/2014/main" val="3456676603"/>
                  </a:ext>
                </a:extLst>
              </a:tr>
              <a:tr h="370840">
                <a:tc>
                  <a:txBody>
                    <a:bodyPr/>
                    <a:lstStyle/>
                    <a:p>
                      <a:r>
                        <a:rPr lang="en-US" dirty="0"/>
                        <a:t>Cost per ad ($)</a:t>
                      </a:r>
                    </a:p>
                  </a:txBody>
                  <a:tcPr/>
                </a:tc>
                <a:tc>
                  <a:txBody>
                    <a:bodyPr/>
                    <a:lstStyle/>
                    <a:p>
                      <a:r>
                        <a:rPr lang="en-US" dirty="0"/>
                        <a:t>2000</a:t>
                      </a:r>
                    </a:p>
                  </a:txBody>
                  <a:tcPr/>
                </a:tc>
                <a:tc>
                  <a:txBody>
                    <a:bodyPr/>
                    <a:lstStyle/>
                    <a:p>
                      <a:r>
                        <a:rPr lang="en-US" dirty="0"/>
                        <a:t>600</a:t>
                      </a:r>
                    </a:p>
                  </a:txBody>
                  <a:tcPr/>
                </a:tc>
                <a:tc>
                  <a:txBody>
                    <a:bodyPr/>
                    <a:lstStyle/>
                    <a:p>
                      <a:r>
                        <a:rPr lang="en-US" dirty="0"/>
                        <a:t>300</a:t>
                      </a:r>
                    </a:p>
                  </a:txBody>
                  <a:tcPr/>
                </a:tc>
                <a:extLst>
                  <a:ext uri="{0D108BD9-81ED-4DB2-BD59-A6C34878D82A}">
                    <a16:rowId xmlns:a16="http://schemas.microsoft.com/office/drawing/2014/main" val="1372010845"/>
                  </a:ext>
                </a:extLst>
              </a:tr>
              <a:tr h="370840">
                <a:tc>
                  <a:txBody>
                    <a:bodyPr/>
                    <a:lstStyle/>
                    <a:p>
                      <a:r>
                        <a:rPr lang="en-US" dirty="0"/>
                        <a:t>Audience per ad</a:t>
                      </a:r>
                    </a:p>
                  </a:txBody>
                  <a:tcPr/>
                </a:tc>
                <a:tc>
                  <a:txBody>
                    <a:bodyPr/>
                    <a:lstStyle/>
                    <a:p>
                      <a:r>
                        <a:rPr lang="en-US" dirty="0"/>
                        <a:t>100,000</a:t>
                      </a:r>
                    </a:p>
                  </a:txBody>
                  <a:tcPr/>
                </a:tc>
                <a:tc>
                  <a:txBody>
                    <a:bodyPr/>
                    <a:lstStyle/>
                    <a:p>
                      <a:r>
                        <a:rPr lang="en-US" dirty="0"/>
                        <a:t>40,000</a:t>
                      </a:r>
                    </a:p>
                  </a:txBody>
                  <a:tcPr/>
                </a:tc>
                <a:tc>
                  <a:txBody>
                    <a:bodyPr/>
                    <a:lstStyle/>
                    <a:p>
                      <a:r>
                        <a:rPr lang="en-US" dirty="0"/>
                        <a:t>18,000</a:t>
                      </a:r>
                    </a:p>
                  </a:txBody>
                  <a:tcPr/>
                </a:tc>
                <a:extLst>
                  <a:ext uri="{0D108BD9-81ED-4DB2-BD59-A6C34878D82A}">
                    <a16:rowId xmlns:a16="http://schemas.microsoft.com/office/drawing/2014/main" val="178601344"/>
                  </a:ext>
                </a:extLst>
              </a:tr>
            </a:tbl>
          </a:graphicData>
        </a:graphic>
      </p:graphicFrame>
      <p:sp>
        <p:nvSpPr>
          <p:cNvPr id="5" name="TextBox 4">
            <a:extLst>
              <a:ext uri="{FF2B5EF4-FFF2-40B4-BE49-F238E27FC236}">
                <a16:creationId xmlns:a16="http://schemas.microsoft.com/office/drawing/2014/main" id="{F3640967-6B2B-41FB-84A5-FE4296ECA6A0}"/>
              </a:ext>
            </a:extLst>
          </p:cNvPr>
          <p:cNvSpPr txBox="1"/>
          <p:nvPr/>
        </p:nvSpPr>
        <p:spPr>
          <a:xfrm>
            <a:off x="3657600" y="6378059"/>
            <a:ext cx="3638550" cy="307777"/>
          </a:xfrm>
          <a:prstGeom prst="rect">
            <a:avLst/>
          </a:prstGeom>
          <a:noFill/>
        </p:spPr>
        <p:txBody>
          <a:bodyPr wrap="square" rtlCol="0">
            <a:spAutoFit/>
          </a:bodyPr>
          <a:lstStyle/>
          <a:p>
            <a:pPr marL="0" indent="0" algn="ctr">
              <a:buNone/>
            </a:pPr>
            <a:r>
              <a:rPr lang="en-US" sz="1400" i="1" dirty="0"/>
              <a:t>Source: </a:t>
            </a:r>
            <a:r>
              <a:rPr lang="en-US" sz="1400" i="1" dirty="0">
                <a:hlinkClick r:id="rId2"/>
              </a:rPr>
              <a:t>Link </a:t>
            </a:r>
            <a:endParaRPr lang="en-US" sz="1400" i="1" dirty="0"/>
          </a:p>
        </p:txBody>
      </p:sp>
    </p:spTree>
    <p:extLst>
      <p:ext uri="{BB962C8B-B14F-4D97-AF65-F5344CB8AC3E}">
        <p14:creationId xmlns:p14="http://schemas.microsoft.com/office/powerpoint/2010/main" val="1236245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84AD-37F9-4E5F-A813-CD3E5D5D6019}"/>
              </a:ext>
            </a:extLst>
          </p:cNvPr>
          <p:cNvSpPr>
            <a:spLocks noGrp="1"/>
          </p:cNvSpPr>
          <p:nvPr>
            <p:ph type="title"/>
          </p:nvPr>
        </p:nvSpPr>
        <p:spPr/>
        <p:txBody>
          <a:bodyPr/>
          <a:lstStyle/>
          <a:p>
            <a:r>
              <a:rPr lang="en-US" b="1"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F279F9-575D-4826-9644-8AD61A863F61}"/>
                  </a:ext>
                </a:extLst>
              </p:cNvPr>
              <p:cNvSpPr>
                <a:spLocks noGrp="1"/>
              </p:cNvSpPr>
              <p:nvPr>
                <p:ph idx="1"/>
              </p:nvPr>
            </p:nvSpPr>
            <p:spPr/>
            <p:txBody>
              <a:bodyPr>
                <a:normAutofit lnSpcReduction="10000"/>
              </a:bodyPr>
              <a:lstStyle/>
              <a:p>
                <a:pPr marL="0" indent="0">
                  <a:buNone/>
                </a:pPr>
                <a:r>
                  <a:rPr lang="en-US" sz="2400" dirty="0"/>
                  <a:t>Optimization variables: </a:t>
                </a:r>
              </a:p>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1</m:t>
                        </m:r>
                      </m:sub>
                    </m:sSub>
                    <m:r>
                      <a:rPr lang="en-US" sz="2400" b="0" i="0" smtClean="0">
                        <a:latin typeface="Cambria Math" panose="02040503050406030204" pitchFamily="18" charset="0"/>
                      </a:rPr>
                      <m:t> </m:t>
                    </m:r>
                  </m:oMath>
                </a14:m>
                <a:r>
                  <a:rPr lang="en-US" sz="2400" dirty="0"/>
                  <a:t>: number of ads in TV</a:t>
                </a:r>
              </a:p>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2</m:t>
                        </m:r>
                      </m:sub>
                    </m:sSub>
                    <m:r>
                      <a:rPr lang="en-US" sz="2400" b="0" i="0" smtClean="0">
                        <a:latin typeface="Cambria Math" panose="02040503050406030204" pitchFamily="18" charset="0"/>
                      </a:rPr>
                      <m:t> </m:t>
                    </m:r>
                  </m:oMath>
                </a14:m>
                <a:r>
                  <a:rPr lang="en-US" sz="2400" dirty="0"/>
                  <a:t>: number of ads in newspapers</a:t>
                </a:r>
              </a:p>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3</m:t>
                        </m:r>
                      </m:sub>
                    </m:sSub>
                    <m:r>
                      <a:rPr lang="en-US" sz="2400" b="0" i="0" smtClean="0">
                        <a:latin typeface="Cambria Math" panose="02040503050406030204" pitchFamily="18" charset="0"/>
                      </a:rPr>
                      <m:t> </m:t>
                    </m:r>
                  </m:oMath>
                </a14:m>
                <a:r>
                  <a:rPr lang="en-US" sz="2400" dirty="0"/>
                  <a:t>: number of ads in radio</a:t>
                </a:r>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limLow>
                            <m:limLowPr>
                              <m:ctrlPr>
                                <a:rPr lang="en-US" sz="2400" i="1" smtClean="0">
                                  <a:latin typeface="Cambria Math" panose="02040503050406030204" pitchFamily="18" charset="0"/>
                                </a:rPr>
                              </m:ctrlPr>
                            </m:limLowPr>
                            <m:e>
                              <m:r>
                                <m:rPr>
                                  <m:sty m:val="p"/>
                                </m:rPr>
                                <a:rPr lang="en-US" sz="2400" i="0" smtClean="0">
                                  <a:latin typeface="Cambria Math" panose="02040503050406030204" pitchFamily="18" charset="0"/>
                                </a:rPr>
                                <m:t>max</m:t>
                              </m:r>
                            </m:e>
                            <m:lim>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3</m:t>
                                  </m:r>
                                </m:sub>
                              </m:sSub>
                            </m:lim>
                          </m:limLow>
                        </m:fName>
                        <m:e>
                          <m:r>
                            <a:rPr lang="en-US" sz="2400" b="0" i="1" smtClean="0">
                              <a:latin typeface="Cambria Math" panose="02040503050406030204" pitchFamily="18" charset="0"/>
                            </a:rPr>
                            <m:t>100,000</m:t>
                          </m:r>
                        </m:e>
                      </m:func>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+40,000</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+18,000</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3</m:t>
                          </m:r>
                        </m:sub>
                      </m:sSub>
                    </m:oMath>
                  </m:oMathPara>
                </a14:m>
                <a:endParaRPr lang="en-US" sz="2400" dirty="0"/>
              </a:p>
              <a:p>
                <a:pPr marL="0" indent="0">
                  <a:buNone/>
                </a:pPr>
                <a:r>
                  <a:rPr lang="en-US" sz="2400" dirty="0"/>
                  <a:t>subject to:</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2000</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+600</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+300</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3</m:t>
                          </m:r>
                        </m:sub>
                      </m:sSub>
                      <m:r>
                        <a:rPr lang="en-US" sz="2400" b="0" i="1" smtClean="0">
                          <a:latin typeface="Cambria Math" panose="02040503050406030204" pitchFamily="18" charset="0"/>
                          <a:ea typeface="Cambria Math" panose="02040503050406030204" pitchFamily="18" charset="0"/>
                        </a:rPr>
                        <m:t>≤18,200</m:t>
                      </m:r>
                    </m:oMath>
                  </m:oMathPara>
                </a14:m>
                <a:endParaRPr lang="en-US" sz="24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1</m:t>
                              </m:r>
                            </m:sub>
                          </m:sSub>
                        </m:num>
                        <m:den>
                          <m:sSub>
                            <m:sSubPr>
                              <m:ctrlPr>
                                <a:rPr lang="en-US" sz="2400" i="1">
                                  <a:latin typeface="Cambria Math" panose="02040503050406030204" pitchFamily="18" charset="0"/>
                                </a:rPr>
                              </m:ctrlPr>
                            </m:sSubPr>
                            <m:e>
                              <m:r>
                                <a:rPr lang="en-US" sz="2400" b="0" i="1" smtClean="0">
                                  <a:latin typeface="Cambria Math" panose="02040503050406030204" pitchFamily="18" charset="0"/>
                                </a:rPr>
                                <m:t>𝑢</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 </m:t>
                              </m:r>
                              <m:r>
                                <a:rPr lang="en-US" sz="2400" b="0" i="1" smtClean="0">
                                  <a:latin typeface="Cambria Math" panose="02040503050406030204" pitchFamily="18" charset="0"/>
                                </a:rPr>
                                <m:t>𝑢</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𝑢</m:t>
                              </m:r>
                            </m:e>
                            <m:sub>
                              <m:r>
                                <a:rPr lang="en-US" sz="2400" i="1">
                                  <a:latin typeface="Cambria Math" panose="02040503050406030204" pitchFamily="18" charset="0"/>
                                </a:rPr>
                                <m:t>3</m:t>
                              </m:r>
                            </m:sub>
                          </m:sSub>
                        </m:den>
                      </m:f>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0.1⇒0.9</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𝑢</m:t>
                          </m:r>
                        </m:e>
                        <m:sub>
                          <m:r>
                            <a:rPr lang="en-US" sz="2400" i="1">
                              <a:latin typeface="Cambria Math" panose="02040503050406030204" pitchFamily="18" charset="0"/>
                            </a:rPr>
                            <m:t>1</m:t>
                          </m:r>
                        </m:sub>
                      </m:sSub>
                      <m:r>
                        <a:rPr lang="en-US" sz="2400" b="0" i="1" smtClean="0">
                          <a:latin typeface="Cambria Math" panose="02040503050406030204" pitchFamily="18" charset="0"/>
                        </a:rPr>
                        <m:t>−0.1</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𝑢</m:t>
                          </m:r>
                        </m:e>
                        <m:sub>
                          <m:r>
                            <a:rPr lang="en-US" sz="2400" i="1">
                              <a:latin typeface="Cambria Math" panose="02040503050406030204" pitchFamily="18" charset="0"/>
                            </a:rPr>
                            <m:t>2</m:t>
                          </m:r>
                        </m:sub>
                      </m:sSub>
                      <m:r>
                        <a:rPr lang="en-US" sz="2400" b="0" i="1" smtClean="0">
                          <a:latin typeface="Cambria Math" panose="02040503050406030204" pitchFamily="18" charset="0"/>
                        </a:rPr>
                        <m:t>−0.1</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𝑢</m:t>
                          </m:r>
                        </m:e>
                        <m:sub>
                          <m:r>
                            <a:rPr lang="en-US" sz="2400" i="1">
                              <a:latin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0</m:t>
                      </m:r>
                    </m:oMath>
                  </m:oMathPara>
                </a14:m>
                <a:endParaRPr lang="en-US" sz="2400" b="0" dirty="0"/>
              </a:p>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1</m:t>
                          </m:r>
                        </m:sub>
                      </m:sSub>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≥0</m:t>
                      </m:r>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≥0</m:t>
                      </m:r>
                    </m:oMath>
                  </m:oMathPara>
                </a14:m>
                <a:endParaRPr lang="en-US" sz="2400" dirty="0"/>
              </a:p>
            </p:txBody>
          </p:sp>
        </mc:Choice>
        <mc:Fallback xmlns="">
          <p:sp>
            <p:nvSpPr>
              <p:cNvPr id="3" name="Content Placeholder 2">
                <a:extLst>
                  <a:ext uri="{FF2B5EF4-FFF2-40B4-BE49-F238E27FC236}">
                    <a16:creationId xmlns:a16="http://schemas.microsoft.com/office/drawing/2014/main" id="{CEF279F9-575D-4826-9644-8AD61A863F61}"/>
                  </a:ext>
                </a:extLst>
              </p:cNvPr>
              <p:cNvSpPr>
                <a:spLocks noGrp="1" noRot="1" noChangeAspect="1" noMove="1" noResize="1" noEditPoints="1" noAdjustHandles="1" noChangeArrowheads="1" noChangeShapeType="1" noTextEdit="1"/>
              </p:cNvSpPr>
              <p:nvPr>
                <p:ph idx="1"/>
              </p:nvPr>
            </p:nvSpPr>
            <p:spPr>
              <a:blipFill>
                <a:blip r:embed="rId2"/>
                <a:stretch>
                  <a:fillRect l="-928" t="-2661"/>
                </a:stretch>
              </a:blipFill>
            </p:spPr>
            <p:txBody>
              <a:bodyPr/>
              <a:lstStyle/>
              <a:p>
                <a:r>
                  <a:rPr lang="en-US">
                    <a:noFill/>
                  </a:rPr>
                  <a:t> </a:t>
                </a:r>
              </a:p>
            </p:txBody>
          </p:sp>
        </mc:Fallback>
      </mc:AlternateContent>
    </p:spTree>
    <p:extLst>
      <p:ext uri="{BB962C8B-B14F-4D97-AF65-F5344CB8AC3E}">
        <p14:creationId xmlns:p14="http://schemas.microsoft.com/office/powerpoint/2010/main" val="4051629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63C03E-0ED2-0755-270A-F36CBB1B6D93}"/>
              </a:ext>
            </a:extLst>
          </p:cNvPr>
          <p:cNvSpPr>
            <a:spLocks noGrp="1"/>
          </p:cNvSpPr>
          <p:nvPr>
            <p:ph type="title"/>
          </p:nvPr>
        </p:nvSpPr>
        <p:spPr/>
        <p:txBody>
          <a:bodyPr/>
          <a:lstStyle/>
          <a:p>
            <a:r>
              <a:rPr lang="en-US" b="1" dirty="0"/>
              <a:t>Optimization in ML</a:t>
            </a:r>
          </a:p>
        </p:txBody>
      </p:sp>
    </p:spTree>
    <p:extLst>
      <p:ext uri="{BB962C8B-B14F-4D97-AF65-F5344CB8AC3E}">
        <p14:creationId xmlns:p14="http://schemas.microsoft.com/office/powerpoint/2010/main" val="124273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0F1C1-1A85-4B05-9F2C-9038AA0A7AF1}"/>
              </a:ext>
            </a:extLst>
          </p:cNvPr>
          <p:cNvSpPr>
            <a:spLocks noGrp="1"/>
          </p:cNvSpPr>
          <p:nvPr>
            <p:ph type="title"/>
          </p:nvPr>
        </p:nvSpPr>
        <p:spPr/>
        <p:txBody>
          <a:bodyPr/>
          <a:lstStyle/>
          <a:p>
            <a:r>
              <a:rPr lang="en-US" b="1" dirty="0"/>
              <a:t>Where do we use optimization in machine learning?</a:t>
            </a:r>
          </a:p>
        </p:txBody>
      </p:sp>
      <p:sp>
        <p:nvSpPr>
          <p:cNvPr id="3" name="Content Placeholder 2">
            <a:extLst>
              <a:ext uri="{FF2B5EF4-FFF2-40B4-BE49-F238E27FC236}">
                <a16:creationId xmlns:a16="http://schemas.microsoft.com/office/drawing/2014/main" id="{264163A0-6E25-4EF1-B9D5-54BC26BC5903}"/>
              </a:ext>
            </a:extLst>
          </p:cNvPr>
          <p:cNvSpPr>
            <a:spLocks noGrp="1"/>
          </p:cNvSpPr>
          <p:nvPr>
            <p:ph idx="1"/>
          </p:nvPr>
        </p:nvSpPr>
        <p:spPr/>
        <p:txBody>
          <a:bodyPr/>
          <a:lstStyle/>
          <a:p>
            <a:pPr marL="0" indent="0">
              <a:lnSpc>
                <a:spcPct val="100000"/>
              </a:lnSpc>
              <a:buNone/>
            </a:pPr>
            <a:r>
              <a:rPr lang="en-US" dirty="0"/>
              <a:t>Most ML </a:t>
            </a:r>
            <a:r>
              <a:rPr lang="en-US" b="1" dirty="0"/>
              <a:t>training algorithms </a:t>
            </a:r>
            <a:r>
              <a:rPr lang="en-US" dirty="0"/>
              <a:t>are based on optimization:</a:t>
            </a:r>
          </a:p>
          <a:p>
            <a:pPr marL="0" indent="0">
              <a:lnSpc>
                <a:spcPct val="100000"/>
              </a:lnSpc>
              <a:buNone/>
            </a:pPr>
            <a:endParaRPr lang="en-US" dirty="0"/>
          </a:p>
          <a:p>
            <a:pPr lvl="1">
              <a:lnSpc>
                <a:spcPct val="100000"/>
              </a:lnSpc>
            </a:pPr>
            <a:r>
              <a:rPr lang="en-US" dirty="0"/>
              <a:t>Linear regression</a:t>
            </a:r>
          </a:p>
          <a:p>
            <a:pPr lvl="1">
              <a:lnSpc>
                <a:spcPct val="100000"/>
              </a:lnSpc>
            </a:pPr>
            <a:r>
              <a:rPr lang="en-US" dirty="0"/>
              <a:t>Logistic Regression</a:t>
            </a:r>
          </a:p>
          <a:p>
            <a:pPr lvl="1">
              <a:lnSpc>
                <a:spcPct val="100000"/>
              </a:lnSpc>
            </a:pPr>
            <a:r>
              <a:rPr lang="en-US" dirty="0"/>
              <a:t>K-means</a:t>
            </a:r>
          </a:p>
          <a:p>
            <a:pPr lvl="1">
              <a:lnSpc>
                <a:spcPct val="100000"/>
              </a:lnSpc>
            </a:pPr>
            <a:r>
              <a:rPr lang="en-US" dirty="0"/>
              <a:t>Support Vector Machines</a:t>
            </a:r>
          </a:p>
          <a:p>
            <a:pPr lvl="1">
              <a:lnSpc>
                <a:spcPct val="100000"/>
              </a:lnSpc>
            </a:pPr>
            <a:r>
              <a:rPr lang="en-US" dirty="0"/>
              <a:t>Deep learning end-to-end</a:t>
            </a:r>
          </a:p>
          <a:p>
            <a:pPr lvl="1">
              <a:lnSpc>
                <a:spcPct val="100000"/>
              </a:lnSpc>
            </a:pPr>
            <a:r>
              <a:rPr lang="en-US" dirty="0" err="1"/>
              <a:t>Etc</a:t>
            </a:r>
            <a:r>
              <a:rPr lang="en-US" dirty="0"/>
              <a:t>…</a:t>
            </a:r>
          </a:p>
          <a:p>
            <a:pPr lvl="1"/>
            <a:endParaRPr lang="en-US" dirty="0"/>
          </a:p>
          <a:p>
            <a:pPr marL="0" indent="0">
              <a:buNone/>
            </a:pPr>
            <a:endParaRPr lang="en-US" dirty="0"/>
          </a:p>
        </p:txBody>
      </p:sp>
    </p:spTree>
    <p:extLst>
      <p:ext uri="{BB962C8B-B14F-4D97-AF65-F5344CB8AC3E}">
        <p14:creationId xmlns:p14="http://schemas.microsoft.com/office/powerpoint/2010/main" val="3008734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D2729-0969-1111-982F-C7002CA815B6}"/>
              </a:ext>
            </a:extLst>
          </p:cNvPr>
          <p:cNvSpPr>
            <a:spLocks noGrp="1"/>
          </p:cNvSpPr>
          <p:nvPr>
            <p:ph type="title"/>
          </p:nvPr>
        </p:nvSpPr>
        <p:spPr/>
        <p:txBody>
          <a:bodyPr/>
          <a:lstStyle/>
          <a:p>
            <a:r>
              <a:rPr lang="en-US" b="1" dirty="0"/>
              <a:t>Model fitting : Optimization problem</a:t>
            </a:r>
          </a:p>
        </p:txBody>
      </p:sp>
      <p:sp>
        <p:nvSpPr>
          <p:cNvPr id="3" name="Content Placeholder 2">
            <a:extLst>
              <a:ext uri="{FF2B5EF4-FFF2-40B4-BE49-F238E27FC236}">
                <a16:creationId xmlns:a16="http://schemas.microsoft.com/office/drawing/2014/main" id="{8F4EE9AF-B566-AB42-C856-F017D0B974F6}"/>
              </a:ext>
            </a:extLst>
          </p:cNvPr>
          <p:cNvSpPr>
            <a:spLocks noGrp="1"/>
          </p:cNvSpPr>
          <p:nvPr>
            <p:ph idx="1"/>
          </p:nvPr>
        </p:nvSpPr>
        <p:spPr/>
        <p:txBody>
          <a:bodyPr/>
          <a:lstStyle/>
          <a:p>
            <a:pPr marL="0" indent="0">
              <a:buNone/>
            </a:pPr>
            <a:r>
              <a:rPr lang="en-US" dirty="0"/>
              <a:t>To find the parameters of linear regression and logistic regression, the problem is formulated as a minimization problem</a:t>
            </a:r>
          </a:p>
          <a:p>
            <a:endParaRPr lang="en-US" dirty="0"/>
          </a:p>
          <a:p>
            <a:r>
              <a:rPr lang="en-US" dirty="0"/>
              <a:t>What are the optimization variables? </a:t>
            </a:r>
          </a:p>
          <a:p>
            <a:endParaRPr lang="en-US" dirty="0"/>
          </a:p>
          <a:p>
            <a:r>
              <a:rPr lang="en-US" dirty="0"/>
              <a:t>What is the cost function?</a:t>
            </a:r>
          </a:p>
        </p:txBody>
      </p:sp>
    </p:spTree>
    <p:extLst>
      <p:ext uri="{BB962C8B-B14F-4D97-AF65-F5344CB8AC3E}">
        <p14:creationId xmlns:p14="http://schemas.microsoft.com/office/powerpoint/2010/main" val="95961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D2729-0969-1111-982F-C7002CA815B6}"/>
              </a:ext>
            </a:extLst>
          </p:cNvPr>
          <p:cNvSpPr>
            <a:spLocks noGrp="1"/>
          </p:cNvSpPr>
          <p:nvPr>
            <p:ph type="title"/>
          </p:nvPr>
        </p:nvSpPr>
        <p:spPr/>
        <p:txBody>
          <a:bodyPr/>
          <a:lstStyle/>
          <a:p>
            <a:r>
              <a:rPr lang="en-US" b="1" dirty="0"/>
              <a:t>Model fitting : Optimization problem</a:t>
            </a:r>
          </a:p>
        </p:txBody>
      </p:sp>
      <p:sp>
        <p:nvSpPr>
          <p:cNvPr id="3" name="Content Placeholder 2">
            <a:extLst>
              <a:ext uri="{FF2B5EF4-FFF2-40B4-BE49-F238E27FC236}">
                <a16:creationId xmlns:a16="http://schemas.microsoft.com/office/drawing/2014/main" id="{8F4EE9AF-B566-AB42-C856-F017D0B974F6}"/>
              </a:ext>
            </a:extLst>
          </p:cNvPr>
          <p:cNvSpPr>
            <a:spLocks noGrp="1"/>
          </p:cNvSpPr>
          <p:nvPr>
            <p:ph idx="1"/>
          </p:nvPr>
        </p:nvSpPr>
        <p:spPr/>
        <p:txBody>
          <a:bodyPr/>
          <a:lstStyle/>
          <a:p>
            <a:pPr marL="0" indent="0">
              <a:buNone/>
            </a:pPr>
            <a:r>
              <a:rPr lang="en-US" dirty="0"/>
              <a:t>To find the parameters of linear regression and logistic regression, the problem is formulated as a minimization problem</a:t>
            </a:r>
          </a:p>
          <a:p>
            <a:endParaRPr lang="en-US" dirty="0"/>
          </a:p>
          <a:p>
            <a:r>
              <a:rPr lang="en-US" dirty="0"/>
              <a:t>What are the optimization variables? </a:t>
            </a:r>
            <a:r>
              <a:rPr lang="en-US" b="1" dirty="0">
                <a:solidFill>
                  <a:srgbClr val="C00000"/>
                </a:solidFill>
              </a:rPr>
              <a:t>Parameters of the model</a:t>
            </a:r>
          </a:p>
          <a:p>
            <a:endParaRPr lang="en-US" dirty="0"/>
          </a:p>
          <a:p>
            <a:r>
              <a:rPr lang="en-US" dirty="0"/>
              <a:t>What is the cost function? </a:t>
            </a:r>
            <a:r>
              <a:rPr lang="en-US" b="1" dirty="0">
                <a:solidFill>
                  <a:srgbClr val="C00000"/>
                </a:solidFill>
              </a:rPr>
              <a:t>Sum or average of loss functions</a:t>
            </a:r>
          </a:p>
        </p:txBody>
      </p:sp>
    </p:spTree>
    <p:extLst>
      <p:ext uri="{BB962C8B-B14F-4D97-AF65-F5344CB8AC3E}">
        <p14:creationId xmlns:p14="http://schemas.microsoft.com/office/powerpoint/2010/main" val="1485122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478C6-9DA0-486B-8D87-9D7F1E08D766}"/>
              </a:ext>
            </a:extLst>
          </p:cNvPr>
          <p:cNvSpPr>
            <a:spLocks noGrp="1"/>
          </p:cNvSpPr>
          <p:nvPr>
            <p:ph type="title"/>
          </p:nvPr>
        </p:nvSpPr>
        <p:spPr/>
        <p:txBody>
          <a:bodyPr/>
          <a:lstStyle/>
          <a:p>
            <a:r>
              <a:rPr lang="en-US" b="1" dirty="0"/>
              <a:t>How is the fitting problem formulated as an optimization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CB0253-2E4C-464D-8844-262524A147C4}"/>
                  </a:ext>
                </a:extLst>
              </p:cNvPr>
              <p:cNvSpPr>
                <a:spLocks noGrp="1"/>
              </p:cNvSpPr>
              <p:nvPr>
                <p:ph idx="1"/>
              </p:nvPr>
            </p:nvSpPr>
            <p:spPr/>
            <p:txBody>
              <a:bodyPr/>
              <a:lstStyle/>
              <a:p>
                <a:r>
                  <a:rPr lang="en-US" b="1" dirty="0"/>
                  <a:t>A loss function </a:t>
                </a:r>
                <a:r>
                  <a:rPr lang="en-US" dirty="0"/>
                  <a:t>measures how different the predicted value of the model is from the true value, for a given data sample:</a:t>
                </a:r>
              </a:p>
              <a:p>
                <a:pPr marL="0" indent="0">
                  <a:buNone/>
                </a:pPr>
                <a:endParaRPr lang="en-US" dirty="0"/>
              </a:p>
              <a:p>
                <a:pPr marL="0" indent="0" algn="ctr">
                  <a:buNone/>
                </a:pPr>
                <a14:m>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𝑝𝑟𝑒𝑑</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𝑡𝑟𝑢𝑒</m:t>
                            </m:r>
                          </m:sub>
                        </m:sSub>
                      </m:e>
                    </m:d>
                    <m:r>
                      <a:rPr lang="en-US" b="0" i="1" smtClean="0">
                        <a:latin typeface="Cambria Math" panose="02040503050406030204" pitchFamily="18" charset="0"/>
                      </a:rPr>
                      <m:t>: </m:t>
                    </m:r>
                  </m:oMath>
                </a14:m>
                <a:r>
                  <a:rPr lang="en-US" dirty="0"/>
                  <a:t>loss function</a:t>
                </a:r>
              </a:p>
              <a:p>
                <a:pPr marL="0" indent="0" algn="ctr">
                  <a:buNone/>
                </a:pPr>
                <a:endParaRPr lang="en-US" dirty="0"/>
              </a:p>
              <a:p>
                <a:pPr marL="0" indent="0" algn="ctr">
                  <a:buNone/>
                </a:pPr>
                <a:endParaRPr lang="en-US" dirty="0"/>
              </a:p>
              <a:p>
                <a:pPr marL="0" indent="0" algn="ctr">
                  <a:buNone/>
                </a:pPr>
                <a:endParaRPr lang="en-US" dirty="0"/>
              </a:p>
              <a:p>
                <a:r>
                  <a:rPr lang="en-US" dirty="0"/>
                  <a:t>Measure of misfit or prediction error</a:t>
                </a:r>
              </a:p>
            </p:txBody>
          </p:sp>
        </mc:Choice>
        <mc:Fallback xmlns="">
          <p:sp>
            <p:nvSpPr>
              <p:cNvPr id="3" name="Content Placeholder 2">
                <a:extLst>
                  <a:ext uri="{FF2B5EF4-FFF2-40B4-BE49-F238E27FC236}">
                    <a16:creationId xmlns:a16="http://schemas.microsoft.com/office/drawing/2014/main" id="{B4CB0253-2E4C-464D-8844-262524A147C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685B276-0A4C-4404-902E-3E8FA817A6D7}"/>
              </a:ext>
            </a:extLst>
          </p:cNvPr>
          <p:cNvSpPr txBox="1"/>
          <p:nvPr/>
        </p:nvSpPr>
        <p:spPr>
          <a:xfrm>
            <a:off x="2533066" y="4127703"/>
            <a:ext cx="1965960" cy="715089"/>
          </a:xfrm>
          <a:prstGeom prst="round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Predicted output </a:t>
            </a:r>
          </a:p>
          <a:p>
            <a:r>
              <a:rPr lang="en-US" dirty="0"/>
              <a:t>of the model</a:t>
            </a:r>
          </a:p>
        </p:txBody>
      </p:sp>
      <p:sp>
        <p:nvSpPr>
          <p:cNvPr id="5" name="Rectangle 4">
            <a:extLst>
              <a:ext uri="{FF2B5EF4-FFF2-40B4-BE49-F238E27FC236}">
                <a16:creationId xmlns:a16="http://schemas.microsoft.com/office/drawing/2014/main" id="{C2A0B52D-9B27-4D0B-B37C-A7E8EB756EEF}"/>
              </a:ext>
            </a:extLst>
          </p:cNvPr>
          <p:cNvSpPr/>
          <p:nvPr/>
        </p:nvSpPr>
        <p:spPr>
          <a:xfrm>
            <a:off x="4289179" y="3352799"/>
            <a:ext cx="822960" cy="411480"/>
          </a:xfrm>
          <a:prstGeom prst="rect">
            <a:avLst/>
          </a:prstGeom>
          <a:solidFill>
            <a:schemeClr val="accent4">
              <a:alpha val="35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24DD91EA-BB25-440E-9A30-862A06B0397F}"/>
              </a:ext>
            </a:extLst>
          </p:cNvPr>
          <p:cNvSpPr/>
          <p:nvPr/>
        </p:nvSpPr>
        <p:spPr>
          <a:xfrm>
            <a:off x="5273040" y="3343934"/>
            <a:ext cx="822960" cy="408623"/>
          </a:xfrm>
          <a:prstGeom prst="rect">
            <a:avLst/>
          </a:prstGeom>
          <a:solidFill>
            <a:schemeClr val="accent6">
              <a:alpha val="35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FE1AE1FF-E503-4DF7-898D-619D65F4764C}"/>
              </a:ext>
            </a:extLst>
          </p:cNvPr>
          <p:cNvSpPr txBox="1"/>
          <p:nvPr/>
        </p:nvSpPr>
        <p:spPr>
          <a:xfrm>
            <a:off x="5468523" y="4200377"/>
            <a:ext cx="1371600" cy="408623"/>
          </a:xfrm>
          <a:prstGeom prst="round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dirty="0"/>
              <a:t>True Label </a:t>
            </a:r>
          </a:p>
        </p:txBody>
      </p:sp>
      <p:cxnSp>
        <p:nvCxnSpPr>
          <p:cNvPr id="8" name="Straight Arrow Connector 7">
            <a:extLst>
              <a:ext uri="{FF2B5EF4-FFF2-40B4-BE49-F238E27FC236}">
                <a16:creationId xmlns:a16="http://schemas.microsoft.com/office/drawing/2014/main" id="{93F03C73-CF58-4EB9-A384-F0FD4E137C45}"/>
              </a:ext>
            </a:extLst>
          </p:cNvPr>
          <p:cNvCxnSpPr/>
          <p:nvPr/>
        </p:nvCxnSpPr>
        <p:spPr>
          <a:xfrm flipH="1">
            <a:off x="3385335" y="3764279"/>
            <a:ext cx="1339945" cy="3094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53F1ED96-E2C0-4A02-B6D1-355DDC5791F6}"/>
              </a:ext>
            </a:extLst>
          </p:cNvPr>
          <p:cNvCxnSpPr/>
          <p:nvPr/>
        </p:nvCxnSpPr>
        <p:spPr>
          <a:xfrm>
            <a:off x="5495489" y="3736144"/>
            <a:ext cx="725658" cy="4618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CB967CF6-A6D6-7616-62D3-CC5DE1D1F0C0}"/>
              </a:ext>
            </a:extLst>
          </p:cNvPr>
          <p:cNvSpPr txBox="1"/>
          <p:nvPr/>
        </p:nvSpPr>
        <p:spPr>
          <a:xfrm>
            <a:off x="9272847" y="3821236"/>
            <a:ext cx="1837889" cy="1021556"/>
          </a:xfrm>
          <a:prstGeom prst="round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dirty="0"/>
              <a:t>This is only for one instance in the training set.</a:t>
            </a:r>
          </a:p>
        </p:txBody>
      </p:sp>
    </p:spTree>
    <p:extLst>
      <p:ext uri="{BB962C8B-B14F-4D97-AF65-F5344CB8AC3E}">
        <p14:creationId xmlns:p14="http://schemas.microsoft.com/office/powerpoint/2010/main" val="2830588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51A02-8E4B-4354-A8ED-4AE073AB535D}"/>
              </a:ext>
            </a:extLst>
          </p:cNvPr>
          <p:cNvSpPr>
            <a:spLocks noGrp="1"/>
          </p:cNvSpPr>
          <p:nvPr>
            <p:ph type="title"/>
          </p:nvPr>
        </p:nvSpPr>
        <p:spPr/>
        <p:txBody>
          <a:bodyPr/>
          <a:lstStyle/>
          <a:p>
            <a:r>
              <a:rPr lang="en-US" b="1" dirty="0"/>
              <a:t>Cost or Objective Function for Data Fitting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A90B52-8817-44AD-97A7-18C3643D4A1C}"/>
                  </a:ext>
                </a:extLst>
              </p:cNvPr>
              <p:cNvSpPr>
                <a:spLocks noGrp="1"/>
              </p:cNvSpPr>
              <p:nvPr>
                <p:ph idx="1"/>
              </p:nvPr>
            </p:nvSpPr>
            <p:spPr/>
            <p:txBody>
              <a:bodyPr/>
              <a:lstStyle/>
              <a:p>
                <a:r>
                  <a:rPr lang="en-US" dirty="0"/>
                  <a:t>Cost function is defined with the loss function applied to all data instances in the training set (N samples in the training set): </a:t>
                </a:r>
              </a:p>
              <a:p>
                <a:endParaRPr lang="en-US" dirty="0"/>
              </a:p>
              <a:p>
                <a:pPr marL="0" indent="0" algn="ctr">
                  <a:buNone/>
                </a:pPr>
                <a:r>
                  <a:rPr lang="en-US" dirty="0">
                    <a:solidFill>
                      <a:srgbClr val="C00000"/>
                    </a:solidFill>
                  </a:rPr>
                  <a:t>   </a:t>
                </a:r>
                <a14:m>
                  <m:oMath xmlns:m="http://schemas.openxmlformats.org/officeDocument/2006/math">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1</m:t>
                        </m:r>
                      </m:num>
                      <m:den>
                        <m:r>
                          <a:rPr lang="en-US" b="0" i="1" smtClean="0">
                            <a:solidFill>
                              <a:srgbClr val="C00000"/>
                            </a:solidFill>
                            <a:latin typeface="Cambria Math" panose="02040503050406030204" pitchFamily="18" charset="0"/>
                          </a:rPr>
                          <m:t>𝑁</m:t>
                        </m:r>
                      </m:den>
                    </m:f>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i="1">
                            <a:latin typeface="Cambria Math" panose="02040503050406030204" pitchFamily="18" charset="0"/>
                          </a:rPr>
                          <m:t>𝐿</m:t>
                        </m:r>
                        <m:d>
                          <m:dPr>
                            <m:ctrlPr>
                              <a:rPr lang="en-US" i="1">
                                <a:latin typeface="Cambria Math" panose="02040503050406030204" pitchFamily="18" charset="0"/>
                              </a:rPr>
                            </m:ctrlPr>
                          </m:dPr>
                          <m:e>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𝑦</m:t>
                                </m:r>
                              </m:e>
                              <m:sub>
                                <m:r>
                                  <a:rPr lang="en-US" b="0" i="1" smtClean="0">
                                    <a:latin typeface="Cambria Math" panose="02040503050406030204" pitchFamily="18" charset="0"/>
                                  </a:rPr>
                                  <m:t>𝑝𝑟𝑒𝑑</m:t>
                                </m:r>
                              </m:sub>
                              <m:sup>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sup>
                            </m:sSubSup>
                            <m:r>
                              <a:rPr lang="en-US" i="1">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𝑦</m:t>
                                </m:r>
                              </m:e>
                              <m:sub>
                                <m:r>
                                  <a:rPr lang="en-US" b="0" i="1" smtClean="0">
                                    <a:latin typeface="Cambria Math" panose="02040503050406030204" pitchFamily="18" charset="0"/>
                                  </a:rPr>
                                  <m:t>𝑡𝑟𝑢𝑒</m:t>
                                </m:r>
                              </m:sub>
                              <m:sup>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sup>
                            </m:sSubSup>
                          </m:e>
                        </m:d>
                      </m:e>
                    </m:nary>
                    <m:r>
                      <a:rPr lang="en-US" b="0" i="1" smtClean="0">
                        <a:latin typeface="Cambria Math" panose="02040503050406030204" pitchFamily="18" charset="0"/>
                      </a:rPr>
                      <m:t>:</m:t>
                    </m:r>
                    <m:r>
                      <m:rPr>
                        <m:sty m:val="p"/>
                      </m:rPr>
                      <a:rPr lang="en-US" b="0" i="0" smtClean="0">
                        <a:latin typeface="Cambria Math" panose="02040503050406030204" pitchFamily="18" charset="0"/>
                      </a:rPr>
                      <m:t>Cost</m:t>
                    </m:r>
                  </m:oMath>
                </a14:m>
                <a:r>
                  <a:rPr lang="en-US" dirty="0"/>
                  <a:t> function is the </a:t>
                </a:r>
              </a:p>
              <a:p>
                <a:pPr marL="0" indent="0" algn="ctr">
                  <a:buNone/>
                </a:pPr>
                <a:r>
                  <a:rPr lang="en-US" dirty="0"/>
                  <a:t>                                                     sum (or average) of the loss functions</a:t>
                </a:r>
              </a:p>
              <a:p>
                <a:pPr marL="0" indent="0">
                  <a:buNone/>
                </a:pPr>
                <a:endParaRPr lang="en-US" dirty="0"/>
              </a:p>
              <a:p>
                <a:r>
                  <a:rPr lang="en-US" dirty="0"/>
                  <a:t>What is unknown in this function? What are we looking for?</a:t>
                </a:r>
              </a:p>
            </p:txBody>
          </p:sp>
        </mc:Choice>
        <mc:Fallback xmlns="">
          <p:sp>
            <p:nvSpPr>
              <p:cNvPr id="3" name="Content Placeholder 2">
                <a:extLst>
                  <a:ext uri="{FF2B5EF4-FFF2-40B4-BE49-F238E27FC236}">
                    <a16:creationId xmlns:a16="http://schemas.microsoft.com/office/drawing/2014/main" id="{20A90B52-8817-44AD-97A7-18C3643D4A1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804211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51A02-8E4B-4354-A8ED-4AE073AB535D}"/>
              </a:ext>
            </a:extLst>
          </p:cNvPr>
          <p:cNvSpPr>
            <a:spLocks noGrp="1"/>
          </p:cNvSpPr>
          <p:nvPr>
            <p:ph type="title"/>
          </p:nvPr>
        </p:nvSpPr>
        <p:spPr/>
        <p:txBody>
          <a:bodyPr/>
          <a:lstStyle/>
          <a:p>
            <a:r>
              <a:rPr lang="en-US" b="1" dirty="0"/>
              <a:t>Cost or Objective Function for Data Fitting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A90B52-8817-44AD-97A7-18C3643D4A1C}"/>
                  </a:ext>
                </a:extLst>
              </p:cNvPr>
              <p:cNvSpPr>
                <a:spLocks noGrp="1"/>
              </p:cNvSpPr>
              <p:nvPr>
                <p:ph idx="1"/>
              </p:nvPr>
            </p:nvSpPr>
            <p:spPr/>
            <p:txBody>
              <a:bodyPr/>
              <a:lstStyle/>
              <a:p>
                <a:r>
                  <a:rPr lang="en-US" dirty="0"/>
                  <a:t>We are looking to find the model’s parameters by minimizing this cost function:</a:t>
                </a:r>
              </a:p>
              <a:p>
                <a:pPr marL="0" indent="0">
                  <a:buNone/>
                </a:pPr>
                <a:endParaRPr lang="en-US" dirty="0"/>
              </a:p>
              <a:p>
                <a:pPr marL="0" indent="0" algn="ctr">
                  <a:buNone/>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limLow>
                            <m:limLowPr>
                              <m:ctrlPr>
                                <a:rPr lang="en-US" sz="2400" i="1" smtClean="0">
                                  <a:latin typeface="Cambria Math" panose="02040503050406030204" pitchFamily="18" charset="0"/>
                                </a:rPr>
                              </m:ctrlPr>
                            </m:limLowPr>
                            <m:e>
                              <m:r>
                                <m:rPr>
                                  <m:sty m:val="p"/>
                                </m:rPr>
                                <a:rPr lang="en-US" sz="2400" i="0" smtClean="0">
                                  <a:latin typeface="Cambria Math" panose="02040503050406030204" pitchFamily="18" charset="0"/>
                                </a:rPr>
                                <m:t>min</m:t>
                              </m:r>
                            </m:e>
                            <m:lim>
                              <m:eqArr>
                                <m:eqArrPr>
                                  <m:ctrlPr>
                                    <a:rPr lang="en-US" sz="2400" b="0" i="1" smtClean="0">
                                      <a:latin typeface="Cambria Math" panose="02040503050406030204" pitchFamily="18" charset="0"/>
                                    </a:rPr>
                                  </m:ctrlPr>
                                </m:eqArrPr>
                                <m:e>
                                  <m:r>
                                    <m:rPr>
                                      <m:sty m:val="p"/>
                                    </m:rPr>
                                    <a:rPr lang="en-US" sz="2400" b="0" i="0" smtClean="0">
                                      <a:latin typeface="Cambria Math" panose="02040503050406030204" pitchFamily="18" charset="0"/>
                                    </a:rPr>
                                    <m:t>mode</m:t>
                                  </m:r>
                                  <m:sSup>
                                    <m:sSupPr>
                                      <m:ctrlPr>
                                        <a:rPr lang="en-US" sz="2400" b="0" i="1" smtClean="0">
                                          <a:latin typeface="Cambria Math" panose="02040503050406030204" pitchFamily="18" charset="0"/>
                                        </a:rPr>
                                      </m:ctrlPr>
                                    </m:sSupPr>
                                    <m:e>
                                      <m:r>
                                        <m:rPr>
                                          <m:sty m:val="p"/>
                                        </m:rPr>
                                        <a:rPr lang="en-US" sz="2400" b="0" i="0" smtClean="0">
                                          <a:latin typeface="Cambria Math" panose="02040503050406030204" pitchFamily="18" charset="0"/>
                                        </a:rPr>
                                        <m:t>l</m:t>
                                      </m:r>
                                    </m:e>
                                    <m:sup>
                                      <m:r>
                                        <a:rPr lang="en-US" sz="2400" b="0" i="0" smtClean="0">
                                          <a:latin typeface="Cambria Math" panose="02040503050406030204" pitchFamily="18" charset="0"/>
                                        </a:rPr>
                                        <m:t>′</m:t>
                                      </m:r>
                                    </m:sup>
                                  </m:sSup>
                                  <m:r>
                                    <m:rPr>
                                      <m:sty m:val="p"/>
                                    </m:rPr>
                                    <a:rPr lang="en-US" sz="2400" b="0" i="0" smtClean="0">
                                      <a:latin typeface="Cambria Math" panose="02040503050406030204" pitchFamily="18" charset="0"/>
                                    </a:rPr>
                                    <m:t>s</m:t>
                                  </m:r>
                                </m:e>
                                <m:e>
                                  <m:r>
                                    <m:rPr>
                                      <m:sty m:val="p"/>
                                    </m:rPr>
                                    <a:rPr lang="en-US" sz="2400" b="0" i="0" smtClean="0">
                                      <a:latin typeface="Cambria Math" panose="02040503050406030204" pitchFamily="18" charset="0"/>
                                    </a:rPr>
                                    <m:t>parameter</m:t>
                                  </m:r>
                                </m:e>
                              </m:eqArr>
                            </m:lim>
                          </m:limLow>
                        </m:fName>
                        <m:e>
                          <m:nary>
                            <m:naryPr>
                              <m:chr m:val="∑"/>
                              <m:ctrlPr>
                                <a:rPr lang="en-US" sz="2400" i="1">
                                  <a:latin typeface="Cambria Math" panose="02040503050406030204" pitchFamily="18" charset="0"/>
                                </a:rPr>
                              </m:ctrlPr>
                            </m:naryPr>
                            <m:sub>
                              <m:r>
                                <m:rPr>
                                  <m:brk m:alnAt="23"/>
                                </m:rPr>
                                <a:rPr lang="en-US" sz="2400" b="0" i="1" smtClean="0">
                                  <a:latin typeface="Cambria Math" panose="02040503050406030204" pitchFamily="18" charset="0"/>
                                </a:rPr>
                                <m:t>𝑗</m:t>
                              </m:r>
                              <m:r>
                                <a:rPr lang="en-US" sz="2400" i="1">
                                  <a:latin typeface="Cambria Math" panose="02040503050406030204" pitchFamily="18" charset="0"/>
                                </a:rPr>
                                <m:t>=1</m:t>
                              </m:r>
                            </m:sub>
                            <m:sup>
                              <m:r>
                                <a:rPr lang="en-US" sz="2400" b="0" i="1" smtClean="0">
                                  <a:latin typeface="Cambria Math" panose="02040503050406030204" pitchFamily="18" charset="0"/>
                                </a:rPr>
                                <m:t>𝑁</m:t>
                              </m:r>
                            </m:sup>
                            <m:e>
                              <m:r>
                                <a:rPr lang="en-US" sz="2400" i="1">
                                  <a:latin typeface="Cambria Math" panose="02040503050406030204" pitchFamily="18" charset="0"/>
                                </a:rPr>
                                <m:t>𝐿</m:t>
                              </m:r>
                              <m:d>
                                <m:dPr>
                                  <m:ctrlPr>
                                    <a:rPr lang="en-US" sz="2400" i="1">
                                      <a:latin typeface="Cambria Math" panose="02040503050406030204" pitchFamily="18" charset="0"/>
                                    </a:rPr>
                                  </m:ctrlPr>
                                </m:dPr>
                                <m:e>
                                  <m:sSubSup>
                                    <m:sSubSupPr>
                                      <m:ctrlPr>
                                        <a:rPr lang="en-US" sz="2400" i="1">
                                          <a:latin typeface="Cambria Math" panose="02040503050406030204" pitchFamily="18" charset="0"/>
                                        </a:rPr>
                                      </m:ctrlPr>
                                    </m:sSubSupPr>
                                    <m:e>
                                      <m:r>
                                        <a:rPr lang="en-US" sz="2400" i="1">
                                          <a:latin typeface="Cambria Math" panose="02040503050406030204" pitchFamily="18" charset="0"/>
                                        </a:rPr>
                                        <m:t>𝑦</m:t>
                                      </m:r>
                                    </m:e>
                                    <m:sub>
                                      <m:r>
                                        <a:rPr lang="en-US" sz="2400" i="1">
                                          <a:latin typeface="Cambria Math" panose="02040503050406030204" pitchFamily="18" charset="0"/>
                                        </a:rPr>
                                        <m:t>𝑝𝑟𝑒𝑑</m:t>
                                      </m:r>
                                    </m:sub>
                                    <m:sup>
                                      <m:r>
                                        <a:rPr lang="en-US" sz="2400" i="1">
                                          <a:latin typeface="Cambria Math" panose="02040503050406030204" pitchFamily="18" charset="0"/>
                                        </a:rPr>
                                        <m:t>(</m:t>
                                      </m:r>
                                      <m:r>
                                        <a:rPr lang="en-US" sz="2400" b="0" i="1" smtClean="0">
                                          <a:latin typeface="Cambria Math" panose="02040503050406030204" pitchFamily="18" charset="0"/>
                                        </a:rPr>
                                        <m:t>𝑗</m:t>
                                      </m:r>
                                      <m:r>
                                        <a:rPr lang="en-US" sz="2400" i="1">
                                          <a:latin typeface="Cambria Math" panose="02040503050406030204" pitchFamily="18" charset="0"/>
                                        </a:rPr>
                                        <m:t>)</m:t>
                                      </m:r>
                                    </m:sup>
                                  </m:sSubSup>
                                  <m:r>
                                    <a:rPr lang="en-US" sz="2400" i="1">
                                      <a:latin typeface="Cambria Math" panose="02040503050406030204" pitchFamily="18" charset="0"/>
                                    </a:rPr>
                                    <m:t>, </m:t>
                                  </m:r>
                                  <m:sSubSup>
                                    <m:sSubSupPr>
                                      <m:ctrlPr>
                                        <a:rPr lang="en-US" sz="2400" i="1">
                                          <a:latin typeface="Cambria Math" panose="02040503050406030204" pitchFamily="18" charset="0"/>
                                        </a:rPr>
                                      </m:ctrlPr>
                                    </m:sSubSupPr>
                                    <m:e>
                                      <m:r>
                                        <a:rPr lang="en-US" sz="2400" i="1">
                                          <a:latin typeface="Cambria Math" panose="02040503050406030204" pitchFamily="18" charset="0"/>
                                        </a:rPr>
                                        <m:t>𝑦</m:t>
                                      </m:r>
                                    </m:e>
                                    <m:sub>
                                      <m:r>
                                        <a:rPr lang="en-US" sz="2400" i="1">
                                          <a:latin typeface="Cambria Math" panose="02040503050406030204" pitchFamily="18" charset="0"/>
                                        </a:rPr>
                                        <m:t>𝑡𝑟𝑢𝑒</m:t>
                                      </m:r>
                                    </m:sub>
                                    <m:sup>
                                      <m:r>
                                        <a:rPr lang="en-US" sz="2400" i="1">
                                          <a:latin typeface="Cambria Math" panose="02040503050406030204" pitchFamily="18" charset="0"/>
                                        </a:rPr>
                                        <m:t>(</m:t>
                                      </m:r>
                                      <m:r>
                                        <a:rPr lang="en-US" sz="2400" b="0" i="1" smtClean="0">
                                          <a:latin typeface="Cambria Math" panose="02040503050406030204" pitchFamily="18" charset="0"/>
                                        </a:rPr>
                                        <m:t>𝑗</m:t>
                                      </m:r>
                                      <m:r>
                                        <a:rPr lang="en-US" sz="2400" i="1">
                                          <a:latin typeface="Cambria Math" panose="02040503050406030204" pitchFamily="18" charset="0"/>
                                        </a:rPr>
                                        <m:t>)</m:t>
                                      </m:r>
                                    </m:sup>
                                  </m:sSubSup>
                                </m:e>
                              </m:d>
                            </m:e>
                          </m:nary>
                        </m:e>
                      </m:func>
                    </m:oMath>
                  </m:oMathPara>
                </a14:m>
                <a:endParaRPr lang="en-US" sz="2400" dirty="0"/>
              </a:p>
            </p:txBody>
          </p:sp>
        </mc:Choice>
        <mc:Fallback xmlns="">
          <p:sp>
            <p:nvSpPr>
              <p:cNvPr id="3" name="Content Placeholder 2">
                <a:extLst>
                  <a:ext uri="{FF2B5EF4-FFF2-40B4-BE49-F238E27FC236}">
                    <a16:creationId xmlns:a16="http://schemas.microsoft.com/office/drawing/2014/main" id="{20A90B52-8817-44AD-97A7-18C3643D4A1C}"/>
                  </a:ext>
                </a:extLst>
              </p:cNvPr>
              <p:cNvSpPr>
                <a:spLocks noGrp="1" noRot="1" noChangeAspect="1" noMove="1" noResize="1" noEditPoints="1" noAdjustHandles="1" noChangeArrowheads="1" noChangeShapeType="1" noTextEdit="1"/>
              </p:cNvSpPr>
              <p:nvPr>
                <p:ph idx="1"/>
              </p:nvPr>
            </p:nvSpPr>
            <p:spPr>
              <a:blipFill>
                <a:blip r:embed="rId2"/>
                <a:stretch>
                  <a:fillRect l="-1043" t="-2241" r="-1391"/>
                </a:stretch>
              </a:blipFill>
            </p:spPr>
            <p:txBody>
              <a:bodyPr/>
              <a:lstStyle/>
              <a:p>
                <a:r>
                  <a:rPr lang="en-US">
                    <a:noFill/>
                  </a:rPr>
                  <a:t> </a:t>
                </a:r>
              </a:p>
            </p:txBody>
          </p:sp>
        </mc:Fallback>
      </mc:AlternateContent>
    </p:spTree>
    <p:extLst>
      <p:ext uri="{BB962C8B-B14F-4D97-AF65-F5344CB8AC3E}">
        <p14:creationId xmlns:p14="http://schemas.microsoft.com/office/powerpoint/2010/main" val="4030029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9F71EE-D5B2-4136-A878-12582F9233FD}"/>
              </a:ext>
            </a:extLst>
          </p:cNvPr>
          <p:cNvSpPr>
            <a:spLocks noGrp="1"/>
          </p:cNvSpPr>
          <p:nvPr>
            <p:ph type="title"/>
          </p:nvPr>
        </p:nvSpPr>
        <p:spPr/>
        <p:txBody>
          <a:bodyPr/>
          <a:lstStyle/>
          <a:p>
            <a:r>
              <a:rPr lang="en-US" b="1" dirty="0"/>
              <a:t>Linear Regression</a:t>
            </a:r>
          </a:p>
        </p:txBody>
      </p:sp>
      <p:sp>
        <p:nvSpPr>
          <p:cNvPr id="5" name="Text Placeholder 4">
            <a:extLst>
              <a:ext uri="{FF2B5EF4-FFF2-40B4-BE49-F238E27FC236}">
                <a16:creationId xmlns:a16="http://schemas.microsoft.com/office/drawing/2014/main" id="{21292AB1-E926-4A19-8E02-83710FE209B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79602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Linear Regression</a:t>
            </a:r>
          </a:p>
        </p:txBody>
      </p:sp>
      <p:sp>
        <p:nvSpPr>
          <p:cNvPr id="3" name="Content Placeholder 2"/>
          <p:cNvSpPr>
            <a:spLocks noGrp="1"/>
          </p:cNvSpPr>
          <p:nvPr>
            <p:ph idx="1"/>
          </p:nvPr>
        </p:nvSpPr>
        <p:spPr/>
        <p:txBody>
          <a:bodyPr>
            <a:normAutofit/>
          </a:bodyPr>
          <a:lstStyle/>
          <a:p>
            <a:pPr marL="0" indent="0">
              <a:buNone/>
            </a:pPr>
            <a:endParaRPr lang="en-US" dirty="0"/>
          </a:p>
          <a:p>
            <a:pPr marL="0" indent="0">
              <a:buNone/>
            </a:pPr>
            <a:endParaRPr lang="en-US" dirty="0"/>
          </a:p>
        </p:txBody>
      </p:sp>
      <p:sp>
        <p:nvSpPr>
          <p:cNvPr id="4" name="Title 1">
            <a:extLst>
              <a:ext uri="{FF2B5EF4-FFF2-40B4-BE49-F238E27FC236}">
                <a16:creationId xmlns:a16="http://schemas.microsoft.com/office/drawing/2014/main" id="{839DE150-195D-706C-E99C-D4DB98DF0427}"/>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5" name="Content Placeholder 2">
            <a:extLst>
              <a:ext uri="{FF2B5EF4-FFF2-40B4-BE49-F238E27FC236}">
                <a16:creationId xmlns:a16="http://schemas.microsoft.com/office/drawing/2014/main" id="{EB7CF9CD-A392-C264-C257-B3FC0A87401C}"/>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a:p>
            <a:pPr marL="0" indent="0">
              <a:buFont typeface="Arial" panose="020B0604020202020204" pitchFamily="34" charset="0"/>
              <a:buNone/>
            </a:pPr>
            <a:endParaRPr lang="en-US" dirty="0"/>
          </a:p>
        </p:txBody>
      </p:sp>
      <p:sp>
        <p:nvSpPr>
          <p:cNvPr id="9" name="Oval 8">
            <a:extLst>
              <a:ext uri="{FF2B5EF4-FFF2-40B4-BE49-F238E27FC236}">
                <a16:creationId xmlns:a16="http://schemas.microsoft.com/office/drawing/2014/main" id="{26D79E2E-CA1D-E401-11E5-D7F95D306DCA}"/>
              </a:ext>
            </a:extLst>
          </p:cNvPr>
          <p:cNvSpPr/>
          <p:nvPr/>
        </p:nvSpPr>
        <p:spPr>
          <a:xfrm>
            <a:off x="3131129" y="3408218"/>
            <a:ext cx="734291" cy="72043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a:t>+</a:t>
            </a:r>
          </a:p>
        </p:txBody>
      </p:sp>
      <p:cxnSp>
        <p:nvCxnSpPr>
          <p:cNvPr id="11" name="Straight Arrow Connector 10">
            <a:extLst>
              <a:ext uri="{FF2B5EF4-FFF2-40B4-BE49-F238E27FC236}">
                <a16:creationId xmlns:a16="http://schemas.microsoft.com/office/drawing/2014/main" id="{C51DEADB-6084-8434-EC33-D99C3A95C08F}"/>
              </a:ext>
            </a:extLst>
          </p:cNvPr>
          <p:cNvCxnSpPr>
            <a:endCxn id="9" idx="0"/>
          </p:cNvCxnSpPr>
          <p:nvPr/>
        </p:nvCxnSpPr>
        <p:spPr>
          <a:xfrm>
            <a:off x="1856511" y="2826327"/>
            <a:ext cx="1641764" cy="581891"/>
          </a:xfrm>
          <a:prstGeom prst="straightConnector1">
            <a:avLst/>
          </a:prstGeom>
          <a:ln w="28575">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12" name="Straight Arrow Connector 11">
            <a:extLst>
              <a:ext uri="{FF2B5EF4-FFF2-40B4-BE49-F238E27FC236}">
                <a16:creationId xmlns:a16="http://schemas.microsoft.com/office/drawing/2014/main" id="{B22556A0-84A8-290A-4365-9787A9ED3CEA}"/>
              </a:ext>
            </a:extLst>
          </p:cNvPr>
          <p:cNvCxnSpPr>
            <a:endCxn id="9" idx="1"/>
          </p:cNvCxnSpPr>
          <p:nvPr/>
        </p:nvCxnSpPr>
        <p:spPr>
          <a:xfrm>
            <a:off x="1828800" y="3297383"/>
            <a:ext cx="1409863" cy="216340"/>
          </a:xfrm>
          <a:prstGeom prst="straightConnector1">
            <a:avLst/>
          </a:prstGeom>
          <a:ln w="28575">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13" name="Straight Arrow Connector 12">
            <a:extLst>
              <a:ext uri="{FF2B5EF4-FFF2-40B4-BE49-F238E27FC236}">
                <a16:creationId xmlns:a16="http://schemas.microsoft.com/office/drawing/2014/main" id="{C675697D-7918-F7EA-439F-961A4E62613F}"/>
              </a:ext>
            </a:extLst>
          </p:cNvPr>
          <p:cNvCxnSpPr>
            <a:endCxn id="9" idx="3"/>
          </p:cNvCxnSpPr>
          <p:nvPr/>
        </p:nvCxnSpPr>
        <p:spPr>
          <a:xfrm flipV="1">
            <a:off x="1911930" y="4023149"/>
            <a:ext cx="1326733" cy="424160"/>
          </a:xfrm>
          <a:prstGeom prst="straightConnector1">
            <a:avLst/>
          </a:prstGeom>
          <a:ln w="28575">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14" name="Straight Arrow Connector 13">
            <a:extLst>
              <a:ext uri="{FF2B5EF4-FFF2-40B4-BE49-F238E27FC236}">
                <a16:creationId xmlns:a16="http://schemas.microsoft.com/office/drawing/2014/main" id="{E3B9569A-2258-9168-8ED3-6D54644A3B4A}"/>
              </a:ext>
            </a:extLst>
          </p:cNvPr>
          <p:cNvCxnSpPr>
            <a:endCxn id="9" idx="4"/>
          </p:cNvCxnSpPr>
          <p:nvPr/>
        </p:nvCxnSpPr>
        <p:spPr>
          <a:xfrm flipV="1">
            <a:off x="1911930" y="4128654"/>
            <a:ext cx="1586345" cy="720437"/>
          </a:xfrm>
          <a:prstGeom prst="straightConnector1">
            <a:avLst/>
          </a:prstGeom>
          <a:ln w="28575">
            <a:headEnd type="none" w="med" len="med"/>
            <a:tailEnd type="arrow" w="med" len="med"/>
          </a:ln>
        </p:spPr>
        <p:style>
          <a:lnRef idx="3">
            <a:schemeClr val="accent1"/>
          </a:lnRef>
          <a:fillRef idx="0">
            <a:schemeClr val="accent1"/>
          </a:fillRef>
          <a:effectRef idx="2">
            <a:schemeClr val="accent1"/>
          </a:effectRef>
          <a:fontRef idx="minor">
            <a:schemeClr val="tx1"/>
          </a:fontRef>
        </p:style>
      </p:cxnSp>
      <p:pic>
        <p:nvPicPr>
          <p:cNvPr id="15" name="Picture 14">
            <a:extLst>
              <a:ext uri="{FF2B5EF4-FFF2-40B4-BE49-F238E27FC236}">
                <a16:creationId xmlns:a16="http://schemas.microsoft.com/office/drawing/2014/main" id="{DBE274B3-5C7B-9340-B990-090C03F33CA4}"/>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570184" y="3676072"/>
            <a:ext cx="30484" cy="228632"/>
          </a:xfrm>
          <a:prstGeom prst="rect">
            <a:avLst/>
          </a:prstGeom>
        </p:spPr>
      </p:pic>
      <p:pic>
        <p:nvPicPr>
          <p:cNvPr id="16" name="Picture 15">
            <a:extLst>
              <a:ext uri="{FF2B5EF4-FFF2-40B4-BE49-F238E27FC236}">
                <a16:creationId xmlns:a16="http://schemas.microsoft.com/office/drawing/2014/main" id="{331E21A0-DF0D-AE62-F98A-5E2FA318FEAE}"/>
              </a:ext>
            </a:extLst>
          </p:cNvPr>
          <p:cNvPicPr>
            <a:picLocks noChangeAspect="1"/>
          </p:cNvPicPr>
          <p:nvPr>
            <p:custDataLst>
              <p:tags r:id="rId2"/>
            </p:custDataLst>
          </p:nvPr>
        </p:nvPicPr>
        <p:blipFill>
          <a:blip r:embed="rId4" cstate="print">
            <a:extLst>
              <a:ext uri="{28A0092B-C50C-407E-A947-70E740481C1C}">
                <a14:useLocalDpi xmlns:a14="http://schemas.microsoft.com/office/drawing/2010/main" val="0"/>
              </a:ext>
            </a:extLst>
          </a:blip>
          <a:stretch>
            <a:fillRect/>
          </a:stretch>
        </p:blipFill>
        <p:spPr>
          <a:xfrm>
            <a:off x="2401457" y="3606800"/>
            <a:ext cx="30484" cy="228632"/>
          </a:xfrm>
          <a:prstGeom prst="rect">
            <a:avLst/>
          </a:prstGeom>
        </p:spPr>
      </p:pic>
      <p:cxnSp>
        <p:nvCxnSpPr>
          <p:cNvPr id="17" name="Straight Arrow Connector 16">
            <a:extLst>
              <a:ext uri="{FF2B5EF4-FFF2-40B4-BE49-F238E27FC236}">
                <a16:creationId xmlns:a16="http://schemas.microsoft.com/office/drawing/2014/main" id="{89BBA283-ED18-2E3A-6D63-7343425A7DD8}"/>
              </a:ext>
            </a:extLst>
          </p:cNvPr>
          <p:cNvCxnSpPr>
            <a:stCxn id="9" idx="6"/>
          </p:cNvCxnSpPr>
          <p:nvPr/>
        </p:nvCxnSpPr>
        <p:spPr>
          <a:xfrm flipV="1">
            <a:off x="3865420" y="3740727"/>
            <a:ext cx="4754880" cy="0"/>
          </a:xfrm>
          <a:prstGeom prst="straightConnector1">
            <a:avLst/>
          </a:prstGeom>
          <a:ln w="28575">
            <a:headEnd type="none" w="med" len="med"/>
            <a:tailEnd type="arrow" w="med" len="med"/>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61234AF-65F8-C15F-012D-A436B8738F30}"/>
                  </a:ext>
                </a:extLst>
              </p:cNvPr>
              <p:cNvSpPr txBox="1"/>
              <p:nvPr/>
            </p:nvSpPr>
            <p:spPr>
              <a:xfrm>
                <a:off x="1063451" y="2566183"/>
                <a:ext cx="1181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p:txBody>
          </p:sp>
        </mc:Choice>
        <mc:Fallback xmlns="">
          <p:sp>
            <p:nvSpPr>
              <p:cNvPr id="18" name="TextBox 17">
                <a:extLst>
                  <a:ext uri="{FF2B5EF4-FFF2-40B4-BE49-F238E27FC236}">
                    <a16:creationId xmlns:a16="http://schemas.microsoft.com/office/drawing/2014/main" id="{E61234AF-65F8-C15F-012D-A436B8738F30}"/>
                  </a:ext>
                </a:extLst>
              </p:cNvPr>
              <p:cNvSpPr txBox="1">
                <a:spLocks noRot="1" noChangeAspect="1" noMove="1" noResize="1" noEditPoints="1" noAdjustHandles="1" noChangeArrowheads="1" noChangeShapeType="1" noTextEdit="1"/>
              </p:cNvSpPr>
              <p:nvPr/>
            </p:nvSpPr>
            <p:spPr>
              <a:xfrm>
                <a:off x="1063451" y="2566183"/>
                <a:ext cx="118110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D611284-6D92-88C4-8730-D435537FFA71}"/>
                  </a:ext>
                </a:extLst>
              </p:cNvPr>
              <p:cNvSpPr txBox="1"/>
              <p:nvPr/>
            </p:nvSpPr>
            <p:spPr>
              <a:xfrm>
                <a:off x="1025293" y="3042418"/>
                <a:ext cx="1181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p:txBody>
          </p:sp>
        </mc:Choice>
        <mc:Fallback xmlns="">
          <p:sp>
            <p:nvSpPr>
              <p:cNvPr id="19" name="TextBox 18">
                <a:extLst>
                  <a:ext uri="{FF2B5EF4-FFF2-40B4-BE49-F238E27FC236}">
                    <a16:creationId xmlns:a16="http://schemas.microsoft.com/office/drawing/2014/main" id="{6D611284-6D92-88C4-8730-D435537FFA71}"/>
                  </a:ext>
                </a:extLst>
              </p:cNvPr>
              <p:cNvSpPr txBox="1">
                <a:spLocks noRot="1" noChangeAspect="1" noMove="1" noResize="1" noEditPoints="1" noAdjustHandles="1" noChangeArrowheads="1" noChangeShapeType="1" noTextEdit="1"/>
              </p:cNvSpPr>
              <p:nvPr/>
            </p:nvSpPr>
            <p:spPr>
              <a:xfrm>
                <a:off x="1025293" y="3042418"/>
                <a:ext cx="11811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ACE3AB3-245F-7929-CB9E-A40708604907}"/>
                  </a:ext>
                </a:extLst>
              </p:cNvPr>
              <p:cNvSpPr txBox="1"/>
              <p:nvPr/>
            </p:nvSpPr>
            <p:spPr>
              <a:xfrm>
                <a:off x="979634" y="4224254"/>
                <a:ext cx="1181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m:t>
                          </m:r>
                        </m:sub>
                      </m:sSub>
                    </m:oMath>
                  </m:oMathPara>
                </a14:m>
                <a:endParaRPr lang="en-US" dirty="0"/>
              </a:p>
            </p:txBody>
          </p:sp>
        </mc:Choice>
        <mc:Fallback xmlns="">
          <p:sp>
            <p:nvSpPr>
              <p:cNvPr id="20" name="TextBox 19">
                <a:extLst>
                  <a:ext uri="{FF2B5EF4-FFF2-40B4-BE49-F238E27FC236}">
                    <a16:creationId xmlns:a16="http://schemas.microsoft.com/office/drawing/2014/main" id="{EACE3AB3-245F-7929-CB9E-A40708604907}"/>
                  </a:ext>
                </a:extLst>
              </p:cNvPr>
              <p:cNvSpPr txBox="1">
                <a:spLocks noRot="1" noChangeAspect="1" noMove="1" noResize="1" noEditPoints="1" noAdjustHandles="1" noChangeArrowheads="1" noChangeShapeType="1" noTextEdit="1"/>
              </p:cNvSpPr>
              <p:nvPr/>
            </p:nvSpPr>
            <p:spPr>
              <a:xfrm>
                <a:off x="979634" y="4224254"/>
                <a:ext cx="118110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144551B-6BA7-ADB4-E377-21E8804CACF4}"/>
                  </a:ext>
                </a:extLst>
              </p:cNvPr>
              <p:cNvSpPr txBox="1"/>
              <p:nvPr/>
            </p:nvSpPr>
            <p:spPr>
              <a:xfrm>
                <a:off x="977039" y="4671492"/>
                <a:ext cx="1181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21" name="TextBox 20">
                <a:extLst>
                  <a:ext uri="{FF2B5EF4-FFF2-40B4-BE49-F238E27FC236}">
                    <a16:creationId xmlns:a16="http://schemas.microsoft.com/office/drawing/2014/main" id="{9144551B-6BA7-ADB4-E377-21E8804CACF4}"/>
                  </a:ext>
                </a:extLst>
              </p:cNvPr>
              <p:cNvSpPr txBox="1">
                <a:spLocks noRot="1" noChangeAspect="1" noMove="1" noResize="1" noEditPoints="1" noAdjustHandles="1" noChangeArrowheads="1" noChangeShapeType="1" noTextEdit="1"/>
              </p:cNvSpPr>
              <p:nvPr/>
            </p:nvSpPr>
            <p:spPr>
              <a:xfrm>
                <a:off x="977039" y="4671492"/>
                <a:ext cx="118110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28B1009-7F9C-89C2-5A62-7BA4241A512F}"/>
                  </a:ext>
                </a:extLst>
              </p:cNvPr>
              <p:cNvSpPr txBox="1"/>
              <p:nvPr/>
            </p:nvSpPr>
            <p:spPr>
              <a:xfrm>
                <a:off x="1856511" y="3906069"/>
                <a:ext cx="1181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𝑚</m:t>
                          </m:r>
                        </m:sub>
                      </m:sSub>
                    </m:oMath>
                  </m:oMathPara>
                </a14:m>
                <a:endParaRPr lang="en-US" dirty="0"/>
              </a:p>
            </p:txBody>
          </p:sp>
        </mc:Choice>
        <mc:Fallback xmlns="">
          <p:sp>
            <p:nvSpPr>
              <p:cNvPr id="22" name="TextBox 21">
                <a:extLst>
                  <a:ext uri="{FF2B5EF4-FFF2-40B4-BE49-F238E27FC236}">
                    <a16:creationId xmlns:a16="http://schemas.microsoft.com/office/drawing/2014/main" id="{E28B1009-7F9C-89C2-5A62-7BA4241A512F}"/>
                  </a:ext>
                </a:extLst>
              </p:cNvPr>
              <p:cNvSpPr txBox="1">
                <a:spLocks noRot="1" noChangeAspect="1" noMove="1" noResize="1" noEditPoints="1" noAdjustHandles="1" noChangeArrowheads="1" noChangeShapeType="1" noTextEdit="1"/>
              </p:cNvSpPr>
              <p:nvPr/>
            </p:nvSpPr>
            <p:spPr>
              <a:xfrm>
                <a:off x="1856511" y="3906069"/>
                <a:ext cx="118110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0D13B47-42BF-C0F1-5F41-EFD73236A1FB}"/>
                  </a:ext>
                </a:extLst>
              </p:cNvPr>
              <p:cNvSpPr txBox="1"/>
              <p:nvPr/>
            </p:nvSpPr>
            <p:spPr>
              <a:xfrm>
                <a:off x="1828800" y="3030754"/>
                <a:ext cx="1181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oMath>
                  </m:oMathPara>
                </a14:m>
                <a:endParaRPr lang="en-US" dirty="0"/>
              </a:p>
            </p:txBody>
          </p:sp>
        </mc:Choice>
        <mc:Fallback xmlns="">
          <p:sp>
            <p:nvSpPr>
              <p:cNvPr id="23" name="TextBox 22">
                <a:extLst>
                  <a:ext uri="{FF2B5EF4-FFF2-40B4-BE49-F238E27FC236}">
                    <a16:creationId xmlns:a16="http://schemas.microsoft.com/office/drawing/2014/main" id="{30D13B47-42BF-C0F1-5F41-EFD73236A1FB}"/>
                  </a:ext>
                </a:extLst>
              </p:cNvPr>
              <p:cNvSpPr txBox="1">
                <a:spLocks noRot="1" noChangeAspect="1" noMove="1" noResize="1" noEditPoints="1" noAdjustHandles="1" noChangeArrowheads="1" noChangeShapeType="1" noTextEdit="1"/>
              </p:cNvSpPr>
              <p:nvPr/>
            </p:nvSpPr>
            <p:spPr>
              <a:xfrm>
                <a:off x="1828800" y="3030754"/>
                <a:ext cx="118110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923AD33-3EC4-B4F5-2197-DCA322F4258F}"/>
                  </a:ext>
                </a:extLst>
              </p:cNvPr>
              <p:cNvSpPr txBox="1"/>
              <p:nvPr/>
            </p:nvSpPr>
            <p:spPr>
              <a:xfrm>
                <a:off x="1855589" y="2680576"/>
                <a:ext cx="1181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m:oMathPara>
                </a14:m>
                <a:endParaRPr lang="en-US" dirty="0"/>
              </a:p>
            </p:txBody>
          </p:sp>
        </mc:Choice>
        <mc:Fallback xmlns="">
          <p:sp>
            <p:nvSpPr>
              <p:cNvPr id="24" name="TextBox 23">
                <a:extLst>
                  <a:ext uri="{FF2B5EF4-FFF2-40B4-BE49-F238E27FC236}">
                    <a16:creationId xmlns:a16="http://schemas.microsoft.com/office/drawing/2014/main" id="{E923AD33-3EC4-B4F5-2197-DCA322F4258F}"/>
                  </a:ext>
                </a:extLst>
              </p:cNvPr>
              <p:cNvSpPr txBox="1">
                <a:spLocks noRot="1" noChangeAspect="1" noMove="1" noResize="1" noEditPoints="1" noAdjustHandles="1" noChangeArrowheads="1" noChangeShapeType="1" noTextEdit="1"/>
              </p:cNvSpPr>
              <p:nvPr/>
            </p:nvSpPr>
            <p:spPr>
              <a:xfrm>
                <a:off x="1855589" y="2680576"/>
                <a:ext cx="1181100"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86C44D5-C15B-772F-D723-6964F7AE49BD}"/>
                  </a:ext>
                </a:extLst>
              </p:cNvPr>
              <p:cNvSpPr txBox="1"/>
              <p:nvPr/>
            </p:nvSpPr>
            <p:spPr>
              <a:xfrm>
                <a:off x="1838327" y="4309902"/>
                <a:ext cx="1181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oMath>
                  </m:oMathPara>
                </a14:m>
                <a:endParaRPr lang="en-US" dirty="0"/>
              </a:p>
            </p:txBody>
          </p:sp>
        </mc:Choice>
        <mc:Fallback xmlns="">
          <p:sp>
            <p:nvSpPr>
              <p:cNvPr id="25" name="TextBox 24">
                <a:extLst>
                  <a:ext uri="{FF2B5EF4-FFF2-40B4-BE49-F238E27FC236}">
                    <a16:creationId xmlns:a16="http://schemas.microsoft.com/office/drawing/2014/main" id="{986C44D5-C15B-772F-D723-6964F7AE49BD}"/>
                  </a:ext>
                </a:extLst>
              </p:cNvPr>
              <p:cNvSpPr txBox="1">
                <a:spLocks noRot="1" noChangeAspect="1" noMove="1" noResize="1" noEditPoints="1" noAdjustHandles="1" noChangeArrowheads="1" noChangeShapeType="1" noTextEdit="1"/>
              </p:cNvSpPr>
              <p:nvPr/>
            </p:nvSpPr>
            <p:spPr>
              <a:xfrm>
                <a:off x="1838327" y="4309902"/>
                <a:ext cx="1181100"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94F6511-3810-B696-0DC8-499D9B194522}"/>
                  </a:ext>
                </a:extLst>
              </p:cNvPr>
              <p:cNvSpPr txBox="1"/>
              <p:nvPr/>
            </p:nvSpPr>
            <p:spPr>
              <a:xfrm>
                <a:off x="4246757" y="3397908"/>
                <a:ext cx="340765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rPr>
                            <m:t>𝑥</m:t>
                          </m:r>
                        </m:e>
                        <m:sub>
                          <m:r>
                            <a:rPr lang="en-US" b="0" i="1" smtClean="0">
                              <a:latin typeface="Cambria Math" panose="02040503050406030204" pitchFamily="18" charset="0"/>
                            </a:rPr>
                            <m:t>2 </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𝑚</m:t>
                          </m:r>
                        </m:sub>
                      </m:sSub>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𝑚</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0</m:t>
                          </m:r>
                        </m:sub>
                      </m:sSub>
                    </m:oMath>
                  </m:oMathPara>
                </a14:m>
                <a:endParaRPr lang="en-US" dirty="0"/>
              </a:p>
            </p:txBody>
          </p:sp>
        </mc:Choice>
        <mc:Fallback xmlns="">
          <p:sp>
            <p:nvSpPr>
              <p:cNvPr id="26" name="TextBox 25">
                <a:extLst>
                  <a:ext uri="{FF2B5EF4-FFF2-40B4-BE49-F238E27FC236}">
                    <a16:creationId xmlns:a16="http://schemas.microsoft.com/office/drawing/2014/main" id="{994F6511-3810-B696-0DC8-499D9B194522}"/>
                  </a:ext>
                </a:extLst>
              </p:cNvPr>
              <p:cNvSpPr txBox="1">
                <a:spLocks noRot="1" noChangeAspect="1" noMove="1" noResize="1" noEditPoints="1" noAdjustHandles="1" noChangeArrowheads="1" noChangeShapeType="1" noTextEdit="1"/>
              </p:cNvSpPr>
              <p:nvPr/>
            </p:nvSpPr>
            <p:spPr>
              <a:xfrm>
                <a:off x="4246757" y="3397908"/>
                <a:ext cx="3407651" cy="369332"/>
              </a:xfrm>
              <a:prstGeom prst="rect">
                <a:avLst/>
              </a:prstGeom>
              <a:blipFill>
                <a:blip r:embed="rId13"/>
                <a:stretch>
                  <a:fillRect/>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ADAF5684-4EAF-45D5-9951-ACC455E552F9}"/>
              </a:ext>
            </a:extLst>
          </p:cNvPr>
          <p:cNvSpPr txBox="1"/>
          <p:nvPr/>
        </p:nvSpPr>
        <p:spPr>
          <a:xfrm>
            <a:off x="1999775" y="1690188"/>
            <a:ext cx="1641764" cy="715089"/>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Weight each feature</a:t>
            </a:r>
          </a:p>
        </p:txBody>
      </p:sp>
      <p:cxnSp>
        <p:nvCxnSpPr>
          <p:cNvPr id="28" name="Straight Arrow Connector 27">
            <a:extLst>
              <a:ext uri="{FF2B5EF4-FFF2-40B4-BE49-F238E27FC236}">
                <a16:creationId xmlns:a16="http://schemas.microsoft.com/office/drawing/2014/main" id="{D3FA987B-7A18-97CD-E167-2D9081C9D9F4}"/>
              </a:ext>
            </a:extLst>
          </p:cNvPr>
          <p:cNvCxnSpPr>
            <a:stCxn id="27" idx="2"/>
          </p:cNvCxnSpPr>
          <p:nvPr/>
        </p:nvCxnSpPr>
        <p:spPr>
          <a:xfrm flipH="1">
            <a:off x="2562225" y="2405277"/>
            <a:ext cx="258432" cy="338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B4119BF-4890-A048-B97A-C17E56A76DEA}"/>
              </a:ext>
            </a:extLst>
          </p:cNvPr>
          <p:cNvSpPr txBox="1"/>
          <p:nvPr/>
        </p:nvSpPr>
        <p:spPr>
          <a:xfrm>
            <a:off x="5322686" y="2253138"/>
            <a:ext cx="1859159" cy="715089"/>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Weighted sum of features</a:t>
            </a:r>
          </a:p>
        </p:txBody>
      </p:sp>
      <p:cxnSp>
        <p:nvCxnSpPr>
          <p:cNvPr id="44" name="Straight Arrow Connector 43">
            <a:extLst>
              <a:ext uri="{FF2B5EF4-FFF2-40B4-BE49-F238E27FC236}">
                <a16:creationId xmlns:a16="http://schemas.microsoft.com/office/drawing/2014/main" id="{BCF35877-B679-CF7F-B0E0-3588F790E014}"/>
              </a:ext>
            </a:extLst>
          </p:cNvPr>
          <p:cNvCxnSpPr/>
          <p:nvPr/>
        </p:nvCxnSpPr>
        <p:spPr>
          <a:xfrm flipH="1">
            <a:off x="6096000" y="2968227"/>
            <a:ext cx="0" cy="338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4FF211D-7125-5F72-B577-2829042E4EF7}"/>
                  </a:ext>
                </a:extLst>
              </p:cNvPr>
              <p:cNvSpPr txBox="1"/>
              <p:nvPr/>
            </p:nvSpPr>
            <p:spPr>
              <a:xfrm>
                <a:off x="7946149" y="3491406"/>
                <a:ext cx="340765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𝑇</m:t>
                          </m:r>
                        </m:sup>
                      </m:sSup>
                      <m:r>
                        <a:rPr lang="en-US" b="1" i="1" smtClean="0">
                          <a:latin typeface="Cambria Math" panose="02040503050406030204" pitchFamily="18" charset="0"/>
                        </a:rPr>
                        <m:t>𝒘</m:t>
                      </m:r>
                      <m:r>
                        <a:rPr lang="en-US" b="1"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oMath>
                  </m:oMathPara>
                </a14:m>
                <a:endParaRPr lang="en-US" dirty="0"/>
              </a:p>
            </p:txBody>
          </p:sp>
        </mc:Choice>
        <mc:Fallback xmlns="">
          <p:sp>
            <p:nvSpPr>
              <p:cNvPr id="45" name="TextBox 44">
                <a:extLst>
                  <a:ext uri="{FF2B5EF4-FFF2-40B4-BE49-F238E27FC236}">
                    <a16:creationId xmlns:a16="http://schemas.microsoft.com/office/drawing/2014/main" id="{14FF211D-7125-5F72-B577-2829042E4EF7}"/>
                  </a:ext>
                </a:extLst>
              </p:cNvPr>
              <p:cNvSpPr txBox="1">
                <a:spLocks noRot="1" noChangeAspect="1" noMove="1" noResize="1" noEditPoints="1" noAdjustHandles="1" noChangeArrowheads="1" noChangeShapeType="1" noTextEdit="1"/>
              </p:cNvSpPr>
              <p:nvPr/>
            </p:nvSpPr>
            <p:spPr>
              <a:xfrm>
                <a:off x="7946149" y="3491406"/>
                <a:ext cx="3407651" cy="369332"/>
              </a:xfrm>
              <a:prstGeom prst="rect">
                <a:avLst/>
              </a:prstGeom>
              <a:blipFill>
                <a:blip r:embed="rId14"/>
                <a:stretch>
                  <a:fillRect t="-6667"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6B995C9-A85D-E47E-AC83-A66AC5BCC57C}"/>
                  </a:ext>
                </a:extLst>
              </p:cNvPr>
              <p:cNvSpPr txBox="1"/>
              <p:nvPr/>
            </p:nvSpPr>
            <p:spPr>
              <a:xfrm>
                <a:off x="4152900" y="4593586"/>
                <a:ext cx="4676775" cy="2220801"/>
              </a:xfrm>
              <a:prstGeom prst="rect">
                <a:avLst/>
              </a:prstGeom>
              <a:noFill/>
            </p:spPr>
            <p:txBody>
              <a:bodyPr wrap="square" rtlCol="0">
                <a:spAutoFit/>
              </a:bodyPr>
              <a:lstStyle/>
              <a:p>
                <a:r>
                  <a:rPr lang="en-US" dirty="0"/>
                  <a:t>where,</a:t>
                </a:r>
              </a:p>
              <a:p>
                <a:endParaRPr lang="en-US" dirty="0"/>
              </a:p>
              <a:p>
                <a:pPr algn="ct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e>
                            <m:eqArr>
                              <m:eqArrPr>
                                <m:ctrlPr>
                                  <a:rPr lang="en-US" i="1">
                                    <a:latin typeface="Cambria Math" panose="02040503050406030204" pitchFamily="18" charset="0"/>
                                  </a:rPr>
                                </m:ctrlPr>
                              </m:eqArr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e>
                                <m:eqArr>
                                  <m:eqArrPr>
                                    <m:ctrlPr>
                                      <a:rPr lang="en-US" i="1">
                                        <a:latin typeface="Cambria Math" panose="02040503050406030204" pitchFamily="18" charset="0"/>
                                      </a:rPr>
                                    </m:ctrlPr>
                                  </m:eqArrPr>
                                  <m:e>
                                    <m:r>
                                      <a:rPr lang="en-US" i="1" smtClean="0">
                                        <a:latin typeface="Cambria Math" panose="02040503050406030204" pitchFamily="18" charset="0"/>
                                      </a:rPr>
                                      <m:t>⋮</m:t>
                                    </m:r>
                                  </m:e>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m:t>
                                        </m:r>
                                      </m:sub>
                                    </m:sSub>
                                  </m:e>
                                </m:eqArr>
                              </m:e>
                            </m:eqArr>
                          </m:e>
                        </m:eqArr>
                      </m:e>
                    </m:d>
                  </m:oMath>
                </a14:m>
                <a:r>
                  <a:rPr lang="en-US" dirty="0"/>
                  <a:t>    and     </a:t>
                </a:r>
                <a14:m>
                  <m:oMath xmlns:m="http://schemas.openxmlformats.org/officeDocument/2006/math">
                    <m:r>
                      <a:rPr lang="en-US" b="1" i="1" smtClean="0">
                        <a:latin typeface="Cambria Math" panose="02040503050406030204" pitchFamily="18" charset="0"/>
                      </a:rPr>
                      <m:t>𝒘</m:t>
                    </m:r>
                    <m:r>
                      <a:rPr lang="en-US" i="1">
                        <a:latin typeface="Cambria Math" panose="02040503050406030204" pitchFamily="18" charset="0"/>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sSub>
                              <m:sSubPr>
                                <m:ctrlPr>
                                  <a:rPr lang="en-US" i="1">
                                    <a:latin typeface="Cambria Math" panose="02040503050406030204" pitchFamily="18" charset="0"/>
                                  </a:rPr>
                                </m:ctrlPr>
                              </m:sSubPr>
                              <m:e>
                                <m:r>
                                  <a:rPr lang="en-US" b="0" i="1" smtClean="0">
                                    <a:latin typeface="Cambria Math" panose="02040503050406030204" pitchFamily="18" charset="0"/>
                                  </a:rPr>
                                  <m:t>𝑤</m:t>
                                </m:r>
                              </m:e>
                              <m:sub>
                                <m:r>
                                  <a:rPr lang="en-US" i="1">
                                    <a:latin typeface="Cambria Math" panose="02040503050406030204" pitchFamily="18" charset="0"/>
                                  </a:rPr>
                                  <m:t>1</m:t>
                                </m:r>
                              </m:sub>
                            </m:sSub>
                          </m:e>
                          <m:e>
                            <m:eqArr>
                              <m:eqArrPr>
                                <m:ctrlPr>
                                  <a:rPr lang="en-US" i="1">
                                    <a:latin typeface="Cambria Math" panose="02040503050406030204" pitchFamily="18" charset="0"/>
                                  </a:rPr>
                                </m:ctrlPr>
                              </m:eqArrPr>
                              <m:e>
                                <m:sSub>
                                  <m:sSubPr>
                                    <m:ctrlPr>
                                      <a:rPr lang="en-US" i="1">
                                        <a:latin typeface="Cambria Math" panose="02040503050406030204" pitchFamily="18" charset="0"/>
                                      </a:rPr>
                                    </m:ctrlPr>
                                  </m:sSubPr>
                                  <m:e>
                                    <m:r>
                                      <a:rPr lang="en-US" b="0" i="1" smtClean="0">
                                        <a:latin typeface="Cambria Math" panose="02040503050406030204" pitchFamily="18" charset="0"/>
                                      </a:rPr>
                                      <m:t>𝑤</m:t>
                                    </m:r>
                                  </m:e>
                                  <m:sub>
                                    <m:r>
                                      <a:rPr lang="en-US" i="1">
                                        <a:latin typeface="Cambria Math" panose="02040503050406030204" pitchFamily="18" charset="0"/>
                                      </a:rPr>
                                      <m:t>2</m:t>
                                    </m:r>
                                  </m:sub>
                                </m:sSub>
                              </m:e>
                              <m:e>
                                <m:eqArr>
                                  <m:eqArrPr>
                                    <m:ctrlPr>
                                      <a:rPr lang="en-US" i="1">
                                        <a:latin typeface="Cambria Math" panose="02040503050406030204" pitchFamily="18" charset="0"/>
                                      </a:rPr>
                                    </m:ctrlPr>
                                  </m:eqArrPr>
                                  <m:e>
                                    <m:r>
                                      <a:rPr lang="en-US" i="1">
                                        <a:latin typeface="Cambria Math" panose="02040503050406030204" pitchFamily="18" charset="0"/>
                                      </a:rPr>
                                      <m:t>⋮</m:t>
                                    </m:r>
                                  </m:e>
                                  <m:e>
                                    <m:sSub>
                                      <m:sSubPr>
                                        <m:ctrlPr>
                                          <a:rPr lang="en-US" i="1">
                                            <a:latin typeface="Cambria Math" panose="02040503050406030204" pitchFamily="18" charset="0"/>
                                          </a:rPr>
                                        </m:ctrlPr>
                                      </m:sSubPr>
                                      <m:e>
                                        <m:r>
                                          <a:rPr lang="en-US" b="0" i="1" smtClean="0">
                                            <a:latin typeface="Cambria Math" panose="02040503050406030204" pitchFamily="18" charset="0"/>
                                          </a:rPr>
                                          <m:t>𝑤</m:t>
                                        </m:r>
                                      </m:e>
                                      <m:sub>
                                        <m:r>
                                          <a:rPr lang="en-US" i="1">
                                            <a:latin typeface="Cambria Math" panose="02040503050406030204" pitchFamily="18" charset="0"/>
                                          </a:rPr>
                                          <m:t>𝑚</m:t>
                                        </m:r>
                                      </m:sub>
                                    </m:sSub>
                                  </m:e>
                                </m:eqArr>
                              </m:e>
                            </m:eqArr>
                          </m:e>
                        </m:eqArr>
                      </m:e>
                    </m:d>
                  </m:oMath>
                </a14:m>
                <a:endParaRPr lang="en-US" dirty="0"/>
              </a:p>
              <a:p>
                <a:endParaRPr lang="en-US" dirty="0"/>
              </a:p>
              <a:p>
                <a:endParaRPr lang="en-US" dirty="0"/>
              </a:p>
            </p:txBody>
          </p:sp>
        </mc:Choice>
        <mc:Fallback xmlns="">
          <p:sp>
            <p:nvSpPr>
              <p:cNvPr id="46" name="TextBox 45">
                <a:extLst>
                  <a:ext uri="{FF2B5EF4-FFF2-40B4-BE49-F238E27FC236}">
                    <a16:creationId xmlns:a16="http://schemas.microsoft.com/office/drawing/2014/main" id="{F6B995C9-A85D-E47E-AC83-A66AC5BCC57C}"/>
                  </a:ext>
                </a:extLst>
              </p:cNvPr>
              <p:cNvSpPr txBox="1">
                <a:spLocks noRot="1" noChangeAspect="1" noMove="1" noResize="1" noEditPoints="1" noAdjustHandles="1" noChangeArrowheads="1" noChangeShapeType="1" noTextEdit="1"/>
              </p:cNvSpPr>
              <p:nvPr/>
            </p:nvSpPr>
            <p:spPr>
              <a:xfrm>
                <a:off x="4152900" y="4593586"/>
                <a:ext cx="4676775" cy="2220801"/>
              </a:xfrm>
              <a:prstGeom prst="rect">
                <a:avLst/>
              </a:prstGeom>
              <a:blipFill>
                <a:blip r:embed="rId15"/>
                <a:stretch>
                  <a:fillRect l="-1043" t="-1648"/>
                </a:stretch>
              </a:blipFill>
            </p:spPr>
            <p:txBody>
              <a:bodyPr/>
              <a:lstStyle/>
              <a:p>
                <a:r>
                  <a:rPr lang="en-US">
                    <a:noFill/>
                  </a:rPr>
                  <a:t> </a:t>
                </a:r>
              </a:p>
            </p:txBody>
          </p:sp>
        </mc:Fallback>
      </mc:AlternateContent>
    </p:spTree>
    <p:extLst>
      <p:ext uri="{BB962C8B-B14F-4D97-AF65-F5344CB8AC3E}">
        <p14:creationId xmlns:p14="http://schemas.microsoft.com/office/powerpoint/2010/main" val="2915057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EFC7C-28ED-4A9E-9CBB-C2E11567D5C9}"/>
              </a:ext>
            </a:extLst>
          </p:cNvPr>
          <p:cNvSpPr>
            <a:spLocks noGrp="1"/>
          </p:cNvSpPr>
          <p:nvPr>
            <p:ph type="title"/>
          </p:nvPr>
        </p:nvSpPr>
        <p:spPr/>
        <p:txBody>
          <a:bodyPr/>
          <a:lstStyle/>
          <a:p>
            <a:r>
              <a:rPr lang="en-US" b="1" dirty="0"/>
              <a:t>Fitting a linear Regression</a:t>
            </a:r>
          </a:p>
        </p:txBody>
      </p:sp>
      <p:sp>
        <p:nvSpPr>
          <p:cNvPr id="3" name="Content Placeholder 2">
            <a:extLst>
              <a:ext uri="{FF2B5EF4-FFF2-40B4-BE49-F238E27FC236}">
                <a16:creationId xmlns:a16="http://schemas.microsoft.com/office/drawing/2014/main" id="{B1CEF854-9BCB-4120-8716-FEFD253D91BF}"/>
              </a:ext>
            </a:extLst>
          </p:cNvPr>
          <p:cNvSpPr>
            <a:spLocks noGrp="1"/>
          </p:cNvSpPr>
          <p:nvPr>
            <p:ph idx="1"/>
          </p:nvPr>
        </p:nvSpPr>
        <p:spPr/>
        <p:txBody>
          <a:bodyPr/>
          <a:lstStyle/>
          <a:p>
            <a:r>
              <a:rPr lang="en-US" dirty="0"/>
              <a:t>What is known for us? What is unknown and want to find?</a:t>
            </a:r>
          </a:p>
        </p:txBody>
      </p:sp>
    </p:spTree>
    <p:extLst>
      <p:ext uri="{BB962C8B-B14F-4D97-AF65-F5344CB8AC3E}">
        <p14:creationId xmlns:p14="http://schemas.microsoft.com/office/powerpoint/2010/main" val="645155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8C7EB-A99C-4D2D-A631-79CCF0565B69}"/>
              </a:ext>
            </a:extLst>
          </p:cNvPr>
          <p:cNvSpPr>
            <a:spLocks noGrp="1"/>
          </p:cNvSpPr>
          <p:nvPr>
            <p:ph type="title"/>
          </p:nvPr>
        </p:nvSpPr>
        <p:spPr/>
        <p:txBody>
          <a:bodyPr/>
          <a:lstStyle/>
          <a:p>
            <a:r>
              <a:rPr lang="en-US" b="1" dirty="0"/>
              <a:t>Fitting a linear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D8FC00-4DAE-421B-85EB-BABA290B4805}"/>
                  </a:ext>
                </a:extLst>
              </p:cNvPr>
              <p:cNvSpPr>
                <a:spLocks noGrp="1"/>
              </p:cNvSpPr>
              <p:nvPr>
                <p:ph idx="1"/>
              </p:nvPr>
            </p:nvSpPr>
            <p:spPr/>
            <p:txBody>
              <a:bodyPr/>
              <a:lstStyle/>
              <a:p>
                <a:r>
                  <a:rPr lang="en-US" dirty="0"/>
                  <a:t>We have the training set: </a:t>
                </a:r>
                <a14:m>
                  <m:oMath xmlns:m="http://schemas.openxmlformats.org/officeDocument/2006/math">
                    <m:sSubSup>
                      <m:sSubSupPr>
                        <m:ctrlPr>
                          <a:rPr lang="en-US" i="1" smtClean="0">
                            <a:solidFill>
                              <a:srgbClr val="C00000"/>
                            </a:solidFill>
                            <a:latin typeface="Cambria Math" panose="02040503050406030204" pitchFamily="18" charset="0"/>
                          </a:rPr>
                        </m:ctrlPr>
                      </m:sSubSupPr>
                      <m:e>
                        <m:r>
                          <a:rPr lang="en-US" b="0" i="1" smtClean="0">
                            <a:solidFill>
                              <a:srgbClr val="C00000"/>
                            </a:solidFill>
                            <a:latin typeface="Cambria Math" panose="02040503050406030204" pitchFamily="18" charset="0"/>
                          </a:rPr>
                          <m:t> </m:t>
                        </m:r>
                        <m:d>
                          <m:dPr>
                            <m:begChr m:val="{"/>
                            <m:endChr m:val="}"/>
                            <m:ctrlPr>
                              <a:rPr lang="en-US" i="1" smtClean="0">
                                <a:solidFill>
                                  <a:srgbClr val="C00000"/>
                                </a:solidFill>
                                <a:latin typeface="Cambria Math" panose="02040503050406030204" pitchFamily="18" charset="0"/>
                              </a:rPr>
                            </m:ctrlPr>
                          </m:dPr>
                          <m:e>
                            <m:d>
                              <m:dPr>
                                <m:ctrlPr>
                                  <a:rPr lang="en-US" i="1" smtClean="0">
                                    <a:solidFill>
                                      <a:srgbClr val="C00000"/>
                                    </a:solidFill>
                                    <a:latin typeface="Cambria Math" panose="02040503050406030204" pitchFamily="18" charset="0"/>
                                  </a:rPr>
                                </m:ctrlPr>
                              </m:dPr>
                              <m:e>
                                <m:sSup>
                                  <m:sSupPr>
                                    <m:ctrlPr>
                                      <a:rPr lang="en-US" i="1" smtClean="0">
                                        <a:solidFill>
                                          <a:srgbClr val="C00000"/>
                                        </a:solidFill>
                                        <a:latin typeface="Cambria Math" panose="02040503050406030204" pitchFamily="18" charset="0"/>
                                      </a:rPr>
                                    </m:ctrlPr>
                                  </m:sSupPr>
                                  <m:e>
                                    <m:r>
                                      <a:rPr lang="en-US" b="1" i="1" smtClean="0">
                                        <a:solidFill>
                                          <a:srgbClr val="C00000"/>
                                        </a:solidFill>
                                        <a:latin typeface="Cambria Math" panose="02040503050406030204" pitchFamily="18" charset="0"/>
                                      </a:rPr>
                                      <m:t>𝒙</m:t>
                                    </m:r>
                                  </m:e>
                                  <m:sup>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𝑗</m:t>
                                    </m:r>
                                    <m:r>
                                      <a:rPr lang="en-US" b="0" i="1" smtClean="0">
                                        <a:solidFill>
                                          <a:srgbClr val="C00000"/>
                                        </a:solidFill>
                                        <a:latin typeface="Cambria Math" panose="02040503050406030204" pitchFamily="18" charset="0"/>
                                      </a:rPr>
                                      <m:t>)</m:t>
                                    </m:r>
                                  </m:sup>
                                </m:sSup>
                                <m:r>
                                  <a:rPr lang="en-US" b="0" i="1" smtClean="0">
                                    <a:solidFill>
                                      <a:srgbClr val="C00000"/>
                                    </a:solidFill>
                                    <a:latin typeface="Cambria Math" panose="02040503050406030204" pitchFamily="18" charset="0"/>
                                  </a:rPr>
                                  <m:t>, </m:t>
                                </m:r>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𝑦</m:t>
                                    </m:r>
                                  </m:e>
                                  <m:sup>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𝑗</m:t>
                                    </m:r>
                                    <m:r>
                                      <a:rPr lang="en-US" b="0" i="1" smtClean="0">
                                        <a:solidFill>
                                          <a:srgbClr val="C00000"/>
                                        </a:solidFill>
                                        <a:latin typeface="Cambria Math" panose="02040503050406030204" pitchFamily="18" charset="0"/>
                                      </a:rPr>
                                      <m:t>)</m:t>
                                    </m:r>
                                  </m:sup>
                                </m:sSup>
                              </m:e>
                            </m:d>
                          </m:e>
                        </m:d>
                      </m:e>
                      <m:sub>
                        <m:r>
                          <a:rPr lang="en-US" b="0" i="1" smtClean="0">
                            <a:solidFill>
                              <a:srgbClr val="C00000"/>
                            </a:solidFill>
                            <a:latin typeface="Cambria Math" panose="02040503050406030204" pitchFamily="18" charset="0"/>
                          </a:rPr>
                          <m:t>𝑗</m:t>
                        </m:r>
                        <m:r>
                          <a:rPr lang="en-US" b="0" i="1" smtClean="0">
                            <a:solidFill>
                              <a:srgbClr val="C00000"/>
                            </a:solidFill>
                            <a:latin typeface="Cambria Math" panose="02040503050406030204" pitchFamily="18" charset="0"/>
                          </a:rPr>
                          <m:t>=1</m:t>
                        </m:r>
                      </m:sub>
                      <m:sup>
                        <m:r>
                          <a:rPr lang="en-US" b="0" i="1" smtClean="0">
                            <a:solidFill>
                              <a:srgbClr val="C00000"/>
                            </a:solidFill>
                            <a:latin typeface="Cambria Math" panose="02040503050406030204" pitchFamily="18" charset="0"/>
                          </a:rPr>
                          <m:t>𝑁</m:t>
                        </m:r>
                      </m:sup>
                    </m:sSubSup>
                  </m:oMath>
                </a14:m>
                <a:endParaRPr lang="en-US" dirty="0"/>
              </a:p>
              <a:p>
                <a:pPr marL="0" indent="0">
                  <a:buNone/>
                </a:pPr>
                <a:r>
                  <a:rPr lang="en-US" dirty="0"/>
                  <a:t>   </a:t>
                </a:r>
              </a:p>
              <a:p>
                <a:r>
                  <a:rPr lang="en-US" dirty="0"/>
                  <a:t>What we’d like to find is the set of coefficients </a:t>
                </a:r>
                <a14:m>
                  <m:oMath xmlns:m="http://schemas.openxmlformats.org/officeDocument/2006/math">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𝑖</m:t>
                            </m:r>
                          </m:sub>
                        </m:sSub>
                      </m:e>
                    </m:d>
                    <m:r>
                      <a:rPr lang="en-US" b="0" i="1" smtClean="0">
                        <a:latin typeface="Cambria Math" panose="02040503050406030204" pitchFamily="18" charset="0"/>
                      </a:rPr>
                      <m:t> </m:t>
                    </m:r>
                  </m:oMath>
                </a14:m>
                <a:r>
                  <a:rPr lang="en-US" dirty="0"/>
                  <a:t>and the bias term: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oMath>
                </a14:m>
                <a:r>
                  <a:rPr lang="en-US" dirty="0"/>
                  <a:t>.</a:t>
                </a:r>
              </a:p>
              <a:p>
                <a:endParaRPr lang="en-US" dirty="0"/>
              </a:p>
              <a:p>
                <a:r>
                  <a:rPr lang="en-US" dirty="0"/>
                  <a:t>The problem is formulated as optimization problem. What is the loss function?</a:t>
                </a:r>
              </a:p>
            </p:txBody>
          </p:sp>
        </mc:Choice>
        <mc:Fallback xmlns="">
          <p:sp>
            <p:nvSpPr>
              <p:cNvPr id="3" name="Content Placeholder 2">
                <a:extLst>
                  <a:ext uri="{FF2B5EF4-FFF2-40B4-BE49-F238E27FC236}">
                    <a16:creationId xmlns:a16="http://schemas.microsoft.com/office/drawing/2014/main" id="{02D8FC00-4DAE-421B-85EB-BABA290B4805}"/>
                  </a:ext>
                </a:extLst>
              </p:cNvPr>
              <p:cNvSpPr>
                <a:spLocks noGrp="1" noRot="1" noChangeAspect="1" noMove="1" noResize="1" noEditPoints="1" noAdjustHandles="1" noChangeArrowheads="1" noChangeShapeType="1" noTextEdit="1"/>
              </p:cNvSpPr>
              <p:nvPr>
                <p:ph idx="1"/>
              </p:nvPr>
            </p:nvSpPr>
            <p:spPr>
              <a:blipFill>
                <a:blip r:embed="rId2"/>
                <a:stretch>
                  <a:fillRect l="-1043" r="-1681"/>
                </a:stretch>
              </a:blipFill>
            </p:spPr>
            <p:txBody>
              <a:bodyPr/>
              <a:lstStyle/>
              <a:p>
                <a:r>
                  <a:rPr lang="en-US">
                    <a:noFill/>
                  </a:rPr>
                  <a:t> </a:t>
                </a:r>
              </a:p>
            </p:txBody>
          </p:sp>
        </mc:Fallback>
      </mc:AlternateContent>
    </p:spTree>
    <p:extLst>
      <p:ext uri="{BB962C8B-B14F-4D97-AF65-F5344CB8AC3E}">
        <p14:creationId xmlns:p14="http://schemas.microsoft.com/office/powerpoint/2010/main" val="2957141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ACD9C-F8AD-4103-A2D9-16B974291604}"/>
              </a:ext>
            </a:extLst>
          </p:cNvPr>
          <p:cNvSpPr>
            <a:spLocks noGrp="1"/>
          </p:cNvSpPr>
          <p:nvPr>
            <p:ph type="title"/>
          </p:nvPr>
        </p:nvSpPr>
        <p:spPr/>
        <p:txBody>
          <a:bodyPr/>
          <a:lstStyle/>
          <a:p>
            <a:r>
              <a:rPr lang="en-US" b="1" dirty="0"/>
              <a:t>Fitting a linear regression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C38581-B2B3-4EA6-A025-FDFF734E779A}"/>
                  </a:ext>
                </a:extLst>
              </p:cNvPr>
              <p:cNvSpPr>
                <a:spLocks noGrp="1"/>
              </p:cNvSpPr>
              <p:nvPr>
                <p:ph idx="1"/>
              </p:nvPr>
            </p:nvSpPr>
            <p:spPr/>
            <p:txBody>
              <a:bodyPr>
                <a:normAutofit/>
              </a:bodyPr>
              <a:lstStyle/>
              <a:p>
                <a:r>
                  <a:rPr lang="en-US" b="1" dirty="0"/>
                  <a:t>Loss Function for each sample</a:t>
                </a:r>
                <a:r>
                  <a:rPr lang="en-US" dirty="0"/>
                  <a:t>: squared prediction error or squared residual</a:t>
                </a:r>
              </a:p>
              <a:p>
                <a:pPr marL="0" indent="0">
                  <a:buNone/>
                </a:pPr>
                <a:r>
                  <a:rPr lang="en-US" dirty="0"/>
                  <a:t>    If </a:t>
                </a:r>
                <a14:m>
                  <m:oMath xmlns:m="http://schemas.openxmlformats.org/officeDocument/2006/math">
                    <m:sSup>
                      <m:sSupPr>
                        <m:ctrlPr>
                          <a:rPr lang="en-US" i="1" smtClean="0">
                            <a:latin typeface="Cambria Math" panose="02040503050406030204" pitchFamily="18" charset="0"/>
                          </a:rPr>
                        </m:ctrlPr>
                      </m:sSup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e>
                      <m:sup>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sup>
                    </m:sSup>
                  </m:oMath>
                </a14:m>
                <a:r>
                  <a:rPr lang="en-US" dirty="0"/>
                  <a:t> is the model prediction for the </a:t>
                </a:r>
                <a:r>
                  <a:rPr lang="en-US" dirty="0" err="1"/>
                  <a:t>jth</a:t>
                </a:r>
                <a:r>
                  <a:rPr lang="en-US" dirty="0"/>
                  <a:t> training sample: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sup>
                          </m:sSup>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d>
                            <m:dPr>
                              <m:ctrlPr>
                                <a:rPr lang="en-US" i="1" smtClean="0">
                                  <a:latin typeface="Cambria Math" panose="02040503050406030204" pitchFamily="18" charset="0"/>
                                </a:rPr>
                              </m:ctrlPr>
                            </m:dPr>
                            <m:e>
                              <m:sSup>
                                <m:sSupPr>
                                  <m:ctrlPr>
                                    <a:rPr lang="en-US" i="1">
                                      <a:latin typeface="Cambria Math" panose="02040503050406030204" pitchFamily="18" charset="0"/>
                                    </a:rPr>
                                  </m:ctrlPr>
                                </m:sSupPr>
                                <m:e>
                                  <m:r>
                                    <a:rPr lang="en-US" b="1" i="1" smtClean="0">
                                      <a:latin typeface="Cambria Math" panose="02040503050406030204" pitchFamily="18" charset="0"/>
                                    </a:rPr>
                                    <m:t>𝒙</m:t>
                                  </m:r>
                                </m:e>
                                <m:sup>
                                  <m:d>
                                    <m:dPr>
                                      <m:ctrlPr>
                                        <a:rPr lang="en-US"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𝑇</m:t>
                                  </m:r>
                                </m:sup>
                              </m:sSup>
                              <m:r>
                                <a:rPr lang="en-US" b="1" i="1">
                                  <a:latin typeface="Cambria Math" panose="02040503050406030204" pitchFamily="18" charset="0"/>
                                </a:rPr>
                                <m:t>𝒘</m:t>
                              </m:r>
                              <m:r>
                                <a:rPr lang="en-US" i="1">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e>
                          </m:d>
                        </m:e>
                        <m:sup>
                          <m:r>
                            <a:rPr lang="en-US" i="1">
                              <a:latin typeface="Cambria Math" panose="02040503050406030204" pitchFamily="18" charset="0"/>
                            </a:rPr>
                            <m:t>2</m:t>
                          </m:r>
                        </m:sup>
                      </m:sSup>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DC38581-B2B3-4EA6-A025-FDFF734E779A}"/>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0567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A163973-D383-42F6-A1CF-4F2752721A9A}"/>
              </a:ext>
            </a:extLst>
          </p:cNvPr>
          <p:cNvSpPr/>
          <p:nvPr/>
        </p:nvSpPr>
        <p:spPr>
          <a:xfrm>
            <a:off x="6096000" y="4716379"/>
            <a:ext cx="3156284" cy="159552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2D2ACD9C-F8AD-4103-A2D9-16B974291604}"/>
              </a:ext>
            </a:extLst>
          </p:cNvPr>
          <p:cNvSpPr>
            <a:spLocks noGrp="1"/>
          </p:cNvSpPr>
          <p:nvPr>
            <p:ph type="title"/>
          </p:nvPr>
        </p:nvSpPr>
        <p:spPr/>
        <p:txBody>
          <a:bodyPr/>
          <a:lstStyle/>
          <a:p>
            <a:r>
              <a:rPr lang="en-US" b="1" dirty="0"/>
              <a:t>Fitting a linear regression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C38581-B2B3-4EA6-A025-FDFF734E779A}"/>
                  </a:ext>
                </a:extLst>
              </p:cNvPr>
              <p:cNvSpPr>
                <a:spLocks noGrp="1"/>
              </p:cNvSpPr>
              <p:nvPr>
                <p:ph idx="1"/>
              </p:nvPr>
            </p:nvSpPr>
            <p:spPr/>
            <p:txBody>
              <a:bodyPr>
                <a:normAutofit lnSpcReduction="10000"/>
              </a:bodyPr>
              <a:lstStyle/>
              <a:p>
                <a:r>
                  <a:rPr lang="en-US" b="1" dirty="0"/>
                  <a:t>Loss Function for each sample</a:t>
                </a:r>
                <a:r>
                  <a:rPr lang="en-US" dirty="0"/>
                  <a:t>: squared prediction error or squared residual</a:t>
                </a:r>
              </a:p>
              <a:p>
                <a:pPr marL="0" indent="0">
                  <a:buNone/>
                </a:pPr>
                <a:r>
                  <a:rPr lang="en-US" dirty="0"/>
                  <a:t>    If </a:t>
                </a:r>
                <a14:m>
                  <m:oMath xmlns:m="http://schemas.openxmlformats.org/officeDocument/2006/math">
                    <m:sSup>
                      <m:sSupPr>
                        <m:ctrlPr>
                          <a:rPr lang="en-US" i="1" smtClean="0">
                            <a:latin typeface="Cambria Math" panose="02040503050406030204" pitchFamily="18" charset="0"/>
                          </a:rPr>
                        </m:ctrlPr>
                      </m:sSup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e>
                      <m:sup>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sup>
                    </m:sSup>
                  </m:oMath>
                </a14:m>
                <a:r>
                  <a:rPr lang="en-US" dirty="0"/>
                  <a:t> is the model prediction for the </a:t>
                </a:r>
                <a:r>
                  <a:rPr lang="en-US" dirty="0" err="1"/>
                  <a:t>jth</a:t>
                </a:r>
                <a:r>
                  <a:rPr lang="en-US" dirty="0"/>
                  <a:t> training sample: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sup>
                          </m:sSup>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d>
                            <m:dPr>
                              <m:ctrlPr>
                                <a:rPr lang="en-US" i="1" smtClean="0">
                                  <a:latin typeface="Cambria Math" panose="02040503050406030204" pitchFamily="18" charset="0"/>
                                </a:rPr>
                              </m:ctrlPr>
                            </m:dPr>
                            <m:e>
                              <m:sSup>
                                <m:sSupPr>
                                  <m:ctrlPr>
                                    <a:rPr lang="en-US" i="1">
                                      <a:latin typeface="Cambria Math" panose="02040503050406030204" pitchFamily="18" charset="0"/>
                                    </a:rPr>
                                  </m:ctrlPr>
                                </m:sSupPr>
                                <m:e>
                                  <m:r>
                                    <a:rPr lang="en-US" b="1" i="1" smtClean="0">
                                      <a:latin typeface="Cambria Math" panose="02040503050406030204" pitchFamily="18" charset="0"/>
                                    </a:rPr>
                                    <m:t>𝒙</m:t>
                                  </m:r>
                                </m:e>
                                <m:sup>
                                  <m:d>
                                    <m:dPr>
                                      <m:ctrlPr>
                                        <a:rPr lang="en-US"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𝑇</m:t>
                                  </m:r>
                                </m:sup>
                              </m:sSup>
                              <m:r>
                                <a:rPr lang="en-US" b="1" i="1">
                                  <a:latin typeface="Cambria Math" panose="02040503050406030204" pitchFamily="18" charset="0"/>
                                </a:rPr>
                                <m:t>𝒘</m:t>
                              </m:r>
                              <m:r>
                                <a:rPr lang="en-US" i="1">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e>
                          </m:d>
                        </m:e>
                        <m:sup>
                          <m:r>
                            <a:rPr lang="en-US" i="1">
                              <a:latin typeface="Cambria Math" panose="02040503050406030204" pitchFamily="18" charset="0"/>
                            </a:rPr>
                            <m:t>2</m:t>
                          </m:r>
                        </m:sup>
                      </m:sSup>
                    </m:oMath>
                  </m:oMathPara>
                </a14:m>
                <a:endParaRPr lang="en-US" dirty="0"/>
              </a:p>
              <a:p>
                <a:pPr marL="0" indent="0">
                  <a:buNone/>
                </a:pPr>
                <a:endParaRPr lang="en-US" dirty="0"/>
              </a:p>
              <a:p>
                <a:r>
                  <a:rPr lang="en-US" b="1" dirty="0"/>
                  <a:t>Cost Function:</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i="1">
                              <a:latin typeface="Cambria Math" panose="02040503050406030204" pitchFamily="18" charset="0"/>
                            </a:rPr>
                            <m:t>𝐿</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e>
                          </m:d>
                        </m:e>
                      </m:nary>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𝑁</m:t>
                          </m:r>
                        </m:den>
                      </m:f>
                      <m:nary>
                        <m:naryPr>
                          <m:chr m:val="∑"/>
                          <m:ctrlPr>
                            <a:rPr lang="en-US" i="1">
                              <a:latin typeface="Cambria Math" panose="02040503050406030204" pitchFamily="18" charset="0"/>
                            </a:rPr>
                          </m:ctrlPr>
                        </m:naryPr>
                        <m:sub>
                          <m:r>
                            <a:rPr lang="en-US" b="0" i="1" smtClean="0">
                              <a:latin typeface="Cambria Math" panose="02040503050406030204" pitchFamily="18" charset="0"/>
                            </a:rPr>
                            <m:t>𝑗</m:t>
                          </m:r>
                          <m:r>
                            <a:rPr lang="en-US" i="1">
                              <a:latin typeface="Cambria Math" panose="02040503050406030204" pitchFamily="18" charset="0"/>
                            </a:rPr>
                            <m:t>=</m:t>
                          </m:r>
                          <m:r>
                            <m:rPr>
                              <m:brk m:alnAt="23"/>
                            </m:rPr>
                            <a:rPr lang="en-US" i="1">
                              <a:latin typeface="Cambria Math" panose="02040503050406030204" pitchFamily="18" charset="0"/>
                            </a:rPr>
                            <m:t>1</m:t>
                          </m:r>
                        </m:sub>
                        <m:sup>
                          <m:r>
                            <a:rPr lang="en-US" i="1">
                              <a:latin typeface="Cambria Math" panose="02040503050406030204" pitchFamily="18" charset="0"/>
                            </a:rPr>
                            <m:t>𝑁</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e>
                              </m:d>
                            </m:e>
                            <m:sup>
                              <m:r>
                                <a:rPr lang="en-US" i="1">
                                  <a:latin typeface="Cambria Math" panose="02040503050406030204" pitchFamily="18" charset="0"/>
                                </a:rPr>
                                <m:t>2</m:t>
                              </m:r>
                            </m:sup>
                          </m:sSup>
                        </m:e>
                      </m:nary>
                    </m:oMath>
                  </m:oMathPara>
                </a14:m>
                <a:endParaRPr lang="en-US" b="1" dirty="0"/>
              </a:p>
            </p:txBody>
          </p:sp>
        </mc:Choice>
        <mc:Fallback xmlns="">
          <p:sp>
            <p:nvSpPr>
              <p:cNvPr id="3" name="Content Placeholder 2">
                <a:extLst>
                  <a:ext uri="{FF2B5EF4-FFF2-40B4-BE49-F238E27FC236}">
                    <a16:creationId xmlns:a16="http://schemas.microsoft.com/office/drawing/2014/main" id="{EDC38581-B2B3-4EA6-A025-FDFF734E779A}"/>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3B8A5EFC-16F8-4A5A-9B1F-A8154415AF5B}"/>
              </a:ext>
            </a:extLst>
          </p:cNvPr>
          <p:cNvCxnSpPr>
            <a:cxnSpLocks/>
          </p:cNvCxnSpPr>
          <p:nvPr/>
        </p:nvCxnSpPr>
        <p:spPr>
          <a:xfrm flipH="1">
            <a:off x="9408695" y="4896853"/>
            <a:ext cx="617621" cy="5173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7033136-A687-4829-B169-18E5A30EBFEA}"/>
              </a:ext>
            </a:extLst>
          </p:cNvPr>
          <p:cNvSpPr txBox="1"/>
          <p:nvPr/>
        </p:nvSpPr>
        <p:spPr>
          <a:xfrm>
            <a:off x="10026316" y="4573687"/>
            <a:ext cx="1816768" cy="1323439"/>
          </a:xfrm>
          <a:prstGeom prst="rect">
            <a:avLst/>
          </a:prstGeom>
          <a:noFill/>
        </p:spPr>
        <p:txBody>
          <a:bodyPr wrap="square" rtlCol="0">
            <a:spAutoFit/>
          </a:bodyPr>
          <a:lstStyle/>
          <a:p>
            <a:r>
              <a:rPr lang="en-US" sz="2000" b="1" dirty="0"/>
              <a:t>Mean Square Error (MSE) or sum of squared residuals (SSR</a:t>
            </a:r>
            <a:r>
              <a:rPr lang="en-US" b="1" dirty="0"/>
              <a:t>)</a:t>
            </a:r>
          </a:p>
        </p:txBody>
      </p:sp>
    </p:spTree>
    <p:extLst>
      <p:ext uri="{BB962C8B-B14F-4D97-AF65-F5344CB8AC3E}">
        <p14:creationId xmlns:p14="http://schemas.microsoft.com/office/powerpoint/2010/main" val="3849228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ACD9C-F8AD-4103-A2D9-16B974291604}"/>
              </a:ext>
            </a:extLst>
          </p:cNvPr>
          <p:cNvSpPr>
            <a:spLocks noGrp="1"/>
          </p:cNvSpPr>
          <p:nvPr>
            <p:ph type="title"/>
          </p:nvPr>
        </p:nvSpPr>
        <p:spPr/>
        <p:txBody>
          <a:bodyPr/>
          <a:lstStyle/>
          <a:p>
            <a:r>
              <a:rPr lang="en-US" b="1" dirty="0"/>
              <a:t>Fitting a linear regression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C38581-B2B3-4EA6-A025-FDFF734E779A}"/>
                  </a:ext>
                </a:extLst>
              </p:cNvPr>
              <p:cNvSpPr>
                <a:spLocks noGrp="1"/>
              </p:cNvSpPr>
              <p:nvPr>
                <p:ph idx="1"/>
              </p:nvPr>
            </p:nvSpPr>
            <p:spPr/>
            <p:txBody>
              <a:bodyPr>
                <a:normAutofit fontScale="92500"/>
              </a:bodyPr>
              <a:lstStyle/>
              <a:p>
                <a:pPr marL="0" indent="0">
                  <a:buNone/>
                </a:pPr>
                <a:r>
                  <a:rPr lang="en-US" b="1" dirty="0"/>
                  <a:t>Find w and b by minimizing the following Cost Function:</a:t>
                </a:r>
              </a:p>
              <a:p>
                <a:pPr marL="0" indent="0">
                  <a:buNone/>
                </a:pPr>
                <a:endParaRPr lang="en-US" b="1"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i="1">
                              <a:latin typeface="Cambria Math" panose="02040503050406030204" pitchFamily="18" charset="0"/>
                            </a:rPr>
                            <m:t>𝐿</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e>
                          </m:d>
                        </m:e>
                      </m:nary>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𝑁</m:t>
                          </m:r>
                        </m:den>
                      </m:f>
                      <m:nary>
                        <m:naryPr>
                          <m:chr m:val="∑"/>
                          <m:ctrlPr>
                            <a:rPr lang="en-US" i="1">
                              <a:latin typeface="Cambria Math" panose="02040503050406030204" pitchFamily="18" charset="0"/>
                            </a:rPr>
                          </m:ctrlPr>
                        </m:naryPr>
                        <m:sub>
                          <m:r>
                            <a:rPr lang="en-US" b="0" i="1" smtClean="0">
                              <a:latin typeface="Cambria Math" panose="02040503050406030204" pitchFamily="18" charset="0"/>
                            </a:rPr>
                            <m:t>𝑗</m:t>
                          </m:r>
                          <m:r>
                            <a:rPr lang="en-US" i="1">
                              <a:latin typeface="Cambria Math" panose="02040503050406030204" pitchFamily="18" charset="0"/>
                            </a:rPr>
                            <m:t>=</m:t>
                          </m:r>
                          <m:r>
                            <m:rPr>
                              <m:brk m:alnAt="23"/>
                            </m:rPr>
                            <a:rPr lang="en-US" i="1">
                              <a:latin typeface="Cambria Math" panose="02040503050406030204" pitchFamily="18" charset="0"/>
                            </a:rPr>
                            <m:t>1</m:t>
                          </m:r>
                        </m:sub>
                        <m:sup>
                          <m:r>
                            <a:rPr lang="en-US" i="1">
                              <a:latin typeface="Cambria Math" panose="02040503050406030204" pitchFamily="18" charset="0"/>
                            </a:rPr>
                            <m:t>𝑁</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e>
                              </m:d>
                            </m:e>
                            <m:sup>
                              <m:r>
                                <a:rPr lang="en-US" i="1">
                                  <a:latin typeface="Cambria Math" panose="02040503050406030204" pitchFamily="18" charset="0"/>
                                </a:rPr>
                                <m:t>2</m:t>
                              </m:r>
                            </m:sup>
                          </m:sSup>
                          <m:r>
                            <a:rPr lang="en-US" b="0" i="1" smtClean="0">
                              <a:latin typeface="Cambria Math" panose="02040503050406030204" pitchFamily="18" charset="0"/>
                            </a:rPr>
                            <m:t>= </m:t>
                          </m:r>
                        </m:e>
                      </m:nary>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𝑁</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m:t>
                          </m:r>
                          <m:r>
                            <m:rPr>
                              <m:brk m:alnAt="23"/>
                            </m:rPr>
                            <a:rPr lang="en-US" i="1">
                              <a:latin typeface="Cambria Math" panose="02040503050406030204" pitchFamily="18" charset="0"/>
                            </a:rPr>
                            <m:t>1</m:t>
                          </m:r>
                        </m:sub>
                        <m:sup>
                          <m:r>
                            <a:rPr lang="en-US" i="1">
                              <a:latin typeface="Cambria Math" panose="02040503050406030204" pitchFamily="18" charset="0"/>
                            </a:rPr>
                            <m:t>𝑁</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b="1" i="1">
                                          <a:latin typeface="Cambria Math" panose="02040503050406030204" pitchFamily="18" charset="0"/>
                                        </a:rPr>
                                        <m:t>𝒙</m:t>
                                      </m:r>
                                    </m:e>
                                    <m:sup>
                                      <m:d>
                                        <m:dPr>
                                          <m:ctrlPr>
                                            <a:rPr lang="en-US" i="1">
                                              <a:latin typeface="Cambria Math" panose="02040503050406030204" pitchFamily="18" charset="0"/>
                                            </a:rPr>
                                          </m:ctrlPr>
                                        </m:dPr>
                                        <m:e>
                                          <m:r>
                                            <a:rPr lang="en-US" i="1">
                                              <a:latin typeface="Cambria Math" panose="02040503050406030204" pitchFamily="18" charset="0"/>
                                            </a:rPr>
                                            <m:t>𝑗</m:t>
                                          </m:r>
                                        </m:e>
                                      </m:d>
                                      <m:r>
                                        <a:rPr lang="en-US" i="1">
                                          <a:latin typeface="Cambria Math" panose="02040503050406030204" pitchFamily="18" charset="0"/>
                                        </a:rPr>
                                        <m:t>𝑇</m:t>
                                      </m:r>
                                    </m:sup>
                                  </m:sSup>
                                  <m:r>
                                    <a:rPr lang="en-US" b="1" i="1">
                                      <a:latin typeface="Cambria Math" panose="02040503050406030204" pitchFamily="18" charset="0"/>
                                    </a:rPr>
                                    <m:t>𝒘</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0</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sup>
                                  </m:sSup>
                                </m:e>
                              </m:d>
                            </m:e>
                            <m:sup>
                              <m:r>
                                <a:rPr lang="en-US" i="1">
                                  <a:latin typeface="Cambria Math" panose="02040503050406030204" pitchFamily="18" charset="0"/>
                                </a:rPr>
                                <m:t>2</m:t>
                              </m:r>
                            </m:sup>
                          </m:sSup>
                        </m:e>
                      </m:nary>
                    </m:oMath>
                  </m:oMathPara>
                </a14:m>
                <a:endParaRPr lang="en-US" b="1" dirty="0"/>
              </a:p>
              <a:p>
                <a:pPr marL="0" indent="0">
                  <a:buNone/>
                </a:pPr>
                <a:endParaRPr lang="en-US" b="1" dirty="0"/>
              </a:p>
              <a:p>
                <a:pPr marL="0" indent="0">
                  <a:buNone/>
                </a:pPr>
                <a14:m>
                  <m:oMathPara xmlns:m="http://schemas.openxmlformats.org/officeDocument/2006/math">
                    <m:oMathParaPr>
                      <m:jc m:val="centerGroup"/>
                    </m:oMathParaPr>
                    <m:oMath xmlns:m="http://schemas.openxmlformats.org/officeDocument/2006/math">
                      <m:func>
                        <m:funcPr>
                          <m:ctrlPr>
                            <a:rPr lang="en-US" b="1" i="1" smtClean="0">
                              <a:latin typeface="Cambria Math" panose="02040503050406030204" pitchFamily="18" charset="0"/>
                            </a:rPr>
                          </m:ctrlPr>
                        </m:funcPr>
                        <m:fName>
                          <m:limLow>
                            <m:limLowPr>
                              <m:ctrlPr>
                                <a:rPr lang="en-US" b="1"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1" i="1" smtClean="0">
                                  <a:latin typeface="Cambria Math" panose="02040503050406030204" pitchFamily="18" charset="0"/>
                                </a:rPr>
                                <m:t>𝒘</m:t>
                              </m:r>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0" i="1" smtClean="0">
                                      <a:latin typeface="Cambria Math" panose="02040503050406030204" pitchFamily="18" charset="0"/>
                                    </a:rPr>
                                    <m:t>𝑤</m:t>
                                  </m:r>
                                </m:e>
                                <m:sub>
                                  <m:r>
                                    <a:rPr lang="en-US" b="1" i="1" smtClean="0">
                                      <a:latin typeface="Cambria Math" panose="02040503050406030204" pitchFamily="18" charset="0"/>
                                    </a:rPr>
                                    <m:t>𝟎</m:t>
                                  </m:r>
                                </m:sub>
                              </m:sSub>
                            </m:lim>
                          </m:limLow>
                        </m:fName>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𝑁</m:t>
                              </m:r>
                            </m:den>
                          </m:f>
                          <m:nary>
                            <m:naryPr>
                              <m:chr m:val="∑"/>
                              <m:ctrlPr>
                                <a:rPr lang="en-US" i="1">
                                  <a:latin typeface="Cambria Math" panose="02040503050406030204" pitchFamily="18" charset="0"/>
                                </a:rPr>
                              </m:ctrlPr>
                            </m:naryPr>
                            <m:sub>
                              <m:r>
                                <a:rPr lang="en-US" b="0" i="1" smtClean="0">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𝑁</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m:t>
                                          </m:r>
                                        </m:sup>
                                      </m:sSup>
                                    </m:e>
                                  </m:d>
                                </m:e>
                                <m:sup>
                                  <m:r>
                                    <a:rPr lang="en-US" i="1">
                                      <a:latin typeface="Cambria Math" panose="02040503050406030204" pitchFamily="18" charset="0"/>
                                    </a:rPr>
                                    <m:t>2</m:t>
                                  </m:r>
                                </m:sup>
                              </m:sSup>
                            </m:e>
                          </m:nary>
                        </m:e>
                      </m:func>
                    </m:oMath>
                  </m:oMathPara>
                </a14:m>
                <a:endParaRPr lang="en-US" b="1" dirty="0"/>
              </a:p>
            </p:txBody>
          </p:sp>
        </mc:Choice>
        <mc:Fallback xmlns="">
          <p:sp>
            <p:nvSpPr>
              <p:cNvPr id="3" name="Content Placeholder 2">
                <a:extLst>
                  <a:ext uri="{FF2B5EF4-FFF2-40B4-BE49-F238E27FC236}">
                    <a16:creationId xmlns:a16="http://schemas.microsoft.com/office/drawing/2014/main" id="{EDC38581-B2B3-4EA6-A025-FDFF734E779A}"/>
                  </a:ext>
                </a:extLst>
              </p:cNvPr>
              <p:cNvSpPr>
                <a:spLocks noGrp="1" noRot="1" noChangeAspect="1" noMove="1" noResize="1" noEditPoints="1" noAdjustHandles="1" noChangeArrowheads="1" noChangeShapeType="1" noTextEdit="1"/>
              </p:cNvSpPr>
              <p:nvPr>
                <p:ph idx="1"/>
              </p:nvPr>
            </p:nvSpPr>
            <p:spPr>
              <a:blipFill>
                <a:blip r:embed="rId2"/>
                <a:stretch>
                  <a:fillRect l="-1043" t="-2101"/>
                </a:stretch>
              </a:blipFill>
            </p:spPr>
            <p:txBody>
              <a:bodyPr/>
              <a:lstStyle/>
              <a:p>
                <a:r>
                  <a:rPr lang="en-US">
                    <a:noFill/>
                  </a:rPr>
                  <a:t> </a:t>
                </a:r>
              </a:p>
            </p:txBody>
          </p:sp>
        </mc:Fallback>
      </mc:AlternateContent>
      <p:sp>
        <p:nvSpPr>
          <p:cNvPr id="5" name="Rectangle: Rounded Corners 4">
            <a:extLst>
              <a:ext uri="{FF2B5EF4-FFF2-40B4-BE49-F238E27FC236}">
                <a16:creationId xmlns:a16="http://schemas.microsoft.com/office/drawing/2014/main" id="{6F9134A3-736F-4F6E-88DC-B34DB3897B9E}"/>
              </a:ext>
            </a:extLst>
          </p:cNvPr>
          <p:cNvSpPr/>
          <p:nvPr/>
        </p:nvSpPr>
        <p:spPr>
          <a:xfrm>
            <a:off x="4038600" y="4039985"/>
            <a:ext cx="4114800" cy="1529882"/>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FFA88849-E5D2-4525-849A-CE1BA17251FE}"/>
              </a:ext>
            </a:extLst>
          </p:cNvPr>
          <p:cNvSpPr txBox="1"/>
          <p:nvPr/>
        </p:nvSpPr>
        <p:spPr>
          <a:xfrm>
            <a:off x="8824913" y="4198267"/>
            <a:ext cx="2528887" cy="1200329"/>
          </a:xfrm>
          <a:prstGeom prst="rect">
            <a:avLst/>
          </a:prstGeom>
          <a:noFill/>
        </p:spPr>
        <p:txBody>
          <a:bodyPr wrap="square" rtlCol="0">
            <a:spAutoFit/>
          </a:bodyPr>
          <a:lstStyle/>
          <a:p>
            <a:r>
              <a:rPr lang="en-US" sz="2400" b="1" dirty="0"/>
              <a:t>This is also known as the least squares problem.</a:t>
            </a:r>
          </a:p>
        </p:txBody>
      </p:sp>
    </p:spTree>
    <p:extLst>
      <p:ext uri="{BB962C8B-B14F-4D97-AF65-F5344CB8AC3E}">
        <p14:creationId xmlns:p14="http://schemas.microsoft.com/office/powerpoint/2010/main" val="459555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3E24C-EE87-4359-9AB8-DCE770530B20}"/>
              </a:ext>
            </a:extLst>
          </p:cNvPr>
          <p:cNvSpPr>
            <a:spLocks noGrp="1"/>
          </p:cNvSpPr>
          <p:nvPr>
            <p:ph type="title"/>
          </p:nvPr>
        </p:nvSpPr>
        <p:spPr/>
        <p:txBody>
          <a:bodyPr/>
          <a:lstStyle/>
          <a:p>
            <a:r>
              <a:rPr lang="en-US" b="1" dirty="0"/>
              <a:t>Visualizing the Error Prediction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32CD6E-4D7C-4E1C-9198-F08FC8A70373}"/>
                  </a:ext>
                </a:extLst>
              </p:cNvPr>
              <p:cNvSpPr>
                <a:spLocks noGrp="1"/>
              </p:cNvSpPr>
              <p:nvPr>
                <p:ph idx="1"/>
              </p:nvPr>
            </p:nvSpPr>
            <p:spPr>
              <a:xfrm>
                <a:off x="838200" y="1825625"/>
                <a:ext cx="4573385" cy="4351338"/>
              </a:xfrm>
            </p:spPr>
            <p:txBody>
              <a:bodyPr/>
              <a:lstStyle/>
              <a:p>
                <a:pPr>
                  <a:lnSpc>
                    <a:spcPct val="100000"/>
                  </a:lnSpc>
                </a:pPr>
                <a:endParaRPr lang="en-US" sz="2400" dirty="0"/>
              </a:p>
              <a:p>
                <a:pPr>
                  <a:lnSpc>
                    <a:spcPct val="100000"/>
                  </a:lnSpc>
                </a:pPr>
                <a:r>
                  <a:rPr lang="en-US" sz="2400" dirty="0"/>
                  <a:t>Error Prediction for each training sample: </a:t>
                </a:r>
                <a14:m>
                  <m:oMath xmlns:m="http://schemas.openxmlformats.org/officeDocument/2006/math">
                    <m:sSup>
                      <m:sSupPr>
                        <m:ctrlPr>
                          <a:rPr lang="en-US" sz="2400" i="1" smtClean="0">
                            <a:latin typeface="Cambria Math" panose="02040503050406030204" pitchFamily="18" charset="0"/>
                          </a:rPr>
                        </m:ctrlPr>
                      </m:sSup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p>
                        <m:r>
                          <a:rPr lang="en-US" sz="2400" i="1">
                            <a:latin typeface="Cambria Math" panose="02040503050406030204" pitchFamily="18" charset="0"/>
                          </a:rPr>
                          <m:t>(</m:t>
                        </m:r>
                        <m:r>
                          <a:rPr lang="en-US" sz="2400" b="0" i="1" smtClean="0">
                            <a:latin typeface="Cambria Math" panose="02040503050406030204" pitchFamily="18" charset="0"/>
                          </a:rPr>
                          <m:t>𝑗</m:t>
                        </m:r>
                        <m:r>
                          <a:rPr lang="en-US" sz="2400" i="1">
                            <a:latin typeface="Cambria Math" panose="02040503050406030204" pitchFamily="18" charset="0"/>
                          </a:rPr>
                          <m:t>)</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m:t>
                        </m:r>
                        <m:r>
                          <a:rPr lang="en-US" sz="2400" b="0" i="1" smtClean="0">
                            <a:latin typeface="Cambria Math" panose="02040503050406030204" pitchFamily="18" charset="0"/>
                          </a:rPr>
                          <m:t>𝑗</m:t>
                        </m:r>
                        <m:r>
                          <a:rPr lang="en-US" sz="2400" i="1">
                            <a:latin typeface="Cambria Math" panose="02040503050406030204" pitchFamily="18" charset="0"/>
                          </a:rPr>
                          <m:t>)</m:t>
                        </m:r>
                      </m:sup>
                    </m:sSup>
                  </m:oMath>
                </a14:m>
                <a:endParaRPr lang="en-US" sz="2400" dirty="0"/>
              </a:p>
              <a:p>
                <a:pPr>
                  <a:lnSpc>
                    <a:spcPct val="100000"/>
                  </a:lnSpc>
                </a:pPr>
                <a:endParaRPr lang="en-US" sz="2400" dirty="0"/>
              </a:p>
              <a:p>
                <a:pPr>
                  <a:lnSpc>
                    <a:spcPct val="100000"/>
                  </a:lnSpc>
                </a:pPr>
                <a:r>
                  <a:rPr lang="en-US" sz="2400" dirty="0"/>
                  <a:t>In this example, we have only one feature (TV advertising budget) and we’re predicting the number of sales.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A132CD6E-4D7C-4E1C-9198-F08FC8A70373}"/>
                  </a:ext>
                </a:extLst>
              </p:cNvPr>
              <p:cNvSpPr>
                <a:spLocks noGrp="1" noRot="1" noChangeAspect="1" noMove="1" noResize="1" noEditPoints="1" noAdjustHandles="1" noChangeArrowheads="1" noChangeShapeType="1" noTextEdit="1"/>
              </p:cNvSpPr>
              <p:nvPr>
                <p:ph idx="1"/>
              </p:nvPr>
            </p:nvSpPr>
            <p:spPr>
              <a:xfrm>
                <a:off x="838200" y="1825625"/>
                <a:ext cx="4573385" cy="4351338"/>
              </a:xfrm>
              <a:blipFill>
                <a:blip r:embed="rId2"/>
                <a:stretch>
                  <a:fillRect l="-1867" r="-133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88D73F3-3DD2-42D5-A6CE-940AF195AF21}"/>
              </a:ext>
            </a:extLst>
          </p:cNvPr>
          <p:cNvPicPr>
            <a:picLocks noChangeAspect="1"/>
          </p:cNvPicPr>
          <p:nvPr/>
        </p:nvPicPr>
        <p:blipFill rotWithShape="1">
          <a:blip r:embed="rId3"/>
          <a:srcRect l="18158" t="27895" r="24308" b="8656"/>
          <a:stretch/>
        </p:blipFill>
        <p:spPr>
          <a:xfrm>
            <a:off x="5209673" y="2057589"/>
            <a:ext cx="6858000" cy="4254311"/>
          </a:xfrm>
          <a:prstGeom prst="rect">
            <a:avLst/>
          </a:prstGeom>
        </p:spPr>
      </p:pic>
    </p:spTree>
    <p:extLst>
      <p:ext uri="{BB962C8B-B14F-4D97-AF65-F5344CB8AC3E}">
        <p14:creationId xmlns:p14="http://schemas.microsoft.com/office/powerpoint/2010/main" val="4108633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6B8DA-0D6E-4D40-B725-D131FF9F1B08}"/>
              </a:ext>
            </a:extLst>
          </p:cNvPr>
          <p:cNvSpPr>
            <a:spLocks noGrp="1"/>
          </p:cNvSpPr>
          <p:nvPr>
            <p:ph type="title"/>
          </p:nvPr>
        </p:nvSpPr>
        <p:spPr/>
        <p:txBody>
          <a:bodyPr/>
          <a:lstStyle/>
          <a:p>
            <a:r>
              <a:rPr lang="en-US" b="1" dirty="0"/>
              <a:t>Visualizing the Error Prediction</a:t>
            </a:r>
          </a:p>
        </p:txBody>
      </p:sp>
      <p:sp>
        <p:nvSpPr>
          <p:cNvPr id="3" name="Content Placeholder 2">
            <a:extLst>
              <a:ext uri="{FF2B5EF4-FFF2-40B4-BE49-F238E27FC236}">
                <a16:creationId xmlns:a16="http://schemas.microsoft.com/office/drawing/2014/main" id="{70642BCD-1B95-4A31-8E7C-CFF4F21FA368}"/>
              </a:ext>
            </a:extLst>
          </p:cNvPr>
          <p:cNvSpPr>
            <a:spLocks noGrp="1"/>
          </p:cNvSpPr>
          <p:nvPr>
            <p:ph idx="1"/>
          </p:nvPr>
        </p:nvSpPr>
        <p:spPr>
          <a:xfrm>
            <a:off x="838199" y="1825625"/>
            <a:ext cx="5054601" cy="4351338"/>
          </a:xfrm>
        </p:spPr>
        <p:txBody>
          <a:bodyPr>
            <a:normAutofit/>
          </a:bodyPr>
          <a:lstStyle/>
          <a:p>
            <a:r>
              <a:rPr lang="en-US" sz="2400" dirty="0"/>
              <a:t>In a three-dimensional figure, with two features and one response, the least squares regression line becomes a plane. </a:t>
            </a:r>
          </a:p>
          <a:p>
            <a:pPr marL="0" indent="0">
              <a:buNone/>
            </a:pPr>
            <a:endParaRPr lang="en-US" sz="2400" dirty="0"/>
          </a:p>
          <a:p>
            <a:r>
              <a:rPr lang="en-US" sz="2400" dirty="0"/>
              <a:t>The plane is chosen to minimize the sum of the squared vertical distances between each observation (shown in red) and the plane.</a:t>
            </a:r>
          </a:p>
          <a:p>
            <a:pPr marL="0" indent="0">
              <a:buNone/>
            </a:pPr>
            <a:endParaRPr lang="en-US" sz="2400" dirty="0"/>
          </a:p>
          <a:p>
            <a:pPr marL="0" indent="0">
              <a:buNone/>
            </a:pPr>
            <a:endParaRPr lang="en-US" sz="2400" dirty="0"/>
          </a:p>
        </p:txBody>
      </p:sp>
      <p:pic>
        <p:nvPicPr>
          <p:cNvPr id="5" name="Picture 4">
            <a:extLst>
              <a:ext uri="{FF2B5EF4-FFF2-40B4-BE49-F238E27FC236}">
                <a16:creationId xmlns:a16="http://schemas.microsoft.com/office/drawing/2014/main" id="{139DCCBB-A81D-42D5-867E-49748A183143}"/>
              </a:ext>
            </a:extLst>
          </p:cNvPr>
          <p:cNvPicPr>
            <a:picLocks noChangeAspect="1"/>
          </p:cNvPicPr>
          <p:nvPr/>
        </p:nvPicPr>
        <p:blipFill rotWithShape="1">
          <a:blip r:embed="rId2"/>
          <a:srcRect l="25559" t="28421" r="30625" b="8130"/>
          <a:stretch/>
        </p:blipFill>
        <p:spPr>
          <a:xfrm>
            <a:off x="5892800" y="1825625"/>
            <a:ext cx="5486400" cy="4468941"/>
          </a:xfrm>
          <a:prstGeom prst="rect">
            <a:avLst/>
          </a:prstGeom>
        </p:spPr>
      </p:pic>
    </p:spTree>
    <p:extLst>
      <p:ext uri="{BB962C8B-B14F-4D97-AF65-F5344CB8AC3E}">
        <p14:creationId xmlns:p14="http://schemas.microsoft.com/office/powerpoint/2010/main" val="616039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52A63-2927-4C6B-BF6A-2933DB01D511}"/>
              </a:ext>
            </a:extLst>
          </p:cNvPr>
          <p:cNvSpPr>
            <a:spLocks noGrp="1"/>
          </p:cNvSpPr>
          <p:nvPr>
            <p:ph type="title"/>
          </p:nvPr>
        </p:nvSpPr>
        <p:spPr/>
        <p:txBody>
          <a:bodyPr/>
          <a:lstStyle/>
          <a:p>
            <a:r>
              <a:rPr lang="en-US" b="1" dirty="0"/>
              <a:t>Visualizing the Cost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19A215-21BA-4A5B-B5C5-DAA857955C06}"/>
                  </a:ext>
                </a:extLst>
              </p:cNvPr>
              <p:cNvSpPr>
                <a:spLocks noGrp="1"/>
              </p:cNvSpPr>
              <p:nvPr>
                <p:ph idx="1"/>
              </p:nvPr>
            </p:nvSpPr>
            <p:spPr>
              <a:xfrm>
                <a:off x="838200" y="1825625"/>
                <a:ext cx="5491163" cy="4351338"/>
              </a:xfrm>
            </p:spPr>
            <p:txBody>
              <a:bodyPr/>
              <a:lstStyle/>
              <a:p>
                <a:r>
                  <a:rPr lang="en-US" dirty="0"/>
                  <a:t>Let’s go back to the example of predicting the sales based of one feature (TV budget):</a:t>
                </a:r>
              </a:p>
              <a:p>
                <a:endParaRPr lang="en-US" dirty="0"/>
              </a:p>
              <a:p>
                <a:pPr marL="0" indent="0">
                  <a:buNone/>
                </a:pPr>
                <a14:m>
                  <m:oMathPara xmlns:m="http://schemas.openxmlformats.org/officeDocument/2006/math">
                    <m:oMathParaPr>
                      <m:jc m:val="left"/>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nary>
                        <m:naryPr>
                          <m:chr m:val="∑"/>
                          <m:ctrlPr>
                            <a:rPr lang="en-US" sz="2400" i="1">
                              <a:latin typeface="Cambria Math" panose="02040503050406030204" pitchFamily="18" charset="0"/>
                            </a:rPr>
                          </m:ctrlPr>
                        </m:naryPr>
                        <m:sub>
                          <m:r>
                            <a:rPr lang="en-US" sz="2400" b="0" i="1" smtClean="0">
                              <a:latin typeface="Cambria Math" panose="02040503050406030204" pitchFamily="18" charset="0"/>
                            </a:rPr>
                            <m:t>𝑗</m:t>
                          </m:r>
                          <m: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𝑁</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b="1" i="1">
                                          <a:latin typeface="Cambria Math" panose="02040503050406030204" pitchFamily="18" charset="0"/>
                                        </a:rPr>
                                        <m:t>𝒙</m:t>
                                      </m:r>
                                    </m:e>
                                    <m:sup>
                                      <m:d>
                                        <m:dPr>
                                          <m:ctrlPr>
                                            <a:rPr lang="en-US" sz="2400" i="1">
                                              <a:latin typeface="Cambria Math" panose="02040503050406030204" pitchFamily="18" charset="0"/>
                                            </a:rPr>
                                          </m:ctrlPr>
                                        </m:dPr>
                                        <m:e>
                                          <m:r>
                                            <a:rPr lang="en-US" sz="2400" i="1">
                                              <a:latin typeface="Cambria Math" panose="02040503050406030204" pitchFamily="18" charset="0"/>
                                            </a:rPr>
                                            <m:t>𝑗</m:t>
                                          </m:r>
                                        </m:e>
                                      </m:d>
                                      <m:r>
                                        <a:rPr lang="en-US" sz="2400" i="1">
                                          <a:latin typeface="Cambria Math" panose="02040503050406030204" pitchFamily="18" charset="0"/>
                                        </a:rPr>
                                        <m:t>𝑇</m:t>
                                      </m:r>
                                    </m:sup>
                                  </m:sSup>
                                  <m:r>
                                    <a:rPr lang="en-US" sz="2400" b="1" i="1">
                                      <a:latin typeface="Cambria Math" panose="02040503050406030204" pitchFamily="18" charset="0"/>
                                    </a:rPr>
                                    <m:t>𝒘</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0</m:t>
                                      </m:r>
                                    </m:sub>
                                  </m:sSub>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m:t>
                                      </m:r>
                                      <m:r>
                                        <a:rPr lang="en-US" sz="2400" i="1">
                                          <a:latin typeface="Cambria Math" panose="02040503050406030204" pitchFamily="18" charset="0"/>
                                        </a:rPr>
                                        <m:t>𝑗</m:t>
                                      </m:r>
                                      <m:r>
                                        <a:rPr lang="en-US" sz="2400" i="1">
                                          <a:latin typeface="Cambria Math" panose="02040503050406030204" pitchFamily="18" charset="0"/>
                                        </a:rPr>
                                        <m:t>)</m:t>
                                      </m:r>
                                    </m:sup>
                                  </m:sSup>
                                </m:e>
                              </m:d>
                            </m:e>
                            <m:sup>
                              <m:r>
                                <a:rPr lang="en-US" sz="2400" i="1">
                                  <a:latin typeface="Cambria Math" panose="02040503050406030204" pitchFamily="18" charset="0"/>
                                </a:rPr>
                                <m:t>2</m:t>
                              </m:r>
                            </m:sup>
                          </m:sSup>
                          <m:r>
                            <a:rPr lang="en-US" sz="2400" i="1">
                              <a:latin typeface="Cambria Math" panose="02040503050406030204" pitchFamily="18" charset="0"/>
                            </a:rPr>
                            <m:t> </m:t>
                          </m:r>
                        </m:e>
                      </m:nary>
                      <m:r>
                        <a:rPr lang="en-US" sz="2400" b="0" i="1" smtClean="0">
                          <a:latin typeface="Cambria Math" panose="02040503050406030204" pitchFamily="18" charset="0"/>
                        </a:rPr>
                        <m:t>=</m:t>
                      </m:r>
                    </m:oMath>
                  </m:oMathPara>
                </a14:m>
                <a:endParaRPr lang="en-US" sz="2400" b="0" i="1" dirty="0">
                  <a:latin typeface="Cambria Math" panose="02040503050406030204" pitchFamily="18" charset="0"/>
                </a:endParaRPr>
              </a:p>
              <a:p>
                <a:pPr marL="0" indent="0">
                  <a:buNone/>
                </a:pPr>
                <a:endParaRPr lang="en-US" sz="24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nary>
                        <m:naryPr>
                          <m:chr m:val="∑"/>
                          <m:ctrlPr>
                            <a:rPr lang="en-US" sz="2400" i="1">
                              <a:latin typeface="Cambria Math" panose="02040503050406030204" pitchFamily="18" charset="0"/>
                            </a:rPr>
                          </m:ctrlPr>
                        </m:naryPr>
                        <m:sub>
                          <m:r>
                            <a:rPr lang="en-US" sz="2400" b="0" i="1" smtClean="0">
                              <a:latin typeface="Cambria Math" panose="02040503050406030204" pitchFamily="18" charset="0"/>
                            </a:rPr>
                            <m:t>𝑗</m:t>
                          </m:r>
                          <m: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𝑁</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Sup>
                                    <m:sSubSupPr>
                                      <m:ctrlPr>
                                        <a:rPr lang="en-US" sz="2400" i="1" smtClean="0">
                                          <a:latin typeface="Cambria Math" panose="02040503050406030204" pitchFamily="18" charset="0"/>
                                        </a:rPr>
                                      </m:ctrlPr>
                                    </m:sSubSupPr>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𝑤</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m:t>
                                      </m:r>
                                      <m:r>
                                        <a:rPr lang="en-US" sz="2400" b="0" i="1" smtClean="0">
                                          <a:latin typeface="Cambria Math" panose="02040503050406030204" pitchFamily="18" charset="0"/>
                                        </a:rPr>
                                        <m:t>𝑗</m:t>
                                      </m:r>
                                      <m:r>
                                        <a:rPr lang="en-US" sz="2400" b="0" i="1" smtClean="0">
                                          <a:latin typeface="Cambria Math" panose="02040503050406030204" pitchFamily="18" charset="0"/>
                                        </a:rPr>
                                        <m:t>)</m:t>
                                      </m:r>
                                    </m:sup>
                                  </m:sSubSup>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0</m:t>
                                      </m:r>
                                    </m:sub>
                                  </m:sSub>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m:t>
                                      </m:r>
                                      <m:r>
                                        <a:rPr lang="en-US" sz="2400" b="0" i="1" smtClean="0">
                                          <a:latin typeface="Cambria Math" panose="02040503050406030204" pitchFamily="18" charset="0"/>
                                        </a:rPr>
                                        <m:t>𝑗</m:t>
                                      </m:r>
                                      <m:r>
                                        <a:rPr lang="en-US" sz="2400" i="1">
                                          <a:latin typeface="Cambria Math" panose="02040503050406030204" pitchFamily="18" charset="0"/>
                                        </a:rPr>
                                        <m:t>)</m:t>
                                      </m:r>
                                    </m:sup>
                                  </m:sSup>
                                </m:e>
                              </m:d>
                            </m:e>
                            <m:sup>
                              <m:r>
                                <a:rPr lang="en-US" sz="2400" i="1">
                                  <a:latin typeface="Cambria Math" panose="02040503050406030204" pitchFamily="18" charset="0"/>
                                </a:rPr>
                                <m:t>2</m:t>
                              </m:r>
                            </m:sup>
                          </m:sSup>
                          <m:r>
                            <a:rPr lang="en-US" sz="2400" i="1">
                              <a:latin typeface="Cambria Math" panose="02040503050406030204" pitchFamily="18" charset="0"/>
                            </a:rPr>
                            <m:t> </m:t>
                          </m:r>
                        </m:e>
                      </m:nary>
                    </m:oMath>
                  </m:oMathPara>
                </a14:m>
                <a:endParaRPr lang="en-US" sz="2400" b="1" dirty="0"/>
              </a:p>
              <a:p>
                <a:pPr marL="0" indent="0">
                  <a:buNone/>
                </a:pPr>
                <a:endParaRPr lang="en-US" b="1" dirty="0"/>
              </a:p>
              <a:p>
                <a:pPr marL="0" indent="0">
                  <a:buNone/>
                </a:pPr>
                <a:endParaRPr lang="en-US" b="1" dirty="0"/>
              </a:p>
              <a:p>
                <a:endParaRPr lang="en-US" dirty="0"/>
              </a:p>
            </p:txBody>
          </p:sp>
        </mc:Choice>
        <mc:Fallback xmlns="">
          <p:sp>
            <p:nvSpPr>
              <p:cNvPr id="3" name="Content Placeholder 2">
                <a:extLst>
                  <a:ext uri="{FF2B5EF4-FFF2-40B4-BE49-F238E27FC236}">
                    <a16:creationId xmlns:a16="http://schemas.microsoft.com/office/drawing/2014/main" id="{D919A215-21BA-4A5B-B5C5-DAA857955C06}"/>
                  </a:ext>
                </a:extLst>
              </p:cNvPr>
              <p:cNvSpPr>
                <a:spLocks noGrp="1" noRot="1" noChangeAspect="1" noMove="1" noResize="1" noEditPoints="1" noAdjustHandles="1" noChangeArrowheads="1" noChangeShapeType="1" noTextEdit="1"/>
              </p:cNvSpPr>
              <p:nvPr>
                <p:ph idx="1"/>
              </p:nvPr>
            </p:nvSpPr>
            <p:spPr>
              <a:xfrm>
                <a:off x="838200" y="1825625"/>
                <a:ext cx="5491163" cy="4351338"/>
              </a:xfrm>
              <a:blipFill>
                <a:blip r:embed="rId2"/>
                <a:stretch>
                  <a:fillRect l="-2000" t="-2241"/>
                </a:stretch>
              </a:blipFill>
            </p:spPr>
            <p:txBody>
              <a:bodyPr/>
              <a:lstStyle/>
              <a:p>
                <a:r>
                  <a:rPr lang="en-US">
                    <a:noFill/>
                  </a:rPr>
                  <a:t> </a:t>
                </a:r>
              </a:p>
            </p:txBody>
          </p:sp>
        </mc:Fallback>
      </mc:AlternateContent>
    </p:spTree>
    <p:extLst>
      <p:ext uri="{BB962C8B-B14F-4D97-AF65-F5344CB8AC3E}">
        <p14:creationId xmlns:p14="http://schemas.microsoft.com/office/powerpoint/2010/main" val="16369952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52A63-2927-4C6B-BF6A-2933DB01D511}"/>
              </a:ext>
            </a:extLst>
          </p:cNvPr>
          <p:cNvSpPr>
            <a:spLocks noGrp="1"/>
          </p:cNvSpPr>
          <p:nvPr>
            <p:ph type="title"/>
          </p:nvPr>
        </p:nvSpPr>
        <p:spPr/>
        <p:txBody>
          <a:bodyPr/>
          <a:lstStyle/>
          <a:p>
            <a:r>
              <a:rPr lang="en-US" b="1" dirty="0"/>
              <a:t>Visualizing the Cost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19A215-21BA-4A5B-B5C5-DAA857955C06}"/>
                  </a:ext>
                </a:extLst>
              </p:cNvPr>
              <p:cNvSpPr>
                <a:spLocks noGrp="1"/>
              </p:cNvSpPr>
              <p:nvPr>
                <p:ph idx="1"/>
              </p:nvPr>
            </p:nvSpPr>
            <p:spPr>
              <a:xfrm>
                <a:off x="838200" y="1825625"/>
                <a:ext cx="5491163" cy="4351338"/>
              </a:xfrm>
            </p:spPr>
            <p:txBody>
              <a:bodyPr>
                <a:normAutofit/>
              </a:bodyPr>
              <a:lstStyle/>
              <a:p>
                <a:r>
                  <a:rPr lang="en-US" dirty="0"/>
                  <a:t>Let’s go back to the example of predicting the sales based of one feature (TV budget):</a:t>
                </a:r>
              </a:p>
              <a:p>
                <a:pPr marL="0" indent="0">
                  <a:buNone/>
                </a:pPr>
                <a:endParaRPr lang="en-US" sz="2400" dirty="0"/>
              </a:p>
              <a:p>
                <a:pPr marL="0" indent="0">
                  <a:buNone/>
                </a:pPr>
                <a14:m>
                  <m:oMathPara xmlns:m="http://schemas.openxmlformats.org/officeDocument/2006/math">
                    <m:oMathParaPr>
                      <m:jc m:val="left"/>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nary>
                        <m:naryPr>
                          <m:chr m:val="∑"/>
                          <m:ctrlPr>
                            <a:rPr lang="en-US" sz="2400" i="1">
                              <a:latin typeface="Cambria Math" panose="02040503050406030204" pitchFamily="18" charset="0"/>
                            </a:rPr>
                          </m:ctrlPr>
                        </m:naryPr>
                        <m:sub>
                          <m:r>
                            <a:rPr lang="en-US" sz="2400" i="1">
                              <a:latin typeface="Cambria Math" panose="02040503050406030204" pitchFamily="18" charset="0"/>
                            </a:rPr>
                            <m:t>𝑗</m:t>
                          </m:r>
                          <m: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𝑁</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b="1" i="1">
                                          <a:latin typeface="Cambria Math" panose="02040503050406030204" pitchFamily="18" charset="0"/>
                                        </a:rPr>
                                        <m:t>𝒙</m:t>
                                      </m:r>
                                    </m:e>
                                    <m:sup>
                                      <m:d>
                                        <m:dPr>
                                          <m:ctrlPr>
                                            <a:rPr lang="en-US" sz="2400" i="1">
                                              <a:latin typeface="Cambria Math" panose="02040503050406030204" pitchFamily="18" charset="0"/>
                                            </a:rPr>
                                          </m:ctrlPr>
                                        </m:dPr>
                                        <m:e>
                                          <m:r>
                                            <a:rPr lang="en-US" sz="2400" i="1">
                                              <a:latin typeface="Cambria Math" panose="02040503050406030204" pitchFamily="18" charset="0"/>
                                            </a:rPr>
                                            <m:t>𝑗</m:t>
                                          </m:r>
                                        </m:e>
                                      </m:d>
                                      <m:r>
                                        <a:rPr lang="en-US" sz="2400" i="1">
                                          <a:latin typeface="Cambria Math" panose="02040503050406030204" pitchFamily="18" charset="0"/>
                                        </a:rPr>
                                        <m:t>𝑇</m:t>
                                      </m:r>
                                    </m:sup>
                                  </m:sSup>
                                  <m:r>
                                    <a:rPr lang="en-US" sz="2400" b="1" i="1">
                                      <a:latin typeface="Cambria Math" panose="02040503050406030204" pitchFamily="18" charset="0"/>
                                    </a:rPr>
                                    <m:t>𝒘</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0</m:t>
                                      </m:r>
                                    </m:sub>
                                  </m:sSub>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m:t>
                                      </m:r>
                                      <m:r>
                                        <a:rPr lang="en-US" sz="2400" i="1">
                                          <a:latin typeface="Cambria Math" panose="02040503050406030204" pitchFamily="18" charset="0"/>
                                        </a:rPr>
                                        <m:t>𝑗</m:t>
                                      </m:r>
                                      <m:r>
                                        <a:rPr lang="en-US" sz="2400" i="1">
                                          <a:latin typeface="Cambria Math" panose="02040503050406030204" pitchFamily="18" charset="0"/>
                                        </a:rPr>
                                        <m:t>)</m:t>
                                      </m:r>
                                    </m:sup>
                                  </m:sSup>
                                </m:e>
                              </m:d>
                            </m:e>
                            <m:sup>
                              <m:r>
                                <a:rPr lang="en-US" sz="2400" i="1">
                                  <a:latin typeface="Cambria Math" panose="02040503050406030204" pitchFamily="18" charset="0"/>
                                </a:rPr>
                                <m:t>2</m:t>
                              </m:r>
                            </m:sup>
                          </m:sSup>
                          <m:r>
                            <a:rPr lang="en-US" sz="2400" i="1">
                              <a:latin typeface="Cambria Math" panose="02040503050406030204" pitchFamily="18" charset="0"/>
                            </a:rPr>
                            <m:t> </m:t>
                          </m:r>
                        </m:e>
                      </m:nary>
                      <m:r>
                        <a:rPr lang="en-US" sz="2400" i="1">
                          <a:latin typeface="Cambria Math" panose="02040503050406030204" pitchFamily="18" charset="0"/>
                        </a:rPr>
                        <m:t>=</m:t>
                      </m:r>
                    </m:oMath>
                  </m:oMathPara>
                </a14:m>
                <a:endParaRPr lang="en-US" sz="2400" i="1" dirty="0">
                  <a:latin typeface="Cambria Math" panose="02040503050406030204" pitchFamily="18" charset="0"/>
                </a:endParaRPr>
              </a:p>
              <a:p>
                <a:pPr marL="0" indent="0">
                  <a:buNone/>
                </a:pPr>
                <a:endParaRPr lang="en-US" sz="24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nary>
                        <m:naryPr>
                          <m:chr m:val="∑"/>
                          <m:ctrlPr>
                            <a:rPr lang="en-US" sz="2400" i="1">
                              <a:latin typeface="Cambria Math" panose="02040503050406030204" pitchFamily="18" charset="0"/>
                            </a:rPr>
                          </m:ctrlPr>
                        </m:naryPr>
                        <m:sub>
                          <m:r>
                            <a:rPr lang="en-US" sz="2400" i="1">
                              <a:latin typeface="Cambria Math" panose="02040503050406030204" pitchFamily="18" charset="0"/>
                            </a:rPr>
                            <m:t>𝑗</m:t>
                          </m:r>
                          <m: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𝑁</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Sup>
                                    <m:sSubSupPr>
                                      <m:ctrlPr>
                                        <a:rPr lang="en-US" sz="2400" i="1">
                                          <a:latin typeface="Cambria Math" panose="02040503050406030204" pitchFamily="18" charset="0"/>
                                        </a:rPr>
                                      </m:ctrlPr>
                                    </m:sSubSupPr>
                                    <m:e>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rPr>
                                            <m:t>1</m:t>
                                          </m:r>
                                        </m:sub>
                                      </m:sSub>
                                      <m:r>
                                        <a:rPr lang="en-US" sz="2400" i="1">
                                          <a:latin typeface="Cambria Math" panose="02040503050406030204" pitchFamily="18" charset="0"/>
                                        </a:rPr>
                                        <m:t>𝑥</m:t>
                                      </m:r>
                                    </m:e>
                                    <m:sub>
                                      <m:r>
                                        <a:rPr lang="en-US" sz="2400" i="1">
                                          <a:latin typeface="Cambria Math" panose="02040503050406030204" pitchFamily="18" charset="0"/>
                                        </a:rPr>
                                        <m:t>1</m:t>
                                      </m:r>
                                    </m:sub>
                                    <m:sup>
                                      <m:r>
                                        <a:rPr lang="en-US" sz="2400" i="1">
                                          <a:latin typeface="Cambria Math" panose="02040503050406030204" pitchFamily="18" charset="0"/>
                                        </a:rPr>
                                        <m:t>(</m:t>
                                      </m:r>
                                      <m:r>
                                        <a:rPr lang="en-US" sz="2400" i="1">
                                          <a:latin typeface="Cambria Math" panose="02040503050406030204" pitchFamily="18" charset="0"/>
                                        </a:rPr>
                                        <m:t>𝑗</m:t>
                                      </m:r>
                                      <m:r>
                                        <a:rPr lang="en-US" sz="2400" i="1">
                                          <a:latin typeface="Cambria Math" panose="02040503050406030204" pitchFamily="18" charset="0"/>
                                        </a:rPr>
                                        <m:t>)</m:t>
                                      </m:r>
                                    </m:sup>
                                  </m:sSubSup>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0</m:t>
                                      </m:r>
                                    </m:sub>
                                  </m:sSub>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m:t>
                                      </m:r>
                                      <m:r>
                                        <a:rPr lang="en-US" sz="2400" i="1">
                                          <a:latin typeface="Cambria Math" panose="02040503050406030204" pitchFamily="18" charset="0"/>
                                        </a:rPr>
                                        <m:t>𝑗</m:t>
                                      </m:r>
                                      <m:r>
                                        <a:rPr lang="en-US" sz="2400" i="1">
                                          <a:latin typeface="Cambria Math" panose="02040503050406030204" pitchFamily="18" charset="0"/>
                                        </a:rPr>
                                        <m:t>)</m:t>
                                      </m:r>
                                    </m:sup>
                                  </m:sSup>
                                </m:e>
                              </m:d>
                            </m:e>
                            <m:sup>
                              <m:r>
                                <a:rPr lang="en-US" sz="2400" i="1">
                                  <a:latin typeface="Cambria Math" panose="02040503050406030204" pitchFamily="18" charset="0"/>
                                </a:rPr>
                                <m:t>2</m:t>
                              </m:r>
                            </m:sup>
                          </m:sSup>
                          <m:r>
                            <a:rPr lang="en-US" sz="2400" b="0" i="1" smtClean="0">
                              <a:latin typeface="Cambria Math" panose="02040503050406030204" pitchFamily="18" charset="0"/>
                            </a:rPr>
                            <m:t>=</m:t>
                          </m:r>
                          <m:r>
                            <m:rPr>
                              <m:sty m:val="p"/>
                            </m:rPr>
                            <a:rPr lang="en-US" sz="2400" b="0" i="0" smtClean="0">
                              <a:latin typeface="Cambria Math" panose="02040503050406030204" pitchFamily="18" charset="0"/>
                            </a:rPr>
                            <m:t>MSE</m:t>
                          </m:r>
                        </m:e>
                      </m:nary>
                    </m:oMath>
                  </m:oMathPara>
                </a14:m>
                <a:endParaRPr lang="en-US" b="1" dirty="0"/>
              </a:p>
              <a:p>
                <a:pPr marL="0" indent="0">
                  <a:buNone/>
                </a:pPr>
                <a:endParaRPr lang="en-US" b="1" dirty="0"/>
              </a:p>
              <a:p>
                <a:endParaRPr lang="en-US" dirty="0"/>
              </a:p>
            </p:txBody>
          </p:sp>
        </mc:Choice>
        <mc:Fallback xmlns="">
          <p:sp>
            <p:nvSpPr>
              <p:cNvPr id="3" name="Content Placeholder 2">
                <a:extLst>
                  <a:ext uri="{FF2B5EF4-FFF2-40B4-BE49-F238E27FC236}">
                    <a16:creationId xmlns:a16="http://schemas.microsoft.com/office/drawing/2014/main" id="{D919A215-21BA-4A5B-B5C5-DAA857955C06}"/>
                  </a:ext>
                </a:extLst>
              </p:cNvPr>
              <p:cNvSpPr>
                <a:spLocks noGrp="1" noRot="1" noChangeAspect="1" noMove="1" noResize="1" noEditPoints="1" noAdjustHandles="1" noChangeArrowheads="1" noChangeShapeType="1" noTextEdit="1"/>
              </p:cNvSpPr>
              <p:nvPr>
                <p:ph idx="1"/>
              </p:nvPr>
            </p:nvSpPr>
            <p:spPr>
              <a:xfrm>
                <a:off x="838200" y="1825625"/>
                <a:ext cx="5491163" cy="4351338"/>
              </a:xfrm>
              <a:blipFill>
                <a:blip r:embed="rId2"/>
                <a:stretch>
                  <a:fillRect l="-2000" t="-224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504F1DE-DA2C-40F3-8A65-CFCE0F658F74}"/>
              </a:ext>
            </a:extLst>
          </p:cNvPr>
          <p:cNvPicPr>
            <a:picLocks noChangeAspect="1"/>
          </p:cNvPicPr>
          <p:nvPr/>
        </p:nvPicPr>
        <p:blipFill rotWithShape="1">
          <a:blip r:embed="rId3"/>
          <a:srcRect l="46619" t="30208" r="27813" b="25417"/>
          <a:stretch/>
        </p:blipFill>
        <p:spPr>
          <a:xfrm>
            <a:off x="6816436" y="1980125"/>
            <a:ext cx="4328890" cy="4226077"/>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8D1C26-5F5E-40C4-8A26-B2A74480E1D4}"/>
                  </a:ext>
                </a:extLst>
              </p:cNvPr>
              <p:cNvSpPr txBox="1"/>
              <p:nvPr/>
            </p:nvSpPr>
            <p:spPr>
              <a:xfrm>
                <a:off x="8149422" y="5360605"/>
                <a:ext cx="321248"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oMath>
                  </m:oMathPara>
                </a14:m>
                <a:endParaRPr lang="en-US" dirty="0"/>
              </a:p>
            </p:txBody>
          </p:sp>
        </mc:Choice>
        <mc:Fallback xmlns="">
          <p:sp>
            <p:nvSpPr>
              <p:cNvPr id="6" name="TextBox 5">
                <a:extLst>
                  <a:ext uri="{FF2B5EF4-FFF2-40B4-BE49-F238E27FC236}">
                    <a16:creationId xmlns:a16="http://schemas.microsoft.com/office/drawing/2014/main" id="{B38D1C26-5F5E-40C4-8A26-B2A74480E1D4}"/>
                  </a:ext>
                </a:extLst>
              </p:cNvPr>
              <p:cNvSpPr txBox="1">
                <a:spLocks noRot="1" noChangeAspect="1" noMove="1" noResize="1" noEditPoints="1" noAdjustHandles="1" noChangeArrowheads="1" noChangeShapeType="1" noTextEdit="1"/>
              </p:cNvSpPr>
              <p:nvPr/>
            </p:nvSpPr>
            <p:spPr>
              <a:xfrm>
                <a:off x="8149422" y="5360605"/>
                <a:ext cx="321248" cy="369332"/>
              </a:xfrm>
              <a:prstGeom prst="rect">
                <a:avLst/>
              </a:prstGeom>
              <a:blipFill>
                <a:blip r:embed="rId4"/>
                <a:stretch>
                  <a:fillRect r="-26415"/>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A77F82F-12EE-49ED-923B-0134E26B1EEB}"/>
              </a:ext>
            </a:extLst>
          </p:cNvPr>
          <p:cNvSpPr txBox="1"/>
          <p:nvPr/>
        </p:nvSpPr>
        <p:spPr>
          <a:xfrm>
            <a:off x="6284006" y="3913632"/>
            <a:ext cx="822960" cy="1078992"/>
          </a:xfrm>
          <a:prstGeom prst="rect">
            <a:avLst/>
          </a:prstGeom>
          <a:solidFill>
            <a:schemeClr val="bg1"/>
          </a:solidFill>
        </p:spPr>
        <p:txBody>
          <a:bodyPr wrap="square" rtlCol="0">
            <a:spAutoFit/>
          </a:bodyPr>
          <a:lstStyle/>
          <a:p>
            <a:endParaRPr lang="en-US" dirty="0"/>
          </a:p>
        </p:txBody>
      </p:sp>
      <p:sp>
        <p:nvSpPr>
          <p:cNvPr id="8" name="TextBox 7">
            <a:extLst>
              <a:ext uri="{FF2B5EF4-FFF2-40B4-BE49-F238E27FC236}">
                <a16:creationId xmlns:a16="http://schemas.microsoft.com/office/drawing/2014/main" id="{DC26DD66-0D81-460E-BB9F-27AD285AEE8A}"/>
              </a:ext>
            </a:extLst>
          </p:cNvPr>
          <p:cNvSpPr txBox="1"/>
          <p:nvPr/>
        </p:nvSpPr>
        <p:spPr>
          <a:xfrm>
            <a:off x="6404956" y="4093163"/>
            <a:ext cx="822960" cy="1078992"/>
          </a:xfrm>
          <a:prstGeom prst="rect">
            <a:avLst/>
          </a:prstGeom>
          <a:solidFill>
            <a:schemeClr val="bg1"/>
          </a:solidFill>
        </p:spPr>
        <p:txBody>
          <a:bodyPr wrap="square" rtlCol="0">
            <a:spAutoFit/>
          </a:bodyPr>
          <a:lstStyle/>
          <a:p>
            <a:endParaRPr lang="en-US" dirty="0"/>
          </a:p>
        </p:txBody>
      </p:sp>
      <p:sp>
        <p:nvSpPr>
          <p:cNvPr id="9" name="TextBox 8">
            <a:extLst>
              <a:ext uri="{FF2B5EF4-FFF2-40B4-BE49-F238E27FC236}">
                <a16:creationId xmlns:a16="http://schemas.microsoft.com/office/drawing/2014/main" id="{973C1B1F-C232-42E3-AFE9-9F4A6CF96421}"/>
              </a:ext>
            </a:extLst>
          </p:cNvPr>
          <p:cNvSpPr txBox="1"/>
          <p:nvPr/>
        </p:nvSpPr>
        <p:spPr>
          <a:xfrm>
            <a:off x="6461118" y="4272694"/>
            <a:ext cx="822960" cy="1078992"/>
          </a:xfrm>
          <a:prstGeom prst="rect">
            <a:avLst/>
          </a:prstGeom>
          <a:solidFill>
            <a:schemeClr val="bg1"/>
          </a:solidFill>
        </p:spPr>
        <p:txBody>
          <a:bodyPr wrap="square" rtlCol="0">
            <a:spAutoFit/>
          </a:bodyPr>
          <a:lstStyle/>
          <a:p>
            <a:endParaRPr lang="en-US" dirty="0"/>
          </a:p>
        </p:txBody>
      </p:sp>
      <p:sp>
        <p:nvSpPr>
          <p:cNvPr id="10" name="TextBox 9">
            <a:extLst>
              <a:ext uri="{FF2B5EF4-FFF2-40B4-BE49-F238E27FC236}">
                <a16:creationId xmlns:a16="http://schemas.microsoft.com/office/drawing/2014/main" id="{C249416C-34BB-439E-BB54-F0A9E131AF3B}"/>
              </a:ext>
            </a:extLst>
          </p:cNvPr>
          <p:cNvSpPr txBox="1"/>
          <p:nvPr/>
        </p:nvSpPr>
        <p:spPr>
          <a:xfrm>
            <a:off x="6572296" y="4083796"/>
            <a:ext cx="614983" cy="369332"/>
          </a:xfrm>
          <a:prstGeom prst="rect">
            <a:avLst/>
          </a:prstGeom>
          <a:noFill/>
        </p:spPr>
        <p:txBody>
          <a:bodyPr wrap="square" rtlCol="0">
            <a:spAutoFit/>
          </a:bodyPr>
          <a:lstStyle/>
          <a:p>
            <a:r>
              <a:rPr lang="en-US" dirty="0"/>
              <a:t>MSE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9F57099-5A0D-10DF-D8B8-9C16A43AAB5D}"/>
                  </a:ext>
                </a:extLst>
              </p:cNvPr>
              <p:cNvSpPr txBox="1"/>
              <p:nvPr/>
            </p:nvSpPr>
            <p:spPr>
              <a:xfrm>
                <a:off x="10122309" y="4862701"/>
                <a:ext cx="321248"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m:oMathPara>
                </a14:m>
                <a:endParaRPr lang="en-US" dirty="0"/>
              </a:p>
            </p:txBody>
          </p:sp>
        </mc:Choice>
        <mc:Fallback xmlns="">
          <p:sp>
            <p:nvSpPr>
              <p:cNvPr id="4" name="TextBox 3">
                <a:extLst>
                  <a:ext uri="{FF2B5EF4-FFF2-40B4-BE49-F238E27FC236}">
                    <a16:creationId xmlns:a16="http://schemas.microsoft.com/office/drawing/2014/main" id="{09F57099-5A0D-10DF-D8B8-9C16A43AAB5D}"/>
                  </a:ext>
                </a:extLst>
              </p:cNvPr>
              <p:cNvSpPr txBox="1">
                <a:spLocks noRot="1" noChangeAspect="1" noMove="1" noResize="1" noEditPoints="1" noAdjustHandles="1" noChangeArrowheads="1" noChangeShapeType="1" noTextEdit="1"/>
              </p:cNvSpPr>
              <p:nvPr/>
            </p:nvSpPr>
            <p:spPr>
              <a:xfrm>
                <a:off x="10122309" y="4862701"/>
                <a:ext cx="321248" cy="369332"/>
              </a:xfrm>
              <a:prstGeom prst="rect">
                <a:avLst/>
              </a:prstGeom>
              <a:blipFill>
                <a:blip r:embed="rId5"/>
                <a:stretch>
                  <a:fillRect r="-26415"/>
                </a:stretch>
              </a:blipFill>
            </p:spPr>
            <p:txBody>
              <a:bodyPr/>
              <a:lstStyle/>
              <a:p>
                <a:r>
                  <a:rPr lang="en-US">
                    <a:noFill/>
                  </a:rPr>
                  <a:t> </a:t>
                </a:r>
              </a:p>
            </p:txBody>
          </p:sp>
        </mc:Fallback>
      </mc:AlternateContent>
    </p:spTree>
    <p:extLst>
      <p:ext uri="{BB962C8B-B14F-4D97-AF65-F5344CB8AC3E}">
        <p14:creationId xmlns:p14="http://schemas.microsoft.com/office/powerpoint/2010/main" val="723437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52A63-2927-4C6B-BF6A-2933DB01D511}"/>
              </a:ext>
            </a:extLst>
          </p:cNvPr>
          <p:cNvSpPr>
            <a:spLocks noGrp="1"/>
          </p:cNvSpPr>
          <p:nvPr>
            <p:ph type="title"/>
          </p:nvPr>
        </p:nvSpPr>
        <p:spPr/>
        <p:txBody>
          <a:bodyPr/>
          <a:lstStyle/>
          <a:p>
            <a:r>
              <a:rPr lang="en-US" b="1" dirty="0"/>
              <a:t>Visualizing the Cost function</a:t>
            </a:r>
          </a:p>
        </p:txBody>
      </p:sp>
      <p:sp>
        <p:nvSpPr>
          <p:cNvPr id="11" name="TextBox 10">
            <a:extLst>
              <a:ext uri="{FF2B5EF4-FFF2-40B4-BE49-F238E27FC236}">
                <a16:creationId xmlns:a16="http://schemas.microsoft.com/office/drawing/2014/main" id="{1024A4CF-E821-4A08-A71C-388DDB107B7D}"/>
              </a:ext>
            </a:extLst>
          </p:cNvPr>
          <p:cNvSpPr txBox="1"/>
          <p:nvPr/>
        </p:nvSpPr>
        <p:spPr>
          <a:xfrm>
            <a:off x="4827003" y="5807631"/>
            <a:ext cx="337719" cy="369332"/>
          </a:xfrm>
          <a:prstGeom prst="rect">
            <a:avLst/>
          </a:prstGeom>
          <a:solidFill>
            <a:schemeClr val="bg1"/>
          </a:solidFill>
        </p:spPr>
        <p:txBody>
          <a:bodyPr wrap="square" rtlCol="0">
            <a:spAutoFit/>
          </a:bodyPr>
          <a:lstStyle/>
          <a:p>
            <a:r>
              <a:rPr lang="en-US" dirty="0"/>
              <a:t>b</a:t>
            </a:r>
          </a:p>
        </p:txBody>
      </p:sp>
      <p:pic>
        <p:nvPicPr>
          <p:cNvPr id="13" name="Picture 12">
            <a:extLst>
              <a:ext uri="{FF2B5EF4-FFF2-40B4-BE49-F238E27FC236}">
                <a16:creationId xmlns:a16="http://schemas.microsoft.com/office/drawing/2014/main" id="{4147002A-D6A7-49CF-A385-3A4B144F9BB9}"/>
              </a:ext>
            </a:extLst>
          </p:cNvPr>
          <p:cNvPicPr>
            <a:picLocks noChangeAspect="1"/>
          </p:cNvPicPr>
          <p:nvPr/>
        </p:nvPicPr>
        <p:blipFill rotWithShape="1">
          <a:blip r:embed="rId2"/>
          <a:srcRect l="21942" t="30208" r="53047" b="25417"/>
          <a:stretch/>
        </p:blipFill>
        <p:spPr>
          <a:xfrm>
            <a:off x="1552575" y="2155423"/>
            <a:ext cx="4234471" cy="4226077"/>
          </a:xfrm>
          <a:prstGeom prst="rect">
            <a:avLst/>
          </a:prstGeom>
        </p:spPr>
      </p:pic>
      <p:pic>
        <p:nvPicPr>
          <p:cNvPr id="3" name="Picture 2">
            <a:extLst>
              <a:ext uri="{FF2B5EF4-FFF2-40B4-BE49-F238E27FC236}">
                <a16:creationId xmlns:a16="http://schemas.microsoft.com/office/drawing/2014/main" id="{5B2C9A64-EDCC-00BA-1209-3166039C94C4}"/>
              </a:ext>
            </a:extLst>
          </p:cNvPr>
          <p:cNvPicPr>
            <a:picLocks noChangeAspect="1"/>
          </p:cNvPicPr>
          <p:nvPr/>
        </p:nvPicPr>
        <p:blipFill rotWithShape="1">
          <a:blip r:embed="rId2"/>
          <a:srcRect l="46619" t="30208" r="27813" b="25417"/>
          <a:stretch/>
        </p:blipFill>
        <p:spPr>
          <a:xfrm>
            <a:off x="6816436" y="1980125"/>
            <a:ext cx="4328890" cy="4226077"/>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8C17A6C-7160-903F-C4EA-4D11A557F5CD}"/>
                  </a:ext>
                </a:extLst>
              </p:cNvPr>
              <p:cNvSpPr txBox="1"/>
              <p:nvPr/>
            </p:nvSpPr>
            <p:spPr>
              <a:xfrm>
                <a:off x="8149422" y="5360605"/>
                <a:ext cx="321248"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oMath>
                  </m:oMathPara>
                </a14:m>
                <a:endParaRPr lang="en-US" dirty="0"/>
              </a:p>
            </p:txBody>
          </p:sp>
        </mc:Choice>
        <mc:Fallback xmlns="">
          <p:sp>
            <p:nvSpPr>
              <p:cNvPr id="4" name="TextBox 3">
                <a:extLst>
                  <a:ext uri="{FF2B5EF4-FFF2-40B4-BE49-F238E27FC236}">
                    <a16:creationId xmlns:a16="http://schemas.microsoft.com/office/drawing/2014/main" id="{38C17A6C-7160-903F-C4EA-4D11A557F5CD}"/>
                  </a:ext>
                </a:extLst>
              </p:cNvPr>
              <p:cNvSpPr txBox="1">
                <a:spLocks noRot="1" noChangeAspect="1" noMove="1" noResize="1" noEditPoints="1" noAdjustHandles="1" noChangeArrowheads="1" noChangeShapeType="1" noTextEdit="1"/>
              </p:cNvSpPr>
              <p:nvPr/>
            </p:nvSpPr>
            <p:spPr>
              <a:xfrm>
                <a:off x="8149422" y="5360605"/>
                <a:ext cx="321248" cy="369332"/>
              </a:xfrm>
              <a:prstGeom prst="rect">
                <a:avLst/>
              </a:prstGeom>
              <a:blipFill>
                <a:blip r:embed="rId3"/>
                <a:stretch>
                  <a:fillRect r="-26415"/>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ABA51F08-B22C-2052-8FD5-AE93342CB08B}"/>
              </a:ext>
            </a:extLst>
          </p:cNvPr>
          <p:cNvSpPr txBox="1"/>
          <p:nvPr/>
        </p:nvSpPr>
        <p:spPr>
          <a:xfrm>
            <a:off x="6284006" y="3913632"/>
            <a:ext cx="822960" cy="1078992"/>
          </a:xfrm>
          <a:prstGeom prst="rect">
            <a:avLst/>
          </a:prstGeom>
          <a:solidFill>
            <a:schemeClr val="bg1"/>
          </a:solidFill>
        </p:spPr>
        <p:txBody>
          <a:bodyPr wrap="square" rtlCol="0">
            <a:spAutoFit/>
          </a:bodyPr>
          <a:lstStyle/>
          <a:p>
            <a:endParaRPr lang="en-US" dirty="0"/>
          </a:p>
        </p:txBody>
      </p:sp>
      <p:sp>
        <p:nvSpPr>
          <p:cNvPr id="16" name="TextBox 15">
            <a:extLst>
              <a:ext uri="{FF2B5EF4-FFF2-40B4-BE49-F238E27FC236}">
                <a16:creationId xmlns:a16="http://schemas.microsoft.com/office/drawing/2014/main" id="{3A279B73-C48E-C61E-EEB1-3804ED6F468D}"/>
              </a:ext>
            </a:extLst>
          </p:cNvPr>
          <p:cNvSpPr txBox="1"/>
          <p:nvPr/>
        </p:nvSpPr>
        <p:spPr>
          <a:xfrm>
            <a:off x="6404956" y="4093163"/>
            <a:ext cx="822960" cy="1078992"/>
          </a:xfrm>
          <a:prstGeom prst="rect">
            <a:avLst/>
          </a:prstGeom>
          <a:solidFill>
            <a:schemeClr val="bg1"/>
          </a:solidFill>
        </p:spPr>
        <p:txBody>
          <a:bodyPr wrap="square" rtlCol="0">
            <a:spAutoFit/>
          </a:bodyPr>
          <a:lstStyle/>
          <a:p>
            <a:endParaRPr lang="en-US" dirty="0"/>
          </a:p>
        </p:txBody>
      </p:sp>
      <p:sp>
        <p:nvSpPr>
          <p:cNvPr id="17" name="TextBox 16">
            <a:extLst>
              <a:ext uri="{FF2B5EF4-FFF2-40B4-BE49-F238E27FC236}">
                <a16:creationId xmlns:a16="http://schemas.microsoft.com/office/drawing/2014/main" id="{1BCB05B0-9228-02F8-182D-3A0BFEE98514}"/>
              </a:ext>
            </a:extLst>
          </p:cNvPr>
          <p:cNvSpPr txBox="1"/>
          <p:nvPr/>
        </p:nvSpPr>
        <p:spPr>
          <a:xfrm>
            <a:off x="6461118" y="4272694"/>
            <a:ext cx="822960" cy="1078992"/>
          </a:xfrm>
          <a:prstGeom prst="rect">
            <a:avLst/>
          </a:prstGeom>
          <a:solidFill>
            <a:schemeClr val="bg1"/>
          </a:solidFill>
        </p:spPr>
        <p:txBody>
          <a:bodyPr wrap="square" rtlCol="0">
            <a:spAutoFit/>
          </a:bodyPr>
          <a:lstStyle/>
          <a:p>
            <a:endParaRPr lang="en-US" dirty="0"/>
          </a:p>
        </p:txBody>
      </p:sp>
      <p:sp>
        <p:nvSpPr>
          <p:cNvPr id="18" name="TextBox 17">
            <a:extLst>
              <a:ext uri="{FF2B5EF4-FFF2-40B4-BE49-F238E27FC236}">
                <a16:creationId xmlns:a16="http://schemas.microsoft.com/office/drawing/2014/main" id="{5AE8A001-C8AB-30B5-2AFC-A050A6A33E37}"/>
              </a:ext>
            </a:extLst>
          </p:cNvPr>
          <p:cNvSpPr txBox="1"/>
          <p:nvPr/>
        </p:nvSpPr>
        <p:spPr>
          <a:xfrm>
            <a:off x="6572296" y="4083796"/>
            <a:ext cx="614983" cy="369332"/>
          </a:xfrm>
          <a:prstGeom prst="rect">
            <a:avLst/>
          </a:prstGeom>
          <a:noFill/>
        </p:spPr>
        <p:txBody>
          <a:bodyPr wrap="square" rtlCol="0">
            <a:spAutoFit/>
          </a:bodyPr>
          <a:lstStyle/>
          <a:p>
            <a:r>
              <a:rPr lang="en-US" dirty="0"/>
              <a:t>MSE</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D77AF5D-773A-0F30-098A-2DC23966791E}"/>
                  </a:ext>
                </a:extLst>
              </p:cNvPr>
              <p:cNvSpPr txBox="1"/>
              <p:nvPr/>
            </p:nvSpPr>
            <p:spPr>
              <a:xfrm>
                <a:off x="10122309" y="4862701"/>
                <a:ext cx="321248"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m:oMathPara>
                </a14:m>
                <a:endParaRPr lang="en-US" dirty="0"/>
              </a:p>
            </p:txBody>
          </p:sp>
        </mc:Choice>
        <mc:Fallback xmlns="">
          <p:sp>
            <p:nvSpPr>
              <p:cNvPr id="19" name="TextBox 18">
                <a:extLst>
                  <a:ext uri="{FF2B5EF4-FFF2-40B4-BE49-F238E27FC236}">
                    <a16:creationId xmlns:a16="http://schemas.microsoft.com/office/drawing/2014/main" id="{3D77AF5D-773A-0F30-098A-2DC23966791E}"/>
                  </a:ext>
                </a:extLst>
              </p:cNvPr>
              <p:cNvSpPr txBox="1">
                <a:spLocks noRot="1" noChangeAspect="1" noMove="1" noResize="1" noEditPoints="1" noAdjustHandles="1" noChangeArrowheads="1" noChangeShapeType="1" noTextEdit="1"/>
              </p:cNvSpPr>
              <p:nvPr/>
            </p:nvSpPr>
            <p:spPr>
              <a:xfrm>
                <a:off x="10122309" y="4862701"/>
                <a:ext cx="321248" cy="369332"/>
              </a:xfrm>
              <a:prstGeom prst="rect">
                <a:avLst/>
              </a:prstGeom>
              <a:blipFill>
                <a:blip r:embed="rId4"/>
                <a:stretch>
                  <a:fillRect r="-264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B2962FD-95F0-4A83-7D00-E603A58E19C9}"/>
                  </a:ext>
                </a:extLst>
              </p:cNvPr>
              <p:cNvSpPr txBox="1"/>
              <p:nvPr/>
            </p:nvSpPr>
            <p:spPr>
              <a:xfrm>
                <a:off x="3669810" y="6011534"/>
                <a:ext cx="321248"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oMath>
                  </m:oMathPara>
                </a14:m>
                <a:endParaRPr lang="en-US" dirty="0"/>
              </a:p>
            </p:txBody>
          </p:sp>
        </mc:Choice>
        <mc:Fallback xmlns="">
          <p:sp>
            <p:nvSpPr>
              <p:cNvPr id="27" name="TextBox 26">
                <a:extLst>
                  <a:ext uri="{FF2B5EF4-FFF2-40B4-BE49-F238E27FC236}">
                    <a16:creationId xmlns:a16="http://schemas.microsoft.com/office/drawing/2014/main" id="{5B2962FD-95F0-4A83-7D00-E603A58E19C9}"/>
                  </a:ext>
                </a:extLst>
              </p:cNvPr>
              <p:cNvSpPr txBox="1">
                <a:spLocks noRot="1" noChangeAspect="1" noMove="1" noResize="1" noEditPoints="1" noAdjustHandles="1" noChangeArrowheads="1" noChangeShapeType="1" noTextEdit="1"/>
              </p:cNvSpPr>
              <p:nvPr/>
            </p:nvSpPr>
            <p:spPr>
              <a:xfrm>
                <a:off x="3669810" y="6011534"/>
                <a:ext cx="321248" cy="369332"/>
              </a:xfrm>
              <a:prstGeom prst="rect">
                <a:avLst/>
              </a:prstGeom>
              <a:blipFill>
                <a:blip r:embed="rId5"/>
                <a:stretch>
                  <a:fillRect r="-28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3560122-F09A-2FA1-8A12-187C036B5FE8}"/>
                  </a:ext>
                </a:extLst>
              </p:cNvPr>
              <p:cNvSpPr txBox="1"/>
              <p:nvPr/>
            </p:nvSpPr>
            <p:spPr>
              <a:xfrm>
                <a:off x="1511938" y="3845944"/>
                <a:ext cx="321248"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m:oMathPara>
                </a14:m>
                <a:endParaRPr lang="en-US" dirty="0"/>
              </a:p>
            </p:txBody>
          </p:sp>
        </mc:Choice>
        <mc:Fallback xmlns="">
          <p:sp>
            <p:nvSpPr>
              <p:cNvPr id="28" name="TextBox 27">
                <a:extLst>
                  <a:ext uri="{FF2B5EF4-FFF2-40B4-BE49-F238E27FC236}">
                    <a16:creationId xmlns:a16="http://schemas.microsoft.com/office/drawing/2014/main" id="{A3560122-F09A-2FA1-8A12-187C036B5FE8}"/>
                  </a:ext>
                </a:extLst>
              </p:cNvPr>
              <p:cNvSpPr txBox="1">
                <a:spLocks noRot="1" noChangeAspect="1" noMove="1" noResize="1" noEditPoints="1" noAdjustHandles="1" noChangeArrowheads="1" noChangeShapeType="1" noTextEdit="1"/>
              </p:cNvSpPr>
              <p:nvPr/>
            </p:nvSpPr>
            <p:spPr>
              <a:xfrm>
                <a:off x="1511938" y="3845944"/>
                <a:ext cx="321248" cy="369332"/>
              </a:xfrm>
              <a:prstGeom prst="rect">
                <a:avLst/>
              </a:prstGeom>
              <a:blipFill>
                <a:blip r:embed="rId6"/>
                <a:stretch>
                  <a:fillRect r="-26415"/>
                </a:stretch>
              </a:blipFill>
            </p:spPr>
            <p:txBody>
              <a:bodyPr/>
              <a:lstStyle/>
              <a:p>
                <a:r>
                  <a:rPr lang="en-US">
                    <a:noFill/>
                  </a:rPr>
                  <a:t> </a:t>
                </a:r>
              </a:p>
            </p:txBody>
          </p:sp>
        </mc:Fallback>
      </mc:AlternateContent>
    </p:spTree>
    <p:extLst>
      <p:ext uri="{BB962C8B-B14F-4D97-AF65-F5344CB8AC3E}">
        <p14:creationId xmlns:p14="http://schemas.microsoft.com/office/powerpoint/2010/main" val="3807862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39A77-D475-4E5B-AF99-D3099BF5D144}"/>
              </a:ext>
            </a:extLst>
          </p:cNvPr>
          <p:cNvSpPr>
            <a:spLocks noGrp="1"/>
          </p:cNvSpPr>
          <p:nvPr>
            <p:ph type="title"/>
          </p:nvPr>
        </p:nvSpPr>
        <p:spPr/>
        <p:txBody>
          <a:bodyPr/>
          <a:lstStyle/>
          <a:p>
            <a:r>
              <a:rPr lang="en-US" b="1" dirty="0"/>
              <a:t>Solution to the Least-Squares Problems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20B529-C32F-40B7-BCA7-F01901DB8D78}"/>
                  </a:ext>
                </a:extLst>
              </p:cNvPr>
              <p:cNvSpPr>
                <a:spLocks noGrp="1"/>
              </p:cNvSpPr>
              <p:nvPr>
                <p:ph idx="1"/>
              </p:nvPr>
            </p:nvSpPr>
            <p:spPr/>
            <p:txBody>
              <a:bodyPr/>
              <a:lstStyle/>
              <a:p>
                <a:r>
                  <a:rPr lang="en-US" dirty="0"/>
                  <a:t>The cost function is convex. Therefore, we can minimize it by computing its partial derivatives with respect to the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𝑖</m:t>
                        </m:r>
                      </m:sub>
                    </m:sSub>
                  </m:oMath>
                </a14:m>
                <a:r>
                  <a:rPr lang="en-US" dirty="0"/>
                  <a:t>’s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oMath>
                </a14:m>
                <a:r>
                  <a:rPr lang="en-US" dirty="0"/>
                  <a:t>, setting them to zero and solving the system of equations. </a:t>
                </a:r>
              </a:p>
              <a:p>
                <a:endParaRPr lang="en-US" dirty="0"/>
              </a:p>
              <a:p>
                <a:r>
                  <a:rPr lang="en-US" dirty="0"/>
                  <a:t>It turns out that the least squares problem has closed form solution:</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1620B529-C32F-40B7-BCA7-F01901DB8D78}"/>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694067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39A77-D475-4E5B-AF99-D3099BF5D144}"/>
              </a:ext>
            </a:extLst>
          </p:cNvPr>
          <p:cNvSpPr>
            <a:spLocks noGrp="1"/>
          </p:cNvSpPr>
          <p:nvPr>
            <p:ph type="title"/>
          </p:nvPr>
        </p:nvSpPr>
        <p:spPr/>
        <p:txBody>
          <a:bodyPr/>
          <a:lstStyle/>
          <a:p>
            <a:r>
              <a:rPr lang="en-US" b="1" dirty="0"/>
              <a:t>Solution to the Least-Squares Problems</a:t>
            </a:r>
          </a:p>
        </p:txBody>
      </p:sp>
      <p:sp>
        <p:nvSpPr>
          <p:cNvPr id="3" name="Content Placeholder 2">
            <a:extLst>
              <a:ext uri="{FF2B5EF4-FFF2-40B4-BE49-F238E27FC236}">
                <a16:creationId xmlns:a16="http://schemas.microsoft.com/office/drawing/2014/main" id="{1620B529-C32F-40B7-BCA7-F01901DB8D78}"/>
              </a:ext>
            </a:extLst>
          </p:cNvPr>
          <p:cNvSpPr>
            <a:spLocks noGrp="1"/>
          </p:cNvSpPr>
          <p:nvPr>
            <p:ph idx="1"/>
          </p:nvPr>
        </p:nvSpPr>
        <p:spPr/>
        <p:txBody>
          <a:bodyPr/>
          <a:lstStyle/>
          <a:p>
            <a:r>
              <a:rPr lang="en-US" dirty="0"/>
              <a:t>It turns out that the least squares problem has closed form solution:</a:t>
            </a:r>
          </a:p>
          <a:p>
            <a:pPr marL="0" indent="0">
              <a:buNone/>
            </a:pPr>
            <a:r>
              <a:rPr lang="en-US" dirty="0"/>
              <a:t>                                                                    where X is:</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57482AD-E564-4817-BB7C-2945D5CCFC2C}"/>
                  </a:ext>
                </a:extLst>
              </p:cNvPr>
              <p:cNvSpPr/>
              <p:nvPr/>
            </p:nvSpPr>
            <p:spPr>
              <a:xfrm>
                <a:off x="1009648" y="2655180"/>
                <a:ext cx="3980449" cy="1978811"/>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m>
                            <m:mPr>
                              <m:mcs>
                                <m:mc>
                                  <m:mcPr>
                                    <m:count m:val="1"/>
                                    <m:mcJc m:val="center"/>
                                  </m:mcPr>
                                </m:mc>
                              </m:mcs>
                              <m:ctrlPr>
                                <a:rPr lang="en-US" sz="3200" i="1" smtClean="0">
                                  <a:latin typeface="Cambria Math" panose="02040503050406030204" pitchFamily="18" charset="0"/>
                                </a:rPr>
                              </m:ctrlPr>
                            </m:mPr>
                            <m:mr>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0</m:t>
                                    </m:r>
                                  </m:sub>
                                </m:sSub>
                              </m:e>
                            </m:mr>
                            <m:mr>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1</m:t>
                                    </m:r>
                                  </m:sub>
                                </m:sSub>
                              </m:e>
                            </m:mr>
                            <m:mr>
                              <m:e>
                                <m:eqArr>
                                  <m:eqArrPr>
                                    <m:ctrlPr>
                                      <a:rPr lang="en-US" sz="3200" i="1" smtClean="0">
                                        <a:latin typeface="Cambria Math" panose="02040503050406030204" pitchFamily="18" charset="0"/>
                                        <a:ea typeface="Cambria Math" panose="02040503050406030204" pitchFamily="18" charset="0"/>
                                      </a:rPr>
                                    </m:ctrlPr>
                                  </m:eqArrPr>
                                  <m:e>
                                    <m:r>
                                      <a:rPr lang="en-US" sz="3200" i="1" smtClean="0">
                                        <a:latin typeface="Cambria Math" panose="02040503050406030204" pitchFamily="18" charset="0"/>
                                        <a:ea typeface="Cambria Math" panose="02040503050406030204" pitchFamily="18" charset="0"/>
                                      </a:rPr>
                                      <m:t>⋮</m:t>
                                    </m:r>
                                  </m:e>
                                  <m:e>
                                    <m:sSub>
                                      <m:sSubPr>
                                        <m:ctrlPr>
                                          <a:rPr lang="en-US" sz="320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𝑤</m:t>
                                        </m:r>
                                      </m:e>
                                      <m:sub>
                                        <m:r>
                                          <a:rPr lang="en-US" sz="3200" b="0" i="1" smtClean="0">
                                            <a:latin typeface="Cambria Math" panose="02040503050406030204" pitchFamily="18" charset="0"/>
                                            <a:ea typeface="Cambria Math" panose="02040503050406030204" pitchFamily="18" charset="0"/>
                                          </a:rPr>
                                          <m:t>𝑚</m:t>
                                        </m:r>
                                      </m:sub>
                                    </m:sSub>
                                  </m:e>
                                </m:eqArr>
                              </m:e>
                            </m:mr>
                          </m:m>
                        </m:e>
                      </m:d>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b="1" i="1">
                              <a:latin typeface="Cambria Math" panose="02040503050406030204" pitchFamily="18" charset="0"/>
                            </a:rPr>
                            <m:t>(</m:t>
                          </m:r>
                          <m:sSup>
                            <m:sSupPr>
                              <m:ctrlPr>
                                <a:rPr lang="en-US" sz="3200" b="1" i="1">
                                  <a:latin typeface="Cambria Math" panose="02040503050406030204" pitchFamily="18" charset="0"/>
                                </a:rPr>
                              </m:ctrlPr>
                            </m:sSupPr>
                            <m:e>
                              <m:r>
                                <a:rPr lang="en-US" sz="3200" b="1" i="1">
                                  <a:latin typeface="Cambria Math" panose="02040503050406030204" pitchFamily="18" charset="0"/>
                                </a:rPr>
                                <m:t>𝑿</m:t>
                              </m:r>
                            </m:e>
                            <m:sup>
                              <m:r>
                                <a:rPr lang="en-US" sz="3200" i="1">
                                  <a:latin typeface="Cambria Math" panose="02040503050406030204" pitchFamily="18" charset="0"/>
                                </a:rPr>
                                <m:t>𝑇</m:t>
                              </m:r>
                            </m:sup>
                          </m:sSup>
                          <m:r>
                            <a:rPr lang="en-US" sz="3200" b="1" i="1">
                              <a:latin typeface="Cambria Math" panose="02040503050406030204" pitchFamily="18" charset="0"/>
                            </a:rPr>
                            <m:t>𝑿</m:t>
                          </m:r>
                          <m:r>
                            <a:rPr lang="en-US" sz="3200" b="1" i="1">
                              <a:latin typeface="Cambria Math" panose="02040503050406030204" pitchFamily="18" charset="0"/>
                            </a:rPr>
                            <m:t>)</m:t>
                          </m:r>
                        </m:e>
                        <m:sup>
                          <m:r>
                            <a:rPr lang="en-US" sz="3200" i="1">
                              <a:latin typeface="Cambria Math" panose="02040503050406030204" pitchFamily="18" charset="0"/>
                            </a:rPr>
                            <m:t>−1</m:t>
                          </m:r>
                        </m:sup>
                      </m:sSup>
                      <m:sSup>
                        <m:sSupPr>
                          <m:ctrlPr>
                            <a:rPr lang="en-US" sz="3200" i="1">
                              <a:latin typeface="Cambria Math" panose="02040503050406030204" pitchFamily="18" charset="0"/>
                            </a:rPr>
                          </m:ctrlPr>
                        </m:sSupPr>
                        <m:e>
                          <m:r>
                            <a:rPr lang="en-US" sz="3200" b="1" i="1">
                              <a:latin typeface="Cambria Math" panose="02040503050406030204" pitchFamily="18" charset="0"/>
                            </a:rPr>
                            <m:t>𝑿</m:t>
                          </m:r>
                        </m:e>
                        <m:sup>
                          <m:r>
                            <a:rPr lang="en-US" sz="3200" i="1">
                              <a:latin typeface="Cambria Math" panose="02040503050406030204" pitchFamily="18" charset="0"/>
                            </a:rPr>
                            <m:t>𝑇</m:t>
                          </m:r>
                        </m:sup>
                      </m:sSup>
                      <m:r>
                        <a:rPr lang="en-US" sz="3200" b="1" i="1">
                          <a:latin typeface="Cambria Math" panose="02040503050406030204" pitchFamily="18" charset="0"/>
                        </a:rPr>
                        <m:t>𝒚</m:t>
                      </m:r>
                    </m:oMath>
                  </m:oMathPara>
                </a14:m>
                <a:endParaRPr lang="en-US" sz="3200" dirty="0"/>
              </a:p>
            </p:txBody>
          </p:sp>
        </mc:Choice>
        <mc:Fallback xmlns="">
          <p:sp>
            <p:nvSpPr>
              <p:cNvPr id="4" name="Rectangle 3">
                <a:extLst>
                  <a:ext uri="{FF2B5EF4-FFF2-40B4-BE49-F238E27FC236}">
                    <a16:creationId xmlns:a16="http://schemas.microsoft.com/office/drawing/2014/main" id="{B57482AD-E564-4817-BB7C-2945D5CCFC2C}"/>
                  </a:ext>
                </a:extLst>
              </p:cNvPr>
              <p:cNvSpPr>
                <a:spLocks noRot="1" noChangeAspect="1" noMove="1" noResize="1" noEditPoints="1" noAdjustHandles="1" noChangeArrowheads="1" noChangeShapeType="1" noTextEdit="1"/>
              </p:cNvSpPr>
              <p:nvPr/>
            </p:nvSpPr>
            <p:spPr>
              <a:xfrm>
                <a:off x="1009648" y="2655180"/>
                <a:ext cx="3980449" cy="1978811"/>
              </a:xfrm>
              <a:prstGeom prst="rect">
                <a:avLst/>
              </a:prstGeom>
              <a:blipFill>
                <a:blip r:embed="rId2"/>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9299CC9A-85AB-4103-9436-686DDCAD51E8}"/>
              </a:ext>
            </a:extLst>
          </p:cNvPr>
          <p:cNvCxnSpPr>
            <a:cxnSpLocks/>
          </p:cNvCxnSpPr>
          <p:nvPr/>
        </p:nvCxnSpPr>
        <p:spPr>
          <a:xfrm flipH="1">
            <a:off x="2839452" y="3854865"/>
            <a:ext cx="477326" cy="1390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DD247B2-9E5A-496B-88D7-056B8E2790D9}"/>
              </a:ext>
            </a:extLst>
          </p:cNvPr>
          <p:cNvSpPr txBox="1"/>
          <p:nvPr/>
        </p:nvSpPr>
        <p:spPr>
          <a:xfrm>
            <a:off x="2123026" y="5320494"/>
            <a:ext cx="1313857" cy="954107"/>
          </a:xfrm>
          <a:prstGeom prst="rect">
            <a:avLst/>
          </a:prstGeom>
          <a:noFill/>
        </p:spPr>
        <p:txBody>
          <a:bodyPr wrap="square" rtlCol="0">
            <a:spAutoFit/>
          </a:bodyPr>
          <a:lstStyle/>
          <a:p>
            <a:r>
              <a:rPr lang="en-US" sz="2800" dirty="0"/>
              <a:t>Feature </a:t>
            </a:r>
          </a:p>
          <a:p>
            <a:r>
              <a:rPr lang="en-US" sz="2800" dirty="0"/>
              <a:t>Matrix</a:t>
            </a:r>
          </a:p>
        </p:txBody>
      </p:sp>
      <p:cxnSp>
        <p:nvCxnSpPr>
          <p:cNvPr id="10" name="Straight Arrow Connector 9">
            <a:extLst>
              <a:ext uri="{FF2B5EF4-FFF2-40B4-BE49-F238E27FC236}">
                <a16:creationId xmlns:a16="http://schemas.microsoft.com/office/drawing/2014/main" id="{0FF8C331-0F79-4697-B4AC-766936AF225C}"/>
              </a:ext>
            </a:extLst>
          </p:cNvPr>
          <p:cNvCxnSpPr/>
          <p:nvPr/>
        </p:nvCxnSpPr>
        <p:spPr>
          <a:xfrm>
            <a:off x="4540469" y="3972910"/>
            <a:ext cx="252248" cy="1347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F3FE039-86BE-4D06-A6C9-AD7BD0B058B9}"/>
              </a:ext>
            </a:extLst>
          </p:cNvPr>
          <p:cNvSpPr txBox="1"/>
          <p:nvPr/>
        </p:nvSpPr>
        <p:spPr>
          <a:xfrm>
            <a:off x="4340709" y="5320494"/>
            <a:ext cx="1313857" cy="954107"/>
          </a:xfrm>
          <a:prstGeom prst="rect">
            <a:avLst/>
          </a:prstGeom>
          <a:noFill/>
        </p:spPr>
        <p:txBody>
          <a:bodyPr wrap="square" rtlCol="0">
            <a:spAutoFit/>
          </a:bodyPr>
          <a:lstStyle/>
          <a:p>
            <a:r>
              <a:rPr lang="en-US" sz="2800" dirty="0"/>
              <a:t>Label Vector</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0EAD902-ED5B-B612-1440-0053542A02E3}"/>
                  </a:ext>
                </a:extLst>
              </p:cNvPr>
              <p:cNvSpPr txBox="1"/>
              <p:nvPr/>
            </p:nvSpPr>
            <p:spPr>
              <a:xfrm>
                <a:off x="6398431" y="3268483"/>
                <a:ext cx="4193110" cy="15687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𝑋</m:t>
                      </m:r>
                      <m:r>
                        <a:rPr lang="en-US" sz="2000" b="0" i="1" smtClean="0">
                          <a:latin typeface="Cambria Math" panose="02040503050406030204" pitchFamily="18" charset="0"/>
                        </a:rPr>
                        <m:t>=</m:t>
                      </m:r>
                      <m:d>
                        <m:dPr>
                          <m:begChr m:val="["/>
                          <m:endChr m:val="]"/>
                          <m:ctrlPr>
                            <a:rPr lang="en-US" sz="2000" i="1" smtClean="0">
                              <a:latin typeface="Cambria Math" panose="02040503050406030204" pitchFamily="18" charset="0"/>
                            </a:rPr>
                          </m:ctrlPr>
                        </m:dPr>
                        <m:e>
                          <m:eqArr>
                            <m:eqArrPr>
                              <m:ctrlPr>
                                <a:rPr lang="en-US" sz="2000" i="1" smtClean="0">
                                  <a:latin typeface="Cambria Math" panose="02040503050406030204" pitchFamily="18" charset="0"/>
                                </a:rPr>
                              </m:ctrlPr>
                            </m:eqArrPr>
                            <m:e>
                              <m:m>
                                <m:mPr>
                                  <m:mcs>
                                    <m:mc>
                                      <m:mcPr>
                                        <m:count m:val="5"/>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1</m:t>
                                    </m:r>
                                  </m:e>
                                  <m:e>
                                    <m:sSubSup>
                                      <m:sSubSupPr>
                                        <m:ctrlPr>
                                          <a:rPr lang="en-US" sz="2000" i="1">
                                            <a:latin typeface="Cambria Math" panose="02040503050406030204" pitchFamily="18" charset="0"/>
                                          </a:rPr>
                                        </m:ctrlPr>
                                      </m:sSubSupPr>
                                      <m:e>
                                        <m:r>
                                          <a:rPr lang="en-US" sz="2000" i="1">
                                            <a:latin typeface="Cambria Math" panose="02040503050406030204" pitchFamily="18" charset="0"/>
                                          </a:rPr>
                                          <m:t> </m:t>
                                        </m:r>
                                        <m:r>
                                          <a:rPr lang="en-US" sz="2000" i="1">
                                            <a:latin typeface="Cambria Math" panose="02040503050406030204" pitchFamily="18" charset="0"/>
                                          </a:rPr>
                                          <m:t>𝑥</m:t>
                                        </m:r>
                                      </m:e>
                                      <m:sub>
                                        <m:r>
                                          <a:rPr lang="en-US" sz="2000" i="1">
                                            <a:latin typeface="Cambria Math" panose="02040503050406030204" pitchFamily="18" charset="0"/>
                                          </a:rPr>
                                          <m:t>1</m:t>
                                        </m:r>
                                      </m:sub>
                                      <m:sup>
                                        <m:d>
                                          <m:dPr>
                                            <m:ctrlPr>
                                              <a:rPr lang="en-US" sz="2000" i="1">
                                                <a:latin typeface="Cambria Math" panose="02040503050406030204" pitchFamily="18" charset="0"/>
                                              </a:rPr>
                                            </m:ctrlPr>
                                          </m:dPr>
                                          <m:e>
                                            <m:r>
                                              <a:rPr lang="en-US" sz="2000" i="1">
                                                <a:latin typeface="Cambria Math" panose="02040503050406030204" pitchFamily="18" charset="0"/>
                                              </a:rPr>
                                              <m:t>1</m:t>
                                            </m:r>
                                          </m:e>
                                        </m:d>
                                      </m:sup>
                                    </m:sSubSup>
                                  </m:e>
                                  <m:e>
                                    <m:sSubSup>
                                      <m:sSubSupPr>
                                        <m:ctrlPr>
                                          <a:rPr lang="en-US" sz="2000" i="1">
                                            <a:latin typeface="Cambria Math" panose="02040503050406030204" pitchFamily="18" charset="0"/>
                                          </a:rPr>
                                        </m:ctrlPr>
                                      </m:sSubSupPr>
                                      <m:e>
                                        <m:r>
                                          <a:rPr lang="en-US" sz="2000" i="1">
                                            <a:latin typeface="Cambria Math" panose="02040503050406030204" pitchFamily="18" charset="0"/>
                                          </a:rPr>
                                          <m:t> </m:t>
                                        </m:r>
                                        <m:r>
                                          <a:rPr lang="en-US" sz="2000" i="1">
                                            <a:latin typeface="Cambria Math" panose="02040503050406030204" pitchFamily="18" charset="0"/>
                                          </a:rPr>
                                          <m:t>𝑥</m:t>
                                        </m:r>
                                      </m:e>
                                      <m:sub>
                                        <m:r>
                                          <a:rPr lang="en-US" sz="2000" b="0" i="1" smtClean="0">
                                            <a:latin typeface="Cambria Math" panose="02040503050406030204" pitchFamily="18" charset="0"/>
                                          </a:rPr>
                                          <m:t>2</m:t>
                                        </m:r>
                                      </m:sub>
                                      <m:sup>
                                        <m:d>
                                          <m:dPr>
                                            <m:ctrlPr>
                                              <a:rPr lang="en-US" sz="2000" i="1">
                                                <a:latin typeface="Cambria Math" panose="02040503050406030204" pitchFamily="18" charset="0"/>
                                              </a:rPr>
                                            </m:ctrlPr>
                                          </m:dPr>
                                          <m:e>
                                            <m:r>
                                              <a:rPr lang="en-US" sz="2000" i="1">
                                                <a:latin typeface="Cambria Math" panose="02040503050406030204" pitchFamily="18" charset="0"/>
                                              </a:rPr>
                                              <m:t>1</m:t>
                                            </m:r>
                                          </m:e>
                                        </m:d>
                                      </m:sup>
                                    </m:sSubSup>
                                  </m:e>
                                  <m:e>
                                    <m:r>
                                      <a:rPr lang="en-US" sz="2000" i="1">
                                        <a:latin typeface="Cambria Math" panose="02040503050406030204" pitchFamily="18" charset="0"/>
                                      </a:rPr>
                                      <m:t>…</m:t>
                                    </m:r>
                                  </m:e>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𝑚</m:t>
                                        </m:r>
                                      </m:sub>
                                      <m:sup>
                                        <m:d>
                                          <m:dPr>
                                            <m:ctrlPr>
                                              <a:rPr lang="en-US" sz="2000" i="1">
                                                <a:latin typeface="Cambria Math" panose="02040503050406030204" pitchFamily="18" charset="0"/>
                                              </a:rPr>
                                            </m:ctrlPr>
                                          </m:dPr>
                                          <m:e>
                                            <m:r>
                                              <a:rPr lang="en-US" sz="2000" i="1">
                                                <a:latin typeface="Cambria Math" panose="02040503050406030204" pitchFamily="18" charset="0"/>
                                              </a:rPr>
                                              <m:t>1</m:t>
                                            </m:r>
                                          </m:e>
                                        </m:d>
                                      </m:sup>
                                    </m:sSubSup>
                                  </m:e>
                                </m:mr>
                                <m:mr>
                                  <m:e>
                                    <m:r>
                                      <a:rPr lang="en-US" sz="2000" b="0" i="1" smtClean="0">
                                        <a:latin typeface="Cambria Math" panose="02040503050406030204" pitchFamily="18" charset="0"/>
                                      </a:rPr>
                                      <m:t>1</m:t>
                                    </m:r>
                                  </m:e>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1</m:t>
                                        </m:r>
                                      </m:sub>
                                      <m:sup>
                                        <m:d>
                                          <m:dPr>
                                            <m:ctrlPr>
                                              <a:rPr lang="en-US" sz="2000" i="1">
                                                <a:latin typeface="Cambria Math" panose="02040503050406030204" pitchFamily="18" charset="0"/>
                                              </a:rPr>
                                            </m:ctrlPr>
                                          </m:dPr>
                                          <m:e>
                                            <m:r>
                                              <a:rPr lang="en-US" sz="2000" i="1">
                                                <a:latin typeface="Cambria Math" panose="02040503050406030204" pitchFamily="18" charset="0"/>
                                              </a:rPr>
                                              <m:t>2</m:t>
                                            </m:r>
                                          </m:e>
                                        </m:d>
                                      </m:sup>
                                    </m:sSubSup>
                                  </m:e>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b="0" i="1" smtClean="0">
                                            <a:latin typeface="Cambria Math" panose="02040503050406030204" pitchFamily="18" charset="0"/>
                                          </a:rPr>
                                          <m:t>2</m:t>
                                        </m:r>
                                      </m:sub>
                                      <m:sup>
                                        <m:d>
                                          <m:dPr>
                                            <m:ctrlPr>
                                              <a:rPr lang="en-US" sz="2000" i="1">
                                                <a:latin typeface="Cambria Math" panose="02040503050406030204" pitchFamily="18" charset="0"/>
                                              </a:rPr>
                                            </m:ctrlPr>
                                          </m:dPr>
                                          <m:e>
                                            <m:r>
                                              <a:rPr lang="en-US" sz="2000" b="0" i="1" smtClean="0">
                                                <a:latin typeface="Cambria Math" panose="02040503050406030204" pitchFamily="18" charset="0"/>
                                              </a:rPr>
                                              <m:t>2</m:t>
                                            </m:r>
                                          </m:e>
                                        </m:d>
                                      </m:sup>
                                    </m:sSubSup>
                                  </m:e>
                                  <m:e>
                                    <m:r>
                                      <a:rPr lang="en-US" sz="2000" i="1">
                                        <a:latin typeface="Cambria Math" panose="02040503050406030204" pitchFamily="18" charset="0"/>
                                      </a:rPr>
                                      <m:t>…</m:t>
                                    </m:r>
                                  </m:e>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b="0" i="1" smtClean="0">
                                            <a:latin typeface="Cambria Math" panose="02040503050406030204" pitchFamily="18" charset="0"/>
                                          </a:rPr>
                                          <m:t>𝑚</m:t>
                                        </m:r>
                                      </m:sub>
                                      <m:sup>
                                        <m:d>
                                          <m:dPr>
                                            <m:ctrlPr>
                                              <a:rPr lang="en-US" sz="2000" i="1">
                                                <a:latin typeface="Cambria Math" panose="02040503050406030204" pitchFamily="18" charset="0"/>
                                              </a:rPr>
                                            </m:ctrlPr>
                                          </m:dPr>
                                          <m:e>
                                            <m:r>
                                              <a:rPr lang="en-US" sz="2000" b="0" i="1" smtClean="0">
                                                <a:latin typeface="Cambria Math" panose="02040503050406030204" pitchFamily="18" charset="0"/>
                                              </a:rPr>
                                              <m:t>2</m:t>
                                            </m:r>
                                          </m:e>
                                        </m:d>
                                      </m:sup>
                                    </m:sSubSup>
                                  </m:e>
                                </m:mr>
                                <m:mr>
                                  <m:e>
                                    <m:r>
                                      <a:rPr lang="en-US" sz="2000" b="0" i="1" smtClean="0">
                                        <a:latin typeface="Cambria Math" panose="02040503050406030204" pitchFamily="18" charset="0"/>
                                      </a:rPr>
                                      <m:t>1</m:t>
                                    </m:r>
                                  </m:e>
                                  <m:e>
                                    <m:r>
                                      <a:rPr lang="en-US" sz="2000" i="1">
                                        <a:latin typeface="Cambria Math" panose="02040503050406030204" pitchFamily="18" charset="0"/>
                                      </a:rPr>
                                      <m:t>⋮</m:t>
                                    </m:r>
                                  </m:e>
                                  <m:e>
                                    <m:r>
                                      <a:rPr lang="en-US" sz="2000" i="1">
                                        <a:latin typeface="Cambria Math" panose="02040503050406030204" pitchFamily="18" charset="0"/>
                                      </a:rPr>
                                      <m:t>⋮</m:t>
                                    </m:r>
                                  </m:e>
                                  <m:e>
                                    <m:r>
                                      <a:rPr lang="en-US" sz="2000" i="1">
                                        <a:latin typeface="Cambria Math" panose="02040503050406030204" pitchFamily="18" charset="0"/>
                                      </a:rPr>
                                      <m:t>⋱</m:t>
                                    </m:r>
                                  </m:e>
                                  <m:e>
                                    <m:r>
                                      <a:rPr lang="en-US" sz="2000" i="1">
                                        <a:latin typeface="Cambria Math" panose="02040503050406030204" pitchFamily="18" charset="0"/>
                                      </a:rPr>
                                      <m:t>⋮</m:t>
                                    </m:r>
                                  </m:e>
                                </m:mr>
                                <m:mr>
                                  <m:e>
                                    <m:r>
                                      <a:rPr lang="en-US" sz="2000" b="0" i="1" smtClean="0">
                                        <a:latin typeface="Cambria Math" panose="02040503050406030204" pitchFamily="18" charset="0"/>
                                      </a:rPr>
                                      <m:t>1</m:t>
                                    </m:r>
                                  </m:e>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1</m:t>
                                        </m:r>
                                      </m:sub>
                                      <m:sup>
                                        <m:d>
                                          <m:dPr>
                                            <m:ctrlPr>
                                              <a:rPr lang="en-US" sz="2000" i="1">
                                                <a:latin typeface="Cambria Math" panose="02040503050406030204" pitchFamily="18" charset="0"/>
                                              </a:rPr>
                                            </m:ctrlPr>
                                          </m:dPr>
                                          <m:e>
                                            <m:r>
                                              <a:rPr lang="en-US" sz="2000" i="1">
                                                <a:latin typeface="Cambria Math" panose="02040503050406030204" pitchFamily="18" charset="0"/>
                                              </a:rPr>
                                              <m:t>𝑛</m:t>
                                            </m:r>
                                          </m:e>
                                        </m:d>
                                      </m:sup>
                                    </m:sSubSup>
                                  </m:e>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b="0" i="1" smtClean="0">
                                            <a:latin typeface="Cambria Math" panose="02040503050406030204" pitchFamily="18" charset="0"/>
                                          </a:rPr>
                                          <m:t>2</m:t>
                                        </m:r>
                                      </m:sub>
                                      <m:sup>
                                        <m:d>
                                          <m:dPr>
                                            <m:ctrlPr>
                                              <a:rPr lang="en-US" sz="2000" i="1">
                                                <a:latin typeface="Cambria Math" panose="02040503050406030204" pitchFamily="18" charset="0"/>
                                              </a:rPr>
                                            </m:ctrlPr>
                                          </m:dPr>
                                          <m:e>
                                            <m:r>
                                              <a:rPr lang="en-US" sz="2000" i="1">
                                                <a:latin typeface="Cambria Math" panose="02040503050406030204" pitchFamily="18" charset="0"/>
                                              </a:rPr>
                                              <m:t>𝑛</m:t>
                                            </m:r>
                                          </m:e>
                                        </m:d>
                                      </m:sup>
                                    </m:sSubSup>
                                  </m:e>
                                  <m:e>
                                    <m:r>
                                      <a:rPr lang="en-US" sz="2000" i="1">
                                        <a:latin typeface="Cambria Math" panose="02040503050406030204" pitchFamily="18" charset="0"/>
                                      </a:rPr>
                                      <m:t>…</m:t>
                                    </m:r>
                                  </m:e>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b="0" i="1" smtClean="0">
                                            <a:latin typeface="Cambria Math" panose="02040503050406030204" pitchFamily="18" charset="0"/>
                                          </a:rPr>
                                          <m:t>𝑚</m:t>
                                        </m:r>
                                      </m:sub>
                                      <m:sup>
                                        <m:d>
                                          <m:dPr>
                                            <m:ctrlPr>
                                              <a:rPr lang="en-US" sz="2000" i="1">
                                                <a:latin typeface="Cambria Math" panose="02040503050406030204" pitchFamily="18" charset="0"/>
                                              </a:rPr>
                                            </m:ctrlPr>
                                          </m:dPr>
                                          <m:e>
                                            <m:r>
                                              <a:rPr lang="en-US" sz="2000" i="1">
                                                <a:latin typeface="Cambria Math" panose="02040503050406030204" pitchFamily="18" charset="0"/>
                                              </a:rPr>
                                              <m:t>𝑛</m:t>
                                            </m:r>
                                          </m:e>
                                        </m:d>
                                      </m:sup>
                                    </m:sSubSup>
                                  </m:e>
                                </m:mr>
                              </m:m>
                            </m:e>
                            <m:e>
                              <m:r>
                                <a:rPr lang="en-US" sz="2000" b="0" i="1" smtClean="0">
                                  <a:latin typeface="Cambria Math" panose="02040503050406030204" pitchFamily="18" charset="0"/>
                                </a:rPr>
                                <m:t> </m:t>
                              </m:r>
                            </m:e>
                          </m:eqArr>
                        </m:e>
                      </m:d>
                    </m:oMath>
                  </m:oMathPara>
                </a14:m>
                <a:endParaRPr lang="en-US" sz="2000" dirty="0"/>
              </a:p>
            </p:txBody>
          </p:sp>
        </mc:Choice>
        <mc:Fallback xmlns="">
          <p:sp>
            <p:nvSpPr>
              <p:cNvPr id="24" name="TextBox 23">
                <a:extLst>
                  <a:ext uri="{FF2B5EF4-FFF2-40B4-BE49-F238E27FC236}">
                    <a16:creationId xmlns:a16="http://schemas.microsoft.com/office/drawing/2014/main" id="{B0EAD902-ED5B-B612-1440-0053542A02E3}"/>
                  </a:ext>
                </a:extLst>
              </p:cNvPr>
              <p:cNvSpPr txBox="1">
                <a:spLocks noRot="1" noChangeAspect="1" noMove="1" noResize="1" noEditPoints="1" noAdjustHandles="1" noChangeArrowheads="1" noChangeShapeType="1" noTextEdit="1"/>
              </p:cNvSpPr>
              <p:nvPr/>
            </p:nvSpPr>
            <p:spPr>
              <a:xfrm>
                <a:off x="6398431" y="3268483"/>
                <a:ext cx="4193110" cy="1568763"/>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5994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39A77-D475-4E5B-AF99-D3099BF5D144}"/>
              </a:ext>
            </a:extLst>
          </p:cNvPr>
          <p:cNvSpPr>
            <a:spLocks noGrp="1"/>
          </p:cNvSpPr>
          <p:nvPr>
            <p:ph type="title"/>
          </p:nvPr>
        </p:nvSpPr>
        <p:spPr/>
        <p:txBody>
          <a:bodyPr/>
          <a:lstStyle/>
          <a:p>
            <a:r>
              <a:rPr lang="en-US" b="1" dirty="0"/>
              <a:t>Solution to the Least-Squares Problems</a:t>
            </a:r>
          </a:p>
        </p:txBody>
      </p:sp>
      <p:sp>
        <p:nvSpPr>
          <p:cNvPr id="3" name="Content Placeholder 2">
            <a:extLst>
              <a:ext uri="{FF2B5EF4-FFF2-40B4-BE49-F238E27FC236}">
                <a16:creationId xmlns:a16="http://schemas.microsoft.com/office/drawing/2014/main" id="{1620B529-C32F-40B7-BCA7-F01901DB8D78}"/>
              </a:ext>
            </a:extLst>
          </p:cNvPr>
          <p:cNvSpPr>
            <a:spLocks noGrp="1"/>
          </p:cNvSpPr>
          <p:nvPr>
            <p:ph idx="1"/>
          </p:nvPr>
        </p:nvSpPr>
        <p:spPr/>
        <p:txBody>
          <a:bodyPr/>
          <a:lstStyle/>
          <a:p>
            <a:r>
              <a:rPr lang="en-US" dirty="0"/>
              <a:t>It turns out that the least squares problem has closed form solution:</a:t>
            </a:r>
          </a:p>
          <a:p>
            <a:pPr marL="0" indent="0">
              <a:buNone/>
            </a:pPr>
            <a:endParaRPr lang="en-US" dirty="0"/>
          </a:p>
          <a:p>
            <a:pPr marL="0" indent="0">
              <a:buNone/>
            </a:pPr>
            <a:r>
              <a:rPr lang="en-US" dirty="0"/>
              <a:t>                                                                    </a:t>
            </a:r>
          </a:p>
          <a:p>
            <a:pPr marL="0" indent="0">
              <a:buNone/>
            </a:pPr>
            <a:r>
              <a:rPr lang="en-US" dirty="0"/>
              <a:t>                                                          </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57482AD-E564-4817-BB7C-2945D5CCFC2C}"/>
                  </a:ext>
                </a:extLst>
              </p:cNvPr>
              <p:cNvSpPr/>
              <p:nvPr/>
            </p:nvSpPr>
            <p:spPr>
              <a:xfrm>
                <a:off x="994966" y="2655180"/>
                <a:ext cx="4009816" cy="2404056"/>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limLow>
                        <m:limLowPr>
                          <m:ctrlPr>
                            <a:rPr lang="en-US" sz="3200" b="0" i="1" smtClean="0">
                              <a:latin typeface="Cambria Math" panose="02040503050406030204" pitchFamily="18" charset="0"/>
                              <a:ea typeface="Cambria Math" panose="02040503050406030204" pitchFamily="18" charset="0"/>
                            </a:rPr>
                          </m:ctrlPr>
                        </m:limLowPr>
                        <m:e>
                          <m:r>
                            <a:rPr lang="en-US" sz="3200" b="0" i="1" smtClean="0">
                              <a:latin typeface="Cambria Math" panose="02040503050406030204" pitchFamily="18" charset="0"/>
                              <a:ea typeface="Cambria Math" panose="02040503050406030204" pitchFamily="18" charset="0"/>
                            </a:rPr>
                            <m:t> </m:t>
                          </m:r>
                          <m:groupChr>
                            <m:groupChrPr>
                              <m:chr m:val="⏟"/>
                              <m:ctrlPr>
                                <a:rPr lang="en-US" sz="3200" b="0" i="1" smtClean="0">
                                  <a:latin typeface="Cambria Math" panose="02040503050406030204" pitchFamily="18" charset="0"/>
                                  <a:ea typeface="Cambria Math" panose="02040503050406030204" pitchFamily="18" charset="0"/>
                                </a:rPr>
                              </m:ctrlPr>
                            </m:groupChrPr>
                            <m:e>
                              <m:d>
                                <m:dPr>
                                  <m:begChr m:val="["/>
                                  <m:endChr m:val="]"/>
                                  <m:ctrlPr>
                                    <a:rPr lang="en-US" sz="3200" i="1">
                                      <a:latin typeface="Cambria Math" panose="02040503050406030204" pitchFamily="18" charset="0"/>
                                    </a:rPr>
                                  </m:ctrlPr>
                                </m:dPr>
                                <m:e>
                                  <m:m>
                                    <m:mPr>
                                      <m:mcs>
                                        <m:mc>
                                          <m:mcPr>
                                            <m:count m:val="1"/>
                                            <m:mcJc m:val="center"/>
                                          </m:mcPr>
                                        </m:mc>
                                      </m:mcs>
                                      <m:ctrlPr>
                                        <a:rPr lang="en-US" sz="3200" i="1">
                                          <a:latin typeface="Cambria Math" panose="02040503050406030204" pitchFamily="18" charset="0"/>
                                        </a:rPr>
                                      </m:ctrlPr>
                                    </m:mPr>
                                    <m:mr>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0</m:t>
                                            </m:r>
                                          </m:sub>
                                        </m:sSub>
                                      </m:e>
                                    </m:mr>
                                    <m:mr>
                                      <m:e>
                                        <m:sSub>
                                          <m:sSubPr>
                                            <m:ctrlPr>
                                              <a:rPr lang="en-US" sz="3200" i="1">
                                                <a:latin typeface="Cambria Math" panose="02040503050406030204" pitchFamily="18" charset="0"/>
                                              </a:rPr>
                                            </m:ctrlPr>
                                          </m:sSubPr>
                                          <m:e>
                                            <m:r>
                                              <a:rPr lang="en-US" sz="3200" b="0" i="1" smtClean="0">
                                                <a:latin typeface="Cambria Math" panose="02040503050406030204" pitchFamily="18" charset="0"/>
                                              </a:rPr>
                                              <m:t>𝑤</m:t>
                                            </m:r>
                                          </m:e>
                                          <m:sub>
                                            <m:r>
                                              <a:rPr lang="en-US" sz="3200" i="1">
                                                <a:latin typeface="Cambria Math" panose="02040503050406030204" pitchFamily="18" charset="0"/>
                                              </a:rPr>
                                              <m:t>1</m:t>
                                            </m:r>
                                          </m:sub>
                                        </m:sSub>
                                      </m:e>
                                    </m:mr>
                                    <m:mr>
                                      <m:e>
                                        <m:eqArr>
                                          <m:eqArrPr>
                                            <m:ctrlPr>
                                              <a:rPr lang="en-US" sz="3200" i="1">
                                                <a:latin typeface="Cambria Math" panose="02040503050406030204" pitchFamily="18" charset="0"/>
                                                <a:ea typeface="Cambria Math" panose="02040503050406030204" pitchFamily="18" charset="0"/>
                                              </a:rPr>
                                            </m:ctrlPr>
                                          </m:eqArrPr>
                                          <m:e>
                                            <m:r>
                                              <a:rPr lang="en-US" sz="3200" i="1">
                                                <a:latin typeface="Cambria Math" panose="02040503050406030204" pitchFamily="18" charset="0"/>
                                                <a:ea typeface="Cambria Math" panose="02040503050406030204" pitchFamily="18" charset="0"/>
                                              </a:rPr>
                                              <m:t>⋮</m:t>
                                            </m:r>
                                          </m:e>
                                          <m:e>
                                            <m:sSub>
                                              <m:sSubPr>
                                                <m:ctrlPr>
                                                  <a:rPr lang="en-US" sz="3200" i="1">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𝑤</m:t>
                                                </m:r>
                                              </m:e>
                                              <m:sub>
                                                <m:r>
                                                  <a:rPr lang="en-US" sz="3200" b="0" i="1" smtClean="0">
                                                    <a:latin typeface="Cambria Math" panose="02040503050406030204" pitchFamily="18" charset="0"/>
                                                    <a:ea typeface="Cambria Math" panose="02040503050406030204" pitchFamily="18" charset="0"/>
                                                  </a:rPr>
                                                  <m:t>𝑚</m:t>
                                                </m:r>
                                              </m:sub>
                                            </m:sSub>
                                          </m:e>
                                        </m:eqArr>
                                      </m:e>
                                    </m:mr>
                                  </m:m>
                                </m:e>
                              </m:d>
                            </m:e>
                          </m:groupChr>
                        </m:e>
                        <m:lim>
                          <m:r>
                            <a:rPr lang="en-US" sz="3200" b="0" i="1" smtClean="0">
                              <a:latin typeface="Cambria Math" panose="02040503050406030204" pitchFamily="18" charset="0"/>
                              <a:ea typeface="Cambria Math" panose="02040503050406030204" pitchFamily="18" charset="0"/>
                            </a:rPr>
                            <m:t>≜</m:t>
                          </m:r>
                          <m:r>
                            <a:rPr lang="en-US" sz="3200" b="1" i="1" smtClean="0">
                              <a:latin typeface="Cambria Math" panose="02040503050406030204" pitchFamily="18" charset="0"/>
                              <a:ea typeface="Cambria Math" panose="02040503050406030204" pitchFamily="18" charset="0"/>
                            </a:rPr>
                            <m:t> </m:t>
                          </m:r>
                          <m:r>
                            <a:rPr lang="en-US" sz="3200" b="1" i="1" smtClean="0">
                              <a:latin typeface="Cambria Math" panose="02040503050406030204" pitchFamily="18" charset="0"/>
                              <a:ea typeface="Cambria Math" panose="02040503050406030204" pitchFamily="18" charset="0"/>
                            </a:rPr>
                            <m:t>𝒘</m:t>
                          </m:r>
                        </m:lim>
                      </m:limLow>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b="1" i="1">
                              <a:latin typeface="Cambria Math" panose="02040503050406030204" pitchFamily="18" charset="0"/>
                            </a:rPr>
                            <m:t>(</m:t>
                          </m:r>
                          <m:sSup>
                            <m:sSupPr>
                              <m:ctrlPr>
                                <a:rPr lang="en-US" sz="3200" b="1" i="1">
                                  <a:latin typeface="Cambria Math" panose="02040503050406030204" pitchFamily="18" charset="0"/>
                                </a:rPr>
                              </m:ctrlPr>
                            </m:sSupPr>
                            <m:e>
                              <m:r>
                                <a:rPr lang="en-US" sz="3200" b="1" i="1">
                                  <a:latin typeface="Cambria Math" panose="02040503050406030204" pitchFamily="18" charset="0"/>
                                </a:rPr>
                                <m:t>𝑿</m:t>
                              </m:r>
                            </m:e>
                            <m:sup>
                              <m:r>
                                <a:rPr lang="en-US" sz="3200" i="1">
                                  <a:latin typeface="Cambria Math" panose="02040503050406030204" pitchFamily="18" charset="0"/>
                                </a:rPr>
                                <m:t>𝑇</m:t>
                              </m:r>
                            </m:sup>
                          </m:sSup>
                          <m:r>
                            <a:rPr lang="en-US" sz="3200" b="1" i="1">
                              <a:latin typeface="Cambria Math" panose="02040503050406030204" pitchFamily="18" charset="0"/>
                            </a:rPr>
                            <m:t>𝑿</m:t>
                          </m:r>
                          <m:r>
                            <a:rPr lang="en-US" sz="3200" b="1" i="1">
                              <a:latin typeface="Cambria Math" panose="02040503050406030204" pitchFamily="18" charset="0"/>
                            </a:rPr>
                            <m:t>)</m:t>
                          </m:r>
                        </m:e>
                        <m:sup>
                          <m:r>
                            <a:rPr lang="en-US" sz="3200" i="1">
                              <a:latin typeface="Cambria Math" panose="02040503050406030204" pitchFamily="18" charset="0"/>
                            </a:rPr>
                            <m:t>−1</m:t>
                          </m:r>
                        </m:sup>
                      </m:sSup>
                      <m:sSup>
                        <m:sSupPr>
                          <m:ctrlPr>
                            <a:rPr lang="en-US" sz="3200" i="1">
                              <a:latin typeface="Cambria Math" panose="02040503050406030204" pitchFamily="18" charset="0"/>
                            </a:rPr>
                          </m:ctrlPr>
                        </m:sSupPr>
                        <m:e>
                          <m:r>
                            <a:rPr lang="en-US" sz="3200" b="1" i="1">
                              <a:latin typeface="Cambria Math" panose="02040503050406030204" pitchFamily="18" charset="0"/>
                            </a:rPr>
                            <m:t>𝑿</m:t>
                          </m:r>
                        </m:e>
                        <m:sup>
                          <m:r>
                            <a:rPr lang="en-US" sz="3200" i="1">
                              <a:latin typeface="Cambria Math" panose="02040503050406030204" pitchFamily="18" charset="0"/>
                            </a:rPr>
                            <m:t>𝑇</m:t>
                          </m:r>
                        </m:sup>
                      </m:sSup>
                      <m:r>
                        <a:rPr lang="en-US" sz="3200" b="1" i="1">
                          <a:latin typeface="Cambria Math" panose="02040503050406030204" pitchFamily="18" charset="0"/>
                        </a:rPr>
                        <m:t>𝒚</m:t>
                      </m:r>
                    </m:oMath>
                  </m:oMathPara>
                </a14:m>
                <a:endParaRPr lang="en-US" sz="3200" dirty="0"/>
              </a:p>
            </p:txBody>
          </p:sp>
        </mc:Choice>
        <mc:Fallback xmlns="">
          <p:sp>
            <p:nvSpPr>
              <p:cNvPr id="4" name="Rectangle 3">
                <a:extLst>
                  <a:ext uri="{FF2B5EF4-FFF2-40B4-BE49-F238E27FC236}">
                    <a16:creationId xmlns:a16="http://schemas.microsoft.com/office/drawing/2014/main" id="{B57482AD-E564-4817-BB7C-2945D5CCFC2C}"/>
                  </a:ext>
                </a:extLst>
              </p:cNvPr>
              <p:cNvSpPr>
                <a:spLocks noRot="1" noChangeAspect="1" noMove="1" noResize="1" noEditPoints="1" noAdjustHandles="1" noChangeArrowheads="1" noChangeShapeType="1" noTextEdit="1"/>
              </p:cNvSpPr>
              <p:nvPr/>
            </p:nvSpPr>
            <p:spPr>
              <a:xfrm>
                <a:off x="994966" y="2655180"/>
                <a:ext cx="4009816" cy="2404056"/>
              </a:xfrm>
              <a:prstGeom prst="rect">
                <a:avLst/>
              </a:prstGeom>
              <a:blipFill>
                <a:blip r:embed="rId2"/>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9299CC9A-85AB-4103-9436-686DDCAD51E8}"/>
              </a:ext>
            </a:extLst>
          </p:cNvPr>
          <p:cNvCxnSpPr/>
          <p:nvPr/>
        </p:nvCxnSpPr>
        <p:spPr>
          <a:xfrm flipH="1">
            <a:off x="2839452" y="3850105"/>
            <a:ext cx="320842" cy="13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DD247B2-9E5A-496B-88D7-056B8E2790D9}"/>
              </a:ext>
            </a:extLst>
          </p:cNvPr>
          <p:cNvSpPr txBox="1"/>
          <p:nvPr/>
        </p:nvSpPr>
        <p:spPr>
          <a:xfrm>
            <a:off x="2123026" y="5320494"/>
            <a:ext cx="1313857" cy="954107"/>
          </a:xfrm>
          <a:prstGeom prst="rect">
            <a:avLst/>
          </a:prstGeom>
          <a:noFill/>
        </p:spPr>
        <p:txBody>
          <a:bodyPr wrap="square" rtlCol="0">
            <a:spAutoFit/>
          </a:bodyPr>
          <a:lstStyle/>
          <a:p>
            <a:r>
              <a:rPr lang="en-US" sz="2800" dirty="0"/>
              <a:t>Feature </a:t>
            </a:r>
          </a:p>
          <a:p>
            <a:r>
              <a:rPr lang="en-US" sz="2800" dirty="0"/>
              <a:t>Matrix</a:t>
            </a:r>
          </a:p>
        </p:txBody>
      </p:sp>
      <p:cxnSp>
        <p:nvCxnSpPr>
          <p:cNvPr id="10" name="Straight Arrow Connector 9">
            <a:extLst>
              <a:ext uri="{FF2B5EF4-FFF2-40B4-BE49-F238E27FC236}">
                <a16:creationId xmlns:a16="http://schemas.microsoft.com/office/drawing/2014/main" id="{0FF8C331-0F79-4697-B4AC-766936AF225C}"/>
              </a:ext>
            </a:extLst>
          </p:cNvPr>
          <p:cNvCxnSpPr/>
          <p:nvPr/>
        </p:nvCxnSpPr>
        <p:spPr>
          <a:xfrm>
            <a:off x="4540469" y="3972910"/>
            <a:ext cx="252248" cy="1347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F3FE039-86BE-4D06-A6C9-AD7BD0B058B9}"/>
              </a:ext>
            </a:extLst>
          </p:cNvPr>
          <p:cNvSpPr txBox="1"/>
          <p:nvPr/>
        </p:nvSpPr>
        <p:spPr>
          <a:xfrm>
            <a:off x="4340709" y="5320494"/>
            <a:ext cx="1313857" cy="954107"/>
          </a:xfrm>
          <a:prstGeom prst="rect">
            <a:avLst/>
          </a:prstGeom>
          <a:noFill/>
        </p:spPr>
        <p:txBody>
          <a:bodyPr wrap="square" rtlCol="0">
            <a:spAutoFit/>
          </a:bodyPr>
          <a:lstStyle/>
          <a:p>
            <a:r>
              <a:rPr lang="en-US" sz="2800" dirty="0"/>
              <a:t>Label Vector</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E666E0-4667-9083-3AB0-71D3644C40A9}"/>
                  </a:ext>
                </a:extLst>
              </p:cNvPr>
              <p:cNvSpPr txBox="1"/>
              <p:nvPr/>
            </p:nvSpPr>
            <p:spPr>
              <a:xfrm>
                <a:off x="6400800" y="2884516"/>
                <a:ext cx="4953000" cy="3139321"/>
              </a:xfrm>
              <a:prstGeom prst="rect">
                <a:avLst/>
              </a:prstGeom>
              <a:noFill/>
            </p:spPr>
            <p:txBody>
              <a:bodyPr wrap="square" rtlCol="0">
                <a:spAutoFit/>
              </a:bodyPr>
              <a:lstStyle/>
              <a:p>
                <a:r>
                  <a:rPr lang="en-US" dirty="0"/>
                  <a:t>Note -  Finding </a:t>
                </a:r>
                <a:r>
                  <a:rPr lang="en-US" b="1" dirty="0"/>
                  <a:t>w</a:t>
                </a:r>
                <a:r>
                  <a:rPr lang="en-US" dirty="0"/>
                  <a:t> that minimizes the MSE is equivalent to finding </a:t>
                </a:r>
                <a:r>
                  <a:rPr lang="en-US" b="1" dirty="0"/>
                  <a:t>w</a:t>
                </a:r>
                <a:r>
                  <a:rPr lang="en-US" dirty="0"/>
                  <a:t> such that:</a:t>
                </a:r>
                <a:br>
                  <a:rPr lang="en-US" dirty="0"/>
                </a:br>
                <a:endParaRPr lang="en-US" dirty="0"/>
              </a:p>
              <a:p>
                <a:pPr/>
                <a14:m>
                  <m:oMathPara xmlns:m="http://schemas.openxmlformats.org/officeDocument/2006/math">
                    <m:oMathParaPr>
                      <m:jc m:val="centerGroup"/>
                    </m:oMathParaPr>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𝑿</m:t>
                          </m:r>
                        </m:e>
                        <m:sup>
                          <m:r>
                            <a:rPr lang="en-US" i="1">
                              <a:latin typeface="Cambria Math" panose="02040503050406030204" pitchFamily="18" charset="0"/>
                            </a:rPr>
                            <m:t>𝑇</m:t>
                          </m:r>
                        </m:sup>
                      </m:sSup>
                      <m:r>
                        <a:rPr lang="en-US" b="1" i="1">
                          <a:latin typeface="Cambria Math" panose="02040503050406030204" pitchFamily="18" charset="0"/>
                        </a:rPr>
                        <m:t>𝑿</m:t>
                      </m:r>
                      <m:r>
                        <a:rPr lang="en-US" b="1" i="1">
                          <a:latin typeface="Cambria Math" panose="02040503050406030204" pitchFamily="18" charset="0"/>
                        </a:rPr>
                        <m:t> </m:t>
                      </m:r>
                      <m:r>
                        <a:rPr lang="en-US" sz="1800" b="1" i="1" smtClean="0">
                          <a:latin typeface="Cambria Math" panose="02040503050406030204" pitchFamily="18" charset="0"/>
                        </a:rPr>
                        <m:t>𝒘</m:t>
                      </m:r>
                      <m:r>
                        <a:rPr lang="en-US" sz="1800" b="0" i="1" smtClean="0">
                          <a:latin typeface="Cambria Math" panose="02040503050406030204" pitchFamily="18" charset="0"/>
                        </a:rPr>
                        <m:t>= </m:t>
                      </m:r>
                      <m:sSup>
                        <m:sSupPr>
                          <m:ctrlPr>
                            <a:rPr lang="en-US" sz="1800" i="1">
                              <a:latin typeface="Cambria Math" panose="02040503050406030204" pitchFamily="18" charset="0"/>
                            </a:rPr>
                          </m:ctrlPr>
                        </m:sSupPr>
                        <m:e>
                          <m:r>
                            <a:rPr lang="en-US" sz="1800" b="1" i="1">
                              <a:latin typeface="Cambria Math" panose="02040503050406030204" pitchFamily="18" charset="0"/>
                            </a:rPr>
                            <m:t>𝑿</m:t>
                          </m:r>
                        </m:e>
                        <m:sup>
                          <m:r>
                            <a:rPr lang="en-US" sz="1800" i="1">
                              <a:latin typeface="Cambria Math" panose="02040503050406030204" pitchFamily="18" charset="0"/>
                            </a:rPr>
                            <m:t>𝑇</m:t>
                          </m:r>
                        </m:sup>
                      </m:sSup>
                      <m:r>
                        <a:rPr lang="en-US" sz="1800" b="1" i="1">
                          <a:latin typeface="Cambria Math" panose="02040503050406030204" pitchFamily="18" charset="0"/>
                        </a:rPr>
                        <m:t>𝒚</m:t>
                      </m:r>
                    </m:oMath>
                  </m:oMathPara>
                </a14:m>
                <a:endParaRPr lang="en-US" dirty="0"/>
              </a:p>
              <a:p>
                <a:endParaRPr lang="en-US" dirty="0"/>
              </a:p>
              <a:p>
                <a:r>
                  <a:rPr lang="en-US" dirty="0"/>
                  <a:t>This form is known as the normal equations! And it is obtained from setting the partial derivatives to 0 (using vector notations). </a:t>
                </a:r>
              </a:p>
              <a:p>
                <a:endParaRPr lang="en-US" dirty="0"/>
              </a:p>
              <a:p>
                <a:r>
                  <a:rPr lang="en-US" dirty="0"/>
                  <a:t>If X has independent columns, then </a:t>
                </a:r>
                <a14:m>
                  <m:oMath xmlns:m="http://schemas.openxmlformats.org/officeDocument/2006/math">
                    <m:sSup>
                      <m:sSupPr>
                        <m:ctrlPr>
                          <a:rPr lang="en-US" b="1" i="1" smtClean="0">
                            <a:latin typeface="Cambria Math" panose="02040503050406030204" pitchFamily="18" charset="0"/>
                          </a:rPr>
                        </m:ctrlPr>
                      </m:sSupPr>
                      <m:e>
                        <m:r>
                          <a:rPr lang="en-US" b="1" i="1">
                            <a:latin typeface="Cambria Math" panose="02040503050406030204" pitchFamily="18" charset="0"/>
                          </a:rPr>
                          <m:t>𝑿</m:t>
                        </m:r>
                      </m:e>
                      <m:sup>
                        <m:r>
                          <a:rPr lang="en-US" i="1">
                            <a:latin typeface="Cambria Math" panose="02040503050406030204" pitchFamily="18" charset="0"/>
                          </a:rPr>
                          <m:t>𝑇</m:t>
                        </m:r>
                      </m:sup>
                    </m:sSup>
                    <m:r>
                      <a:rPr lang="en-US" b="1" i="1">
                        <a:latin typeface="Cambria Math" panose="02040503050406030204" pitchFamily="18" charset="0"/>
                      </a:rPr>
                      <m:t>𝑿</m:t>
                    </m:r>
                    <m:r>
                      <a:rPr lang="en-US" b="1" i="1">
                        <a:latin typeface="Cambria Math" panose="02040503050406030204" pitchFamily="18" charset="0"/>
                      </a:rPr>
                      <m:t> </m:t>
                    </m:r>
                  </m:oMath>
                </a14:m>
                <a:r>
                  <a:rPr lang="en-US" dirty="0"/>
                  <a:t>is non-singular.</a:t>
                </a:r>
              </a:p>
            </p:txBody>
          </p:sp>
        </mc:Choice>
        <mc:Fallback xmlns="">
          <p:sp>
            <p:nvSpPr>
              <p:cNvPr id="5" name="TextBox 4">
                <a:extLst>
                  <a:ext uri="{FF2B5EF4-FFF2-40B4-BE49-F238E27FC236}">
                    <a16:creationId xmlns:a16="http://schemas.microsoft.com/office/drawing/2014/main" id="{5DE666E0-4667-9083-3AB0-71D3644C40A9}"/>
                  </a:ext>
                </a:extLst>
              </p:cNvPr>
              <p:cNvSpPr txBox="1">
                <a:spLocks noRot="1" noChangeAspect="1" noMove="1" noResize="1" noEditPoints="1" noAdjustHandles="1" noChangeArrowheads="1" noChangeShapeType="1" noTextEdit="1"/>
              </p:cNvSpPr>
              <p:nvPr/>
            </p:nvSpPr>
            <p:spPr>
              <a:xfrm>
                <a:off x="6400800" y="2884516"/>
                <a:ext cx="4953000" cy="3139321"/>
              </a:xfrm>
              <a:prstGeom prst="rect">
                <a:avLst/>
              </a:prstGeom>
              <a:blipFill>
                <a:blip r:embed="rId3"/>
                <a:stretch>
                  <a:fillRect l="-984" t="-971" r="-1230" b="-2136"/>
                </a:stretch>
              </a:blipFill>
            </p:spPr>
            <p:txBody>
              <a:bodyPr/>
              <a:lstStyle/>
              <a:p>
                <a:r>
                  <a:rPr lang="en-US">
                    <a:noFill/>
                  </a:rPr>
                  <a:t> </a:t>
                </a:r>
              </a:p>
            </p:txBody>
          </p:sp>
        </mc:Fallback>
      </mc:AlternateContent>
    </p:spTree>
    <p:extLst>
      <p:ext uri="{BB962C8B-B14F-4D97-AF65-F5344CB8AC3E}">
        <p14:creationId xmlns:p14="http://schemas.microsoft.com/office/powerpoint/2010/main" val="6900115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39A77-D475-4E5B-AF99-D3099BF5D144}"/>
              </a:ext>
            </a:extLst>
          </p:cNvPr>
          <p:cNvSpPr>
            <a:spLocks noGrp="1"/>
          </p:cNvSpPr>
          <p:nvPr>
            <p:ph type="title"/>
          </p:nvPr>
        </p:nvSpPr>
        <p:spPr/>
        <p:txBody>
          <a:bodyPr/>
          <a:lstStyle/>
          <a:p>
            <a:r>
              <a:rPr lang="en-US" b="1" dirty="0"/>
              <a:t>Solution to the Least-Squares Problems</a:t>
            </a:r>
          </a:p>
        </p:txBody>
      </p:sp>
      <p:sp>
        <p:nvSpPr>
          <p:cNvPr id="3" name="Content Placeholder 2">
            <a:extLst>
              <a:ext uri="{FF2B5EF4-FFF2-40B4-BE49-F238E27FC236}">
                <a16:creationId xmlns:a16="http://schemas.microsoft.com/office/drawing/2014/main" id="{1620B529-C32F-40B7-BCA7-F01901DB8D78}"/>
              </a:ext>
            </a:extLst>
          </p:cNvPr>
          <p:cNvSpPr>
            <a:spLocks noGrp="1"/>
          </p:cNvSpPr>
          <p:nvPr>
            <p:ph idx="1"/>
          </p:nvPr>
        </p:nvSpPr>
        <p:spPr/>
        <p:txBody>
          <a:bodyPr/>
          <a:lstStyle/>
          <a:p>
            <a:r>
              <a:rPr lang="en-US" dirty="0"/>
              <a:t>It turns out that the least squares problem has closed form solution:</a:t>
            </a:r>
          </a:p>
          <a:p>
            <a:pPr marL="0" indent="0">
              <a:buNone/>
            </a:pPr>
            <a:endParaRPr lang="en-US" dirty="0"/>
          </a:p>
          <a:p>
            <a:pPr marL="0" indent="0">
              <a:buNone/>
            </a:pPr>
            <a:r>
              <a:rPr lang="en-US" dirty="0"/>
              <a:t>                                                                    </a:t>
            </a:r>
          </a:p>
          <a:p>
            <a:pPr marL="0" indent="0">
              <a:buNone/>
            </a:pPr>
            <a:r>
              <a:rPr lang="en-US" dirty="0"/>
              <a:t>                                                          </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57482AD-E564-4817-BB7C-2945D5CCFC2C}"/>
                  </a:ext>
                </a:extLst>
              </p:cNvPr>
              <p:cNvSpPr/>
              <p:nvPr/>
            </p:nvSpPr>
            <p:spPr>
              <a:xfrm>
                <a:off x="1009648" y="2655180"/>
                <a:ext cx="3980449" cy="1978811"/>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m>
                            <m:mPr>
                              <m:mcs>
                                <m:mc>
                                  <m:mcPr>
                                    <m:count m:val="1"/>
                                    <m:mcJc m:val="center"/>
                                  </m:mcPr>
                                </m:mc>
                              </m:mcs>
                              <m:ctrlPr>
                                <a:rPr lang="en-US" sz="3200" i="1" smtClean="0">
                                  <a:latin typeface="Cambria Math" panose="02040503050406030204" pitchFamily="18" charset="0"/>
                                </a:rPr>
                              </m:ctrlPr>
                            </m:mPr>
                            <m:mr>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0</m:t>
                                    </m:r>
                                  </m:sub>
                                </m:sSub>
                              </m:e>
                            </m:mr>
                            <m:mr>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1</m:t>
                                    </m:r>
                                  </m:sub>
                                </m:sSub>
                              </m:e>
                            </m:mr>
                            <m:mr>
                              <m:e>
                                <m:eqArr>
                                  <m:eqArrPr>
                                    <m:ctrlPr>
                                      <a:rPr lang="en-US" sz="3200" i="1" smtClean="0">
                                        <a:latin typeface="Cambria Math" panose="02040503050406030204" pitchFamily="18" charset="0"/>
                                        <a:ea typeface="Cambria Math" panose="02040503050406030204" pitchFamily="18" charset="0"/>
                                      </a:rPr>
                                    </m:ctrlPr>
                                  </m:eqArrPr>
                                  <m:e>
                                    <m:r>
                                      <a:rPr lang="en-US" sz="3200" i="1" smtClean="0">
                                        <a:latin typeface="Cambria Math" panose="02040503050406030204" pitchFamily="18" charset="0"/>
                                        <a:ea typeface="Cambria Math" panose="02040503050406030204" pitchFamily="18" charset="0"/>
                                      </a:rPr>
                                      <m:t>⋮</m:t>
                                    </m:r>
                                  </m:e>
                                  <m:e>
                                    <m:sSub>
                                      <m:sSubPr>
                                        <m:ctrlPr>
                                          <a:rPr lang="en-US" sz="320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𝑤</m:t>
                                        </m:r>
                                      </m:e>
                                      <m:sub>
                                        <m:r>
                                          <a:rPr lang="en-US" sz="3200" b="0" i="1" smtClean="0">
                                            <a:latin typeface="Cambria Math" panose="02040503050406030204" pitchFamily="18" charset="0"/>
                                            <a:ea typeface="Cambria Math" panose="02040503050406030204" pitchFamily="18" charset="0"/>
                                          </a:rPr>
                                          <m:t>𝑚</m:t>
                                        </m:r>
                                      </m:sub>
                                    </m:sSub>
                                  </m:e>
                                </m:eqArr>
                              </m:e>
                            </m:mr>
                          </m:m>
                        </m:e>
                      </m:d>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b="1" i="1">
                              <a:latin typeface="Cambria Math" panose="02040503050406030204" pitchFamily="18" charset="0"/>
                            </a:rPr>
                            <m:t>(</m:t>
                          </m:r>
                          <m:sSup>
                            <m:sSupPr>
                              <m:ctrlPr>
                                <a:rPr lang="en-US" sz="3200" b="1" i="1">
                                  <a:latin typeface="Cambria Math" panose="02040503050406030204" pitchFamily="18" charset="0"/>
                                </a:rPr>
                              </m:ctrlPr>
                            </m:sSupPr>
                            <m:e>
                              <m:r>
                                <a:rPr lang="en-US" sz="3200" b="1" i="1">
                                  <a:latin typeface="Cambria Math" panose="02040503050406030204" pitchFamily="18" charset="0"/>
                                </a:rPr>
                                <m:t>𝑿</m:t>
                              </m:r>
                            </m:e>
                            <m:sup>
                              <m:r>
                                <a:rPr lang="en-US" sz="3200" i="1">
                                  <a:latin typeface="Cambria Math" panose="02040503050406030204" pitchFamily="18" charset="0"/>
                                </a:rPr>
                                <m:t>𝑇</m:t>
                              </m:r>
                            </m:sup>
                          </m:sSup>
                          <m:r>
                            <a:rPr lang="en-US" sz="3200" b="1" i="1">
                              <a:latin typeface="Cambria Math" panose="02040503050406030204" pitchFamily="18" charset="0"/>
                            </a:rPr>
                            <m:t>𝑿</m:t>
                          </m:r>
                          <m:r>
                            <a:rPr lang="en-US" sz="3200" b="1" i="1">
                              <a:latin typeface="Cambria Math" panose="02040503050406030204" pitchFamily="18" charset="0"/>
                            </a:rPr>
                            <m:t>)</m:t>
                          </m:r>
                        </m:e>
                        <m:sup>
                          <m:r>
                            <a:rPr lang="en-US" sz="3200" i="1">
                              <a:latin typeface="Cambria Math" panose="02040503050406030204" pitchFamily="18" charset="0"/>
                            </a:rPr>
                            <m:t>−1</m:t>
                          </m:r>
                        </m:sup>
                      </m:sSup>
                      <m:sSup>
                        <m:sSupPr>
                          <m:ctrlPr>
                            <a:rPr lang="en-US" sz="3200" i="1">
                              <a:latin typeface="Cambria Math" panose="02040503050406030204" pitchFamily="18" charset="0"/>
                            </a:rPr>
                          </m:ctrlPr>
                        </m:sSupPr>
                        <m:e>
                          <m:r>
                            <a:rPr lang="en-US" sz="3200" b="1" i="1">
                              <a:latin typeface="Cambria Math" panose="02040503050406030204" pitchFamily="18" charset="0"/>
                            </a:rPr>
                            <m:t>𝑿</m:t>
                          </m:r>
                        </m:e>
                        <m:sup>
                          <m:r>
                            <a:rPr lang="en-US" sz="3200" i="1">
                              <a:latin typeface="Cambria Math" panose="02040503050406030204" pitchFamily="18" charset="0"/>
                            </a:rPr>
                            <m:t>𝑇</m:t>
                          </m:r>
                        </m:sup>
                      </m:sSup>
                      <m:r>
                        <a:rPr lang="en-US" sz="3200" b="1" i="1">
                          <a:latin typeface="Cambria Math" panose="02040503050406030204" pitchFamily="18" charset="0"/>
                        </a:rPr>
                        <m:t>𝒚</m:t>
                      </m:r>
                    </m:oMath>
                  </m:oMathPara>
                </a14:m>
                <a:endParaRPr lang="en-US" sz="3200" dirty="0"/>
              </a:p>
            </p:txBody>
          </p:sp>
        </mc:Choice>
        <mc:Fallback xmlns="">
          <p:sp>
            <p:nvSpPr>
              <p:cNvPr id="4" name="Rectangle 3">
                <a:extLst>
                  <a:ext uri="{FF2B5EF4-FFF2-40B4-BE49-F238E27FC236}">
                    <a16:creationId xmlns:a16="http://schemas.microsoft.com/office/drawing/2014/main" id="{B57482AD-E564-4817-BB7C-2945D5CCFC2C}"/>
                  </a:ext>
                </a:extLst>
              </p:cNvPr>
              <p:cNvSpPr>
                <a:spLocks noRot="1" noChangeAspect="1" noMove="1" noResize="1" noEditPoints="1" noAdjustHandles="1" noChangeArrowheads="1" noChangeShapeType="1" noTextEdit="1"/>
              </p:cNvSpPr>
              <p:nvPr/>
            </p:nvSpPr>
            <p:spPr>
              <a:xfrm>
                <a:off x="1009648" y="2655180"/>
                <a:ext cx="3980449" cy="1978811"/>
              </a:xfrm>
              <a:prstGeom prst="rect">
                <a:avLst/>
              </a:prstGeom>
              <a:blipFill>
                <a:blip r:embed="rId2"/>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9299CC9A-85AB-4103-9436-686DDCAD51E8}"/>
              </a:ext>
            </a:extLst>
          </p:cNvPr>
          <p:cNvCxnSpPr/>
          <p:nvPr/>
        </p:nvCxnSpPr>
        <p:spPr>
          <a:xfrm flipH="1">
            <a:off x="2839452" y="3850105"/>
            <a:ext cx="320842" cy="13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DD247B2-9E5A-496B-88D7-056B8E2790D9}"/>
              </a:ext>
            </a:extLst>
          </p:cNvPr>
          <p:cNvSpPr txBox="1"/>
          <p:nvPr/>
        </p:nvSpPr>
        <p:spPr>
          <a:xfrm>
            <a:off x="2123026" y="5320494"/>
            <a:ext cx="1313857" cy="954107"/>
          </a:xfrm>
          <a:prstGeom prst="rect">
            <a:avLst/>
          </a:prstGeom>
          <a:noFill/>
        </p:spPr>
        <p:txBody>
          <a:bodyPr wrap="square" rtlCol="0">
            <a:spAutoFit/>
          </a:bodyPr>
          <a:lstStyle/>
          <a:p>
            <a:r>
              <a:rPr lang="en-US" sz="2800" dirty="0"/>
              <a:t>Feature </a:t>
            </a:r>
          </a:p>
          <a:p>
            <a:r>
              <a:rPr lang="en-US" sz="2800" dirty="0"/>
              <a:t>Matrix</a:t>
            </a:r>
          </a:p>
        </p:txBody>
      </p:sp>
      <p:cxnSp>
        <p:nvCxnSpPr>
          <p:cNvPr id="10" name="Straight Arrow Connector 9">
            <a:extLst>
              <a:ext uri="{FF2B5EF4-FFF2-40B4-BE49-F238E27FC236}">
                <a16:creationId xmlns:a16="http://schemas.microsoft.com/office/drawing/2014/main" id="{0FF8C331-0F79-4697-B4AC-766936AF225C}"/>
              </a:ext>
            </a:extLst>
          </p:cNvPr>
          <p:cNvCxnSpPr/>
          <p:nvPr/>
        </p:nvCxnSpPr>
        <p:spPr>
          <a:xfrm>
            <a:off x="4540469" y="3972910"/>
            <a:ext cx="252248" cy="1347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F3FE039-86BE-4D06-A6C9-AD7BD0B058B9}"/>
              </a:ext>
            </a:extLst>
          </p:cNvPr>
          <p:cNvSpPr txBox="1"/>
          <p:nvPr/>
        </p:nvSpPr>
        <p:spPr>
          <a:xfrm>
            <a:off x="4340709" y="5320494"/>
            <a:ext cx="1313857" cy="954107"/>
          </a:xfrm>
          <a:prstGeom prst="rect">
            <a:avLst/>
          </a:prstGeom>
          <a:noFill/>
        </p:spPr>
        <p:txBody>
          <a:bodyPr wrap="square" rtlCol="0">
            <a:spAutoFit/>
          </a:bodyPr>
          <a:lstStyle/>
          <a:p>
            <a:r>
              <a:rPr lang="en-US" sz="2800" dirty="0"/>
              <a:t>Label Vector</a:t>
            </a:r>
          </a:p>
        </p:txBody>
      </p:sp>
      <p:sp>
        <p:nvSpPr>
          <p:cNvPr id="5" name="TextBox 4">
            <a:extLst>
              <a:ext uri="{FF2B5EF4-FFF2-40B4-BE49-F238E27FC236}">
                <a16:creationId xmlns:a16="http://schemas.microsoft.com/office/drawing/2014/main" id="{3B20E752-57C0-4841-91D2-242BE4A31B9F}"/>
              </a:ext>
            </a:extLst>
          </p:cNvPr>
          <p:cNvSpPr txBox="1"/>
          <p:nvPr/>
        </p:nvSpPr>
        <p:spPr>
          <a:xfrm>
            <a:off x="6096000" y="2655180"/>
            <a:ext cx="5257800" cy="3416320"/>
          </a:xfrm>
          <a:prstGeom prst="rect">
            <a:avLst/>
          </a:prstGeom>
          <a:noFill/>
        </p:spPr>
        <p:txBody>
          <a:bodyPr wrap="square" rtlCol="0">
            <a:spAutoFit/>
          </a:bodyPr>
          <a:lstStyle/>
          <a:p>
            <a:r>
              <a:rPr lang="en-US" sz="2400" dirty="0"/>
              <a:t>How is it implemented?</a:t>
            </a:r>
          </a:p>
          <a:p>
            <a:endParaRPr lang="en-US" sz="2400" dirty="0"/>
          </a:p>
          <a:p>
            <a:pPr marL="342900" indent="-342900">
              <a:buFontTx/>
              <a:buChar char="-"/>
            </a:pPr>
            <a:r>
              <a:rPr lang="en-US" sz="2400" dirty="0"/>
              <a:t>Matrix inversion is never computed explicitly because it is too costly to compute. Instead, we use tools from linear algebra (i.e., matrix decomposition such as SVD) to find the coefficients or weights. </a:t>
            </a:r>
            <a:r>
              <a:rPr lang="en-US" sz="2400" dirty="0">
                <a:hlinkClick r:id="rId3"/>
              </a:rPr>
              <a:t>Ref1</a:t>
            </a:r>
            <a:r>
              <a:rPr lang="en-US" sz="2400" dirty="0"/>
              <a:t>, </a:t>
            </a:r>
            <a:r>
              <a:rPr lang="en-US" sz="2400" dirty="0">
                <a:hlinkClick r:id="rId4"/>
              </a:rPr>
              <a:t>Ref2</a:t>
            </a:r>
            <a:r>
              <a:rPr lang="en-US" sz="2400" dirty="0"/>
              <a:t>, </a:t>
            </a:r>
            <a:r>
              <a:rPr lang="en-US" sz="2400" dirty="0">
                <a:hlinkClick r:id="rId5"/>
              </a:rPr>
              <a:t>Ref3</a:t>
            </a:r>
            <a:endParaRPr lang="en-US" sz="2400" dirty="0"/>
          </a:p>
        </p:txBody>
      </p:sp>
    </p:spTree>
    <p:extLst>
      <p:ext uri="{BB962C8B-B14F-4D97-AF65-F5344CB8AC3E}">
        <p14:creationId xmlns:p14="http://schemas.microsoft.com/office/powerpoint/2010/main" val="3957600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39A77-D475-4E5B-AF99-D3099BF5D144}"/>
              </a:ext>
            </a:extLst>
          </p:cNvPr>
          <p:cNvSpPr>
            <a:spLocks noGrp="1"/>
          </p:cNvSpPr>
          <p:nvPr>
            <p:ph type="title"/>
          </p:nvPr>
        </p:nvSpPr>
        <p:spPr/>
        <p:txBody>
          <a:bodyPr/>
          <a:lstStyle/>
          <a:p>
            <a:r>
              <a:rPr lang="en-US" b="1" dirty="0"/>
              <a:t>Solution to the Least-Squares Problems</a:t>
            </a:r>
          </a:p>
        </p:txBody>
      </p:sp>
      <p:sp>
        <p:nvSpPr>
          <p:cNvPr id="3" name="Content Placeholder 2">
            <a:extLst>
              <a:ext uri="{FF2B5EF4-FFF2-40B4-BE49-F238E27FC236}">
                <a16:creationId xmlns:a16="http://schemas.microsoft.com/office/drawing/2014/main" id="{1620B529-C32F-40B7-BCA7-F01901DB8D78}"/>
              </a:ext>
            </a:extLst>
          </p:cNvPr>
          <p:cNvSpPr>
            <a:spLocks noGrp="1"/>
          </p:cNvSpPr>
          <p:nvPr>
            <p:ph idx="1"/>
          </p:nvPr>
        </p:nvSpPr>
        <p:spPr/>
        <p:txBody>
          <a:bodyPr/>
          <a:lstStyle/>
          <a:p>
            <a:r>
              <a:rPr lang="en-US" dirty="0"/>
              <a:t>It turns out that the least squares problem has closed form solution:</a:t>
            </a:r>
          </a:p>
          <a:p>
            <a:pPr marL="0" indent="0">
              <a:buNone/>
            </a:pPr>
            <a:endParaRPr lang="en-US" dirty="0"/>
          </a:p>
          <a:p>
            <a:pPr marL="0" indent="0">
              <a:buNone/>
            </a:pPr>
            <a:r>
              <a:rPr lang="en-US" dirty="0"/>
              <a:t>                                                                    </a:t>
            </a:r>
          </a:p>
          <a:p>
            <a:pPr marL="0" indent="0">
              <a:buNone/>
            </a:pPr>
            <a:r>
              <a:rPr lang="en-US" dirty="0"/>
              <a:t>                                                          </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57482AD-E564-4817-BB7C-2945D5CCFC2C}"/>
                  </a:ext>
                </a:extLst>
              </p:cNvPr>
              <p:cNvSpPr/>
              <p:nvPr/>
            </p:nvSpPr>
            <p:spPr>
              <a:xfrm>
                <a:off x="1009648" y="2655180"/>
                <a:ext cx="3980449" cy="1978811"/>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m>
                            <m:mPr>
                              <m:mcs>
                                <m:mc>
                                  <m:mcPr>
                                    <m:count m:val="1"/>
                                    <m:mcJc m:val="center"/>
                                  </m:mcPr>
                                </m:mc>
                              </m:mcs>
                              <m:ctrlPr>
                                <a:rPr lang="en-US" sz="3200" i="1" smtClean="0">
                                  <a:latin typeface="Cambria Math" panose="02040503050406030204" pitchFamily="18" charset="0"/>
                                </a:rPr>
                              </m:ctrlPr>
                            </m:mPr>
                            <m:mr>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0</m:t>
                                    </m:r>
                                  </m:sub>
                                </m:sSub>
                              </m:e>
                            </m:mr>
                            <m:mr>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1</m:t>
                                    </m:r>
                                  </m:sub>
                                </m:sSub>
                              </m:e>
                            </m:mr>
                            <m:mr>
                              <m:e>
                                <m:eqArr>
                                  <m:eqArrPr>
                                    <m:ctrlPr>
                                      <a:rPr lang="en-US" sz="3200" i="1" smtClean="0">
                                        <a:latin typeface="Cambria Math" panose="02040503050406030204" pitchFamily="18" charset="0"/>
                                        <a:ea typeface="Cambria Math" panose="02040503050406030204" pitchFamily="18" charset="0"/>
                                      </a:rPr>
                                    </m:ctrlPr>
                                  </m:eqArrPr>
                                  <m:e>
                                    <m:r>
                                      <a:rPr lang="en-US" sz="3200" i="1" smtClean="0">
                                        <a:latin typeface="Cambria Math" panose="02040503050406030204" pitchFamily="18" charset="0"/>
                                        <a:ea typeface="Cambria Math" panose="02040503050406030204" pitchFamily="18" charset="0"/>
                                      </a:rPr>
                                      <m:t>⋮</m:t>
                                    </m:r>
                                  </m:e>
                                  <m:e>
                                    <m:sSub>
                                      <m:sSubPr>
                                        <m:ctrlPr>
                                          <a:rPr lang="en-US" sz="320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𝑤</m:t>
                                        </m:r>
                                      </m:e>
                                      <m:sub>
                                        <m:r>
                                          <a:rPr lang="en-US" sz="3200" b="0" i="1" smtClean="0">
                                            <a:latin typeface="Cambria Math" panose="02040503050406030204" pitchFamily="18" charset="0"/>
                                            <a:ea typeface="Cambria Math" panose="02040503050406030204" pitchFamily="18" charset="0"/>
                                          </a:rPr>
                                          <m:t>𝑚</m:t>
                                        </m:r>
                                      </m:sub>
                                    </m:sSub>
                                  </m:e>
                                </m:eqArr>
                              </m:e>
                            </m:mr>
                          </m:m>
                        </m:e>
                      </m:d>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b="1" i="1">
                              <a:latin typeface="Cambria Math" panose="02040503050406030204" pitchFamily="18" charset="0"/>
                            </a:rPr>
                            <m:t>(</m:t>
                          </m:r>
                          <m:sSup>
                            <m:sSupPr>
                              <m:ctrlPr>
                                <a:rPr lang="en-US" sz="3200" b="1" i="1">
                                  <a:latin typeface="Cambria Math" panose="02040503050406030204" pitchFamily="18" charset="0"/>
                                </a:rPr>
                              </m:ctrlPr>
                            </m:sSupPr>
                            <m:e>
                              <m:r>
                                <a:rPr lang="en-US" sz="3200" b="1" i="1">
                                  <a:latin typeface="Cambria Math" panose="02040503050406030204" pitchFamily="18" charset="0"/>
                                </a:rPr>
                                <m:t>𝑿</m:t>
                              </m:r>
                            </m:e>
                            <m:sup>
                              <m:r>
                                <a:rPr lang="en-US" sz="3200" i="1">
                                  <a:latin typeface="Cambria Math" panose="02040503050406030204" pitchFamily="18" charset="0"/>
                                </a:rPr>
                                <m:t>𝑇</m:t>
                              </m:r>
                            </m:sup>
                          </m:sSup>
                          <m:r>
                            <a:rPr lang="en-US" sz="3200" b="1" i="1">
                              <a:latin typeface="Cambria Math" panose="02040503050406030204" pitchFamily="18" charset="0"/>
                            </a:rPr>
                            <m:t>𝑿</m:t>
                          </m:r>
                          <m:r>
                            <a:rPr lang="en-US" sz="3200" b="1" i="1">
                              <a:latin typeface="Cambria Math" panose="02040503050406030204" pitchFamily="18" charset="0"/>
                            </a:rPr>
                            <m:t>)</m:t>
                          </m:r>
                        </m:e>
                        <m:sup>
                          <m:r>
                            <a:rPr lang="en-US" sz="3200" i="1">
                              <a:latin typeface="Cambria Math" panose="02040503050406030204" pitchFamily="18" charset="0"/>
                            </a:rPr>
                            <m:t>−1</m:t>
                          </m:r>
                        </m:sup>
                      </m:sSup>
                      <m:sSup>
                        <m:sSupPr>
                          <m:ctrlPr>
                            <a:rPr lang="en-US" sz="3200" i="1">
                              <a:latin typeface="Cambria Math" panose="02040503050406030204" pitchFamily="18" charset="0"/>
                            </a:rPr>
                          </m:ctrlPr>
                        </m:sSupPr>
                        <m:e>
                          <m:r>
                            <a:rPr lang="en-US" sz="3200" b="1" i="1">
                              <a:latin typeface="Cambria Math" panose="02040503050406030204" pitchFamily="18" charset="0"/>
                            </a:rPr>
                            <m:t>𝑿</m:t>
                          </m:r>
                        </m:e>
                        <m:sup>
                          <m:r>
                            <a:rPr lang="en-US" sz="3200" i="1">
                              <a:latin typeface="Cambria Math" panose="02040503050406030204" pitchFamily="18" charset="0"/>
                            </a:rPr>
                            <m:t>𝑇</m:t>
                          </m:r>
                        </m:sup>
                      </m:sSup>
                      <m:r>
                        <a:rPr lang="en-US" sz="3200" b="1" i="1">
                          <a:latin typeface="Cambria Math" panose="02040503050406030204" pitchFamily="18" charset="0"/>
                        </a:rPr>
                        <m:t>𝒚</m:t>
                      </m:r>
                    </m:oMath>
                  </m:oMathPara>
                </a14:m>
                <a:endParaRPr lang="en-US" sz="3200" dirty="0"/>
              </a:p>
            </p:txBody>
          </p:sp>
        </mc:Choice>
        <mc:Fallback xmlns="">
          <p:sp>
            <p:nvSpPr>
              <p:cNvPr id="4" name="Rectangle 3">
                <a:extLst>
                  <a:ext uri="{FF2B5EF4-FFF2-40B4-BE49-F238E27FC236}">
                    <a16:creationId xmlns:a16="http://schemas.microsoft.com/office/drawing/2014/main" id="{B57482AD-E564-4817-BB7C-2945D5CCFC2C}"/>
                  </a:ext>
                </a:extLst>
              </p:cNvPr>
              <p:cNvSpPr>
                <a:spLocks noRot="1" noChangeAspect="1" noMove="1" noResize="1" noEditPoints="1" noAdjustHandles="1" noChangeArrowheads="1" noChangeShapeType="1" noTextEdit="1"/>
              </p:cNvSpPr>
              <p:nvPr/>
            </p:nvSpPr>
            <p:spPr>
              <a:xfrm>
                <a:off x="1009648" y="2655180"/>
                <a:ext cx="3980449" cy="1978811"/>
              </a:xfrm>
              <a:prstGeom prst="rect">
                <a:avLst/>
              </a:prstGeom>
              <a:blipFill>
                <a:blip r:embed="rId2"/>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9299CC9A-85AB-4103-9436-686DDCAD51E8}"/>
              </a:ext>
            </a:extLst>
          </p:cNvPr>
          <p:cNvCxnSpPr/>
          <p:nvPr/>
        </p:nvCxnSpPr>
        <p:spPr>
          <a:xfrm flipH="1">
            <a:off x="2839452" y="3850105"/>
            <a:ext cx="320842" cy="13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DD247B2-9E5A-496B-88D7-056B8E2790D9}"/>
              </a:ext>
            </a:extLst>
          </p:cNvPr>
          <p:cNvSpPr txBox="1"/>
          <p:nvPr/>
        </p:nvSpPr>
        <p:spPr>
          <a:xfrm>
            <a:off x="2123026" y="5320494"/>
            <a:ext cx="1313857" cy="954107"/>
          </a:xfrm>
          <a:prstGeom prst="rect">
            <a:avLst/>
          </a:prstGeom>
          <a:noFill/>
        </p:spPr>
        <p:txBody>
          <a:bodyPr wrap="square" rtlCol="0">
            <a:spAutoFit/>
          </a:bodyPr>
          <a:lstStyle/>
          <a:p>
            <a:r>
              <a:rPr lang="en-US" sz="2800" dirty="0"/>
              <a:t>Feature </a:t>
            </a:r>
          </a:p>
          <a:p>
            <a:r>
              <a:rPr lang="en-US" sz="2800" dirty="0"/>
              <a:t>Matrix</a:t>
            </a:r>
          </a:p>
        </p:txBody>
      </p:sp>
      <p:cxnSp>
        <p:nvCxnSpPr>
          <p:cNvPr id="10" name="Straight Arrow Connector 9">
            <a:extLst>
              <a:ext uri="{FF2B5EF4-FFF2-40B4-BE49-F238E27FC236}">
                <a16:creationId xmlns:a16="http://schemas.microsoft.com/office/drawing/2014/main" id="{0FF8C331-0F79-4697-B4AC-766936AF225C}"/>
              </a:ext>
            </a:extLst>
          </p:cNvPr>
          <p:cNvCxnSpPr/>
          <p:nvPr/>
        </p:nvCxnSpPr>
        <p:spPr>
          <a:xfrm>
            <a:off x="4540469" y="3972910"/>
            <a:ext cx="252248" cy="1347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F3FE039-86BE-4D06-A6C9-AD7BD0B058B9}"/>
              </a:ext>
            </a:extLst>
          </p:cNvPr>
          <p:cNvSpPr txBox="1"/>
          <p:nvPr/>
        </p:nvSpPr>
        <p:spPr>
          <a:xfrm>
            <a:off x="4340709" y="5320494"/>
            <a:ext cx="1313857" cy="954107"/>
          </a:xfrm>
          <a:prstGeom prst="rect">
            <a:avLst/>
          </a:prstGeom>
          <a:noFill/>
        </p:spPr>
        <p:txBody>
          <a:bodyPr wrap="square" rtlCol="0">
            <a:spAutoFit/>
          </a:bodyPr>
          <a:lstStyle/>
          <a:p>
            <a:r>
              <a:rPr lang="en-US" sz="2800" dirty="0"/>
              <a:t>Label Vector</a:t>
            </a:r>
          </a:p>
        </p:txBody>
      </p:sp>
      <p:sp>
        <p:nvSpPr>
          <p:cNvPr id="5" name="TextBox 4">
            <a:extLst>
              <a:ext uri="{FF2B5EF4-FFF2-40B4-BE49-F238E27FC236}">
                <a16:creationId xmlns:a16="http://schemas.microsoft.com/office/drawing/2014/main" id="{3B20E752-57C0-4841-91D2-242BE4A31B9F}"/>
              </a:ext>
            </a:extLst>
          </p:cNvPr>
          <p:cNvSpPr txBox="1"/>
          <p:nvPr/>
        </p:nvSpPr>
        <p:spPr>
          <a:xfrm>
            <a:off x="6096000" y="2655180"/>
            <a:ext cx="5257800" cy="1938992"/>
          </a:xfrm>
          <a:prstGeom prst="rect">
            <a:avLst/>
          </a:prstGeom>
          <a:noFill/>
        </p:spPr>
        <p:txBody>
          <a:bodyPr wrap="square" rtlCol="0">
            <a:spAutoFit/>
          </a:bodyPr>
          <a:lstStyle/>
          <a:p>
            <a:r>
              <a:rPr lang="en-US" sz="2400" dirty="0"/>
              <a:t>How is it implemented?</a:t>
            </a:r>
          </a:p>
          <a:p>
            <a:endParaRPr lang="en-US" sz="2400" dirty="0"/>
          </a:p>
          <a:p>
            <a:pPr marL="342900" indent="-342900">
              <a:buFontTx/>
              <a:buChar char="-"/>
            </a:pPr>
            <a:r>
              <a:rPr lang="en-US" sz="2400" dirty="0"/>
              <a:t>Approach 2: When the number of features is high, we can use iterative methods. </a:t>
            </a:r>
          </a:p>
        </p:txBody>
      </p:sp>
    </p:spTree>
    <p:extLst>
      <p:ext uri="{BB962C8B-B14F-4D97-AF65-F5344CB8AC3E}">
        <p14:creationId xmlns:p14="http://schemas.microsoft.com/office/powerpoint/2010/main" val="21384954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RIGINALHEIGHT" val="112.5157"/>
  <p:tag name="ORIGINALWIDTH" val="15.00213"/>
  <p:tag name="OUTPUTDPI" val="1200"/>
  <p:tag name="LATEXADDIN" val="\documentclass{article}&#10;\usepackage{amsmath}&#10;\pagestyle{empty}&#10;\begin{document}&#10;&#10;$\vdots$&#10;&#10;&#10;\end{document}"/>
  <p:tag name="IGUANATEXSIZE" val="20"/>
  <p:tag name="IGUANATEXCURSOR" val="82"/>
  <p:tag name="TRANSPARENCY" val="True"/>
  <p:tag name="FILENAME" val=""/>
  <p:tag name="INPUTTYPE" val="0"/>
  <p:tag name="LATEXENGINEID" val="1"/>
  <p:tag name="TEMPFOLDER" val="C:\Users\User\Documents\PowerPointLAtex\"/>
</p:tagLst>
</file>

<file path=ppt/tags/tag2.xml><?xml version="1.0" encoding="utf-8"?>
<p:tagLst xmlns:a="http://schemas.openxmlformats.org/drawingml/2006/main" xmlns:r="http://schemas.openxmlformats.org/officeDocument/2006/relationships" xmlns:p="http://schemas.openxmlformats.org/presentationml/2006/main">
  <p:tag name="ORIGINALHEIGHT" val="112.5157"/>
  <p:tag name="ORIGINALWIDTH" val="15.00213"/>
  <p:tag name="OUTPUTDPI" val="1200"/>
  <p:tag name="LATEXADDIN" val="\documentclass{article}&#10;\usepackage{amsmath}&#10;\pagestyle{empty}&#10;\begin{document}&#10;&#10;$\vdots$&#10;&#10;&#10;\end{document}"/>
  <p:tag name="IGUANATEXSIZE" val="20"/>
  <p:tag name="IGUANATEXCURSOR" val="82"/>
  <p:tag name="TRANSPARENCY" val="True"/>
  <p:tag name="FILENAME" val=""/>
  <p:tag name="INPUTTYPE" val="0"/>
  <p:tag name="LATEXENGINEID" val="1"/>
  <p:tag name="TEMPFOLDER" val="C:\Users\User\Documents\PowerPointLAtex\"/>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1661</Words>
  <Application>Microsoft Macintosh PowerPoint</Application>
  <PresentationFormat>Widescreen</PresentationFormat>
  <Paragraphs>296</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Cambria Math</vt:lpstr>
      <vt:lpstr>Courier New</vt:lpstr>
      <vt:lpstr>Office Theme</vt:lpstr>
      <vt:lpstr>Objective Functions –  Loss &amp; Cost Functions - I</vt:lpstr>
      <vt:lpstr>Overview</vt:lpstr>
      <vt:lpstr>What is model fitting?</vt:lpstr>
      <vt:lpstr>What is model fitting?</vt:lpstr>
      <vt:lpstr>Training phase – Model fitting (Supervised Learning)</vt:lpstr>
      <vt:lpstr>Using Machine Learning Models</vt:lpstr>
      <vt:lpstr>Model Fitting</vt:lpstr>
      <vt:lpstr>Overview</vt:lpstr>
      <vt:lpstr>Optimization Problem</vt:lpstr>
      <vt:lpstr>Optimization Problem</vt:lpstr>
      <vt:lpstr>Optimization Problem</vt:lpstr>
      <vt:lpstr>Optimization Problem</vt:lpstr>
      <vt:lpstr>Example</vt:lpstr>
      <vt:lpstr>Example</vt:lpstr>
      <vt:lpstr>Optimization in ML</vt:lpstr>
      <vt:lpstr>Where do we use optimization in machine learning?</vt:lpstr>
      <vt:lpstr>Model fitting : Optimization problem</vt:lpstr>
      <vt:lpstr>Model fitting : Optimization problem</vt:lpstr>
      <vt:lpstr>How is the fitting problem formulated as an optimization problem?</vt:lpstr>
      <vt:lpstr>Cost or Objective Function for Data Fitting</vt:lpstr>
      <vt:lpstr>Cost or Objective Function for Data Fitting</vt:lpstr>
      <vt:lpstr>Linear Regression</vt:lpstr>
      <vt:lpstr>Linear Regression</vt:lpstr>
      <vt:lpstr>Fitting a linear Regression</vt:lpstr>
      <vt:lpstr>Fitting a linear Regression</vt:lpstr>
      <vt:lpstr>Fitting a linear regression model</vt:lpstr>
      <vt:lpstr>Fitting a linear regression model</vt:lpstr>
      <vt:lpstr>Fitting a linear regression model</vt:lpstr>
      <vt:lpstr>Visualizing the Error Prediction</vt:lpstr>
      <vt:lpstr>Visualizing the Error Prediction</vt:lpstr>
      <vt:lpstr>Visualizing the Cost function</vt:lpstr>
      <vt:lpstr>Visualizing the Cost function</vt:lpstr>
      <vt:lpstr>Visualizing the Cost function</vt:lpstr>
      <vt:lpstr>Solution to the Least-Squares Problems</vt:lpstr>
      <vt:lpstr>Solution to the Least-Squares Problems</vt:lpstr>
      <vt:lpstr>Solution to the Least-Squares Problems</vt:lpstr>
      <vt:lpstr>Solution to the Least-Squares Problems</vt:lpstr>
      <vt:lpstr>Solution to the Least-Squares Problems</vt:lpstr>
    </vt:vector>
  </TitlesOfParts>
  <Company>Milwaukee School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Objective Functions –  Loss &amp; Cost Functions - I</dc:title>
  <dc:creator>Salami, Hawraa</dc:creator>
  <cp:lastModifiedBy>Bukowy, John</cp:lastModifiedBy>
  <cp:revision>2</cp:revision>
  <dcterms:created xsi:type="dcterms:W3CDTF">2022-10-17T07:06:22Z</dcterms:created>
  <dcterms:modified xsi:type="dcterms:W3CDTF">2024-03-25T11:30:55Z</dcterms:modified>
</cp:coreProperties>
</file>