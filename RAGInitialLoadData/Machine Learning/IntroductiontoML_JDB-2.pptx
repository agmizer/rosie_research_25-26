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549" r:id="rId3"/>
    <p:sldId id="257" r:id="rId4"/>
    <p:sldId id="258" r:id="rId5"/>
    <p:sldId id="511" r:id="rId6"/>
    <p:sldId id="523" r:id="rId7"/>
    <p:sldId id="514" r:id="rId8"/>
    <p:sldId id="515" r:id="rId9"/>
    <p:sldId id="517" r:id="rId10"/>
    <p:sldId id="518" r:id="rId11"/>
    <p:sldId id="516" r:id="rId12"/>
    <p:sldId id="520" r:id="rId13"/>
    <p:sldId id="521" r:id="rId14"/>
    <p:sldId id="578" r:id="rId15"/>
    <p:sldId id="579" r:id="rId16"/>
    <p:sldId id="299" r:id="rId17"/>
    <p:sldId id="564" r:id="rId18"/>
    <p:sldId id="312" r:id="rId19"/>
    <p:sldId id="570" r:id="rId20"/>
    <p:sldId id="565" r:id="rId21"/>
    <p:sldId id="572" r:id="rId22"/>
    <p:sldId id="278" r:id="rId23"/>
    <p:sldId id="279" r:id="rId24"/>
    <p:sldId id="355" r:id="rId25"/>
    <p:sldId id="557" r:id="rId26"/>
    <p:sldId id="553" r:id="rId27"/>
    <p:sldId id="573" r:id="rId28"/>
    <p:sldId id="574" r:id="rId29"/>
    <p:sldId id="575" r:id="rId30"/>
    <p:sldId id="422" r:id="rId31"/>
    <p:sldId id="307" r:id="rId32"/>
    <p:sldId id="558" r:id="rId33"/>
    <p:sldId id="577" r:id="rId34"/>
    <p:sldId id="561" r:id="rId35"/>
    <p:sldId id="369" r:id="rId36"/>
    <p:sldId id="539" r:id="rId37"/>
    <p:sldId id="556" r:id="rId38"/>
    <p:sldId id="425" r:id="rId39"/>
    <p:sldId id="311" r:id="rId40"/>
    <p:sldId id="42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528" autoAdjust="0"/>
    <p:restoredTop sz="93792" autoAdjust="0"/>
  </p:normalViewPr>
  <p:slideViewPr>
    <p:cSldViewPr snapToGrid="0">
      <p:cViewPr varScale="1">
        <p:scale>
          <a:sx n="115" d="100"/>
          <a:sy n="115" d="100"/>
        </p:scale>
        <p:origin x="21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71CACB-5971-45D4-9C67-FB657E8DB397}" type="datetimeFigureOut">
              <a:rPr lang="en-US" smtClean="0"/>
              <a:t>9/2/25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9EE3EA-2FAB-47B0-973D-F2F6D641B754}" type="slidenum">
              <a:rPr lang="en-US" smtClean="0"/>
              <a:t>‹#›</a:t>
            </a:fld>
            <a:endParaRPr lang="en-US"/>
          </a:p>
        </p:txBody>
      </p:sp>
    </p:spTree>
    <p:extLst>
      <p:ext uri="{BB962C8B-B14F-4D97-AF65-F5344CB8AC3E}">
        <p14:creationId xmlns:p14="http://schemas.microsoft.com/office/powerpoint/2010/main" val="85897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622BE-D8B2-4F97-A3D1-FE7DFE35C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1B5642A-E4AB-4CF5-9AB6-6A4BC016BF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8F720D7-F72E-4BD6-859F-9172BDC6A340}"/>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5" name="Footer Placeholder 4">
            <a:extLst>
              <a:ext uri="{FF2B5EF4-FFF2-40B4-BE49-F238E27FC236}">
                <a16:creationId xmlns:a16="http://schemas.microsoft.com/office/drawing/2014/main" id="{BC7AAFE3-326B-434C-8868-85AE4FFA3E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31746-7841-4C25-A242-3ECCD98406AB}"/>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1863320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5BB3D-6C5E-44E6-AA4B-5A6B8E84BF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ADB805-8BE6-4E29-9C78-3D8B73E0953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162477-D5B5-4DDD-A5D9-50198EEF5EFD}"/>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5" name="Footer Placeholder 4">
            <a:extLst>
              <a:ext uri="{FF2B5EF4-FFF2-40B4-BE49-F238E27FC236}">
                <a16:creationId xmlns:a16="http://schemas.microsoft.com/office/drawing/2014/main" id="{BC5F9E22-7F5C-4AC5-81DE-D70CB1A29F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527337-FA8A-4FC9-98C8-16D02D9AAF8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131294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BF0DA-C526-440C-9E25-118EE56955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66A23D-1BCE-46E9-BDE5-038B070DFD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CC14AE8-A89F-4AF0-A124-627C96C50574}"/>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5" name="Footer Placeholder 4">
            <a:extLst>
              <a:ext uri="{FF2B5EF4-FFF2-40B4-BE49-F238E27FC236}">
                <a16:creationId xmlns:a16="http://schemas.microsoft.com/office/drawing/2014/main" id="{857E007E-3A0E-4314-BE35-65A00B25BC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107654-312A-49F9-A8A7-E041AEF0E302}"/>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879121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8EA80-9157-46B9-9B6C-866ECB4F0E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A55512-1E79-417B-AF52-B967554888B7}"/>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A0F5347-824F-45BB-94BB-795BE001F0F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7BD165-3FD6-4EDC-B038-27B6FAB54995}"/>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6" name="Footer Placeholder 5">
            <a:extLst>
              <a:ext uri="{FF2B5EF4-FFF2-40B4-BE49-F238E27FC236}">
                <a16:creationId xmlns:a16="http://schemas.microsoft.com/office/drawing/2014/main" id="{B0F670DF-7097-4D69-8812-83D8CD27A7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293A0B-7540-4059-9843-355929D040C1}"/>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675671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FD613-E280-44CA-A770-834C432C70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027B75-DC09-433C-9F55-300EC8F8BC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8BBA939-CA30-4F17-87B7-760951DEAF8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56A096-3BC1-45BF-BC50-E43A20C280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239EAD1-F304-43E7-9440-3CD09AEE578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D91FD4-5E10-4382-843A-45EC2E7A377E}"/>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8" name="Footer Placeholder 7">
            <a:extLst>
              <a:ext uri="{FF2B5EF4-FFF2-40B4-BE49-F238E27FC236}">
                <a16:creationId xmlns:a16="http://schemas.microsoft.com/office/drawing/2014/main" id="{EF3C9640-D6E4-47BC-95C6-821D6A3FF33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9657401-4351-40E8-A5AE-99EC9008D1C7}"/>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047595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FB5DB-477C-48A9-82E4-9F106960FD0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14A002-3405-414C-BD0D-4E02A8A18C0D}"/>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4" name="Footer Placeholder 3">
            <a:extLst>
              <a:ext uri="{FF2B5EF4-FFF2-40B4-BE49-F238E27FC236}">
                <a16:creationId xmlns:a16="http://schemas.microsoft.com/office/drawing/2014/main" id="{8F594212-8BB5-49D0-AB4B-36DC204BAB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0984A2-C0C8-4E8D-87D6-271599DD506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1240405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BCF15-D505-48CD-8264-FE5C9795F06E}"/>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3" name="Footer Placeholder 2">
            <a:extLst>
              <a:ext uri="{FF2B5EF4-FFF2-40B4-BE49-F238E27FC236}">
                <a16:creationId xmlns:a16="http://schemas.microsoft.com/office/drawing/2014/main" id="{2F01F9DB-CAA2-4020-9012-9F1EF528EE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F059D5-D7B0-4AB1-9375-2C4F77616844}"/>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894014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D2E85-C239-4C22-AD11-10405385F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45B297-510E-493F-8C06-041D0A6621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2C91D9-41B8-4112-9C50-627E91714F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89FF5DB-1613-4DC5-87A3-86E6BE1BFDBB}"/>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6" name="Footer Placeholder 5">
            <a:extLst>
              <a:ext uri="{FF2B5EF4-FFF2-40B4-BE49-F238E27FC236}">
                <a16:creationId xmlns:a16="http://schemas.microsoft.com/office/drawing/2014/main" id="{639C033E-2E39-4F20-B20C-5C24BC1119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D31C63-D410-40AA-9340-9A3122208A7E}"/>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763360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C796E-E2C7-4318-8EF7-93A7D84F5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9B41617-2F37-4AC2-B419-EAA8C0AD4F9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48A429-F83D-4DB8-8195-20270AE28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A18AEFC-C38F-4B3B-AA22-980F0C1CE294}"/>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6" name="Footer Placeholder 5">
            <a:extLst>
              <a:ext uri="{FF2B5EF4-FFF2-40B4-BE49-F238E27FC236}">
                <a16:creationId xmlns:a16="http://schemas.microsoft.com/office/drawing/2014/main" id="{4BBD791E-3787-4F78-872B-58723CBBD0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9202F8-480F-486B-BD94-412196ACBBF8}"/>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2417324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0179B-500A-496D-B4D9-F977820B22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77EB8F-B4BA-44E5-88AC-88224F298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044613-DC20-4985-BA9F-FD9160A7D3FD}"/>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5" name="Footer Placeholder 4">
            <a:extLst>
              <a:ext uri="{FF2B5EF4-FFF2-40B4-BE49-F238E27FC236}">
                <a16:creationId xmlns:a16="http://schemas.microsoft.com/office/drawing/2014/main" id="{FFE41043-1250-4111-B31D-F06A98BF59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098D8-E6A2-4106-AC9E-C128165DD40C}"/>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3120539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9BD81D-1246-4B00-A010-388321FE02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597C9-E1FA-4D61-92BB-630BE2C9832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6A213-7C75-4546-8719-20901677804A}"/>
              </a:ext>
            </a:extLst>
          </p:cNvPr>
          <p:cNvSpPr>
            <a:spLocks noGrp="1"/>
          </p:cNvSpPr>
          <p:nvPr>
            <p:ph type="dt" sz="half" idx="10"/>
          </p:nvPr>
        </p:nvSpPr>
        <p:spPr/>
        <p:txBody>
          <a:bodyPr/>
          <a:lstStyle/>
          <a:p>
            <a:fld id="{3EE86882-1CF3-4E21-89BE-C5CEB3924659}" type="datetimeFigureOut">
              <a:rPr lang="en-US" smtClean="0"/>
              <a:t>9/2/25</a:t>
            </a:fld>
            <a:endParaRPr lang="en-US"/>
          </a:p>
        </p:txBody>
      </p:sp>
      <p:sp>
        <p:nvSpPr>
          <p:cNvPr id="5" name="Footer Placeholder 4">
            <a:extLst>
              <a:ext uri="{FF2B5EF4-FFF2-40B4-BE49-F238E27FC236}">
                <a16:creationId xmlns:a16="http://schemas.microsoft.com/office/drawing/2014/main" id="{E20AC16E-47A1-48CF-BC45-6C8B323169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3F7EC8-FCC5-49F8-95FE-501140C2561D}"/>
              </a:ext>
            </a:extLst>
          </p:cNvPr>
          <p:cNvSpPr>
            <a:spLocks noGrp="1"/>
          </p:cNvSpPr>
          <p:nvPr>
            <p:ph type="sldNum" sz="quarter" idx="12"/>
          </p:nvPr>
        </p:nvSpPr>
        <p:spPr/>
        <p:txBody>
          <a:bodyPr/>
          <a:lstStyle/>
          <a:p>
            <a:fld id="{595983F6-BBDA-4E85-87CF-33C01B4242B3}" type="slidenum">
              <a:rPr lang="en-US" smtClean="0"/>
              <a:t>‹#›</a:t>
            </a:fld>
            <a:endParaRPr lang="en-US"/>
          </a:p>
        </p:txBody>
      </p:sp>
    </p:spTree>
    <p:extLst>
      <p:ext uri="{BB962C8B-B14F-4D97-AF65-F5344CB8AC3E}">
        <p14:creationId xmlns:p14="http://schemas.microsoft.com/office/powerpoint/2010/main" val="4196525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6B2CB8-2FD9-4E31-B363-89615416A9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2799CE-A21C-4684-93F1-A267B39C4A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58A116-D6CC-4CC6-9E36-248C5BB1D8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E86882-1CF3-4E21-89BE-C5CEB3924659}" type="datetimeFigureOut">
              <a:rPr lang="en-US" smtClean="0"/>
              <a:t>9/2/25</a:t>
            </a:fld>
            <a:endParaRPr lang="en-US"/>
          </a:p>
        </p:txBody>
      </p:sp>
      <p:sp>
        <p:nvSpPr>
          <p:cNvPr id="5" name="Footer Placeholder 4">
            <a:extLst>
              <a:ext uri="{FF2B5EF4-FFF2-40B4-BE49-F238E27FC236}">
                <a16:creationId xmlns:a16="http://schemas.microsoft.com/office/drawing/2014/main" id="{603686ED-4DCF-44D7-AC26-E894F4A17C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B59EE5-4619-4AE1-8C4A-7E25B4066B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5983F6-BBDA-4E85-87CF-33C01B4242B3}" type="slidenum">
              <a:rPr lang="en-US" smtClean="0"/>
              <a:t>‹#›</a:t>
            </a:fld>
            <a:endParaRPr lang="en-US"/>
          </a:p>
        </p:txBody>
      </p:sp>
    </p:spTree>
    <p:extLst>
      <p:ext uri="{BB962C8B-B14F-4D97-AF65-F5344CB8AC3E}">
        <p14:creationId xmlns:p14="http://schemas.microsoft.com/office/powerpoint/2010/main" val="1783656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robinwieruch.de/machine-learning-javascript-web-developers/"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cikit-learn.org/stable/user_guide.html" TargetMode="External"/><Relationship Id="rId2" Type="http://schemas.openxmlformats.org/officeDocument/2006/relationships/hyperlink" Target="https://numpy.org/doc/stable/user/quickstart.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B932-E397-4929-95D5-E688161E314F}"/>
              </a:ext>
            </a:extLst>
          </p:cNvPr>
          <p:cNvSpPr>
            <a:spLocks noGrp="1"/>
          </p:cNvSpPr>
          <p:nvPr>
            <p:ph type="ctrTitle"/>
          </p:nvPr>
        </p:nvSpPr>
        <p:spPr>
          <a:xfrm>
            <a:off x="1524000" y="1214438"/>
            <a:ext cx="9144000" cy="2387600"/>
          </a:xfrm>
        </p:spPr>
        <p:txBody>
          <a:bodyPr/>
          <a:lstStyle/>
          <a:p>
            <a:r>
              <a:rPr lang="en-US" b="1" dirty="0"/>
              <a:t>Introduction to Machine Learning</a:t>
            </a:r>
          </a:p>
        </p:txBody>
      </p:sp>
      <p:sp>
        <p:nvSpPr>
          <p:cNvPr id="3" name="Subtitle 2">
            <a:extLst>
              <a:ext uri="{FF2B5EF4-FFF2-40B4-BE49-F238E27FC236}">
                <a16:creationId xmlns:a16="http://schemas.microsoft.com/office/drawing/2014/main" id="{F8DE6D2B-55C7-4A2B-B516-E6D8FFBE9A9B}"/>
              </a:ext>
            </a:extLst>
          </p:cNvPr>
          <p:cNvSpPr>
            <a:spLocks noGrp="1"/>
          </p:cNvSpPr>
          <p:nvPr>
            <p:ph type="subTitle" idx="1"/>
          </p:nvPr>
        </p:nvSpPr>
        <p:spPr/>
        <p:txBody>
          <a:bodyPr/>
          <a:lstStyle/>
          <a:p>
            <a:r>
              <a:rPr lang="en-US" dirty="0"/>
              <a:t>CSC4601/5601 Theory of Machine Learning</a:t>
            </a:r>
          </a:p>
        </p:txBody>
      </p:sp>
    </p:spTree>
    <p:extLst>
      <p:ext uri="{BB962C8B-B14F-4D97-AF65-F5344CB8AC3E}">
        <p14:creationId xmlns:p14="http://schemas.microsoft.com/office/powerpoint/2010/main" val="953135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5EE9F4-F95C-429B-BCDF-3EF56E76B120}"/>
              </a:ext>
            </a:extLst>
          </p:cNvPr>
          <p:cNvSpPr>
            <a:spLocks noGrp="1"/>
          </p:cNvSpPr>
          <p:nvPr>
            <p:ph type="title"/>
          </p:nvPr>
        </p:nvSpPr>
        <p:spPr/>
        <p:txBody>
          <a:bodyPr/>
          <a:lstStyle/>
          <a:p>
            <a:r>
              <a:rPr lang="en-US" b="1" dirty="0"/>
              <a:t>Syllabus Introduction</a:t>
            </a:r>
          </a:p>
        </p:txBody>
      </p:sp>
    </p:spTree>
    <p:extLst>
      <p:ext uri="{BB962C8B-B14F-4D97-AF65-F5344CB8AC3E}">
        <p14:creationId xmlns:p14="http://schemas.microsoft.com/office/powerpoint/2010/main" val="35815994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84BF-27EE-4E00-AB3E-D36D459F81A7}"/>
              </a:ext>
            </a:extLst>
          </p:cNvPr>
          <p:cNvSpPr>
            <a:spLocks noGrp="1"/>
          </p:cNvSpPr>
          <p:nvPr>
            <p:ph type="title"/>
          </p:nvPr>
        </p:nvSpPr>
        <p:spPr/>
        <p:txBody>
          <a:bodyPr/>
          <a:lstStyle/>
          <a:p>
            <a:r>
              <a:rPr lang="en-US" dirty="0"/>
              <a:t>Who am I?</a:t>
            </a:r>
          </a:p>
        </p:txBody>
      </p:sp>
      <p:sp>
        <p:nvSpPr>
          <p:cNvPr id="3" name="Content Placeholder 2">
            <a:extLst>
              <a:ext uri="{FF2B5EF4-FFF2-40B4-BE49-F238E27FC236}">
                <a16:creationId xmlns:a16="http://schemas.microsoft.com/office/drawing/2014/main" id="{B59B0CE2-A92B-4686-A61F-2737F0BCF242}"/>
              </a:ext>
            </a:extLst>
          </p:cNvPr>
          <p:cNvSpPr>
            <a:spLocks noGrp="1"/>
          </p:cNvSpPr>
          <p:nvPr>
            <p:ph idx="1"/>
          </p:nvPr>
        </p:nvSpPr>
        <p:spPr/>
        <p:txBody>
          <a:bodyPr>
            <a:normAutofit/>
          </a:bodyPr>
          <a:lstStyle/>
          <a:p>
            <a:r>
              <a:rPr lang="en-US" dirty="0"/>
              <a:t>Dr. John Bukowy</a:t>
            </a:r>
          </a:p>
          <a:p>
            <a:r>
              <a:rPr lang="en-US" dirty="0"/>
              <a:t>Ph.D. in Physiology?!</a:t>
            </a:r>
          </a:p>
          <a:p>
            <a:pPr lvl="1"/>
            <a:r>
              <a:rPr lang="en-US" dirty="0"/>
              <a:t>Other degrees in:</a:t>
            </a:r>
          </a:p>
          <a:p>
            <a:pPr lvl="2"/>
            <a:r>
              <a:rPr lang="en-US" dirty="0"/>
              <a:t>Biomedical Engineering</a:t>
            </a:r>
          </a:p>
          <a:p>
            <a:pPr lvl="2"/>
            <a:r>
              <a:rPr lang="en-US" dirty="0"/>
              <a:t>Electrical Engineering</a:t>
            </a:r>
          </a:p>
          <a:p>
            <a:r>
              <a:rPr lang="en-US" dirty="0"/>
              <a:t>Industry Experience</a:t>
            </a:r>
          </a:p>
          <a:p>
            <a:pPr lvl="1"/>
            <a:r>
              <a:rPr lang="en-US" dirty="0"/>
              <a:t>2 years at MERGE Healthcare</a:t>
            </a:r>
          </a:p>
          <a:p>
            <a:r>
              <a:rPr lang="en-US" baseline="30000" dirty="0"/>
              <a:t>7th</a:t>
            </a:r>
            <a:r>
              <a:rPr lang="en-US" dirty="0"/>
              <a:t> year at MSOE </a:t>
            </a:r>
          </a:p>
          <a:p>
            <a:r>
              <a:rPr lang="en-US" dirty="0">
                <a:sym typeface="Wingdings" panose="05000000000000000000" pitchFamily="2" charset="2"/>
              </a:rPr>
              <a:t>When I am not working I…</a:t>
            </a:r>
          </a:p>
        </p:txBody>
      </p:sp>
    </p:spTree>
    <p:extLst>
      <p:ext uri="{BB962C8B-B14F-4D97-AF65-F5344CB8AC3E}">
        <p14:creationId xmlns:p14="http://schemas.microsoft.com/office/powerpoint/2010/main" val="165035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ECE73-1AE1-431A-93D2-E0E262702D46}"/>
              </a:ext>
            </a:extLst>
          </p:cNvPr>
          <p:cNvSpPr>
            <a:spLocks noGrp="1"/>
          </p:cNvSpPr>
          <p:nvPr>
            <p:ph type="title"/>
          </p:nvPr>
        </p:nvSpPr>
        <p:spPr/>
        <p:txBody>
          <a:bodyPr/>
          <a:lstStyle/>
          <a:p>
            <a:r>
              <a:rPr lang="en-US" dirty="0"/>
              <a:t>Introduce Yourselves</a:t>
            </a:r>
          </a:p>
        </p:txBody>
      </p:sp>
      <p:sp>
        <p:nvSpPr>
          <p:cNvPr id="3" name="Content Placeholder 2">
            <a:extLst>
              <a:ext uri="{FF2B5EF4-FFF2-40B4-BE49-F238E27FC236}">
                <a16:creationId xmlns:a16="http://schemas.microsoft.com/office/drawing/2014/main" id="{68CC8EEC-E2A7-44D8-8D7D-DE83A09A70F6}"/>
              </a:ext>
            </a:extLst>
          </p:cNvPr>
          <p:cNvSpPr>
            <a:spLocks noGrp="1"/>
          </p:cNvSpPr>
          <p:nvPr>
            <p:ph idx="1"/>
          </p:nvPr>
        </p:nvSpPr>
        <p:spPr/>
        <p:txBody>
          <a:bodyPr/>
          <a:lstStyle/>
          <a:p>
            <a:r>
              <a:rPr lang="en-US" dirty="0"/>
              <a:t>Let’s go around the room and introduce ourselves. Please tell me something fun and not work related you did over summer “break”.</a:t>
            </a:r>
          </a:p>
        </p:txBody>
      </p:sp>
    </p:spTree>
    <p:extLst>
      <p:ext uri="{BB962C8B-B14F-4D97-AF65-F5344CB8AC3E}">
        <p14:creationId xmlns:p14="http://schemas.microsoft.com/office/powerpoint/2010/main" val="35746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A54BB-DE61-4A99-9A49-00834B7D2FB6}"/>
              </a:ext>
            </a:extLst>
          </p:cNvPr>
          <p:cNvSpPr>
            <a:spLocks noGrp="1"/>
          </p:cNvSpPr>
          <p:nvPr>
            <p:ph type="title"/>
          </p:nvPr>
        </p:nvSpPr>
        <p:spPr/>
        <p:txBody>
          <a:bodyPr/>
          <a:lstStyle/>
          <a:p>
            <a:r>
              <a:rPr lang="en-US" dirty="0"/>
              <a:t>Class Time Organization</a:t>
            </a:r>
          </a:p>
        </p:txBody>
      </p:sp>
      <p:sp>
        <p:nvSpPr>
          <p:cNvPr id="3" name="Content Placeholder 2">
            <a:extLst>
              <a:ext uri="{FF2B5EF4-FFF2-40B4-BE49-F238E27FC236}">
                <a16:creationId xmlns:a16="http://schemas.microsoft.com/office/drawing/2014/main" id="{E5725939-E3EC-43DE-B880-81918AA8C9DD}"/>
              </a:ext>
            </a:extLst>
          </p:cNvPr>
          <p:cNvSpPr>
            <a:spLocks noGrp="1"/>
          </p:cNvSpPr>
          <p:nvPr>
            <p:ph idx="1"/>
          </p:nvPr>
        </p:nvSpPr>
        <p:spPr/>
        <p:txBody>
          <a:bodyPr>
            <a:normAutofit lnSpcReduction="10000"/>
          </a:bodyPr>
          <a:lstStyle/>
          <a:p>
            <a:r>
              <a:rPr lang="en-US" dirty="0"/>
              <a:t>Whole Class Meetings</a:t>
            </a:r>
          </a:p>
          <a:p>
            <a:pPr lvl="1"/>
            <a:r>
              <a:rPr lang="en-US" dirty="0"/>
              <a:t>2 time per week </a:t>
            </a:r>
          </a:p>
          <a:p>
            <a:pPr lvl="2"/>
            <a:r>
              <a:rPr lang="en-US" dirty="0"/>
              <a:t>Typically, 1-2 lectures of new materials</a:t>
            </a:r>
          </a:p>
          <a:p>
            <a:pPr lvl="2"/>
            <a:r>
              <a:rPr lang="en-US" dirty="0"/>
              <a:t>Occasionally we will do in-class problem sets to get hands on with topics</a:t>
            </a:r>
          </a:p>
          <a:p>
            <a:pPr lvl="2"/>
            <a:endParaRPr lang="en-US" dirty="0"/>
          </a:p>
          <a:p>
            <a:r>
              <a:rPr lang="en-US" dirty="0"/>
              <a:t>Lab Meetings</a:t>
            </a:r>
          </a:p>
          <a:p>
            <a:pPr lvl="1"/>
            <a:r>
              <a:rPr lang="en-US" dirty="0"/>
              <a:t>We have lab scheduled once a week for 2-hours</a:t>
            </a:r>
          </a:p>
          <a:p>
            <a:pPr lvl="1"/>
            <a:r>
              <a:rPr lang="en-US" dirty="0"/>
              <a:t>Expect a quiz at the beginning of lab each week</a:t>
            </a:r>
          </a:p>
          <a:p>
            <a:pPr lvl="1"/>
            <a:r>
              <a:rPr lang="en-US" dirty="0"/>
              <a:t>After the quiz we will use some of lab time to review last week’s lab and introduce the new lab.</a:t>
            </a:r>
          </a:p>
          <a:p>
            <a:pPr lvl="1"/>
            <a:r>
              <a:rPr lang="en-US" dirty="0"/>
              <a:t>For the rest of the time, I would encourage you to work on lab. Think of it as a focused office hour(s)</a:t>
            </a:r>
          </a:p>
          <a:p>
            <a:pPr lvl="2"/>
            <a:endParaRPr lang="en-US" dirty="0"/>
          </a:p>
          <a:p>
            <a:pPr lvl="1"/>
            <a:endParaRPr lang="en-US" dirty="0"/>
          </a:p>
        </p:txBody>
      </p:sp>
    </p:spTree>
    <p:extLst>
      <p:ext uri="{BB962C8B-B14F-4D97-AF65-F5344CB8AC3E}">
        <p14:creationId xmlns:p14="http://schemas.microsoft.com/office/powerpoint/2010/main" val="1975504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13964F-5E25-4902-8DDA-487955B834C3}"/>
              </a:ext>
            </a:extLst>
          </p:cNvPr>
          <p:cNvSpPr>
            <a:spLocks noGrp="1"/>
          </p:cNvSpPr>
          <p:nvPr>
            <p:ph idx="1"/>
          </p:nvPr>
        </p:nvSpPr>
        <p:spPr/>
        <p:txBody>
          <a:bodyPr/>
          <a:lstStyle/>
          <a:p>
            <a:r>
              <a:rPr lang="en-US" dirty="0"/>
              <a:t>Questions?</a:t>
            </a:r>
          </a:p>
        </p:txBody>
      </p:sp>
      <p:sp>
        <p:nvSpPr>
          <p:cNvPr id="4" name="Title 1">
            <a:extLst>
              <a:ext uri="{FF2B5EF4-FFF2-40B4-BE49-F238E27FC236}">
                <a16:creationId xmlns:a16="http://schemas.microsoft.com/office/drawing/2014/main" id="{FC53A641-B335-429C-95EB-1F906BA1B008}"/>
              </a:ext>
            </a:extLst>
          </p:cNvPr>
          <p:cNvSpPr>
            <a:spLocks noGrp="1"/>
          </p:cNvSpPr>
          <p:nvPr>
            <p:ph type="title"/>
          </p:nvPr>
        </p:nvSpPr>
        <p:spPr>
          <a:xfrm>
            <a:off x="838200" y="365125"/>
            <a:ext cx="10515600" cy="1325563"/>
          </a:xfrm>
        </p:spPr>
        <p:txBody>
          <a:bodyPr/>
          <a:lstStyle/>
          <a:p>
            <a:r>
              <a:rPr lang="en-US" dirty="0"/>
              <a:t>Class Time Organization</a:t>
            </a:r>
          </a:p>
        </p:txBody>
      </p:sp>
    </p:spTree>
    <p:extLst>
      <p:ext uri="{BB962C8B-B14F-4D97-AF65-F5344CB8AC3E}">
        <p14:creationId xmlns:p14="http://schemas.microsoft.com/office/powerpoint/2010/main" val="2279892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8CC3-D745-4853-921F-0A0343A6E8A7}"/>
              </a:ext>
            </a:extLst>
          </p:cNvPr>
          <p:cNvSpPr>
            <a:spLocks noGrp="1"/>
          </p:cNvSpPr>
          <p:nvPr>
            <p:ph type="title"/>
          </p:nvPr>
        </p:nvSpPr>
        <p:spPr/>
        <p:txBody>
          <a:bodyPr/>
          <a:lstStyle/>
          <a:p>
            <a:r>
              <a:rPr lang="en-US" dirty="0"/>
              <a:t>What Will I Be Graded On?</a:t>
            </a:r>
          </a:p>
        </p:txBody>
      </p:sp>
      <p:sp>
        <p:nvSpPr>
          <p:cNvPr id="3" name="Content Placeholder 2">
            <a:extLst>
              <a:ext uri="{FF2B5EF4-FFF2-40B4-BE49-F238E27FC236}">
                <a16:creationId xmlns:a16="http://schemas.microsoft.com/office/drawing/2014/main" id="{7292DBCB-C693-4C0C-B026-21DD0D654B1E}"/>
              </a:ext>
            </a:extLst>
          </p:cNvPr>
          <p:cNvSpPr>
            <a:spLocks noGrp="1"/>
          </p:cNvSpPr>
          <p:nvPr>
            <p:ph idx="1"/>
          </p:nvPr>
        </p:nvSpPr>
        <p:spPr>
          <a:xfrm>
            <a:off x="838200" y="1825625"/>
            <a:ext cx="6248400" cy="4351338"/>
          </a:xfrm>
        </p:spPr>
        <p:txBody>
          <a:bodyPr/>
          <a:lstStyle/>
          <a:p>
            <a:r>
              <a:rPr lang="en-US" dirty="0"/>
              <a:t>5 Activities will have grades associated with them</a:t>
            </a:r>
          </a:p>
          <a:p>
            <a:pPr lvl="1"/>
            <a:r>
              <a:rPr lang="en-US" dirty="0"/>
              <a:t>Problem Sets</a:t>
            </a:r>
          </a:p>
          <a:p>
            <a:pPr lvl="1"/>
            <a:r>
              <a:rPr lang="en-US" dirty="0"/>
              <a:t>Labs</a:t>
            </a:r>
          </a:p>
          <a:p>
            <a:pPr lvl="1"/>
            <a:r>
              <a:rPr lang="en-US" dirty="0"/>
              <a:t>Quizzes</a:t>
            </a:r>
          </a:p>
          <a:p>
            <a:pPr lvl="1"/>
            <a:r>
              <a:rPr lang="en-US" dirty="0"/>
              <a:t>Final Project</a:t>
            </a:r>
          </a:p>
          <a:p>
            <a:pPr lvl="1"/>
            <a:r>
              <a:rPr lang="en-US" dirty="0"/>
              <a:t>Exams</a:t>
            </a:r>
          </a:p>
        </p:txBody>
      </p:sp>
      <p:pic>
        <p:nvPicPr>
          <p:cNvPr id="5" name="Picture 4">
            <a:extLst>
              <a:ext uri="{FF2B5EF4-FFF2-40B4-BE49-F238E27FC236}">
                <a16:creationId xmlns:a16="http://schemas.microsoft.com/office/drawing/2014/main" id="{37C831A2-612C-4318-B936-78FB3A7BAAED}"/>
              </a:ext>
            </a:extLst>
          </p:cNvPr>
          <p:cNvPicPr>
            <a:picLocks noChangeAspect="1"/>
          </p:cNvPicPr>
          <p:nvPr/>
        </p:nvPicPr>
        <p:blipFill rotWithShape="1">
          <a:blip r:embed="rId2"/>
          <a:srcRect r="69653"/>
          <a:stretch/>
        </p:blipFill>
        <p:spPr>
          <a:xfrm>
            <a:off x="8447007" y="3691741"/>
            <a:ext cx="2446990" cy="2801134"/>
          </a:xfrm>
          <a:prstGeom prst="rect">
            <a:avLst/>
          </a:prstGeom>
        </p:spPr>
      </p:pic>
      <p:pic>
        <p:nvPicPr>
          <p:cNvPr id="6" name="Picture 5" descr="A table with text on it&#10;&#10;AI-generated content may be incorrect.">
            <a:extLst>
              <a:ext uri="{FF2B5EF4-FFF2-40B4-BE49-F238E27FC236}">
                <a16:creationId xmlns:a16="http://schemas.microsoft.com/office/drawing/2014/main" id="{AC9F3513-AFBA-2207-6E62-8CB6907FFDAA}"/>
              </a:ext>
            </a:extLst>
          </p:cNvPr>
          <p:cNvPicPr>
            <a:picLocks noChangeAspect="1"/>
          </p:cNvPicPr>
          <p:nvPr/>
        </p:nvPicPr>
        <p:blipFill>
          <a:blip r:embed="rId3">
            <a:extLst>
              <a:ext uri="{28A0092B-C50C-407E-A947-70E740481C1C}">
                <a14:useLocalDpi xmlns:a14="http://schemas.microsoft.com/office/drawing/2010/main" val="0"/>
              </a:ext>
            </a:extLst>
          </a:blip>
          <a:srcRect t="12795"/>
          <a:stretch>
            <a:fillRect/>
          </a:stretch>
        </p:blipFill>
        <p:spPr>
          <a:xfrm>
            <a:off x="7638502" y="929898"/>
            <a:ext cx="4064000" cy="2580468"/>
          </a:xfrm>
          <a:prstGeom prst="rect">
            <a:avLst/>
          </a:prstGeom>
        </p:spPr>
      </p:pic>
    </p:spTree>
    <p:extLst>
      <p:ext uri="{BB962C8B-B14F-4D97-AF65-F5344CB8AC3E}">
        <p14:creationId xmlns:p14="http://schemas.microsoft.com/office/powerpoint/2010/main" val="1290124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373ED-C973-44F7-B03D-CA10370A150B}"/>
              </a:ext>
            </a:extLst>
          </p:cNvPr>
          <p:cNvSpPr>
            <a:spLocks noGrp="1"/>
          </p:cNvSpPr>
          <p:nvPr>
            <p:ph idx="1"/>
          </p:nvPr>
        </p:nvSpPr>
        <p:spPr/>
        <p:txBody>
          <a:bodyPr>
            <a:normAutofit/>
          </a:bodyPr>
          <a:lstStyle/>
          <a:p>
            <a:r>
              <a:rPr lang="en-US" b="1" dirty="0"/>
              <a:t>Problem Sets</a:t>
            </a:r>
            <a:endParaRPr lang="en-US" dirty="0"/>
          </a:p>
          <a:p>
            <a:pPr lvl="1"/>
            <a:r>
              <a:rPr lang="en-US" dirty="0"/>
              <a:t>Reinforce math + concepts; prepare for assessments.</a:t>
            </a:r>
          </a:p>
          <a:p>
            <a:pPr lvl="1"/>
            <a:r>
              <a:rPr lang="en-US" dirty="0"/>
              <a:t>Due </a:t>
            </a:r>
            <a:r>
              <a:rPr lang="en-US" b="1" dirty="0"/>
              <a:t>one week after lab session</a:t>
            </a:r>
            <a:r>
              <a:rPr lang="en-US" dirty="0"/>
              <a:t> (e.g., Wed lab → next Tue, 11:59 PM).</a:t>
            </a:r>
          </a:p>
          <a:p>
            <a:pPr lvl="1"/>
            <a:r>
              <a:rPr lang="en-US" dirty="0"/>
              <a:t>Submit </a:t>
            </a:r>
            <a:r>
              <a:rPr lang="en-US" dirty="0" err="1"/>
              <a:t>Jupyter</a:t>
            </a:r>
            <a:r>
              <a:rPr lang="en-US" dirty="0"/>
              <a:t> notebook via </a:t>
            </a:r>
            <a:r>
              <a:rPr lang="en-US" b="1" dirty="0"/>
              <a:t>Canvas</a:t>
            </a:r>
            <a:r>
              <a:rPr lang="en-US" dirty="0"/>
              <a:t>.</a:t>
            </a:r>
          </a:p>
          <a:p>
            <a:pPr lvl="1"/>
            <a:r>
              <a:rPr lang="en-US" dirty="0"/>
              <a:t>Grading:</a:t>
            </a:r>
          </a:p>
          <a:p>
            <a:pPr lvl="2"/>
            <a:r>
              <a:rPr lang="en-US" b="1" dirty="0"/>
              <a:t>Complete</a:t>
            </a:r>
            <a:r>
              <a:rPr lang="en-US" dirty="0"/>
              <a:t> = full credit</a:t>
            </a:r>
          </a:p>
          <a:p>
            <a:pPr lvl="2"/>
            <a:r>
              <a:rPr lang="en-US" b="1" dirty="0"/>
              <a:t>Attempted</a:t>
            </a:r>
            <a:r>
              <a:rPr lang="en-US" dirty="0"/>
              <a:t> = ½ credit</a:t>
            </a:r>
          </a:p>
          <a:p>
            <a:pPr lvl="2"/>
            <a:r>
              <a:rPr lang="en-US" b="1" dirty="0"/>
              <a:t>No submission</a:t>
            </a:r>
            <a:r>
              <a:rPr lang="en-US" dirty="0"/>
              <a:t> = 0</a:t>
            </a:r>
          </a:p>
          <a:p>
            <a:pPr lvl="1"/>
            <a:r>
              <a:rPr lang="en-US" dirty="0"/>
              <a:t>Minimal written feedback; please bring to office hours for discussion. We will also have the opportunity to complete some problems in class.</a:t>
            </a:r>
          </a:p>
          <a:p>
            <a:pPr lvl="1"/>
            <a:r>
              <a:rPr lang="en-US" dirty="0"/>
              <a:t>Key ideas reviewed in class/lab after due date.</a:t>
            </a:r>
          </a:p>
        </p:txBody>
      </p:sp>
      <p:sp>
        <p:nvSpPr>
          <p:cNvPr id="4" name="Title 1">
            <a:extLst>
              <a:ext uri="{FF2B5EF4-FFF2-40B4-BE49-F238E27FC236}">
                <a16:creationId xmlns:a16="http://schemas.microsoft.com/office/drawing/2014/main" id="{E2FEFD66-12EA-4DCF-B730-9972BC02889D}"/>
              </a:ext>
            </a:extLst>
          </p:cNvPr>
          <p:cNvSpPr>
            <a:spLocks noGrp="1"/>
          </p:cNvSpPr>
          <p:nvPr>
            <p:ph type="title"/>
          </p:nvPr>
        </p:nvSpPr>
        <p:spPr>
          <a:xfrm>
            <a:off x="838200" y="365125"/>
            <a:ext cx="10515600" cy="1325563"/>
          </a:xfrm>
        </p:spPr>
        <p:txBody>
          <a:bodyPr/>
          <a:lstStyle/>
          <a:p>
            <a:r>
              <a:rPr lang="en-US" dirty="0"/>
              <a:t>What Will I Be Graded On?</a:t>
            </a:r>
          </a:p>
        </p:txBody>
      </p:sp>
    </p:spTree>
    <p:extLst>
      <p:ext uri="{BB962C8B-B14F-4D97-AF65-F5344CB8AC3E}">
        <p14:creationId xmlns:p14="http://schemas.microsoft.com/office/powerpoint/2010/main" val="2228256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373ED-C973-44F7-B03D-CA10370A150B}"/>
              </a:ext>
            </a:extLst>
          </p:cNvPr>
          <p:cNvSpPr>
            <a:spLocks noGrp="1"/>
          </p:cNvSpPr>
          <p:nvPr>
            <p:ph idx="1"/>
          </p:nvPr>
        </p:nvSpPr>
        <p:spPr/>
        <p:txBody>
          <a:bodyPr>
            <a:normAutofit/>
          </a:bodyPr>
          <a:lstStyle/>
          <a:p>
            <a:r>
              <a:rPr lang="en-US" b="1" dirty="0"/>
              <a:t>Labs</a:t>
            </a:r>
            <a:endParaRPr lang="en-US" dirty="0"/>
          </a:p>
          <a:p>
            <a:pPr lvl="1"/>
            <a:r>
              <a:rPr lang="en-US" dirty="0"/>
              <a:t>Weekly, hands-on assignments.</a:t>
            </a:r>
          </a:p>
          <a:p>
            <a:pPr lvl="1"/>
            <a:r>
              <a:rPr lang="en-US" dirty="0"/>
              <a:t>Due </a:t>
            </a:r>
            <a:r>
              <a:rPr lang="en-US" b="1" dirty="0"/>
              <a:t>one week after lab session</a:t>
            </a:r>
            <a:r>
              <a:rPr lang="en-US" dirty="0"/>
              <a:t> (e.g., Wed lab → next Tue, 11:59 PM).</a:t>
            </a:r>
          </a:p>
          <a:p>
            <a:pPr lvl="1"/>
            <a:r>
              <a:rPr lang="en-US" dirty="0"/>
              <a:t>Submit to </a:t>
            </a:r>
            <a:r>
              <a:rPr lang="en-US" b="1" dirty="0"/>
              <a:t>Canvas + GitHub</a:t>
            </a:r>
            <a:r>
              <a:rPr lang="en-US" dirty="0"/>
              <a:t> (check submission).</a:t>
            </a:r>
          </a:p>
          <a:p>
            <a:pPr lvl="1"/>
            <a:r>
              <a:rPr lang="en-US" dirty="0"/>
              <a:t>Grading:</a:t>
            </a:r>
          </a:p>
          <a:p>
            <a:pPr lvl="2"/>
            <a:r>
              <a:rPr lang="en-US" b="1" dirty="0"/>
              <a:t>Complete</a:t>
            </a:r>
            <a:r>
              <a:rPr lang="en-US" dirty="0"/>
              <a:t> = full credit</a:t>
            </a:r>
          </a:p>
          <a:p>
            <a:pPr lvl="2"/>
            <a:r>
              <a:rPr lang="en-US" b="1" dirty="0"/>
              <a:t>Attempted</a:t>
            </a:r>
            <a:r>
              <a:rPr lang="en-US" dirty="0"/>
              <a:t> = ½ credit</a:t>
            </a:r>
          </a:p>
          <a:p>
            <a:pPr lvl="2"/>
            <a:r>
              <a:rPr lang="en-US" b="1" dirty="0"/>
              <a:t>No submission</a:t>
            </a:r>
            <a:r>
              <a:rPr lang="en-US" dirty="0"/>
              <a:t> = 0</a:t>
            </a:r>
          </a:p>
          <a:p>
            <a:pPr lvl="1"/>
            <a:r>
              <a:rPr lang="en-US" dirty="0"/>
              <a:t>Minimal written feedback — We will review the lab after the quiz during the next lab session. If you would like additional feedback, please bring your work to office hours for discussion.</a:t>
            </a:r>
          </a:p>
          <a:p>
            <a:endParaRPr lang="en-US" dirty="0"/>
          </a:p>
        </p:txBody>
      </p:sp>
      <p:sp>
        <p:nvSpPr>
          <p:cNvPr id="4" name="Title 1">
            <a:extLst>
              <a:ext uri="{FF2B5EF4-FFF2-40B4-BE49-F238E27FC236}">
                <a16:creationId xmlns:a16="http://schemas.microsoft.com/office/drawing/2014/main" id="{E2FEFD66-12EA-4DCF-B730-9972BC02889D}"/>
              </a:ext>
            </a:extLst>
          </p:cNvPr>
          <p:cNvSpPr>
            <a:spLocks noGrp="1"/>
          </p:cNvSpPr>
          <p:nvPr>
            <p:ph type="title"/>
          </p:nvPr>
        </p:nvSpPr>
        <p:spPr>
          <a:xfrm>
            <a:off x="838200" y="365125"/>
            <a:ext cx="10515600" cy="1325563"/>
          </a:xfrm>
        </p:spPr>
        <p:txBody>
          <a:bodyPr/>
          <a:lstStyle/>
          <a:p>
            <a:r>
              <a:rPr lang="en-US" dirty="0"/>
              <a:t>What Will I Be Graded On?</a:t>
            </a:r>
          </a:p>
        </p:txBody>
      </p:sp>
    </p:spTree>
    <p:extLst>
      <p:ext uri="{BB962C8B-B14F-4D97-AF65-F5344CB8AC3E}">
        <p14:creationId xmlns:p14="http://schemas.microsoft.com/office/powerpoint/2010/main" val="1080032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373ED-C973-44F7-B03D-CA10370A150B}"/>
              </a:ext>
            </a:extLst>
          </p:cNvPr>
          <p:cNvSpPr>
            <a:spLocks noGrp="1"/>
          </p:cNvSpPr>
          <p:nvPr>
            <p:ph idx="1"/>
          </p:nvPr>
        </p:nvSpPr>
        <p:spPr/>
        <p:txBody>
          <a:bodyPr>
            <a:normAutofit/>
          </a:bodyPr>
          <a:lstStyle/>
          <a:p>
            <a:r>
              <a:rPr lang="en-US" b="1" dirty="0"/>
              <a:t>Final Project</a:t>
            </a:r>
            <a:endParaRPr lang="en-US" dirty="0"/>
          </a:p>
          <a:p>
            <a:pPr lvl="1"/>
            <a:r>
              <a:rPr lang="en-US" dirty="0"/>
              <a:t>Goal: Research + present an ML topic; prepare materials as if teaching the class.</a:t>
            </a:r>
          </a:p>
          <a:p>
            <a:pPr lvl="1"/>
            <a:r>
              <a:rPr lang="en-US" b="1" dirty="0"/>
              <a:t>Week 8</a:t>
            </a:r>
            <a:r>
              <a:rPr lang="en-US" dirty="0"/>
              <a:t>: groups/individual topics decided.</a:t>
            </a:r>
          </a:p>
          <a:p>
            <a:pPr lvl="1"/>
            <a:r>
              <a:rPr lang="en-US" b="1" dirty="0"/>
              <a:t>Week 15</a:t>
            </a:r>
            <a:r>
              <a:rPr lang="en-US" dirty="0"/>
              <a:t>: in-class presentations.</a:t>
            </a:r>
          </a:p>
          <a:p>
            <a:pPr lvl="1"/>
            <a:r>
              <a:rPr lang="en-US" b="1" dirty="0"/>
              <a:t>CSC4601</a:t>
            </a:r>
            <a:r>
              <a:rPr lang="en-US" dirty="0"/>
              <a:t>: Groups of 2–3 (self-assigned).</a:t>
            </a:r>
          </a:p>
          <a:p>
            <a:pPr lvl="1"/>
            <a:r>
              <a:rPr lang="en-US" b="1" dirty="0"/>
              <a:t>CSC5601</a:t>
            </a:r>
            <a:r>
              <a:rPr lang="en-US" dirty="0"/>
              <a:t>: Individual projects with additional requirements.</a:t>
            </a:r>
          </a:p>
          <a:p>
            <a:pPr lvl="1"/>
            <a:r>
              <a:rPr lang="en-US" dirty="0"/>
              <a:t>Grade – %</a:t>
            </a:r>
          </a:p>
          <a:p>
            <a:pPr lvl="1"/>
            <a:endParaRPr lang="en-US" dirty="0"/>
          </a:p>
        </p:txBody>
      </p:sp>
      <p:sp>
        <p:nvSpPr>
          <p:cNvPr id="4" name="Title 1">
            <a:extLst>
              <a:ext uri="{FF2B5EF4-FFF2-40B4-BE49-F238E27FC236}">
                <a16:creationId xmlns:a16="http://schemas.microsoft.com/office/drawing/2014/main" id="{E2FEFD66-12EA-4DCF-B730-9972BC02889D}"/>
              </a:ext>
            </a:extLst>
          </p:cNvPr>
          <p:cNvSpPr>
            <a:spLocks noGrp="1"/>
          </p:cNvSpPr>
          <p:nvPr>
            <p:ph type="title"/>
          </p:nvPr>
        </p:nvSpPr>
        <p:spPr>
          <a:xfrm>
            <a:off x="838200" y="365125"/>
            <a:ext cx="10515600" cy="1325563"/>
          </a:xfrm>
        </p:spPr>
        <p:txBody>
          <a:bodyPr/>
          <a:lstStyle/>
          <a:p>
            <a:r>
              <a:rPr lang="en-US" dirty="0"/>
              <a:t>What Will I Be Graded On?</a:t>
            </a:r>
          </a:p>
        </p:txBody>
      </p:sp>
    </p:spTree>
    <p:extLst>
      <p:ext uri="{BB962C8B-B14F-4D97-AF65-F5344CB8AC3E}">
        <p14:creationId xmlns:p14="http://schemas.microsoft.com/office/powerpoint/2010/main" val="29863492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373ED-C973-44F7-B03D-CA10370A150B}"/>
              </a:ext>
            </a:extLst>
          </p:cNvPr>
          <p:cNvSpPr>
            <a:spLocks noGrp="1"/>
          </p:cNvSpPr>
          <p:nvPr>
            <p:ph idx="1"/>
          </p:nvPr>
        </p:nvSpPr>
        <p:spPr/>
        <p:txBody>
          <a:bodyPr>
            <a:normAutofit/>
          </a:bodyPr>
          <a:lstStyle/>
          <a:p>
            <a:r>
              <a:rPr lang="en-US" b="1" dirty="0"/>
              <a:t>Quizzes</a:t>
            </a:r>
          </a:p>
          <a:p>
            <a:pPr lvl="1"/>
            <a:r>
              <a:rPr lang="en-US" dirty="0"/>
              <a:t>Expect a weekly quiz at the beginning of lab (~15 minutes long)</a:t>
            </a:r>
          </a:p>
          <a:p>
            <a:pPr lvl="1"/>
            <a:r>
              <a:rPr lang="en-US" dirty="0"/>
              <a:t>Quizzes will focus most heavily on the learnings/methods/approaches from the previous week’s lab and/or problem set</a:t>
            </a:r>
          </a:p>
          <a:p>
            <a:pPr lvl="1"/>
            <a:r>
              <a:rPr lang="en-US" dirty="0"/>
              <a:t>Quizzes may also include questions about topics from the lecture</a:t>
            </a:r>
          </a:p>
          <a:p>
            <a:pPr lvl="1"/>
            <a:r>
              <a:rPr lang="en-US" dirty="0"/>
              <a:t>Quizzes will be composed of short response and workable problems</a:t>
            </a:r>
          </a:p>
          <a:p>
            <a:pPr lvl="1"/>
            <a:r>
              <a:rPr lang="en-US" dirty="0"/>
              <a:t>Grade – %</a:t>
            </a:r>
          </a:p>
        </p:txBody>
      </p:sp>
      <p:sp>
        <p:nvSpPr>
          <p:cNvPr id="4" name="Title 1">
            <a:extLst>
              <a:ext uri="{FF2B5EF4-FFF2-40B4-BE49-F238E27FC236}">
                <a16:creationId xmlns:a16="http://schemas.microsoft.com/office/drawing/2014/main" id="{E2FEFD66-12EA-4DCF-B730-9972BC02889D}"/>
              </a:ext>
            </a:extLst>
          </p:cNvPr>
          <p:cNvSpPr>
            <a:spLocks noGrp="1"/>
          </p:cNvSpPr>
          <p:nvPr>
            <p:ph type="title"/>
          </p:nvPr>
        </p:nvSpPr>
        <p:spPr>
          <a:xfrm>
            <a:off x="838200" y="365125"/>
            <a:ext cx="10515600" cy="1325563"/>
          </a:xfrm>
        </p:spPr>
        <p:txBody>
          <a:bodyPr/>
          <a:lstStyle/>
          <a:p>
            <a:r>
              <a:rPr lang="en-US" dirty="0"/>
              <a:t>What Will I Be Graded On?</a:t>
            </a:r>
          </a:p>
        </p:txBody>
      </p:sp>
    </p:spTree>
    <p:extLst>
      <p:ext uri="{BB962C8B-B14F-4D97-AF65-F5344CB8AC3E}">
        <p14:creationId xmlns:p14="http://schemas.microsoft.com/office/powerpoint/2010/main" val="3807641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373ED-C973-44F7-B03D-CA10370A150B}"/>
              </a:ext>
            </a:extLst>
          </p:cNvPr>
          <p:cNvSpPr>
            <a:spLocks noGrp="1"/>
          </p:cNvSpPr>
          <p:nvPr>
            <p:ph idx="1"/>
          </p:nvPr>
        </p:nvSpPr>
        <p:spPr/>
        <p:txBody>
          <a:bodyPr/>
          <a:lstStyle/>
          <a:p>
            <a:r>
              <a:rPr lang="en-US" b="1" dirty="0"/>
              <a:t>Exams</a:t>
            </a:r>
          </a:p>
          <a:p>
            <a:pPr lvl="1"/>
            <a:r>
              <a:rPr lang="en-US" dirty="0"/>
              <a:t>We will have 1 midterm exam during the quarter and a cumulative final at the end of the class.</a:t>
            </a:r>
          </a:p>
          <a:p>
            <a:pPr lvl="1"/>
            <a:r>
              <a:rPr lang="en-US" dirty="0"/>
              <a:t>Exam I will be given ~ week 8.</a:t>
            </a:r>
          </a:p>
          <a:p>
            <a:pPr lvl="1"/>
            <a:r>
              <a:rPr lang="en-US" dirty="0"/>
              <a:t>The final will be given in week 16.</a:t>
            </a:r>
          </a:p>
          <a:p>
            <a:pPr lvl="1"/>
            <a:r>
              <a:rPr lang="en-US" dirty="0"/>
              <a:t>Grade - %</a:t>
            </a:r>
          </a:p>
        </p:txBody>
      </p:sp>
      <p:sp>
        <p:nvSpPr>
          <p:cNvPr id="4" name="Title 1">
            <a:extLst>
              <a:ext uri="{FF2B5EF4-FFF2-40B4-BE49-F238E27FC236}">
                <a16:creationId xmlns:a16="http://schemas.microsoft.com/office/drawing/2014/main" id="{E2FEFD66-12EA-4DCF-B730-9972BC02889D}"/>
              </a:ext>
            </a:extLst>
          </p:cNvPr>
          <p:cNvSpPr>
            <a:spLocks noGrp="1"/>
          </p:cNvSpPr>
          <p:nvPr>
            <p:ph type="title"/>
          </p:nvPr>
        </p:nvSpPr>
        <p:spPr>
          <a:xfrm>
            <a:off x="838200" y="365125"/>
            <a:ext cx="10515600" cy="1325563"/>
          </a:xfrm>
        </p:spPr>
        <p:txBody>
          <a:bodyPr/>
          <a:lstStyle/>
          <a:p>
            <a:r>
              <a:rPr lang="en-US" dirty="0"/>
              <a:t>What Will I Be Graded On?</a:t>
            </a:r>
          </a:p>
        </p:txBody>
      </p:sp>
    </p:spTree>
    <p:extLst>
      <p:ext uri="{BB962C8B-B14F-4D97-AF65-F5344CB8AC3E}">
        <p14:creationId xmlns:p14="http://schemas.microsoft.com/office/powerpoint/2010/main" val="89708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373ED-C973-44F7-B03D-CA10370A150B}"/>
              </a:ext>
            </a:extLst>
          </p:cNvPr>
          <p:cNvSpPr>
            <a:spLocks noGrp="1"/>
          </p:cNvSpPr>
          <p:nvPr>
            <p:ph idx="1"/>
          </p:nvPr>
        </p:nvSpPr>
        <p:spPr/>
        <p:txBody>
          <a:bodyPr/>
          <a:lstStyle/>
          <a:p>
            <a:r>
              <a:rPr lang="en-US" dirty="0"/>
              <a:t>Questions?</a:t>
            </a:r>
          </a:p>
        </p:txBody>
      </p:sp>
      <p:sp>
        <p:nvSpPr>
          <p:cNvPr id="4" name="Title 1">
            <a:extLst>
              <a:ext uri="{FF2B5EF4-FFF2-40B4-BE49-F238E27FC236}">
                <a16:creationId xmlns:a16="http://schemas.microsoft.com/office/drawing/2014/main" id="{E2FEFD66-12EA-4DCF-B730-9972BC02889D}"/>
              </a:ext>
            </a:extLst>
          </p:cNvPr>
          <p:cNvSpPr>
            <a:spLocks noGrp="1"/>
          </p:cNvSpPr>
          <p:nvPr>
            <p:ph type="title"/>
          </p:nvPr>
        </p:nvSpPr>
        <p:spPr>
          <a:xfrm>
            <a:off x="838200" y="365125"/>
            <a:ext cx="10515600" cy="1325563"/>
          </a:xfrm>
        </p:spPr>
        <p:txBody>
          <a:bodyPr/>
          <a:lstStyle/>
          <a:p>
            <a:r>
              <a:rPr lang="en-US" dirty="0"/>
              <a:t>What Will I Be Graded On?</a:t>
            </a:r>
          </a:p>
        </p:txBody>
      </p:sp>
    </p:spTree>
    <p:extLst>
      <p:ext uri="{BB962C8B-B14F-4D97-AF65-F5344CB8AC3E}">
        <p14:creationId xmlns:p14="http://schemas.microsoft.com/office/powerpoint/2010/main" val="3252936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18247-0DC8-FDC0-DE3F-31E70176B8A6}"/>
              </a:ext>
            </a:extLst>
          </p:cNvPr>
          <p:cNvSpPr>
            <a:spLocks noGrp="1"/>
          </p:cNvSpPr>
          <p:nvPr>
            <p:ph type="title"/>
          </p:nvPr>
        </p:nvSpPr>
        <p:spPr/>
        <p:txBody>
          <a:bodyPr/>
          <a:lstStyle/>
          <a:p>
            <a:r>
              <a:rPr lang="en-US" b="1" dirty="0"/>
              <a:t>Course Philosophy</a:t>
            </a:r>
            <a:endParaRPr lang="en-US" dirty="0"/>
          </a:p>
        </p:txBody>
      </p:sp>
      <p:sp>
        <p:nvSpPr>
          <p:cNvPr id="3" name="Content Placeholder 2">
            <a:extLst>
              <a:ext uri="{FF2B5EF4-FFF2-40B4-BE49-F238E27FC236}">
                <a16:creationId xmlns:a16="http://schemas.microsoft.com/office/drawing/2014/main" id="{2BB40E0D-49E8-4261-E6F8-21E451A270A1}"/>
              </a:ext>
            </a:extLst>
          </p:cNvPr>
          <p:cNvSpPr>
            <a:spLocks noGrp="1"/>
          </p:cNvSpPr>
          <p:nvPr>
            <p:ph idx="1"/>
          </p:nvPr>
        </p:nvSpPr>
        <p:spPr/>
        <p:txBody>
          <a:bodyPr/>
          <a:lstStyle/>
          <a:p>
            <a:r>
              <a:rPr lang="en-US" dirty="0"/>
              <a:t>Build strong </a:t>
            </a:r>
            <a:r>
              <a:rPr lang="en-US" b="1" dirty="0"/>
              <a:t>mental models</a:t>
            </a:r>
            <a:r>
              <a:rPr lang="en-US" dirty="0"/>
              <a:t> of how ML works in feature &amp; parameter space.</a:t>
            </a:r>
          </a:p>
          <a:p>
            <a:r>
              <a:rPr lang="en-US" dirty="0"/>
              <a:t>Math helps describe these relationships → practice builds intuition.</a:t>
            </a:r>
          </a:p>
          <a:p>
            <a:r>
              <a:rPr lang="en-US" dirty="0"/>
              <a:t>Learning comes through </a:t>
            </a:r>
            <a:r>
              <a:rPr lang="en-US" b="1" dirty="0"/>
              <a:t>struggle + repetition</a:t>
            </a:r>
            <a:r>
              <a:rPr lang="en-US" dirty="0"/>
              <a:t>, not shortcuts.</a:t>
            </a:r>
          </a:p>
          <a:p>
            <a:r>
              <a:rPr lang="en-US" dirty="0"/>
              <a:t>Labs &amp; problem sets provide the practice needed to succeed in exams and your career.</a:t>
            </a:r>
          </a:p>
          <a:p>
            <a:r>
              <a:rPr lang="en-US" dirty="0"/>
              <a:t>AI tools can help if used thoughtfully, but blind trust undermines learning.</a:t>
            </a:r>
          </a:p>
          <a:p>
            <a:endParaRPr lang="en-US" dirty="0"/>
          </a:p>
        </p:txBody>
      </p:sp>
    </p:spTree>
    <p:extLst>
      <p:ext uri="{BB962C8B-B14F-4D97-AF65-F5344CB8AC3E}">
        <p14:creationId xmlns:p14="http://schemas.microsoft.com/office/powerpoint/2010/main" val="1909367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531EC-06EB-AA5B-A528-F0957AA4B40F}"/>
              </a:ext>
            </a:extLst>
          </p:cNvPr>
          <p:cNvSpPr>
            <a:spLocks noGrp="1"/>
          </p:cNvSpPr>
          <p:nvPr>
            <p:ph type="title"/>
          </p:nvPr>
        </p:nvSpPr>
        <p:spPr/>
        <p:txBody>
          <a:bodyPr/>
          <a:lstStyle/>
          <a:p>
            <a:r>
              <a:rPr lang="en-US" b="1" dirty="0"/>
              <a:t>Generative AI: Do’s &amp; Don’ts</a:t>
            </a:r>
            <a:endParaRPr lang="en-US" dirty="0"/>
          </a:p>
        </p:txBody>
      </p:sp>
      <p:sp>
        <p:nvSpPr>
          <p:cNvPr id="3" name="Content Placeholder 2">
            <a:extLst>
              <a:ext uri="{FF2B5EF4-FFF2-40B4-BE49-F238E27FC236}">
                <a16:creationId xmlns:a16="http://schemas.microsoft.com/office/drawing/2014/main" id="{C7410E4A-6DDD-C2C3-9753-3D401671A2F6}"/>
              </a:ext>
            </a:extLst>
          </p:cNvPr>
          <p:cNvSpPr>
            <a:spLocks noGrp="1"/>
          </p:cNvSpPr>
          <p:nvPr>
            <p:ph idx="1"/>
          </p:nvPr>
        </p:nvSpPr>
        <p:spPr/>
        <p:txBody>
          <a:bodyPr>
            <a:normAutofit/>
          </a:bodyPr>
          <a:lstStyle/>
          <a:p>
            <a:r>
              <a:rPr lang="en-US" b="1" dirty="0"/>
              <a:t>Do</a:t>
            </a:r>
            <a:endParaRPr lang="en-US" dirty="0"/>
          </a:p>
          <a:p>
            <a:pPr lvl="1"/>
            <a:r>
              <a:rPr lang="en-US" dirty="0"/>
              <a:t>Use AI to </a:t>
            </a:r>
            <a:r>
              <a:rPr lang="en-US" b="1" dirty="0"/>
              <a:t>explore ideas</a:t>
            </a:r>
            <a:r>
              <a:rPr lang="en-US" dirty="0"/>
              <a:t> or check understanding.</a:t>
            </a:r>
          </a:p>
          <a:p>
            <a:pPr lvl="1"/>
            <a:r>
              <a:rPr lang="en-US" dirty="0"/>
              <a:t>Ask it for </a:t>
            </a:r>
            <a:r>
              <a:rPr lang="en-US" b="1" dirty="0"/>
              <a:t>practice problems</a:t>
            </a:r>
            <a:r>
              <a:rPr lang="en-US" dirty="0"/>
              <a:t> or alternate explanations.</a:t>
            </a:r>
          </a:p>
          <a:p>
            <a:pPr lvl="1"/>
            <a:r>
              <a:rPr lang="en-US" dirty="0"/>
              <a:t>Treat it as a </a:t>
            </a:r>
            <a:r>
              <a:rPr lang="en-US" b="1" dirty="0"/>
              <a:t>study partner</a:t>
            </a:r>
            <a:r>
              <a:rPr lang="en-US" dirty="0"/>
              <a:t>, not an answer key.</a:t>
            </a:r>
          </a:p>
          <a:p>
            <a:r>
              <a:rPr lang="en-US" b="1" dirty="0"/>
              <a:t>Don’t</a:t>
            </a:r>
            <a:endParaRPr lang="en-US" dirty="0"/>
          </a:p>
          <a:p>
            <a:pPr lvl="1"/>
            <a:r>
              <a:rPr lang="en-US" dirty="0"/>
              <a:t>Use it to </a:t>
            </a:r>
            <a:r>
              <a:rPr lang="en-US" b="1" dirty="0"/>
              <a:t>write labs or problem sets</a:t>
            </a:r>
            <a:r>
              <a:rPr lang="en-US" dirty="0"/>
              <a:t> — bypasses essential practice.</a:t>
            </a:r>
          </a:p>
          <a:p>
            <a:pPr lvl="1"/>
            <a:r>
              <a:rPr lang="en-US" dirty="0"/>
              <a:t>Assume AI outputs are always correct or unbiased.</a:t>
            </a:r>
          </a:p>
          <a:p>
            <a:pPr lvl="1"/>
            <a:r>
              <a:rPr lang="en-US" dirty="0"/>
              <a:t>Feed it the lab prompt and turn in the response.</a:t>
            </a:r>
          </a:p>
          <a:p>
            <a:r>
              <a:rPr lang="en-US" b="1" dirty="0"/>
              <a:t>Bottom line:</a:t>
            </a:r>
            <a:r>
              <a:rPr lang="en-US" dirty="0"/>
              <a:t> Thoughtful use supports learning - careless use undermines learning it and may hurt on quizzes &amp; exams.</a:t>
            </a:r>
          </a:p>
          <a:p>
            <a:endParaRPr lang="en-US" dirty="0"/>
          </a:p>
        </p:txBody>
      </p:sp>
    </p:spTree>
    <p:extLst>
      <p:ext uri="{BB962C8B-B14F-4D97-AF65-F5344CB8AC3E}">
        <p14:creationId xmlns:p14="http://schemas.microsoft.com/office/powerpoint/2010/main" val="853465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7A5DD-E9D2-E54E-ACE7-1BA9AFD590AF}"/>
              </a:ext>
            </a:extLst>
          </p:cNvPr>
          <p:cNvSpPr>
            <a:spLocks noGrp="1"/>
          </p:cNvSpPr>
          <p:nvPr>
            <p:ph type="title"/>
          </p:nvPr>
        </p:nvSpPr>
        <p:spPr/>
        <p:txBody>
          <a:bodyPr/>
          <a:lstStyle/>
          <a:p>
            <a:r>
              <a:rPr lang="en-US" dirty="0"/>
              <a:t>Office Hours</a:t>
            </a:r>
          </a:p>
        </p:txBody>
      </p:sp>
      <p:pic>
        <p:nvPicPr>
          <p:cNvPr id="6" name="Content Placeholder 5">
            <a:extLst>
              <a:ext uri="{FF2B5EF4-FFF2-40B4-BE49-F238E27FC236}">
                <a16:creationId xmlns:a16="http://schemas.microsoft.com/office/drawing/2014/main" id="{CE4C2318-E5F7-D7DD-1048-569F80F7DD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1987550" y="1943894"/>
            <a:ext cx="8216900" cy="4114800"/>
          </a:xfrm>
        </p:spPr>
      </p:pic>
    </p:spTree>
    <p:extLst>
      <p:ext uri="{BB962C8B-B14F-4D97-AF65-F5344CB8AC3E}">
        <p14:creationId xmlns:p14="http://schemas.microsoft.com/office/powerpoint/2010/main" val="29513856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06F56D-4F4B-4EF0-A48E-4988ABAEBED5}"/>
              </a:ext>
            </a:extLst>
          </p:cNvPr>
          <p:cNvSpPr>
            <a:spLocks noGrp="1"/>
          </p:cNvSpPr>
          <p:nvPr>
            <p:ph type="title"/>
          </p:nvPr>
        </p:nvSpPr>
        <p:spPr/>
        <p:txBody>
          <a:bodyPr/>
          <a:lstStyle/>
          <a:p>
            <a:r>
              <a:rPr lang="en-US" b="1" dirty="0"/>
              <a:t>Course Introduction</a:t>
            </a:r>
          </a:p>
        </p:txBody>
      </p:sp>
      <p:sp>
        <p:nvSpPr>
          <p:cNvPr id="5" name="Text Placeholder 4">
            <a:extLst>
              <a:ext uri="{FF2B5EF4-FFF2-40B4-BE49-F238E27FC236}">
                <a16:creationId xmlns:a16="http://schemas.microsoft.com/office/drawing/2014/main" id="{D276A330-7FA0-4785-8EED-42132C5D290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20573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FCFF4-E3EF-4422-B325-5DBD2DEFA78A}"/>
              </a:ext>
            </a:extLst>
          </p:cNvPr>
          <p:cNvSpPr>
            <a:spLocks noGrp="1"/>
          </p:cNvSpPr>
          <p:nvPr>
            <p:ph type="title"/>
          </p:nvPr>
        </p:nvSpPr>
        <p:spPr/>
        <p:txBody>
          <a:bodyPr/>
          <a:lstStyle/>
          <a:p>
            <a:r>
              <a:rPr lang="en-US" b="1" dirty="0"/>
              <a:t>What is Machine Learning?</a:t>
            </a:r>
          </a:p>
        </p:txBody>
      </p:sp>
      <p:sp>
        <p:nvSpPr>
          <p:cNvPr id="3" name="Content Placeholder 2">
            <a:extLst>
              <a:ext uri="{FF2B5EF4-FFF2-40B4-BE49-F238E27FC236}">
                <a16:creationId xmlns:a16="http://schemas.microsoft.com/office/drawing/2014/main" id="{A0584533-9E7E-48A4-A777-38140C3F7455}"/>
              </a:ext>
            </a:extLst>
          </p:cNvPr>
          <p:cNvSpPr>
            <a:spLocks noGrp="1"/>
          </p:cNvSpPr>
          <p:nvPr>
            <p:ph idx="1"/>
          </p:nvPr>
        </p:nvSpPr>
        <p:spPr/>
        <p:txBody>
          <a:bodyPr>
            <a:normAutofit/>
          </a:bodyPr>
          <a:lstStyle/>
          <a:p>
            <a:pPr>
              <a:lnSpc>
                <a:spcPct val="110000"/>
              </a:lnSpc>
            </a:pPr>
            <a:r>
              <a:rPr lang="en-US" dirty="0"/>
              <a:t>Machine learning is a set of methods that allow computers to learn from data. </a:t>
            </a:r>
          </a:p>
          <a:p>
            <a:pPr>
              <a:lnSpc>
                <a:spcPct val="110000"/>
              </a:lnSpc>
            </a:pPr>
            <a:r>
              <a:rPr lang="en-US" dirty="0"/>
              <a:t>It helps detect patterns or structures directly from data, transforming data into knowledge.</a:t>
            </a:r>
          </a:p>
          <a:p>
            <a:pPr>
              <a:lnSpc>
                <a:spcPct val="110000"/>
              </a:lnSpc>
            </a:pPr>
            <a:endParaRPr lang="en-US" dirty="0"/>
          </a:p>
          <a:p>
            <a:pPr>
              <a:lnSpc>
                <a:spcPct val="110000"/>
              </a:lnSpc>
            </a:pPr>
            <a:r>
              <a:rPr lang="en-US" dirty="0"/>
              <a:t>“ [Machine Learning is the] field of study that gives computers the ability to learn without being explicitly programmed”.</a:t>
            </a:r>
          </a:p>
          <a:p>
            <a:pPr marL="0" indent="0" algn="r">
              <a:buNone/>
            </a:pPr>
            <a:r>
              <a:rPr lang="en-US" dirty="0"/>
              <a:t>Arthur Samuel, 1959</a:t>
            </a:r>
          </a:p>
        </p:txBody>
      </p:sp>
    </p:spTree>
    <p:extLst>
      <p:ext uri="{BB962C8B-B14F-4D97-AF65-F5344CB8AC3E}">
        <p14:creationId xmlns:p14="http://schemas.microsoft.com/office/powerpoint/2010/main" val="4292891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E02540CF-7894-8CD4-FFDC-CB601F6C7451}"/>
              </a:ext>
            </a:extLst>
          </p:cNvPr>
          <p:cNvSpPr/>
          <p:nvPr/>
        </p:nvSpPr>
        <p:spPr>
          <a:xfrm>
            <a:off x="190501" y="4371275"/>
            <a:ext cx="1981200" cy="6096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Program/Model</a:t>
            </a:r>
          </a:p>
        </p:txBody>
      </p:sp>
      <p:cxnSp>
        <p:nvCxnSpPr>
          <p:cNvPr id="35" name="Straight Arrow Connector 34">
            <a:extLst>
              <a:ext uri="{FF2B5EF4-FFF2-40B4-BE49-F238E27FC236}">
                <a16:creationId xmlns:a16="http://schemas.microsoft.com/office/drawing/2014/main" id="{3FBF150F-117C-7D16-24A9-752D2C73AA4A}"/>
              </a:ext>
            </a:extLst>
          </p:cNvPr>
          <p:cNvCxnSpPr>
            <a:cxnSpLocks/>
            <a:endCxn id="33" idx="0"/>
          </p:cNvCxnSpPr>
          <p:nvPr/>
        </p:nvCxnSpPr>
        <p:spPr>
          <a:xfrm>
            <a:off x="1181101" y="3496046"/>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a:extLst>
              <a:ext uri="{FF2B5EF4-FFF2-40B4-BE49-F238E27FC236}">
                <a16:creationId xmlns:a16="http://schemas.microsoft.com/office/drawing/2014/main" id="{886F0DEC-25D2-5402-AB78-68B720B65D10}"/>
              </a:ext>
            </a:extLst>
          </p:cNvPr>
          <p:cNvCxnSpPr/>
          <p:nvPr/>
        </p:nvCxnSpPr>
        <p:spPr>
          <a:xfrm>
            <a:off x="1181101" y="4980875"/>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F2A33743-374E-A79A-A16F-A2AEAEE86E0A}"/>
              </a:ext>
            </a:extLst>
          </p:cNvPr>
          <p:cNvSpPr txBox="1"/>
          <p:nvPr/>
        </p:nvSpPr>
        <p:spPr>
          <a:xfrm>
            <a:off x="357190" y="3006580"/>
            <a:ext cx="1647822" cy="369332"/>
          </a:xfrm>
          <a:prstGeom prst="rect">
            <a:avLst/>
          </a:prstGeom>
          <a:noFill/>
        </p:spPr>
        <p:txBody>
          <a:bodyPr wrap="square" rtlCol="0">
            <a:spAutoFit/>
          </a:bodyPr>
          <a:lstStyle/>
          <a:p>
            <a:pPr algn="ctr"/>
            <a:r>
              <a:rPr lang="en-US" dirty="0"/>
              <a:t>Input (data)</a:t>
            </a:r>
          </a:p>
        </p:txBody>
      </p:sp>
      <p:sp>
        <p:nvSpPr>
          <p:cNvPr id="38" name="TextBox 37">
            <a:extLst>
              <a:ext uri="{FF2B5EF4-FFF2-40B4-BE49-F238E27FC236}">
                <a16:creationId xmlns:a16="http://schemas.microsoft.com/office/drawing/2014/main" id="{0173F9C8-9250-6D55-B115-1EC97C8E4154}"/>
              </a:ext>
            </a:extLst>
          </p:cNvPr>
          <p:cNvSpPr txBox="1"/>
          <p:nvPr/>
        </p:nvSpPr>
        <p:spPr>
          <a:xfrm>
            <a:off x="190502" y="5990586"/>
            <a:ext cx="1981199" cy="369332"/>
          </a:xfrm>
          <a:prstGeom prst="rect">
            <a:avLst/>
          </a:prstGeom>
          <a:noFill/>
        </p:spPr>
        <p:txBody>
          <a:bodyPr wrap="square" rtlCol="0">
            <a:spAutoFit/>
          </a:bodyPr>
          <a:lstStyle/>
          <a:p>
            <a:pPr algn="ctr"/>
            <a:r>
              <a:rPr lang="en-US" dirty="0"/>
              <a:t>Output (answers)</a:t>
            </a:r>
          </a:p>
        </p:txBody>
      </p:sp>
      <p:sp>
        <p:nvSpPr>
          <p:cNvPr id="39" name="TextBox 38">
            <a:extLst>
              <a:ext uri="{FF2B5EF4-FFF2-40B4-BE49-F238E27FC236}">
                <a16:creationId xmlns:a16="http://schemas.microsoft.com/office/drawing/2014/main" id="{31E4D9A4-68B9-6E20-ACF4-2E38811C08D8}"/>
              </a:ext>
            </a:extLst>
          </p:cNvPr>
          <p:cNvSpPr txBox="1"/>
          <p:nvPr/>
        </p:nvSpPr>
        <p:spPr>
          <a:xfrm>
            <a:off x="123827" y="1700809"/>
            <a:ext cx="2762249" cy="1015663"/>
          </a:xfrm>
          <a:prstGeom prst="rect">
            <a:avLst/>
          </a:prstGeom>
          <a:noFill/>
        </p:spPr>
        <p:txBody>
          <a:bodyPr wrap="square" rtlCol="0">
            <a:spAutoFit/>
          </a:bodyPr>
          <a:lstStyle/>
          <a:p>
            <a:r>
              <a:rPr lang="en-US" sz="2000" b="1" dirty="0"/>
              <a:t>To perform a task, we write a program or come up with a model</a:t>
            </a:r>
          </a:p>
        </p:txBody>
      </p:sp>
      <p:sp>
        <p:nvSpPr>
          <p:cNvPr id="8" name="Title 7">
            <a:extLst>
              <a:ext uri="{FF2B5EF4-FFF2-40B4-BE49-F238E27FC236}">
                <a16:creationId xmlns:a16="http://schemas.microsoft.com/office/drawing/2014/main" id="{1459E157-EC38-EFE6-2AB1-71F4C51FB537}"/>
              </a:ext>
            </a:extLst>
          </p:cNvPr>
          <p:cNvSpPr>
            <a:spLocks noGrp="1"/>
          </p:cNvSpPr>
          <p:nvPr>
            <p:ph type="title"/>
          </p:nvPr>
        </p:nvSpPr>
        <p:spPr/>
        <p:txBody>
          <a:bodyPr/>
          <a:lstStyle/>
          <a:p>
            <a:r>
              <a:rPr lang="en-US" b="1" dirty="0"/>
              <a:t>Traditional Programming vs Machine Learning</a:t>
            </a:r>
          </a:p>
        </p:txBody>
      </p:sp>
      <p:cxnSp>
        <p:nvCxnSpPr>
          <p:cNvPr id="27" name="Straight Connector 26">
            <a:extLst>
              <a:ext uri="{FF2B5EF4-FFF2-40B4-BE49-F238E27FC236}">
                <a16:creationId xmlns:a16="http://schemas.microsoft.com/office/drawing/2014/main" id="{8319C3CC-D275-057E-0479-BB05939F9DEE}"/>
              </a:ext>
            </a:extLst>
          </p:cNvPr>
          <p:cNvCxnSpPr/>
          <p:nvPr/>
        </p:nvCxnSpPr>
        <p:spPr>
          <a:xfrm>
            <a:off x="3111954" y="1513931"/>
            <a:ext cx="0" cy="5303520"/>
          </a:xfrm>
          <a:prstGeom prst="line">
            <a:avLst/>
          </a:prstGeom>
        </p:spPr>
        <p:style>
          <a:lnRef idx="1">
            <a:schemeClr val="dk1"/>
          </a:lnRef>
          <a:fillRef idx="0">
            <a:schemeClr val="dk1"/>
          </a:fillRef>
          <a:effectRef idx="0">
            <a:schemeClr val="dk1"/>
          </a:effectRef>
          <a:fontRef idx="minor">
            <a:schemeClr val="tx1"/>
          </a:fontRef>
        </p:style>
      </p:cxnSp>
      <p:sp>
        <p:nvSpPr>
          <p:cNvPr id="28" name="Rectangle 27">
            <a:extLst>
              <a:ext uri="{FF2B5EF4-FFF2-40B4-BE49-F238E27FC236}">
                <a16:creationId xmlns:a16="http://schemas.microsoft.com/office/drawing/2014/main" id="{1F1F7A21-D5CA-430C-CFF7-800834415500}"/>
              </a:ext>
            </a:extLst>
          </p:cNvPr>
          <p:cNvSpPr/>
          <p:nvPr/>
        </p:nvSpPr>
        <p:spPr>
          <a:xfrm>
            <a:off x="6257926" y="2817761"/>
            <a:ext cx="2162175" cy="8477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Programmer</a:t>
            </a:r>
          </a:p>
        </p:txBody>
      </p:sp>
      <p:sp>
        <p:nvSpPr>
          <p:cNvPr id="30" name="Rectangle 29">
            <a:extLst>
              <a:ext uri="{FF2B5EF4-FFF2-40B4-BE49-F238E27FC236}">
                <a16:creationId xmlns:a16="http://schemas.microsoft.com/office/drawing/2014/main" id="{95C0BCBE-188D-CD43-CCD7-6004EEC23DA0}"/>
              </a:ext>
            </a:extLst>
          </p:cNvPr>
          <p:cNvSpPr/>
          <p:nvPr/>
        </p:nvSpPr>
        <p:spPr>
          <a:xfrm>
            <a:off x="3614739" y="2072358"/>
            <a:ext cx="1757362" cy="56919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Historical Data with Answers</a:t>
            </a:r>
          </a:p>
        </p:txBody>
      </p:sp>
      <p:sp>
        <p:nvSpPr>
          <p:cNvPr id="31" name="TextBox 30">
            <a:extLst>
              <a:ext uri="{FF2B5EF4-FFF2-40B4-BE49-F238E27FC236}">
                <a16:creationId xmlns:a16="http://schemas.microsoft.com/office/drawing/2014/main" id="{269ACA8D-6EB6-983E-19AE-95B2487325FB}"/>
              </a:ext>
            </a:extLst>
          </p:cNvPr>
          <p:cNvSpPr txBox="1"/>
          <p:nvPr/>
        </p:nvSpPr>
        <p:spPr>
          <a:xfrm>
            <a:off x="4129089" y="3056957"/>
            <a:ext cx="1047750" cy="369332"/>
          </a:xfrm>
          <a:prstGeom prst="rect">
            <a:avLst/>
          </a:prstGeom>
          <a:noFill/>
        </p:spPr>
        <p:txBody>
          <a:bodyPr wrap="square" rtlCol="0">
            <a:spAutoFit/>
          </a:bodyPr>
          <a:lstStyle/>
          <a:p>
            <a:r>
              <a:rPr lang="en-US" dirty="0"/>
              <a:t>Or/And</a:t>
            </a:r>
          </a:p>
        </p:txBody>
      </p:sp>
      <p:sp>
        <p:nvSpPr>
          <p:cNvPr id="34" name="Rectangle 33">
            <a:extLst>
              <a:ext uri="{FF2B5EF4-FFF2-40B4-BE49-F238E27FC236}">
                <a16:creationId xmlns:a16="http://schemas.microsoft.com/office/drawing/2014/main" id="{D37575C6-C7E0-103A-36D2-13FBF21AAB92}"/>
              </a:ext>
            </a:extLst>
          </p:cNvPr>
          <p:cNvSpPr/>
          <p:nvPr/>
        </p:nvSpPr>
        <p:spPr>
          <a:xfrm>
            <a:off x="3614739" y="3665486"/>
            <a:ext cx="1757362"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Domain knowledge</a:t>
            </a:r>
          </a:p>
        </p:txBody>
      </p:sp>
      <p:cxnSp>
        <p:nvCxnSpPr>
          <p:cNvPr id="40" name="Straight Arrow Connector 39">
            <a:extLst>
              <a:ext uri="{FF2B5EF4-FFF2-40B4-BE49-F238E27FC236}">
                <a16:creationId xmlns:a16="http://schemas.microsoft.com/office/drawing/2014/main" id="{5536726C-ADAE-D9BE-E60C-BAB64B704923}"/>
              </a:ext>
            </a:extLst>
          </p:cNvPr>
          <p:cNvCxnSpPr>
            <a:cxnSpLocks/>
            <a:stCxn id="30" idx="3"/>
          </p:cNvCxnSpPr>
          <p:nvPr/>
        </p:nvCxnSpPr>
        <p:spPr>
          <a:xfrm>
            <a:off x="5372101" y="2356954"/>
            <a:ext cx="885825" cy="700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6A6BDFB7-8718-E382-CF6E-617A9AC3EAA3}"/>
              </a:ext>
            </a:extLst>
          </p:cNvPr>
          <p:cNvCxnSpPr>
            <a:cxnSpLocks/>
            <a:stCxn id="34" idx="3"/>
            <a:endCxn id="28" idx="1"/>
          </p:cNvCxnSpPr>
          <p:nvPr/>
        </p:nvCxnSpPr>
        <p:spPr>
          <a:xfrm flipV="1">
            <a:off x="5372101" y="3241624"/>
            <a:ext cx="885825" cy="6905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A1AE0A93-5673-B8D8-AFD9-DEF825F59153}"/>
              </a:ext>
            </a:extLst>
          </p:cNvPr>
          <p:cNvCxnSpPr>
            <a:cxnSpLocks/>
          </p:cNvCxnSpPr>
          <p:nvPr/>
        </p:nvCxnSpPr>
        <p:spPr>
          <a:xfrm>
            <a:off x="8420101" y="3210903"/>
            <a:ext cx="1143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3" name="Rectangle 42">
            <a:extLst>
              <a:ext uri="{FF2B5EF4-FFF2-40B4-BE49-F238E27FC236}">
                <a16:creationId xmlns:a16="http://schemas.microsoft.com/office/drawing/2014/main" id="{F3F41874-3096-A737-5D89-82D5D15556C2}"/>
              </a:ext>
            </a:extLst>
          </p:cNvPr>
          <p:cNvSpPr/>
          <p:nvPr/>
        </p:nvSpPr>
        <p:spPr>
          <a:xfrm>
            <a:off x="9563101" y="2817760"/>
            <a:ext cx="2162175" cy="8477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Manually-Derived Rules</a:t>
            </a:r>
          </a:p>
          <a:p>
            <a:pPr algn="ctr"/>
            <a:r>
              <a:rPr lang="en-US" dirty="0"/>
              <a:t>(Model or Program)</a:t>
            </a:r>
          </a:p>
        </p:txBody>
      </p:sp>
      <p:sp>
        <p:nvSpPr>
          <p:cNvPr id="44" name="TextBox 43">
            <a:extLst>
              <a:ext uri="{FF2B5EF4-FFF2-40B4-BE49-F238E27FC236}">
                <a16:creationId xmlns:a16="http://schemas.microsoft.com/office/drawing/2014/main" id="{10361F11-1785-1D20-40A1-EE38F2B9D26F}"/>
              </a:ext>
            </a:extLst>
          </p:cNvPr>
          <p:cNvSpPr txBox="1"/>
          <p:nvPr/>
        </p:nvSpPr>
        <p:spPr>
          <a:xfrm>
            <a:off x="3337833" y="1508529"/>
            <a:ext cx="7191375" cy="400110"/>
          </a:xfrm>
          <a:prstGeom prst="rect">
            <a:avLst/>
          </a:prstGeom>
          <a:noFill/>
        </p:spPr>
        <p:txBody>
          <a:bodyPr wrap="square" rtlCol="0">
            <a:spAutoFit/>
          </a:bodyPr>
          <a:lstStyle/>
          <a:p>
            <a:r>
              <a:rPr lang="en-US" sz="2000" b="1" dirty="0"/>
              <a:t>Traditional Programming</a:t>
            </a:r>
          </a:p>
        </p:txBody>
      </p:sp>
      <p:sp>
        <p:nvSpPr>
          <p:cNvPr id="45" name="Rectangle 44">
            <a:extLst>
              <a:ext uri="{FF2B5EF4-FFF2-40B4-BE49-F238E27FC236}">
                <a16:creationId xmlns:a16="http://schemas.microsoft.com/office/drawing/2014/main" id="{AB650609-8DFC-7E60-9738-FBF57D02D5C9}"/>
              </a:ext>
            </a:extLst>
          </p:cNvPr>
          <p:cNvSpPr/>
          <p:nvPr/>
        </p:nvSpPr>
        <p:spPr>
          <a:xfrm>
            <a:off x="6257926" y="5566723"/>
            <a:ext cx="2162175" cy="8477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Computer</a:t>
            </a:r>
          </a:p>
          <a:p>
            <a:pPr algn="ctr"/>
            <a:r>
              <a:rPr lang="en-US" dirty="0"/>
              <a:t>(Training Algorithm)</a:t>
            </a:r>
          </a:p>
        </p:txBody>
      </p:sp>
      <p:sp>
        <p:nvSpPr>
          <p:cNvPr id="46" name="Rectangle 45">
            <a:extLst>
              <a:ext uri="{FF2B5EF4-FFF2-40B4-BE49-F238E27FC236}">
                <a16:creationId xmlns:a16="http://schemas.microsoft.com/office/drawing/2014/main" id="{E6FF9F4C-5432-4C72-A365-CF98BEF6BE9C}"/>
              </a:ext>
            </a:extLst>
          </p:cNvPr>
          <p:cNvSpPr/>
          <p:nvPr/>
        </p:nvSpPr>
        <p:spPr>
          <a:xfrm>
            <a:off x="3614739" y="5723884"/>
            <a:ext cx="1757362" cy="5334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Historical Data with Answers</a:t>
            </a:r>
          </a:p>
        </p:txBody>
      </p:sp>
      <p:cxnSp>
        <p:nvCxnSpPr>
          <p:cNvPr id="47" name="Straight Arrow Connector 46">
            <a:extLst>
              <a:ext uri="{FF2B5EF4-FFF2-40B4-BE49-F238E27FC236}">
                <a16:creationId xmlns:a16="http://schemas.microsoft.com/office/drawing/2014/main" id="{21EBFFF1-6193-6DA9-953F-280D8C0FD049}"/>
              </a:ext>
            </a:extLst>
          </p:cNvPr>
          <p:cNvCxnSpPr>
            <a:cxnSpLocks/>
            <a:stCxn id="46" idx="3"/>
            <a:endCxn id="45" idx="1"/>
          </p:cNvCxnSpPr>
          <p:nvPr/>
        </p:nvCxnSpPr>
        <p:spPr>
          <a:xfrm>
            <a:off x="5372101" y="5990584"/>
            <a:ext cx="885825"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FF52B9BB-2085-378F-A220-09C96E1E4AB2}"/>
              </a:ext>
            </a:extLst>
          </p:cNvPr>
          <p:cNvCxnSpPr>
            <a:cxnSpLocks/>
          </p:cNvCxnSpPr>
          <p:nvPr/>
        </p:nvCxnSpPr>
        <p:spPr>
          <a:xfrm>
            <a:off x="8420101" y="5959865"/>
            <a:ext cx="1143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9" name="Rectangle 48">
            <a:extLst>
              <a:ext uri="{FF2B5EF4-FFF2-40B4-BE49-F238E27FC236}">
                <a16:creationId xmlns:a16="http://schemas.microsoft.com/office/drawing/2014/main" id="{9248E204-4498-E2D7-A7C4-5473529B3DE0}"/>
              </a:ext>
            </a:extLst>
          </p:cNvPr>
          <p:cNvSpPr/>
          <p:nvPr/>
        </p:nvSpPr>
        <p:spPr>
          <a:xfrm>
            <a:off x="9563101" y="5566722"/>
            <a:ext cx="2162175" cy="84772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Automatically-Derived Rules</a:t>
            </a:r>
          </a:p>
          <a:p>
            <a:pPr algn="ctr"/>
            <a:r>
              <a:rPr lang="en-US" dirty="0"/>
              <a:t>(Model or Program) </a:t>
            </a:r>
            <a:endParaRPr lang="en-US" b="1" dirty="0"/>
          </a:p>
        </p:txBody>
      </p:sp>
      <p:sp>
        <p:nvSpPr>
          <p:cNvPr id="50" name="TextBox 49">
            <a:extLst>
              <a:ext uri="{FF2B5EF4-FFF2-40B4-BE49-F238E27FC236}">
                <a16:creationId xmlns:a16="http://schemas.microsoft.com/office/drawing/2014/main" id="{0CD277A6-6EB6-1FCF-6B38-AB33F6BEA451}"/>
              </a:ext>
            </a:extLst>
          </p:cNvPr>
          <p:cNvSpPr txBox="1"/>
          <p:nvPr/>
        </p:nvSpPr>
        <p:spPr>
          <a:xfrm>
            <a:off x="3454856" y="4915497"/>
            <a:ext cx="7191375" cy="400110"/>
          </a:xfrm>
          <a:prstGeom prst="rect">
            <a:avLst/>
          </a:prstGeom>
          <a:noFill/>
        </p:spPr>
        <p:txBody>
          <a:bodyPr wrap="square" rtlCol="0">
            <a:spAutoFit/>
          </a:bodyPr>
          <a:lstStyle/>
          <a:p>
            <a:r>
              <a:rPr lang="en-US" sz="2000" b="1" dirty="0"/>
              <a:t>Machine Learning</a:t>
            </a:r>
          </a:p>
        </p:txBody>
      </p:sp>
    </p:spTree>
    <p:extLst>
      <p:ext uri="{BB962C8B-B14F-4D97-AF65-F5344CB8AC3E}">
        <p14:creationId xmlns:p14="http://schemas.microsoft.com/office/powerpoint/2010/main" val="14347762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FCFF4-E3EF-4422-B325-5DBD2DEFA78A}"/>
              </a:ext>
            </a:extLst>
          </p:cNvPr>
          <p:cNvSpPr>
            <a:spLocks noGrp="1"/>
          </p:cNvSpPr>
          <p:nvPr>
            <p:ph type="title"/>
          </p:nvPr>
        </p:nvSpPr>
        <p:spPr/>
        <p:txBody>
          <a:bodyPr/>
          <a:lstStyle/>
          <a:p>
            <a:r>
              <a:rPr lang="en-US" b="1" dirty="0"/>
              <a:t>Traditional Programming vs Machine Learning</a:t>
            </a:r>
          </a:p>
        </p:txBody>
      </p:sp>
      <p:sp>
        <p:nvSpPr>
          <p:cNvPr id="3" name="Content Placeholder 2">
            <a:extLst>
              <a:ext uri="{FF2B5EF4-FFF2-40B4-BE49-F238E27FC236}">
                <a16:creationId xmlns:a16="http://schemas.microsoft.com/office/drawing/2014/main" id="{A0584533-9E7E-48A4-A777-38140C3F7455}"/>
              </a:ext>
            </a:extLst>
          </p:cNvPr>
          <p:cNvSpPr>
            <a:spLocks noGrp="1"/>
          </p:cNvSpPr>
          <p:nvPr>
            <p:ph idx="1"/>
          </p:nvPr>
        </p:nvSpPr>
        <p:spPr/>
        <p:txBody>
          <a:bodyPr>
            <a:normAutofit/>
          </a:bodyPr>
          <a:lstStyle/>
          <a:p>
            <a:pPr marL="0" indent="0">
              <a:lnSpc>
                <a:spcPct val="100000"/>
              </a:lnSpc>
              <a:buNone/>
            </a:pPr>
            <a:r>
              <a:rPr lang="en-US" sz="2200" b="1" dirty="0"/>
              <a:t>Example: </a:t>
            </a:r>
          </a:p>
          <a:p>
            <a:pPr>
              <a:lnSpc>
                <a:spcPct val="100000"/>
              </a:lnSpc>
            </a:pPr>
            <a:r>
              <a:rPr lang="en-US" sz="2200" b="1" i="1" dirty="0"/>
              <a:t>Task</a:t>
            </a:r>
            <a:r>
              <a:rPr lang="en-US" sz="2200" dirty="0"/>
              <a:t>: design a spam filter that classifies an email as spam or not-spam. </a:t>
            </a:r>
          </a:p>
          <a:p>
            <a:pPr>
              <a:lnSpc>
                <a:spcPct val="100000"/>
              </a:lnSpc>
            </a:pPr>
            <a:r>
              <a:rPr lang="en-US" sz="2200" b="1" dirty="0"/>
              <a:t>Traditional programming:</a:t>
            </a:r>
          </a:p>
          <a:p>
            <a:pPr lvl="1">
              <a:lnSpc>
                <a:spcPct val="100000"/>
              </a:lnSpc>
            </a:pPr>
            <a:r>
              <a:rPr lang="en-US" sz="2200" dirty="0"/>
              <a:t>A programmer manually examines the content of spam emails </a:t>
            </a:r>
            <a:r>
              <a:rPr lang="en-US" sz="1800" i="1" dirty="0">
                <a:solidFill>
                  <a:schemeClr val="tx1">
                    <a:lumMod val="50000"/>
                    <a:lumOff val="50000"/>
                  </a:schemeClr>
                </a:solidFill>
              </a:rPr>
              <a:t>(not easy, time-consuming)</a:t>
            </a:r>
          </a:p>
          <a:p>
            <a:pPr lvl="1">
              <a:lnSpc>
                <a:spcPct val="100000"/>
              </a:lnSpc>
            </a:pPr>
            <a:r>
              <a:rPr lang="en-US" sz="2200" dirty="0"/>
              <a:t>Then translates observations into rules that define the spam filter program</a:t>
            </a:r>
          </a:p>
          <a:p>
            <a:pPr>
              <a:lnSpc>
                <a:spcPct val="100000"/>
              </a:lnSpc>
            </a:pPr>
            <a:r>
              <a:rPr lang="en-US" sz="2200" b="1" dirty="0"/>
              <a:t>Machine Learning:</a:t>
            </a:r>
          </a:p>
          <a:p>
            <a:pPr lvl="1">
              <a:lnSpc>
                <a:spcPct val="100000"/>
              </a:lnSpc>
            </a:pPr>
            <a:r>
              <a:rPr lang="en-US" sz="2200" dirty="0"/>
              <a:t>A computer is given a set of spam and not-spam emails  </a:t>
            </a:r>
          </a:p>
          <a:p>
            <a:pPr lvl="1">
              <a:lnSpc>
                <a:spcPct val="100000"/>
              </a:lnSpc>
            </a:pPr>
            <a:r>
              <a:rPr lang="en-US" sz="2200" dirty="0"/>
              <a:t>Then uses machine learning techniques to learn from data the spam filter program</a:t>
            </a:r>
            <a:endParaRPr lang="en-US" sz="2200" b="1" dirty="0"/>
          </a:p>
        </p:txBody>
      </p:sp>
    </p:spTree>
    <p:extLst>
      <p:ext uri="{BB962C8B-B14F-4D97-AF65-F5344CB8AC3E}">
        <p14:creationId xmlns:p14="http://schemas.microsoft.com/office/powerpoint/2010/main" val="7668913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FCFF4-E3EF-4422-B325-5DBD2DEFA78A}"/>
              </a:ext>
            </a:extLst>
          </p:cNvPr>
          <p:cNvSpPr>
            <a:spLocks noGrp="1"/>
          </p:cNvSpPr>
          <p:nvPr>
            <p:ph type="title"/>
          </p:nvPr>
        </p:nvSpPr>
        <p:spPr/>
        <p:txBody>
          <a:bodyPr/>
          <a:lstStyle/>
          <a:p>
            <a:r>
              <a:rPr lang="en-US" b="1" dirty="0"/>
              <a:t>Goal of Machine Learning</a:t>
            </a:r>
          </a:p>
        </p:txBody>
      </p:sp>
      <p:sp>
        <p:nvSpPr>
          <p:cNvPr id="3" name="Content Placeholder 2">
            <a:extLst>
              <a:ext uri="{FF2B5EF4-FFF2-40B4-BE49-F238E27FC236}">
                <a16:creationId xmlns:a16="http://schemas.microsoft.com/office/drawing/2014/main" id="{A0584533-9E7E-48A4-A777-38140C3F7455}"/>
              </a:ext>
            </a:extLst>
          </p:cNvPr>
          <p:cNvSpPr>
            <a:spLocks noGrp="1"/>
          </p:cNvSpPr>
          <p:nvPr>
            <p:ph idx="1"/>
          </p:nvPr>
        </p:nvSpPr>
        <p:spPr/>
        <p:txBody>
          <a:bodyPr>
            <a:normAutofit/>
          </a:bodyPr>
          <a:lstStyle/>
          <a:p>
            <a:pPr>
              <a:lnSpc>
                <a:spcPct val="100000"/>
              </a:lnSpc>
            </a:pPr>
            <a:r>
              <a:rPr lang="en-US" sz="2400" b="1" dirty="0"/>
              <a:t>Goal of machine learning</a:t>
            </a:r>
            <a:r>
              <a:rPr lang="en-US" sz="2400" dirty="0"/>
              <a:t>: Automate decision making</a:t>
            </a:r>
          </a:p>
          <a:p>
            <a:pPr lvl="1">
              <a:lnSpc>
                <a:spcPct val="100000"/>
              </a:lnSpc>
            </a:pPr>
            <a:r>
              <a:rPr lang="en-US" dirty="0"/>
              <a:t>Use previously observed/recorded data to derive decision making rules.</a:t>
            </a:r>
          </a:p>
          <a:p>
            <a:pPr lvl="1">
              <a:lnSpc>
                <a:spcPct val="100000"/>
              </a:lnSpc>
            </a:pPr>
            <a:r>
              <a:rPr lang="en-US" dirty="0"/>
              <a:t>Reduce the time / cost to make decisions</a:t>
            </a:r>
          </a:p>
          <a:p>
            <a:pPr lvl="1">
              <a:lnSpc>
                <a:spcPct val="100000"/>
              </a:lnSpc>
            </a:pPr>
            <a:r>
              <a:rPr lang="en-US" dirty="0"/>
              <a:t>More consistent decision making</a:t>
            </a:r>
          </a:p>
          <a:p>
            <a:pPr lvl="1">
              <a:lnSpc>
                <a:spcPct val="100000"/>
              </a:lnSpc>
            </a:pPr>
            <a:r>
              <a:rPr lang="en-US" dirty="0"/>
              <a:t>More accurate decision making</a:t>
            </a:r>
          </a:p>
        </p:txBody>
      </p:sp>
    </p:spTree>
    <p:extLst>
      <p:ext uri="{BB962C8B-B14F-4D97-AF65-F5344CB8AC3E}">
        <p14:creationId xmlns:p14="http://schemas.microsoft.com/office/powerpoint/2010/main" val="15686021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Machine Learning Problems</a:t>
            </a:r>
          </a:p>
        </p:txBody>
      </p:sp>
      <p:sp>
        <p:nvSpPr>
          <p:cNvPr id="5" name="Right Arrow 4"/>
          <p:cNvSpPr/>
          <p:nvPr/>
        </p:nvSpPr>
        <p:spPr>
          <a:xfrm rot="20220772">
            <a:off x="3173541" y="3141362"/>
            <a:ext cx="1510145" cy="374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ight Arrow 5"/>
          <p:cNvSpPr/>
          <p:nvPr/>
        </p:nvSpPr>
        <p:spPr>
          <a:xfrm rot="1379228" flipV="1">
            <a:off x="3159543" y="3848263"/>
            <a:ext cx="1510145" cy="374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p:cNvGrpSpPr/>
          <p:nvPr/>
        </p:nvGrpSpPr>
        <p:grpSpPr>
          <a:xfrm>
            <a:off x="4879994" y="1997617"/>
            <a:ext cx="7914292" cy="1519310"/>
            <a:chOff x="4730365" y="1997617"/>
            <a:chExt cx="7914292" cy="1519310"/>
          </a:xfrm>
        </p:grpSpPr>
        <p:sp>
          <p:nvSpPr>
            <p:cNvPr id="7" name="Rounded Rectangle 6"/>
            <p:cNvSpPr/>
            <p:nvPr/>
          </p:nvSpPr>
          <p:spPr>
            <a:xfrm>
              <a:off x="4730365" y="1997617"/>
              <a:ext cx="2964660" cy="151931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Supervised Learning</a:t>
              </a:r>
            </a:p>
            <a:p>
              <a:r>
                <a:rPr lang="en-US" dirty="0"/>
                <a:t>Develop a </a:t>
              </a:r>
              <a:r>
                <a:rPr lang="en-US" b="1" i="1" dirty="0"/>
                <a:t>predictive</a:t>
              </a:r>
              <a:r>
                <a:rPr lang="en-US" dirty="0"/>
                <a:t> model. The data includes a </a:t>
              </a:r>
              <a:r>
                <a:rPr lang="en-US" b="1" i="1" dirty="0"/>
                <a:t>target</a:t>
              </a:r>
              <a:r>
                <a:rPr lang="en-US" dirty="0"/>
                <a:t> that we want to </a:t>
              </a:r>
              <a:r>
                <a:rPr lang="en-US" b="1" i="1" dirty="0"/>
                <a:t>predict</a:t>
              </a:r>
              <a:r>
                <a:rPr lang="en-US" dirty="0"/>
                <a:t>.</a:t>
              </a:r>
            </a:p>
          </p:txBody>
        </p:sp>
        <p:sp>
          <p:nvSpPr>
            <p:cNvPr id="9" name="TextBox 8"/>
            <p:cNvSpPr txBox="1"/>
            <p:nvPr/>
          </p:nvSpPr>
          <p:spPr>
            <a:xfrm>
              <a:off x="7861641" y="2026408"/>
              <a:ext cx="4783016" cy="1323439"/>
            </a:xfrm>
            <a:prstGeom prst="rect">
              <a:avLst/>
            </a:prstGeom>
            <a:noFill/>
          </p:spPr>
          <p:txBody>
            <a:bodyPr wrap="square" rtlCol="0">
              <a:spAutoFit/>
            </a:bodyPr>
            <a:lstStyle/>
            <a:p>
              <a:r>
                <a:rPr lang="en-US" sz="1600" dirty="0"/>
                <a:t>Examples:</a:t>
              </a:r>
            </a:p>
            <a:p>
              <a:pPr marL="285750" indent="-285750">
                <a:buFontTx/>
                <a:buChar char="-"/>
              </a:pPr>
              <a:r>
                <a:rPr lang="en-US" sz="1600" dirty="0">
                  <a:solidFill>
                    <a:srgbClr val="002060"/>
                  </a:solidFill>
                </a:rPr>
                <a:t>spam or no spam filter</a:t>
              </a:r>
            </a:p>
            <a:p>
              <a:pPr marL="285750" indent="-285750">
                <a:buFontTx/>
                <a:buChar char="-"/>
              </a:pPr>
              <a:r>
                <a:rPr lang="en-US" sz="1600" dirty="0">
                  <a:solidFill>
                    <a:srgbClr val="002060"/>
                  </a:solidFill>
                </a:rPr>
                <a:t>benign or cancerous tumor</a:t>
              </a:r>
            </a:p>
            <a:p>
              <a:pPr marL="285750" indent="-285750">
                <a:buFontTx/>
                <a:buChar char="-"/>
              </a:pPr>
              <a:r>
                <a:rPr lang="en-US" sz="1600" dirty="0">
                  <a:solidFill>
                    <a:schemeClr val="accent2">
                      <a:lumMod val="75000"/>
                    </a:schemeClr>
                  </a:solidFill>
                </a:rPr>
                <a:t>predict the number of sales</a:t>
              </a:r>
            </a:p>
            <a:p>
              <a:pPr marL="285750" indent="-285750">
                <a:buFontTx/>
                <a:buChar char="-"/>
              </a:pPr>
              <a:r>
                <a:rPr lang="en-US" sz="1600" dirty="0">
                  <a:solidFill>
                    <a:schemeClr val="accent2">
                      <a:lumMod val="75000"/>
                    </a:schemeClr>
                  </a:solidFill>
                </a:rPr>
                <a:t>forecast the wind power produced  </a:t>
              </a:r>
            </a:p>
          </p:txBody>
        </p:sp>
      </p:grpSp>
      <p:grpSp>
        <p:nvGrpSpPr>
          <p:cNvPr id="11" name="Group 10"/>
          <p:cNvGrpSpPr/>
          <p:nvPr/>
        </p:nvGrpSpPr>
        <p:grpSpPr>
          <a:xfrm>
            <a:off x="4897052" y="4100212"/>
            <a:ext cx="6456748" cy="1517904"/>
            <a:chOff x="4730365" y="4457757"/>
            <a:chExt cx="6456748" cy="1517904"/>
          </a:xfrm>
        </p:grpSpPr>
        <p:sp>
          <p:nvSpPr>
            <p:cNvPr id="8" name="Rounded Rectangle 7"/>
            <p:cNvSpPr/>
            <p:nvPr/>
          </p:nvSpPr>
          <p:spPr>
            <a:xfrm>
              <a:off x="4730365" y="4457757"/>
              <a:ext cx="2962656" cy="151790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Unsupervised Learning</a:t>
              </a:r>
            </a:p>
            <a:p>
              <a:r>
                <a:rPr lang="en-US" dirty="0"/>
                <a:t>Learn </a:t>
              </a:r>
              <a:r>
                <a:rPr lang="en-US" b="1" i="1" dirty="0"/>
                <a:t>hidden pattern </a:t>
              </a:r>
              <a:r>
                <a:rPr lang="en-US" dirty="0"/>
                <a:t>or </a:t>
              </a:r>
              <a:r>
                <a:rPr lang="en-US" b="1" i="1" dirty="0"/>
                <a:t>underlying structure </a:t>
              </a:r>
              <a:r>
                <a:rPr lang="en-US" dirty="0"/>
                <a:t>in data. There is </a:t>
              </a:r>
              <a:r>
                <a:rPr lang="en-US" b="1" i="1" dirty="0"/>
                <a:t>no target </a:t>
              </a:r>
              <a:r>
                <a:rPr lang="en-US" dirty="0"/>
                <a:t>to predict</a:t>
              </a:r>
              <a:r>
                <a:rPr lang="en-US" b="1" i="1" dirty="0"/>
                <a:t> </a:t>
              </a:r>
              <a:r>
                <a:rPr lang="en-US" dirty="0"/>
                <a:t>in data.</a:t>
              </a:r>
            </a:p>
          </p:txBody>
        </p:sp>
        <p:sp>
          <p:nvSpPr>
            <p:cNvPr id="10" name="TextBox 9"/>
            <p:cNvSpPr txBox="1"/>
            <p:nvPr/>
          </p:nvSpPr>
          <p:spPr>
            <a:xfrm>
              <a:off x="7899741" y="4693411"/>
              <a:ext cx="3287372" cy="1077218"/>
            </a:xfrm>
            <a:prstGeom prst="rect">
              <a:avLst/>
            </a:prstGeom>
            <a:noFill/>
          </p:spPr>
          <p:txBody>
            <a:bodyPr wrap="square" rtlCol="0">
              <a:spAutoFit/>
            </a:bodyPr>
            <a:lstStyle/>
            <a:p>
              <a:r>
                <a:rPr lang="en-US" sz="1600" dirty="0"/>
                <a:t>Example:</a:t>
              </a:r>
            </a:p>
            <a:p>
              <a:pPr marL="285750" indent="-285750">
                <a:buFontTx/>
                <a:buChar char="-"/>
              </a:pPr>
              <a:r>
                <a:rPr lang="en-US" sz="1600" dirty="0"/>
                <a:t>group customers based on their </a:t>
              </a:r>
            </a:p>
            <a:p>
              <a:r>
                <a:rPr lang="en-US" sz="1600" dirty="0"/>
                <a:t>      purchase history. </a:t>
              </a:r>
            </a:p>
            <a:p>
              <a:r>
                <a:rPr lang="en-US" sz="1600" dirty="0"/>
                <a:t>-    dimensionality reduction.</a:t>
              </a:r>
            </a:p>
          </p:txBody>
        </p:sp>
      </p:grpSp>
      <p:sp>
        <p:nvSpPr>
          <p:cNvPr id="18" name="TextBox 17">
            <a:extLst>
              <a:ext uri="{FF2B5EF4-FFF2-40B4-BE49-F238E27FC236}">
                <a16:creationId xmlns:a16="http://schemas.microsoft.com/office/drawing/2014/main" id="{9C48ACD4-896E-4286-8752-932CB4B1CC26}"/>
              </a:ext>
            </a:extLst>
          </p:cNvPr>
          <p:cNvSpPr txBox="1"/>
          <p:nvPr/>
        </p:nvSpPr>
        <p:spPr>
          <a:xfrm>
            <a:off x="2326871" y="5301761"/>
            <a:ext cx="1899458" cy="715089"/>
          </a:xfrm>
          <a:prstGeom prst="round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Reinforcement Learning</a:t>
            </a:r>
          </a:p>
        </p:txBody>
      </p:sp>
      <p:sp>
        <p:nvSpPr>
          <p:cNvPr id="19" name="Right Arrow 4">
            <a:extLst>
              <a:ext uri="{FF2B5EF4-FFF2-40B4-BE49-F238E27FC236}">
                <a16:creationId xmlns:a16="http://schemas.microsoft.com/office/drawing/2014/main" id="{1057DB83-9F9F-4848-8047-B8698088E584}"/>
              </a:ext>
            </a:extLst>
          </p:cNvPr>
          <p:cNvSpPr/>
          <p:nvPr/>
        </p:nvSpPr>
        <p:spPr>
          <a:xfrm rot="4351590" flipV="1">
            <a:off x="2669835" y="4312764"/>
            <a:ext cx="1510145" cy="374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p:cNvSpPr/>
          <p:nvPr/>
        </p:nvSpPr>
        <p:spPr>
          <a:xfrm>
            <a:off x="986507" y="3216336"/>
            <a:ext cx="2438400" cy="73429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Machine Learning</a:t>
            </a:r>
          </a:p>
        </p:txBody>
      </p:sp>
    </p:spTree>
    <p:extLst>
      <p:ext uri="{BB962C8B-B14F-4D97-AF65-F5344CB8AC3E}">
        <p14:creationId xmlns:p14="http://schemas.microsoft.com/office/powerpoint/2010/main" val="819837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1807271" y="3244830"/>
            <a:ext cx="8794054" cy="2266525"/>
            <a:chOff x="1807271" y="3244830"/>
            <a:chExt cx="8794054" cy="2266525"/>
          </a:xfrm>
        </p:grpSpPr>
        <p:sp>
          <p:nvSpPr>
            <p:cNvPr id="11" name="Right Arrow 10"/>
            <p:cNvSpPr/>
            <p:nvPr/>
          </p:nvSpPr>
          <p:spPr>
            <a:xfrm rot="18444065" flipH="1">
              <a:off x="4045071" y="3812866"/>
              <a:ext cx="1510145" cy="374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p:cNvSpPr/>
            <p:nvPr/>
          </p:nvSpPr>
          <p:spPr>
            <a:xfrm rot="13872332" flipH="1">
              <a:off x="6840660" y="3822390"/>
              <a:ext cx="1510145" cy="374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1807271" y="4777064"/>
              <a:ext cx="2779776" cy="73429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1">
                      <a:lumMod val="50000"/>
                    </a:schemeClr>
                  </a:solidFill>
                </a:rPr>
                <a:t>Classification</a:t>
              </a:r>
            </a:p>
            <a:p>
              <a:pPr algn="ctr"/>
              <a:r>
                <a:rPr lang="en-US" dirty="0">
                  <a:solidFill>
                    <a:schemeClr val="tx1"/>
                  </a:solidFill>
                </a:rPr>
                <a:t>Predict a category</a:t>
              </a:r>
            </a:p>
          </p:txBody>
        </p:sp>
        <p:sp>
          <p:nvSpPr>
            <p:cNvPr id="19" name="Rounded Rectangle 18"/>
            <p:cNvSpPr/>
            <p:nvPr/>
          </p:nvSpPr>
          <p:spPr>
            <a:xfrm>
              <a:off x="7817565" y="4758016"/>
              <a:ext cx="2783760" cy="73429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accent2">
                      <a:lumMod val="75000"/>
                    </a:schemeClr>
                  </a:solidFill>
                </a:rPr>
                <a:t>Regression</a:t>
              </a:r>
            </a:p>
            <a:p>
              <a:pPr algn="ctr"/>
              <a:r>
                <a:rPr lang="en-US" dirty="0">
                  <a:solidFill>
                    <a:schemeClr val="tx1"/>
                  </a:solidFill>
                </a:rPr>
                <a:t>Predict a continuous value</a:t>
              </a:r>
            </a:p>
          </p:txBody>
        </p:sp>
      </p:grpSp>
      <p:sp>
        <p:nvSpPr>
          <p:cNvPr id="2" name="Title 1"/>
          <p:cNvSpPr>
            <a:spLocks noGrp="1"/>
          </p:cNvSpPr>
          <p:nvPr>
            <p:ph type="title"/>
          </p:nvPr>
        </p:nvSpPr>
        <p:spPr/>
        <p:txBody>
          <a:bodyPr/>
          <a:lstStyle/>
          <a:p>
            <a:r>
              <a:rPr lang="en-US" b="1" dirty="0"/>
              <a:t>Types of Machine Learning Problems</a:t>
            </a:r>
          </a:p>
        </p:txBody>
      </p:sp>
      <p:sp>
        <p:nvSpPr>
          <p:cNvPr id="9" name="TextBox 8"/>
          <p:cNvSpPr txBox="1"/>
          <p:nvPr/>
        </p:nvSpPr>
        <p:spPr>
          <a:xfrm>
            <a:off x="7861641" y="2026408"/>
            <a:ext cx="4783016" cy="1323439"/>
          </a:xfrm>
          <a:prstGeom prst="rect">
            <a:avLst/>
          </a:prstGeom>
          <a:noFill/>
        </p:spPr>
        <p:txBody>
          <a:bodyPr wrap="square" rtlCol="0">
            <a:spAutoFit/>
          </a:bodyPr>
          <a:lstStyle/>
          <a:p>
            <a:r>
              <a:rPr lang="en-US" sz="1600" dirty="0"/>
              <a:t>Examples:</a:t>
            </a:r>
          </a:p>
          <a:p>
            <a:pPr marL="285750" indent="-285750">
              <a:buFontTx/>
              <a:buChar char="-"/>
            </a:pPr>
            <a:r>
              <a:rPr lang="en-US" sz="1600" dirty="0">
                <a:solidFill>
                  <a:srgbClr val="002060"/>
                </a:solidFill>
              </a:rPr>
              <a:t>spam or no spam filter</a:t>
            </a:r>
          </a:p>
          <a:p>
            <a:pPr marL="285750" indent="-285750">
              <a:buFontTx/>
              <a:buChar char="-"/>
            </a:pPr>
            <a:r>
              <a:rPr lang="en-US" sz="1600" dirty="0">
                <a:solidFill>
                  <a:srgbClr val="002060"/>
                </a:solidFill>
              </a:rPr>
              <a:t>benign or cancerous tumor</a:t>
            </a:r>
          </a:p>
          <a:p>
            <a:pPr marL="285750" indent="-285750">
              <a:buFontTx/>
              <a:buChar char="-"/>
            </a:pPr>
            <a:r>
              <a:rPr lang="en-US" sz="1600" dirty="0">
                <a:solidFill>
                  <a:schemeClr val="accent2">
                    <a:lumMod val="75000"/>
                  </a:schemeClr>
                </a:solidFill>
              </a:rPr>
              <a:t>predict the number of sales</a:t>
            </a:r>
          </a:p>
          <a:p>
            <a:pPr marL="285750" indent="-285750">
              <a:buFontTx/>
              <a:buChar char="-"/>
            </a:pPr>
            <a:r>
              <a:rPr lang="en-US" sz="1600" dirty="0">
                <a:solidFill>
                  <a:schemeClr val="accent2">
                    <a:lumMod val="75000"/>
                  </a:schemeClr>
                </a:solidFill>
              </a:rPr>
              <a:t>forecast the wind power produced  </a:t>
            </a:r>
          </a:p>
        </p:txBody>
      </p:sp>
      <p:sp>
        <p:nvSpPr>
          <p:cNvPr id="7" name="Rounded Rectangle 6"/>
          <p:cNvSpPr/>
          <p:nvPr/>
        </p:nvSpPr>
        <p:spPr>
          <a:xfrm>
            <a:off x="4730365" y="1997617"/>
            <a:ext cx="2964660" cy="151931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Supervised Learning</a:t>
            </a:r>
          </a:p>
          <a:p>
            <a:r>
              <a:rPr lang="en-US" dirty="0"/>
              <a:t>Develop a </a:t>
            </a:r>
            <a:r>
              <a:rPr lang="en-US" b="1" i="1" dirty="0"/>
              <a:t>predictive</a:t>
            </a:r>
            <a:r>
              <a:rPr lang="en-US" dirty="0"/>
              <a:t> model. The data includes a </a:t>
            </a:r>
            <a:r>
              <a:rPr lang="en-US" b="1" i="1" dirty="0"/>
              <a:t>target</a:t>
            </a:r>
            <a:r>
              <a:rPr lang="en-US" dirty="0"/>
              <a:t> that we want to </a:t>
            </a:r>
            <a:r>
              <a:rPr lang="en-US" b="1" i="1" dirty="0"/>
              <a:t>predict</a:t>
            </a:r>
            <a:r>
              <a:rPr lang="en-US" dirty="0"/>
              <a:t>.</a:t>
            </a:r>
          </a:p>
        </p:txBody>
      </p:sp>
    </p:spTree>
    <p:extLst>
      <p:ext uri="{BB962C8B-B14F-4D97-AF65-F5344CB8AC3E}">
        <p14:creationId xmlns:p14="http://schemas.microsoft.com/office/powerpoint/2010/main" val="299997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91DF9-9924-1C40-B218-A04682D217A6}"/>
              </a:ext>
            </a:extLst>
          </p:cNvPr>
          <p:cNvSpPr>
            <a:spLocks noGrp="1"/>
          </p:cNvSpPr>
          <p:nvPr>
            <p:ph type="title"/>
          </p:nvPr>
        </p:nvSpPr>
        <p:spPr/>
        <p:txBody>
          <a:bodyPr/>
          <a:lstStyle/>
          <a:p>
            <a:r>
              <a:rPr lang="en-US" b="1" dirty="0"/>
              <a:t>Types of Machine Learning Problems </a:t>
            </a:r>
            <a:endParaRPr lang="en-US" dirty="0"/>
          </a:p>
        </p:txBody>
      </p:sp>
      <p:pic>
        <p:nvPicPr>
          <p:cNvPr id="5" name="Content Placeholder 4">
            <a:extLst>
              <a:ext uri="{FF2B5EF4-FFF2-40B4-BE49-F238E27FC236}">
                <a16:creationId xmlns:a16="http://schemas.microsoft.com/office/drawing/2014/main" id="{DB1B3936-5829-0E4D-BBD2-672E98BC43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56775" y="1825625"/>
            <a:ext cx="8278450" cy="4351338"/>
          </a:xfrm>
        </p:spPr>
      </p:pic>
      <p:sp>
        <p:nvSpPr>
          <p:cNvPr id="6" name="TextBox 5">
            <a:extLst>
              <a:ext uri="{FF2B5EF4-FFF2-40B4-BE49-F238E27FC236}">
                <a16:creationId xmlns:a16="http://schemas.microsoft.com/office/drawing/2014/main" id="{81625425-36DF-344F-BD60-1C8814351DC7}"/>
              </a:ext>
            </a:extLst>
          </p:cNvPr>
          <p:cNvSpPr txBox="1"/>
          <p:nvPr/>
        </p:nvSpPr>
        <p:spPr>
          <a:xfrm>
            <a:off x="446567" y="6492875"/>
            <a:ext cx="5750292" cy="307777"/>
          </a:xfrm>
          <a:prstGeom prst="rect">
            <a:avLst/>
          </a:prstGeom>
          <a:noFill/>
        </p:spPr>
        <p:txBody>
          <a:bodyPr wrap="none" rtlCol="0">
            <a:spAutoFit/>
          </a:bodyPr>
          <a:lstStyle/>
          <a:p>
            <a:r>
              <a:rPr lang="en-US" sz="1400" dirty="0">
                <a:hlinkClick r:id="rId3"/>
              </a:rPr>
              <a:t>https://www.robinwieruch.de/machine-learning-javascript-web-developers/</a:t>
            </a:r>
            <a:endParaRPr lang="en-US" sz="1400" dirty="0"/>
          </a:p>
        </p:txBody>
      </p:sp>
    </p:spTree>
    <p:extLst>
      <p:ext uri="{BB962C8B-B14F-4D97-AF65-F5344CB8AC3E}">
        <p14:creationId xmlns:p14="http://schemas.microsoft.com/office/powerpoint/2010/main" val="26324448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Terminology </a:t>
            </a:r>
          </a:p>
        </p:txBody>
      </p:sp>
      <p:sp>
        <p:nvSpPr>
          <p:cNvPr id="3" name="Content Placeholder 2"/>
          <p:cNvSpPr>
            <a:spLocks noGrp="1"/>
          </p:cNvSpPr>
          <p:nvPr>
            <p:ph idx="1"/>
          </p:nvPr>
        </p:nvSpPr>
        <p:spPr>
          <a:xfrm>
            <a:off x="559849" y="4849527"/>
            <a:ext cx="10515600" cy="1479835"/>
          </a:xfrm>
        </p:spPr>
        <p:txBody>
          <a:bodyPr>
            <a:normAutofit fontScale="92500" lnSpcReduction="10000"/>
          </a:bodyPr>
          <a:lstStyle/>
          <a:p>
            <a:endParaRPr lang="en-US" sz="2000" dirty="0">
              <a:solidFill>
                <a:schemeClr val="accent4">
                  <a:lumMod val="75000"/>
                </a:schemeClr>
              </a:solidFill>
            </a:endParaRPr>
          </a:p>
          <a:p>
            <a:pPr algn="ctr"/>
            <a:r>
              <a:rPr lang="en-US" sz="2000" b="1" dirty="0">
                <a:solidFill>
                  <a:schemeClr val="accent4">
                    <a:lumMod val="75000"/>
                  </a:schemeClr>
                </a:solidFill>
              </a:rPr>
              <a:t>Feature</a:t>
            </a:r>
            <a:r>
              <a:rPr lang="en-US" sz="2000" dirty="0">
                <a:solidFill>
                  <a:schemeClr val="accent4">
                    <a:lumMod val="75000"/>
                  </a:schemeClr>
                </a:solidFill>
              </a:rPr>
              <a:t> (independent variable, predictor, attribute)?</a:t>
            </a:r>
          </a:p>
          <a:p>
            <a:pPr algn="ctr"/>
            <a:r>
              <a:rPr lang="en-US" sz="2000" b="1" dirty="0">
                <a:solidFill>
                  <a:srgbClr val="7030A0"/>
                </a:solidFill>
              </a:rPr>
              <a:t>Label</a:t>
            </a:r>
            <a:r>
              <a:rPr lang="en-US" sz="2000" dirty="0">
                <a:solidFill>
                  <a:srgbClr val="7030A0"/>
                </a:solidFill>
              </a:rPr>
              <a:t> (dependent variable, response, target)?</a:t>
            </a:r>
          </a:p>
          <a:p>
            <a:pPr algn="ctr"/>
            <a:r>
              <a:rPr lang="en-US" sz="2000" b="1" dirty="0">
                <a:solidFill>
                  <a:schemeClr val="accent6">
                    <a:lumMod val="75000"/>
                  </a:schemeClr>
                </a:solidFill>
              </a:rPr>
              <a:t>Sample </a:t>
            </a:r>
            <a:r>
              <a:rPr lang="en-US" sz="2000" dirty="0">
                <a:solidFill>
                  <a:schemeClr val="accent6">
                    <a:lumMod val="75000"/>
                  </a:schemeClr>
                </a:solidFill>
              </a:rPr>
              <a:t>(instance, observation, record, example)? </a:t>
            </a:r>
          </a:p>
        </p:txBody>
      </p:sp>
      <p:sp>
        <p:nvSpPr>
          <p:cNvPr id="4" name="TextBox 3">
            <a:extLst>
              <a:ext uri="{FF2B5EF4-FFF2-40B4-BE49-F238E27FC236}">
                <a16:creationId xmlns:a16="http://schemas.microsoft.com/office/drawing/2014/main" id="{A0CEDBC3-AD15-423B-89E0-CF8969519EB2}"/>
              </a:ext>
            </a:extLst>
          </p:cNvPr>
          <p:cNvSpPr txBox="1"/>
          <p:nvPr/>
        </p:nvSpPr>
        <p:spPr>
          <a:xfrm>
            <a:off x="4157693" y="1822449"/>
            <a:ext cx="3319913" cy="3139321"/>
          </a:xfrm>
          <a:prstGeom prst="rect">
            <a:avLst/>
          </a:prstGeom>
          <a:noFill/>
          <a:ln w="12700">
            <a:solidFill>
              <a:schemeClr val="tx1"/>
            </a:solidFill>
          </a:ln>
        </p:spPr>
        <p:txBody>
          <a:bodyPr wrap="square" rtlCol="0">
            <a:spAutoFit/>
          </a:bodyPr>
          <a:lstStyle/>
          <a:p>
            <a:pPr algn="ctr"/>
            <a:r>
              <a:rPr lang="en-US" b="1" dirty="0"/>
              <a:t>Regression Scenario</a:t>
            </a:r>
          </a:p>
          <a:p>
            <a:pPr marL="0" indent="0">
              <a:buNone/>
            </a:pPr>
            <a:r>
              <a:rPr lang="en-US" dirty="0"/>
              <a:t>Suppose you want to predict the sale </a:t>
            </a:r>
            <a:r>
              <a:rPr lang="en-US" dirty="0">
                <a:solidFill>
                  <a:srgbClr val="7030A0"/>
                </a:solidFill>
              </a:rPr>
              <a:t>price of houses </a:t>
            </a:r>
            <a:r>
              <a:rPr lang="en-US" dirty="0"/>
              <a:t>in a given area. </a:t>
            </a:r>
          </a:p>
          <a:p>
            <a:pPr marL="0" indent="0">
              <a:buNone/>
            </a:pPr>
            <a:r>
              <a:rPr lang="en-US" dirty="0"/>
              <a:t>You have </a:t>
            </a:r>
            <a:r>
              <a:rPr lang="en-US" dirty="0">
                <a:solidFill>
                  <a:schemeClr val="accent6">
                    <a:lumMod val="75000"/>
                  </a:schemeClr>
                </a:solidFill>
              </a:rPr>
              <a:t>a set of labeled houses’ data.</a:t>
            </a:r>
          </a:p>
          <a:p>
            <a:pPr marL="0" indent="0">
              <a:buNone/>
            </a:pPr>
            <a:r>
              <a:rPr lang="en-US" dirty="0"/>
              <a:t>For each house, you know the following: </a:t>
            </a:r>
            <a:r>
              <a:rPr lang="en-US" dirty="0">
                <a:solidFill>
                  <a:schemeClr val="accent4">
                    <a:lumMod val="75000"/>
                  </a:schemeClr>
                </a:solidFill>
              </a:rPr>
              <a:t>year, number of bedrooms, area in square foot, number of bathrooms, zip code.</a:t>
            </a:r>
          </a:p>
          <a:p>
            <a:endParaRPr lang="en-GB" dirty="0"/>
          </a:p>
        </p:txBody>
      </p:sp>
      <p:sp>
        <p:nvSpPr>
          <p:cNvPr id="5" name="TextBox 4">
            <a:extLst>
              <a:ext uri="{FF2B5EF4-FFF2-40B4-BE49-F238E27FC236}">
                <a16:creationId xmlns:a16="http://schemas.microsoft.com/office/drawing/2014/main" id="{12ECF632-B8DE-4502-9268-B6E4485F73AB}"/>
              </a:ext>
            </a:extLst>
          </p:cNvPr>
          <p:cNvSpPr txBox="1"/>
          <p:nvPr/>
        </p:nvSpPr>
        <p:spPr>
          <a:xfrm>
            <a:off x="838200" y="1822450"/>
            <a:ext cx="3271787" cy="3139321"/>
          </a:xfrm>
          <a:prstGeom prst="rect">
            <a:avLst/>
          </a:prstGeom>
          <a:noFill/>
          <a:ln w="12700">
            <a:solidFill>
              <a:schemeClr val="tx1"/>
            </a:solidFill>
          </a:ln>
        </p:spPr>
        <p:txBody>
          <a:bodyPr wrap="square" rtlCol="0">
            <a:spAutoFit/>
          </a:bodyPr>
          <a:lstStyle/>
          <a:p>
            <a:pPr algn="ctr"/>
            <a:r>
              <a:rPr lang="en-US" b="1" dirty="0"/>
              <a:t>Classification Scenario</a:t>
            </a:r>
          </a:p>
          <a:p>
            <a:pPr marL="0" indent="0">
              <a:buNone/>
            </a:pPr>
            <a:r>
              <a:rPr lang="en-US" dirty="0"/>
              <a:t>Suppose you want to predict the </a:t>
            </a:r>
            <a:r>
              <a:rPr lang="en-US" dirty="0">
                <a:solidFill>
                  <a:srgbClr val="7030A0"/>
                </a:solidFill>
              </a:rPr>
              <a:t>presence of heart disease in patients</a:t>
            </a:r>
            <a:r>
              <a:rPr lang="en-US" dirty="0"/>
              <a:t>. </a:t>
            </a:r>
          </a:p>
          <a:p>
            <a:pPr marL="0" indent="0">
              <a:buNone/>
            </a:pPr>
            <a:r>
              <a:rPr lang="en-US" dirty="0"/>
              <a:t>You have a </a:t>
            </a:r>
            <a:r>
              <a:rPr lang="en-US" dirty="0">
                <a:solidFill>
                  <a:schemeClr val="accent6">
                    <a:lumMod val="75000"/>
                  </a:schemeClr>
                </a:solidFill>
              </a:rPr>
              <a:t>set of labeled patients’ data.</a:t>
            </a:r>
          </a:p>
          <a:p>
            <a:pPr marL="0" indent="0">
              <a:buNone/>
            </a:pPr>
            <a:r>
              <a:rPr lang="en-US" dirty="0"/>
              <a:t>For each patient, you know the following: </a:t>
            </a:r>
            <a:r>
              <a:rPr lang="en-US" dirty="0">
                <a:solidFill>
                  <a:schemeClr val="accent4">
                    <a:lumMod val="75000"/>
                  </a:schemeClr>
                </a:solidFill>
              </a:rPr>
              <a:t>age, resting blood pressure, </a:t>
            </a:r>
            <a:r>
              <a:rPr lang="en-GB" dirty="0">
                <a:solidFill>
                  <a:schemeClr val="accent4">
                    <a:lumMod val="75000"/>
                  </a:schemeClr>
                </a:solidFill>
              </a:rPr>
              <a:t>cholesterol level, fasting blood sugar and maximum heart rate achieved</a:t>
            </a:r>
            <a:r>
              <a:rPr lang="en-GB" dirty="0"/>
              <a:t>.</a:t>
            </a:r>
          </a:p>
        </p:txBody>
      </p:sp>
      <p:sp>
        <p:nvSpPr>
          <p:cNvPr id="6" name="TextBox 5">
            <a:extLst>
              <a:ext uri="{FF2B5EF4-FFF2-40B4-BE49-F238E27FC236}">
                <a16:creationId xmlns:a16="http://schemas.microsoft.com/office/drawing/2014/main" id="{9DDBDC04-7092-44BA-87A5-F32F98030569}"/>
              </a:ext>
            </a:extLst>
          </p:cNvPr>
          <p:cNvSpPr txBox="1"/>
          <p:nvPr/>
        </p:nvSpPr>
        <p:spPr>
          <a:xfrm>
            <a:off x="7610376" y="1822450"/>
            <a:ext cx="3319913" cy="3139321"/>
          </a:xfrm>
          <a:prstGeom prst="rect">
            <a:avLst/>
          </a:prstGeom>
          <a:noFill/>
          <a:ln w="12700">
            <a:solidFill>
              <a:schemeClr val="tx1"/>
            </a:solidFill>
          </a:ln>
        </p:spPr>
        <p:txBody>
          <a:bodyPr wrap="square" rtlCol="0">
            <a:spAutoFit/>
          </a:bodyPr>
          <a:lstStyle/>
          <a:p>
            <a:pPr algn="ctr"/>
            <a:r>
              <a:rPr lang="en-US" b="1" dirty="0"/>
              <a:t>Unsupervised Scenario</a:t>
            </a:r>
          </a:p>
          <a:p>
            <a:pPr marL="0" indent="0">
              <a:buNone/>
            </a:pPr>
            <a:r>
              <a:rPr lang="en-US" dirty="0"/>
              <a:t>Suppose you want to segment your clients based on their purchase history.</a:t>
            </a:r>
          </a:p>
          <a:p>
            <a:pPr marL="0" indent="0">
              <a:buNone/>
            </a:pPr>
            <a:r>
              <a:rPr lang="en-US" dirty="0">
                <a:solidFill>
                  <a:schemeClr val="accent6">
                    <a:lumMod val="75000"/>
                  </a:schemeClr>
                </a:solidFill>
              </a:rPr>
              <a:t>You have a set of unlabeled clients’ data.</a:t>
            </a:r>
          </a:p>
          <a:p>
            <a:pPr marL="0" indent="0">
              <a:buNone/>
            </a:pPr>
            <a:r>
              <a:rPr lang="en-US" dirty="0"/>
              <a:t>For each client, you know the following: </a:t>
            </a:r>
            <a:r>
              <a:rPr lang="en-US" dirty="0">
                <a:solidFill>
                  <a:schemeClr val="accent4">
                    <a:lumMod val="75000"/>
                  </a:schemeClr>
                </a:solidFill>
              </a:rPr>
              <a:t>date of order, items purchased, total cost, state, city, job, social status.</a:t>
            </a:r>
          </a:p>
          <a:p>
            <a:pPr marL="0" indent="0">
              <a:buNone/>
            </a:pPr>
            <a:endParaRPr lang="en-US" dirty="0">
              <a:solidFill>
                <a:schemeClr val="accent4">
                  <a:lumMod val="75000"/>
                </a:schemeClr>
              </a:solidFill>
            </a:endParaRPr>
          </a:p>
        </p:txBody>
      </p:sp>
    </p:spTree>
    <p:extLst>
      <p:ext uri="{BB962C8B-B14F-4D97-AF65-F5344CB8AC3E}">
        <p14:creationId xmlns:p14="http://schemas.microsoft.com/office/powerpoint/2010/main" val="749969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2948-0A9F-4D24-AD05-5055A9C8D42A}"/>
              </a:ext>
            </a:extLst>
          </p:cNvPr>
          <p:cNvSpPr>
            <a:spLocks noGrp="1"/>
          </p:cNvSpPr>
          <p:nvPr>
            <p:ph type="title"/>
          </p:nvPr>
        </p:nvSpPr>
        <p:spPr/>
        <p:txBody>
          <a:bodyPr/>
          <a:lstStyle/>
          <a:p>
            <a:r>
              <a:rPr lang="en-US" b="1" dirty="0">
                <a:ea typeface="Calibri" panose="020F0502020204030204" pitchFamily="34" charset="0"/>
                <a:cs typeface="Times New Roman" panose="02020603050405020304" pitchFamily="18" charset="0"/>
              </a:rPr>
              <a:t>Steps of Building Machine Learning Systems</a:t>
            </a:r>
            <a:endParaRPr lang="en-US" b="1" dirty="0"/>
          </a:p>
        </p:txBody>
      </p:sp>
      <p:sp>
        <p:nvSpPr>
          <p:cNvPr id="6" name="Rectangle 5">
            <a:extLst>
              <a:ext uri="{FF2B5EF4-FFF2-40B4-BE49-F238E27FC236}">
                <a16:creationId xmlns:a16="http://schemas.microsoft.com/office/drawing/2014/main" id="{C8912BA2-DEE4-0227-7C2C-14A31AD77497}"/>
              </a:ext>
            </a:extLst>
          </p:cNvPr>
          <p:cNvSpPr/>
          <p:nvPr/>
        </p:nvSpPr>
        <p:spPr>
          <a:xfrm>
            <a:off x="797560" y="2454875"/>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Data Pre-processing</a:t>
            </a:r>
          </a:p>
          <a:p>
            <a:pPr marL="285750" indent="-285750">
              <a:buFontTx/>
              <a:buChar char="-"/>
            </a:pPr>
            <a:r>
              <a:rPr lang="en-US" sz="1600" dirty="0"/>
              <a:t>Feature Engineering</a:t>
            </a:r>
          </a:p>
          <a:p>
            <a:pPr marL="285750" indent="-285750">
              <a:buFontTx/>
              <a:buChar char="-"/>
            </a:pPr>
            <a:r>
              <a:rPr lang="en-US" sz="1600" dirty="0"/>
              <a:t>Feature Scaling</a:t>
            </a:r>
          </a:p>
          <a:p>
            <a:pPr marL="285750" indent="-285750">
              <a:buFontTx/>
              <a:buChar char="-"/>
            </a:pPr>
            <a:r>
              <a:rPr lang="en-US" sz="1600" dirty="0"/>
              <a:t>Data Splitting into training and testing sets</a:t>
            </a:r>
          </a:p>
          <a:p>
            <a:endParaRPr lang="en-US" dirty="0"/>
          </a:p>
          <a:p>
            <a:endParaRPr lang="en-US" dirty="0"/>
          </a:p>
        </p:txBody>
      </p:sp>
      <p:sp>
        <p:nvSpPr>
          <p:cNvPr id="7" name="Rectangle 6">
            <a:extLst>
              <a:ext uri="{FF2B5EF4-FFF2-40B4-BE49-F238E27FC236}">
                <a16:creationId xmlns:a16="http://schemas.microsoft.com/office/drawing/2014/main" id="{C8B8F0ED-A7E6-2F3C-F027-12D79323A990}"/>
              </a:ext>
            </a:extLst>
          </p:cNvPr>
          <p:cNvSpPr/>
          <p:nvPr/>
        </p:nvSpPr>
        <p:spPr>
          <a:xfrm>
            <a:off x="3545910" y="2454875"/>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Training</a:t>
            </a:r>
          </a:p>
          <a:p>
            <a:r>
              <a:rPr lang="en-US" sz="1600" dirty="0"/>
              <a:t>Use the training set to perform:</a:t>
            </a:r>
          </a:p>
          <a:p>
            <a:pPr marL="285750" indent="-285750">
              <a:buFontTx/>
              <a:buChar char="-"/>
            </a:pPr>
            <a:r>
              <a:rPr lang="en-US" sz="1600" dirty="0"/>
              <a:t>Model Fitting</a:t>
            </a:r>
          </a:p>
          <a:p>
            <a:pPr marL="285750" indent="-285750">
              <a:buFontTx/>
              <a:buChar char="-"/>
            </a:pPr>
            <a:r>
              <a:rPr lang="en-US" sz="1600" dirty="0"/>
              <a:t>Model selection: cross-validation, model tuning</a:t>
            </a:r>
          </a:p>
          <a:p>
            <a:endParaRPr lang="en-US" sz="1600" dirty="0"/>
          </a:p>
        </p:txBody>
      </p:sp>
      <p:sp>
        <p:nvSpPr>
          <p:cNvPr id="8" name="Rectangle 7">
            <a:extLst>
              <a:ext uri="{FF2B5EF4-FFF2-40B4-BE49-F238E27FC236}">
                <a16:creationId xmlns:a16="http://schemas.microsoft.com/office/drawing/2014/main" id="{0DED1755-732B-6171-411D-0BF2B4F6E9A2}"/>
              </a:ext>
            </a:extLst>
          </p:cNvPr>
          <p:cNvSpPr/>
          <p:nvPr/>
        </p:nvSpPr>
        <p:spPr>
          <a:xfrm>
            <a:off x="6280760" y="2454875"/>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1600" b="1" dirty="0">
                <a:solidFill>
                  <a:schemeClr val="accent1"/>
                </a:solidFill>
              </a:rPr>
              <a:t>Evaluation</a:t>
            </a:r>
          </a:p>
          <a:p>
            <a:r>
              <a:rPr lang="en-US" sz="1600" dirty="0"/>
              <a:t>Evaluation of final model on testing set</a:t>
            </a:r>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a:p>
            <a:pPr marL="285750" indent="-285750">
              <a:buFontTx/>
              <a:buChar char="-"/>
            </a:pPr>
            <a:endParaRPr lang="en-US" sz="1600" dirty="0"/>
          </a:p>
        </p:txBody>
      </p:sp>
      <p:sp>
        <p:nvSpPr>
          <p:cNvPr id="9" name="Rectangle 8">
            <a:extLst>
              <a:ext uri="{FF2B5EF4-FFF2-40B4-BE49-F238E27FC236}">
                <a16:creationId xmlns:a16="http://schemas.microsoft.com/office/drawing/2014/main" id="{1D2675F1-3D26-BC28-B1AB-2A4B5CB863D0}"/>
              </a:ext>
            </a:extLst>
          </p:cNvPr>
          <p:cNvSpPr/>
          <p:nvPr/>
        </p:nvSpPr>
        <p:spPr>
          <a:xfrm>
            <a:off x="9015610" y="2454875"/>
            <a:ext cx="2217107" cy="24175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endParaRPr lang="en-US" sz="1600" b="1" dirty="0">
              <a:solidFill>
                <a:schemeClr val="accent1"/>
              </a:solidFill>
            </a:endParaRPr>
          </a:p>
          <a:p>
            <a:r>
              <a:rPr lang="en-US" sz="1600" b="1" dirty="0">
                <a:solidFill>
                  <a:schemeClr val="accent1"/>
                </a:solidFill>
              </a:rPr>
              <a:t>Prediction</a:t>
            </a:r>
          </a:p>
          <a:p>
            <a:r>
              <a:rPr lang="en-US" sz="1600" dirty="0"/>
              <a:t>Use the final model to predict the labels for new unlabeled data</a:t>
            </a:r>
          </a:p>
          <a:p>
            <a:endParaRPr lang="en-US" dirty="0"/>
          </a:p>
          <a:p>
            <a:endParaRPr lang="en-US" dirty="0"/>
          </a:p>
          <a:p>
            <a:endParaRPr lang="en-US" dirty="0"/>
          </a:p>
          <a:p>
            <a:endParaRPr lang="en-US" dirty="0"/>
          </a:p>
          <a:p>
            <a:pPr algn="ctr"/>
            <a:endParaRPr lang="en-US" dirty="0"/>
          </a:p>
        </p:txBody>
      </p:sp>
      <p:sp>
        <p:nvSpPr>
          <p:cNvPr id="10" name="Arrow: Down 9">
            <a:extLst>
              <a:ext uri="{FF2B5EF4-FFF2-40B4-BE49-F238E27FC236}">
                <a16:creationId xmlns:a16="http://schemas.microsoft.com/office/drawing/2014/main" id="{E665C61A-8154-820E-17AD-770E029B6B42}"/>
              </a:ext>
            </a:extLst>
          </p:cNvPr>
          <p:cNvSpPr/>
          <p:nvPr/>
        </p:nvSpPr>
        <p:spPr>
          <a:xfrm rot="16200000">
            <a:off x="3081403" y="3396415"/>
            <a:ext cx="465551" cy="463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Down 10">
            <a:extLst>
              <a:ext uri="{FF2B5EF4-FFF2-40B4-BE49-F238E27FC236}">
                <a16:creationId xmlns:a16="http://schemas.microsoft.com/office/drawing/2014/main" id="{7E436D88-E6AE-0531-9364-DA0170BCD9F0}"/>
              </a:ext>
            </a:extLst>
          </p:cNvPr>
          <p:cNvSpPr/>
          <p:nvPr/>
        </p:nvSpPr>
        <p:spPr>
          <a:xfrm rot="16200000">
            <a:off x="5814165" y="3396414"/>
            <a:ext cx="465551" cy="463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6790E802-C88D-0F51-00E7-122CB85CABC5}"/>
              </a:ext>
            </a:extLst>
          </p:cNvPr>
          <p:cNvSpPr/>
          <p:nvPr/>
        </p:nvSpPr>
        <p:spPr>
          <a:xfrm rot="16200000">
            <a:off x="8551103" y="3396414"/>
            <a:ext cx="465551" cy="4634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80009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47112-037A-893A-D0A9-30BEAB57FB17}"/>
              </a:ext>
            </a:extLst>
          </p:cNvPr>
          <p:cNvSpPr>
            <a:spLocks noGrp="1"/>
          </p:cNvSpPr>
          <p:nvPr>
            <p:ph type="title"/>
          </p:nvPr>
        </p:nvSpPr>
        <p:spPr/>
        <p:txBody>
          <a:bodyPr/>
          <a:lstStyle/>
          <a:p>
            <a:r>
              <a:rPr lang="en-US" b="1" dirty="0"/>
              <a:t>Data Pre-processing</a:t>
            </a:r>
          </a:p>
        </p:txBody>
      </p:sp>
      <p:sp>
        <p:nvSpPr>
          <p:cNvPr id="3" name="Content Placeholder 2">
            <a:extLst>
              <a:ext uri="{FF2B5EF4-FFF2-40B4-BE49-F238E27FC236}">
                <a16:creationId xmlns:a16="http://schemas.microsoft.com/office/drawing/2014/main" id="{D968AC0C-6712-2D71-857B-3306652BD97E}"/>
              </a:ext>
            </a:extLst>
          </p:cNvPr>
          <p:cNvSpPr>
            <a:spLocks noGrp="1"/>
          </p:cNvSpPr>
          <p:nvPr>
            <p:ph idx="1"/>
          </p:nvPr>
        </p:nvSpPr>
        <p:spPr>
          <a:xfrm>
            <a:off x="450936" y="1876781"/>
            <a:ext cx="5743186" cy="4351338"/>
          </a:xfrm>
        </p:spPr>
        <p:txBody>
          <a:bodyPr>
            <a:normAutofit/>
          </a:bodyPr>
          <a:lstStyle/>
          <a:p>
            <a:pPr>
              <a:lnSpc>
                <a:spcPct val="100000"/>
              </a:lnSpc>
            </a:pPr>
            <a:r>
              <a:rPr lang="en-US" sz="2200" dirty="0"/>
              <a:t>In traditional machine learning, each data sample is expected to be a collection of features and has a label.</a:t>
            </a:r>
          </a:p>
          <a:p>
            <a:pPr>
              <a:lnSpc>
                <a:spcPct val="100000"/>
              </a:lnSpc>
            </a:pPr>
            <a:r>
              <a:rPr lang="en-US" sz="2200" dirty="0"/>
              <a:t>Not every data comes in this structured form (raw or unstructured data: example text data).</a:t>
            </a:r>
          </a:p>
          <a:p>
            <a:pPr>
              <a:lnSpc>
                <a:spcPct val="100000"/>
              </a:lnSpc>
            </a:pPr>
            <a:r>
              <a:rPr lang="en-US" sz="2200" dirty="0"/>
              <a:t>The data pre-processing step:</a:t>
            </a:r>
          </a:p>
          <a:p>
            <a:pPr lvl="1">
              <a:lnSpc>
                <a:spcPct val="100000"/>
              </a:lnSpc>
            </a:pPr>
            <a:r>
              <a:rPr lang="en-US" sz="2200" dirty="0"/>
              <a:t>transforms the raw data into pairs of features and labels;</a:t>
            </a:r>
          </a:p>
          <a:p>
            <a:pPr lvl="1">
              <a:lnSpc>
                <a:spcPct val="100000"/>
              </a:lnSpc>
            </a:pPr>
            <a:r>
              <a:rPr lang="en-US" sz="2200" dirty="0"/>
              <a:t>partitions the data into training and testing sets.</a:t>
            </a:r>
          </a:p>
        </p:txBody>
      </p:sp>
      <p:sp>
        <p:nvSpPr>
          <p:cNvPr id="4" name="Rectangle 3">
            <a:extLst>
              <a:ext uri="{FF2B5EF4-FFF2-40B4-BE49-F238E27FC236}">
                <a16:creationId xmlns:a16="http://schemas.microsoft.com/office/drawing/2014/main" id="{EA9F1B09-93CE-776C-A445-254B727C5B0C}"/>
              </a:ext>
            </a:extLst>
          </p:cNvPr>
          <p:cNvSpPr/>
          <p:nvPr/>
        </p:nvSpPr>
        <p:spPr>
          <a:xfrm>
            <a:off x="6627312" y="2348908"/>
            <a:ext cx="4726488" cy="27494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b="1" dirty="0">
                <a:solidFill>
                  <a:schemeClr val="accent1"/>
                </a:solidFill>
              </a:rPr>
              <a:t>Data Pre-processing</a:t>
            </a:r>
            <a:endParaRPr lang="en-US" dirty="0"/>
          </a:p>
          <a:p>
            <a:endParaRPr lang="en-US" dirty="0"/>
          </a:p>
          <a:p>
            <a:endParaRPr lang="en-US" dirty="0"/>
          </a:p>
          <a:p>
            <a:r>
              <a:rPr lang="en-US" dirty="0"/>
              <a:t>(raw data, labels)</a:t>
            </a:r>
          </a:p>
          <a:p>
            <a:endParaRPr lang="en-US" dirty="0"/>
          </a:p>
          <a:p>
            <a:endParaRPr lang="en-US" dirty="0"/>
          </a:p>
          <a:p>
            <a:endParaRPr lang="en-US" dirty="0"/>
          </a:p>
        </p:txBody>
      </p:sp>
      <p:sp>
        <p:nvSpPr>
          <p:cNvPr id="5" name="Rectangle 4">
            <a:extLst>
              <a:ext uri="{FF2B5EF4-FFF2-40B4-BE49-F238E27FC236}">
                <a16:creationId xmlns:a16="http://schemas.microsoft.com/office/drawing/2014/main" id="{8D3FB278-AA00-58F0-D218-685CB209EA02}"/>
              </a:ext>
            </a:extLst>
          </p:cNvPr>
          <p:cNvSpPr/>
          <p:nvPr/>
        </p:nvSpPr>
        <p:spPr>
          <a:xfrm>
            <a:off x="9211849" y="2699638"/>
            <a:ext cx="1941534" cy="129018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Training Dataset</a:t>
            </a:r>
          </a:p>
          <a:p>
            <a:pPr algn="ctr"/>
            <a:r>
              <a:rPr lang="en-US" dirty="0"/>
              <a:t>(features, labels)</a:t>
            </a:r>
          </a:p>
        </p:txBody>
      </p:sp>
      <p:sp>
        <p:nvSpPr>
          <p:cNvPr id="6" name="Rectangle 5">
            <a:extLst>
              <a:ext uri="{FF2B5EF4-FFF2-40B4-BE49-F238E27FC236}">
                <a16:creationId xmlns:a16="http://schemas.microsoft.com/office/drawing/2014/main" id="{17328998-85A9-1F20-EB1B-D537A8109666}"/>
              </a:ext>
            </a:extLst>
          </p:cNvPr>
          <p:cNvSpPr/>
          <p:nvPr/>
        </p:nvSpPr>
        <p:spPr>
          <a:xfrm>
            <a:off x="9211849" y="4052450"/>
            <a:ext cx="1941534" cy="73277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Testing Dataset</a:t>
            </a:r>
          </a:p>
          <a:p>
            <a:pPr algn="ctr"/>
            <a:r>
              <a:rPr lang="en-US" dirty="0"/>
              <a:t>(features, labels)</a:t>
            </a:r>
          </a:p>
        </p:txBody>
      </p:sp>
      <p:cxnSp>
        <p:nvCxnSpPr>
          <p:cNvPr id="7" name="Straight Arrow Connector 6">
            <a:extLst>
              <a:ext uri="{FF2B5EF4-FFF2-40B4-BE49-F238E27FC236}">
                <a16:creationId xmlns:a16="http://schemas.microsoft.com/office/drawing/2014/main" id="{8EBDE3C0-0E4C-C7DA-4EEB-5655C4943280}"/>
              </a:ext>
            </a:extLst>
          </p:cNvPr>
          <p:cNvCxnSpPr/>
          <p:nvPr/>
        </p:nvCxnSpPr>
        <p:spPr>
          <a:xfrm flipV="1">
            <a:off x="8476990" y="3300885"/>
            <a:ext cx="488516" cy="4822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D8E7E772-807E-1E6B-EA12-398A4EE37205}"/>
              </a:ext>
            </a:extLst>
          </p:cNvPr>
          <p:cNvCxnSpPr/>
          <p:nvPr/>
        </p:nvCxnSpPr>
        <p:spPr>
          <a:xfrm>
            <a:off x="8476990" y="3783139"/>
            <a:ext cx="534442" cy="5511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372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47112-037A-893A-D0A9-30BEAB57FB17}"/>
              </a:ext>
            </a:extLst>
          </p:cNvPr>
          <p:cNvSpPr>
            <a:spLocks noGrp="1"/>
          </p:cNvSpPr>
          <p:nvPr>
            <p:ph type="title"/>
          </p:nvPr>
        </p:nvSpPr>
        <p:spPr/>
        <p:txBody>
          <a:bodyPr/>
          <a:lstStyle/>
          <a:p>
            <a:r>
              <a:rPr lang="en-US" b="1" dirty="0"/>
              <a:t>Training Phase : Model Fitting</a:t>
            </a:r>
          </a:p>
        </p:txBody>
      </p:sp>
      <p:sp>
        <p:nvSpPr>
          <p:cNvPr id="9" name="Content Placeholder 8">
            <a:extLst>
              <a:ext uri="{FF2B5EF4-FFF2-40B4-BE49-F238E27FC236}">
                <a16:creationId xmlns:a16="http://schemas.microsoft.com/office/drawing/2014/main" id="{0411BA1F-70DA-18D1-FE21-6074EA46FE72}"/>
              </a:ext>
            </a:extLst>
          </p:cNvPr>
          <p:cNvSpPr>
            <a:spLocks noGrp="1"/>
          </p:cNvSpPr>
          <p:nvPr>
            <p:ph idx="1"/>
          </p:nvPr>
        </p:nvSpPr>
        <p:spPr>
          <a:xfrm>
            <a:off x="838200" y="4538753"/>
            <a:ext cx="10515600" cy="1871890"/>
          </a:xfrm>
        </p:spPr>
        <p:txBody>
          <a:bodyPr>
            <a:normAutofit/>
          </a:bodyPr>
          <a:lstStyle/>
          <a:p>
            <a:pPr>
              <a:lnSpc>
                <a:spcPct val="110000"/>
              </a:lnSpc>
            </a:pPr>
            <a:r>
              <a:rPr lang="en-US" sz="2200" dirty="0"/>
              <a:t>The goal of the training phase is to learn, from the labeled data (pairs of data features and labels), the rules or the mathematical formula that maps an input feature to its output label.</a:t>
            </a:r>
          </a:p>
          <a:p>
            <a:pPr>
              <a:lnSpc>
                <a:spcPct val="110000"/>
              </a:lnSpc>
            </a:pPr>
            <a:r>
              <a:rPr lang="en-US" sz="2200" dirty="0"/>
              <a:t>A training algorithm is implemented to learn this mapping from the training data.</a:t>
            </a:r>
          </a:p>
        </p:txBody>
      </p:sp>
      <p:grpSp>
        <p:nvGrpSpPr>
          <p:cNvPr id="11" name="Group 10">
            <a:extLst>
              <a:ext uri="{FF2B5EF4-FFF2-40B4-BE49-F238E27FC236}">
                <a16:creationId xmlns:a16="http://schemas.microsoft.com/office/drawing/2014/main" id="{DC78B4A5-F91E-8167-C698-4B35D6E20905}"/>
              </a:ext>
            </a:extLst>
          </p:cNvPr>
          <p:cNvGrpSpPr/>
          <p:nvPr/>
        </p:nvGrpSpPr>
        <p:grpSpPr>
          <a:xfrm>
            <a:off x="2102592" y="1690688"/>
            <a:ext cx="7031776" cy="2383340"/>
            <a:chOff x="2580112" y="1737723"/>
            <a:chExt cx="7031776" cy="2383340"/>
          </a:xfrm>
        </p:grpSpPr>
        <p:pic>
          <p:nvPicPr>
            <p:cNvPr id="12" name="Content Placeholder 4">
              <a:extLst>
                <a:ext uri="{FF2B5EF4-FFF2-40B4-BE49-F238E27FC236}">
                  <a16:creationId xmlns:a16="http://schemas.microsoft.com/office/drawing/2014/main" id="{28B12AFD-DF20-FEA3-CD5B-0C79EDEB211B}"/>
                </a:ext>
              </a:extLst>
            </p:cNvPr>
            <p:cNvPicPr>
              <a:picLocks noChangeAspect="1"/>
            </p:cNvPicPr>
            <p:nvPr/>
          </p:nvPicPr>
          <p:blipFill rotWithShape="1">
            <a:blip r:embed="rId2">
              <a:extLst>
                <a:ext uri="{28A0092B-C50C-407E-A947-70E740481C1C}">
                  <a14:useLocalDpi xmlns:a14="http://schemas.microsoft.com/office/drawing/2010/main" val="0"/>
                </a:ext>
              </a:extLst>
            </a:blip>
            <a:srcRect b="52610"/>
            <a:stretch/>
          </p:blipFill>
          <p:spPr>
            <a:xfrm>
              <a:off x="2580112" y="1737723"/>
              <a:ext cx="7031776" cy="2383340"/>
            </a:xfrm>
            <a:prstGeom prst="rect">
              <a:avLst/>
            </a:prstGeom>
          </p:spPr>
        </p:pic>
        <p:sp>
          <p:nvSpPr>
            <p:cNvPr id="13" name="TextBox 12">
              <a:extLst>
                <a:ext uri="{FF2B5EF4-FFF2-40B4-BE49-F238E27FC236}">
                  <a16:creationId xmlns:a16="http://schemas.microsoft.com/office/drawing/2014/main" id="{7FE1AE8E-F6D9-BB0E-35E5-F80267DE51F6}"/>
                </a:ext>
              </a:extLst>
            </p:cNvPr>
            <p:cNvSpPr txBox="1"/>
            <p:nvPr/>
          </p:nvSpPr>
          <p:spPr>
            <a:xfrm>
              <a:off x="3540690" y="2179529"/>
              <a:ext cx="2555310" cy="338554"/>
            </a:xfrm>
            <a:prstGeom prst="rect">
              <a:avLst/>
            </a:prstGeom>
            <a:noFill/>
          </p:spPr>
          <p:txBody>
            <a:bodyPr wrap="square" rtlCol="0">
              <a:spAutoFit/>
            </a:bodyPr>
            <a:lstStyle/>
            <a:p>
              <a:r>
                <a:rPr lang="en-US" sz="1600" dirty="0"/>
                <a:t>(Labels)</a:t>
              </a:r>
            </a:p>
          </p:txBody>
        </p:sp>
      </p:grpSp>
      <p:sp>
        <p:nvSpPr>
          <p:cNvPr id="14" name="TextBox 13">
            <a:extLst>
              <a:ext uri="{FF2B5EF4-FFF2-40B4-BE49-F238E27FC236}">
                <a16:creationId xmlns:a16="http://schemas.microsoft.com/office/drawing/2014/main" id="{E7A1A42E-A9E8-5FED-142A-A9987CE32008}"/>
              </a:ext>
            </a:extLst>
          </p:cNvPr>
          <p:cNvSpPr txBox="1"/>
          <p:nvPr/>
        </p:nvSpPr>
        <p:spPr>
          <a:xfrm>
            <a:off x="3037312" y="3524414"/>
            <a:ext cx="2555310" cy="338554"/>
          </a:xfrm>
          <a:prstGeom prst="rect">
            <a:avLst/>
          </a:prstGeom>
          <a:noFill/>
        </p:spPr>
        <p:txBody>
          <a:bodyPr wrap="square" rtlCol="0">
            <a:spAutoFit/>
          </a:bodyPr>
          <a:lstStyle/>
          <a:p>
            <a:r>
              <a:rPr lang="en-US" sz="1600" dirty="0"/>
              <a:t>(Features)</a:t>
            </a:r>
          </a:p>
        </p:txBody>
      </p:sp>
    </p:spTree>
    <p:extLst>
      <p:ext uri="{BB962C8B-B14F-4D97-AF65-F5344CB8AC3E}">
        <p14:creationId xmlns:p14="http://schemas.microsoft.com/office/powerpoint/2010/main" val="3982741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47112-037A-893A-D0A9-30BEAB57FB17}"/>
              </a:ext>
            </a:extLst>
          </p:cNvPr>
          <p:cNvSpPr>
            <a:spLocks noGrp="1"/>
          </p:cNvSpPr>
          <p:nvPr>
            <p:ph type="title"/>
          </p:nvPr>
        </p:nvSpPr>
        <p:spPr/>
        <p:txBody>
          <a:bodyPr/>
          <a:lstStyle/>
          <a:p>
            <a:r>
              <a:rPr lang="en-US" b="1" dirty="0"/>
              <a:t>Training Phase : Model Fitting</a:t>
            </a:r>
          </a:p>
        </p:txBody>
      </p:sp>
      <p:sp>
        <p:nvSpPr>
          <p:cNvPr id="9" name="Content Placeholder 8">
            <a:extLst>
              <a:ext uri="{FF2B5EF4-FFF2-40B4-BE49-F238E27FC236}">
                <a16:creationId xmlns:a16="http://schemas.microsoft.com/office/drawing/2014/main" id="{0411BA1F-70DA-18D1-FE21-6074EA46FE72}"/>
              </a:ext>
            </a:extLst>
          </p:cNvPr>
          <p:cNvSpPr>
            <a:spLocks noGrp="1"/>
          </p:cNvSpPr>
          <p:nvPr>
            <p:ph idx="1"/>
          </p:nvPr>
        </p:nvSpPr>
        <p:spPr>
          <a:xfrm>
            <a:off x="3860272" y="5013687"/>
            <a:ext cx="4765568" cy="1116433"/>
          </a:xfrm>
        </p:spPr>
        <p:txBody>
          <a:bodyPr>
            <a:normAutofit/>
          </a:bodyPr>
          <a:lstStyle/>
          <a:p>
            <a:pPr marL="0" indent="0">
              <a:lnSpc>
                <a:spcPct val="110000"/>
              </a:lnSpc>
              <a:buNone/>
            </a:pPr>
            <a:r>
              <a:rPr lang="en-US" sz="2400" dirty="0"/>
              <a:t>So, what does exactly happen here?</a:t>
            </a:r>
          </a:p>
        </p:txBody>
      </p:sp>
      <p:grpSp>
        <p:nvGrpSpPr>
          <p:cNvPr id="11" name="Group 10">
            <a:extLst>
              <a:ext uri="{FF2B5EF4-FFF2-40B4-BE49-F238E27FC236}">
                <a16:creationId xmlns:a16="http://schemas.microsoft.com/office/drawing/2014/main" id="{DC78B4A5-F91E-8167-C698-4B35D6E20905}"/>
              </a:ext>
            </a:extLst>
          </p:cNvPr>
          <p:cNvGrpSpPr/>
          <p:nvPr/>
        </p:nvGrpSpPr>
        <p:grpSpPr>
          <a:xfrm>
            <a:off x="2102592" y="2269808"/>
            <a:ext cx="7031776" cy="2383340"/>
            <a:chOff x="2580112" y="1737723"/>
            <a:chExt cx="7031776" cy="2383340"/>
          </a:xfrm>
        </p:grpSpPr>
        <p:pic>
          <p:nvPicPr>
            <p:cNvPr id="12" name="Content Placeholder 4">
              <a:extLst>
                <a:ext uri="{FF2B5EF4-FFF2-40B4-BE49-F238E27FC236}">
                  <a16:creationId xmlns:a16="http://schemas.microsoft.com/office/drawing/2014/main" id="{28B12AFD-DF20-FEA3-CD5B-0C79EDEB211B}"/>
                </a:ext>
              </a:extLst>
            </p:cNvPr>
            <p:cNvPicPr>
              <a:picLocks noChangeAspect="1"/>
            </p:cNvPicPr>
            <p:nvPr/>
          </p:nvPicPr>
          <p:blipFill rotWithShape="1">
            <a:blip r:embed="rId2">
              <a:extLst>
                <a:ext uri="{28A0092B-C50C-407E-A947-70E740481C1C}">
                  <a14:useLocalDpi xmlns:a14="http://schemas.microsoft.com/office/drawing/2010/main" val="0"/>
                </a:ext>
              </a:extLst>
            </a:blip>
            <a:srcRect b="52610"/>
            <a:stretch/>
          </p:blipFill>
          <p:spPr>
            <a:xfrm>
              <a:off x="2580112" y="1737723"/>
              <a:ext cx="7031776" cy="2383340"/>
            </a:xfrm>
            <a:prstGeom prst="rect">
              <a:avLst/>
            </a:prstGeom>
          </p:spPr>
        </p:pic>
        <p:sp>
          <p:nvSpPr>
            <p:cNvPr id="13" name="TextBox 12">
              <a:extLst>
                <a:ext uri="{FF2B5EF4-FFF2-40B4-BE49-F238E27FC236}">
                  <a16:creationId xmlns:a16="http://schemas.microsoft.com/office/drawing/2014/main" id="{7FE1AE8E-F6D9-BB0E-35E5-F80267DE51F6}"/>
                </a:ext>
              </a:extLst>
            </p:cNvPr>
            <p:cNvSpPr txBox="1"/>
            <p:nvPr/>
          </p:nvSpPr>
          <p:spPr>
            <a:xfrm>
              <a:off x="3540690" y="2179529"/>
              <a:ext cx="2555310" cy="338554"/>
            </a:xfrm>
            <a:prstGeom prst="rect">
              <a:avLst/>
            </a:prstGeom>
            <a:noFill/>
          </p:spPr>
          <p:txBody>
            <a:bodyPr wrap="square" rtlCol="0">
              <a:spAutoFit/>
            </a:bodyPr>
            <a:lstStyle/>
            <a:p>
              <a:r>
                <a:rPr lang="en-US" sz="1600" dirty="0"/>
                <a:t>(Labels)</a:t>
              </a:r>
            </a:p>
          </p:txBody>
        </p:sp>
      </p:grpSp>
      <p:sp>
        <p:nvSpPr>
          <p:cNvPr id="14" name="TextBox 13">
            <a:extLst>
              <a:ext uri="{FF2B5EF4-FFF2-40B4-BE49-F238E27FC236}">
                <a16:creationId xmlns:a16="http://schemas.microsoft.com/office/drawing/2014/main" id="{E7A1A42E-A9E8-5FED-142A-A9987CE32008}"/>
              </a:ext>
            </a:extLst>
          </p:cNvPr>
          <p:cNvSpPr txBox="1"/>
          <p:nvPr/>
        </p:nvSpPr>
        <p:spPr>
          <a:xfrm>
            <a:off x="3037312" y="4103534"/>
            <a:ext cx="2555310" cy="338554"/>
          </a:xfrm>
          <a:prstGeom prst="rect">
            <a:avLst/>
          </a:prstGeom>
          <a:noFill/>
        </p:spPr>
        <p:txBody>
          <a:bodyPr wrap="square" rtlCol="0">
            <a:spAutoFit/>
          </a:bodyPr>
          <a:lstStyle/>
          <a:p>
            <a:r>
              <a:rPr lang="en-US" sz="1600" dirty="0"/>
              <a:t>(Features)</a:t>
            </a:r>
          </a:p>
        </p:txBody>
      </p:sp>
      <p:sp>
        <p:nvSpPr>
          <p:cNvPr id="8" name="Rectangle: Rounded Corners 7">
            <a:extLst>
              <a:ext uri="{FF2B5EF4-FFF2-40B4-BE49-F238E27FC236}">
                <a16:creationId xmlns:a16="http://schemas.microsoft.com/office/drawing/2014/main" id="{98B13212-E74F-3F71-CCF2-C9FEDC7C06EF}"/>
              </a:ext>
            </a:extLst>
          </p:cNvPr>
          <p:cNvSpPr/>
          <p:nvPr/>
        </p:nvSpPr>
        <p:spPr>
          <a:xfrm>
            <a:off x="5080000" y="2553153"/>
            <a:ext cx="1635761" cy="1540041"/>
          </a:xfrm>
          <a:prstGeom prst="roundRect">
            <a:avLst/>
          </a:prstGeom>
          <a:solidFill>
            <a:schemeClr val="accent2">
              <a:lumMod val="60000"/>
              <a:lumOff val="40000"/>
              <a:alpha val="51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24570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DD84-31EF-7241-B4C8-32E53869F8FA}"/>
              </a:ext>
            </a:extLst>
          </p:cNvPr>
          <p:cNvSpPr>
            <a:spLocks noGrp="1"/>
          </p:cNvSpPr>
          <p:nvPr>
            <p:ph type="title"/>
          </p:nvPr>
        </p:nvSpPr>
        <p:spPr>
          <a:xfrm>
            <a:off x="838200" y="307373"/>
            <a:ext cx="10515600" cy="1325563"/>
          </a:xfrm>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Training Phase: Model Fitting</a:t>
            </a:r>
            <a:endParaRPr lang="en-US" b="1" dirty="0"/>
          </a:p>
        </p:txBody>
      </p:sp>
      <p:sp>
        <p:nvSpPr>
          <p:cNvPr id="3" name="Content Placeholder 2">
            <a:extLst>
              <a:ext uri="{FF2B5EF4-FFF2-40B4-BE49-F238E27FC236}">
                <a16:creationId xmlns:a16="http://schemas.microsoft.com/office/drawing/2014/main" id="{65C3EB12-174B-424E-9FE6-576D3D2FBBF7}"/>
              </a:ext>
            </a:extLst>
          </p:cNvPr>
          <p:cNvSpPr>
            <a:spLocks noGrp="1"/>
          </p:cNvSpPr>
          <p:nvPr>
            <p:ph idx="1"/>
          </p:nvPr>
        </p:nvSpPr>
        <p:spPr/>
        <p:txBody>
          <a:bodyPr>
            <a:normAutofit/>
          </a:bodyPr>
          <a:lstStyle/>
          <a:p>
            <a:pPr>
              <a:lnSpc>
                <a:spcPct val="100000"/>
              </a:lnSpc>
            </a:pPr>
            <a:r>
              <a:rPr lang="en-US" sz="2400" dirty="0"/>
              <a:t>In order to find a mapping from data features to labels, we make assumptions on how they’re related to each other. </a:t>
            </a:r>
          </a:p>
          <a:p>
            <a:pPr>
              <a:lnSpc>
                <a:spcPct val="100000"/>
              </a:lnSpc>
            </a:pPr>
            <a:r>
              <a:rPr lang="en-US" sz="2400" dirty="0"/>
              <a:t>We may assume a certain functional form that models the relationship between features and labels.</a:t>
            </a:r>
          </a:p>
          <a:p>
            <a:pPr>
              <a:lnSpc>
                <a:spcPct val="100000"/>
              </a:lnSpc>
            </a:pPr>
            <a:r>
              <a:rPr lang="en-US" sz="2400" dirty="0"/>
              <a:t>These assumptions are captured by what is known as the machine learning models. There are different machine learning models, where each makes different assumptions.</a:t>
            </a: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B29CC261-8FB7-740C-2052-10CBBF9CA15F}"/>
                  </a:ext>
                </a:extLst>
              </p:cNvPr>
              <p:cNvSpPr/>
              <p:nvPr/>
            </p:nvSpPr>
            <p:spPr>
              <a:xfrm>
                <a:off x="4709759" y="5216486"/>
                <a:ext cx="1981200" cy="7452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Model</a:t>
                </a:r>
              </a:p>
              <a:p>
                <a:pPr algn="ct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oMath>
                  </m:oMathPara>
                </a14:m>
                <a:endParaRPr lang="en-US" b="1" dirty="0"/>
              </a:p>
            </p:txBody>
          </p:sp>
        </mc:Choice>
        <mc:Fallback xmlns="">
          <p:sp>
            <p:nvSpPr>
              <p:cNvPr id="8" name="Rectangle 7">
                <a:extLst>
                  <a:ext uri="{FF2B5EF4-FFF2-40B4-BE49-F238E27FC236}">
                    <a16:creationId xmlns:a16="http://schemas.microsoft.com/office/drawing/2014/main" id="{B29CC261-8FB7-740C-2052-10CBBF9CA15F}"/>
                  </a:ext>
                </a:extLst>
              </p:cNvPr>
              <p:cNvSpPr>
                <a:spLocks noRot="1" noChangeAspect="1" noMove="1" noResize="1" noEditPoints="1" noAdjustHandles="1" noChangeArrowheads="1" noChangeShapeType="1" noTextEdit="1"/>
              </p:cNvSpPr>
              <p:nvPr/>
            </p:nvSpPr>
            <p:spPr>
              <a:xfrm>
                <a:off x="4709759" y="5216486"/>
                <a:ext cx="1981200" cy="745271"/>
              </a:xfrm>
              <a:prstGeom prst="rect">
                <a:avLst/>
              </a:prstGeom>
              <a:blipFill>
                <a:blip r:embed="rId2"/>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CF5C5E22-BAB3-A303-CF63-E972D78C03AD}"/>
              </a:ext>
            </a:extLst>
          </p:cNvPr>
          <p:cNvCxnSpPr>
            <a:cxnSpLocks/>
          </p:cNvCxnSpPr>
          <p:nvPr/>
        </p:nvCxnSpPr>
        <p:spPr>
          <a:xfrm rot="16200000">
            <a:off x="4272145" y="5186307"/>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a:extLst>
              <a:ext uri="{FF2B5EF4-FFF2-40B4-BE49-F238E27FC236}">
                <a16:creationId xmlns:a16="http://schemas.microsoft.com/office/drawing/2014/main" id="{A2E8F776-9CA2-E2B0-5CEF-A5144CABC607}"/>
              </a:ext>
            </a:extLst>
          </p:cNvPr>
          <p:cNvCxnSpPr>
            <a:cxnSpLocks/>
          </p:cNvCxnSpPr>
          <p:nvPr/>
        </p:nvCxnSpPr>
        <p:spPr>
          <a:xfrm rot="16200000">
            <a:off x="7128574" y="5186306"/>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481062C-1680-0A12-B9B4-A3F741D5B4C5}"/>
              </a:ext>
            </a:extLst>
          </p:cNvPr>
          <p:cNvSpPr txBox="1"/>
          <p:nvPr/>
        </p:nvSpPr>
        <p:spPr>
          <a:xfrm>
            <a:off x="1945366" y="5315426"/>
            <a:ext cx="1889163" cy="646331"/>
          </a:xfrm>
          <a:prstGeom prst="rect">
            <a:avLst/>
          </a:prstGeom>
          <a:noFill/>
        </p:spPr>
        <p:txBody>
          <a:bodyPr wrap="square" rtlCol="0">
            <a:spAutoFit/>
          </a:bodyPr>
          <a:lstStyle/>
          <a:p>
            <a:pPr algn="ctr"/>
            <a:r>
              <a:rPr lang="en-US" dirty="0"/>
              <a:t>Data features (Input)</a:t>
            </a:r>
          </a:p>
        </p:txBody>
      </p:sp>
      <p:sp>
        <p:nvSpPr>
          <p:cNvPr id="12" name="TextBox 11">
            <a:extLst>
              <a:ext uri="{FF2B5EF4-FFF2-40B4-BE49-F238E27FC236}">
                <a16:creationId xmlns:a16="http://schemas.microsoft.com/office/drawing/2014/main" id="{FD48B63D-6057-0E46-BA95-B6E5BA4F76E1}"/>
              </a:ext>
            </a:extLst>
          </p:cNvPr>
          <p:cNvSpPr txBox="1"/>
          <p:nvPr/>
        </p:nvSpPr>
        <p:spPr>
          <a:xfrm>
            <a:off x="7878352" y="5300754"/>
            <a:ext cx="1981199" cy="646331"/>
          </a:xfrm>
          <a:prstGeom prst="rect">
            <a:avLst/>
          </a:prstGeom>
          <a:noFill/>
        </p:spPr>
        <p:txBody>
          <a:bodyPr wrap="square" rtlCol="0">
            <a:spAutoFit/>
          </a:bodyPr>
          <a:lstStyle/>
          <a:p>
            <a:pPr algn="ctr"/>
            <a:r>
              <a:rPr lang="en-US" dirty="0"/>
              <a:t>Label</a:t>
            </a:r>
          </a:p>
          <a:p>
            <a:pPr algn="ctr"/>
            <a:r>
              <a:rPr lang="en-US" dirty="0"/>
              <a:t> (Output)</a:t>
            </a:r>
          </a:p>
        </p:txBody>
      </p:sp>
      <p:sp>
        <p:nvSpPr>
          <p:cNvPr id="15" name="Rectangle: Rounded Corners 14">
            <a:extLst>
              <a:ext uri="{FF2B5EF4-FFF2-40B4-BE49-F238E27FC236}">
                <a16:creationId xmlns:a16="http://schemas.microsoft.com/office/drawing/2014/main" id="{71FACDBD-D352-9984-20B5-A1E4FFEEB01E}"/>
              </a:ext>
            </a:extLst>
          </p:cNvPr>
          <p:cNvSpPr/>
          <p:nvPr/>
        </p:nvSpPr>
        <p:spPr>
          <a:xfrm>
            <a:off x="2070998" y="5021451"/>
            <a:ext cx="7788553" cy="115551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28724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CB775-B7EA-4E6F-A8A8-1A0F5E6709AF}"/>
              </a:ext>
            </a:extLst>
          </p:cNvPr>
          <p:cNvSpPr>
            <a:spLocks noGrp="1"/>
          </p:cNvSpPr>
          <p:nvPr>
            <p:ph type="title"/>
          </p:nvPr>
        </p:nvSpPr>
        <p:spPr/>
        <p:txBody>
          <a:bodyPr/>
          <a:lstStyle/>
          <a:p>
            <a:r>
              <a:rPr lang="en-US" b="1" dirty="0"/>
              <a:t>Common Machine Learning Models</a:t>
            </a:r>
          </a:p>
        </p:txBody>
      </p:sp>
      <p:sp>
        <p:nvSpPr>
          <p:cNvPr id="4" name="Text Placeholder 3">
            <a:extLst>
              <a:ext uri="{FF2B5EF4-FFF2-40B4-BE49-F238E27FC236}">
                <a16:creationId xmlns:a16="http://schemas.microsoft.com/office/drawing/2014/main" id="{995B0A39-179B-634D-8860-69BB95D96564}"/>
              </a:ext>
            </a:extLst>
          </p:cNvPr>
          <p:cNvSpPr>
            <a:spLocks noGrp="1"/>
          </p:cNvSpPr>
          <p:nvPr>
            <p:ph type="body" idx="1"/>
          </p:nvPr>
        </p:nvSpPr>
        <p:spPr>
          <a:xfrm>
            <a:off x="1157616" y="1879463"/>
            <a:ext cx="5157787" cy="823912"/>
          </a:xfrm>
        </p:spPr>
        <p:txBody>
          <a:bodyPr/>
          <a:lstStyle/>
          <a:p>
            <a:r>
              <a:rPr lang="en-US" dirty="0"/>
              <a:t>Regression</a:t>
            </a:r>
          </a:p>
          <a:p>
            <a:endParaRPr lang="en-US" dirty="0"/>
          </a:p>
        </p:txBody>
      </p:sp>
      <p:sp>
        <p:nvSpPr>
          <p:cNvPr id="5" name="Text Placeholder 4">
            <a:extLst>
              <a:ext uri="{FF2B5EF4-FFF2-40B4-BE49-F238E27FC236}">
                <a16:creationId xmlns:a16="http://schemas.microsoft.com/office/drawing/2014/main" id="{834B61C6-D082-DB46-8204-E03C16ACBE49}"/>
              </a:ext>
            </a:extLst>
          </p:cNvPr>
          <p:cNvSpPr>
            <a:spLocks noGrp="1"/>
          </p:cNvSpPr>
          <p:nvPr>
            <p:ph type="body" sz="quarter" idx="3"/>
          </p:nvPr>
        </p:nvSpPr>
        <p:spPr>
          <a:xfrm>
            <a:off x="6458606" y="1870952"/>
            <a:ext cx="5183188" cy="823912"/>
          </a:xfrm>
        </p:spPr>
        <p:txBody>
          <a:bodyPr/>
          <a:lstStyle/>
          <a:p>
            <a:r>
              <a:rPr lang="en-US" dirty="0"/>
              <a:t>Classification</a:t>
            </a:r>
          </a:p>
          <a:p>
            <a:endParaRPr lang="en-US" dirty="0"/>
          </a:p>
        </p:txBody>
      </p:sp>
      <p:sp>
        <p:nvSpPr>
          <p:cNvPr id="7" name="Rectangle: Rounded Corners 6">
            <a:extLst>
              <a:ext uri="{FF2B5EF4-FFF2-40B4-BE49-F238E27FC236}">
                <a16:creationId xmlns:a16="http://schemas.microsoft.com/office/drawing/2014/main" id="{48D93DA4-5EC0-4F07-80FA-5B8B5B1B01A5}"/>
              </a:ext>
            </a:extLst>
          </p:cNvPr>
          <p:cNvSpPr/>
          <p:nvPr/>
        </p:nvSpPr>
        <p:spPr>
          <a:xfrm>
            <a:off x="1135117" y="2505075"/>
            <a:ext cx="2585545" cy="42731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FCA8D964-F2A8-41A7-9F1F-0F582DBED163}"/>
              </a:ext>
            </a:extLst>
          </p:cNvPr>
          <p:cNvSpPr/>
          <p:nvPr/>
        </p:nvSpPr>
        <p:spPr>
          <a:xfrm>
            <a:off x="1135117" y="3017237"/>
            <a:ext cx="3941380" cy="41176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C5A2AB55-09C3-47DE-8C00-B47E52C8372E}"/>
              </a:ext>
            </a:extLst>
          </p:cNvPr>
          <p:cNvSpPr/>
          <p:nvPr/>
        </p:nvSpPr>
        <p:spPr>
          <a:xfrm>
            <a:off x="1135117" y="3533117"/>
            <a:ext cx="2228193" cy="42731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BC05D0EB-29C1-432A-A74C-C72105C12C65}"/>
              </a:ext>
            </a:extLst>
          </p:cNvPr>
          <p:cNvSpPr/>
          <p:nvPr/>
        </p:nvSpPr>
        <p:spPr>
          <a:xfrm>
            <a:off x="1135117" y="4561159"/>
            <a:ext cx="2501462" cy="42731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26A8700-65C5-482C-B167-F848D4DFC159}"/>
              </a:ext>
            </a:extLst>
          </p:cNvPr>
          <p:cNvSpPr/>
          <p:nvPr/>
        </p:nvSpPr>
        <p:spPr>
          <a:xfrm>
            <a:off x="6458606" y="2505075"/>
            <a:ext cx="2811518" cy="50165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09B27EED-FA31-4A88-9C3A-AA86E7F37AC4}"/>
              </a:ext>
            </a:extLst>
          </p:cNvPr>
          <p:cNvSpPr/>
          <p:nvPr/>
        </p:nvSpPr>
        <p:spPr>
          <a:xfrm>
            <a:off x="6458606" y="3069786"/>
            <a:ext cx="3941380" cy="42731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6663825B-027F-45EB-B034-9C3BD0FC04C2}"/>
              </a:ext>
            </a:extLst>
          </p:cNvPr>
          <p:cNvSpPr/>
          <p:nvPr/>
        </p:nvSpPr>
        <p:spPr>
          <a:xfrm>
            <a:off x="6458606" y="3571437"/>
            <a:ext cx="2222939" cy="388991"/>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C5445DA8-803E-475F-9231-28AFD50AC1DB}"/>
              </a:ext>
            </a:extLst>
          </p:cNvPr>
          <p:cNvSpPr/>
          <p:nvPr/>
        </p:nvSpPr>
        <p:spPr>
          <a:xfrm>
            <a:off x="6458606" y="4534445"/>
            <a:ext cx="4893606" cy="454025"/>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CCFFA431-3A0F-4186-A700-54586E2FAE8B}"/>
              </a:ext>
            </a:extLst>
          </p:cNvPr>
          <p:cNvSpPr/>
          <p:nvPr/>
        </p:nvSpPr>
        <p:spPr>
          <a:xfrm>
            <a:off x="6458606" y="5601633"/>
            <a:ext cx="2443656" cy="424186"/>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91AFFADE-E087-6B4E-AE3E-7FDA652B9787}"/>
              </a:ext>
            </a:extLst>
          </p:cNvPr>
          <p:cNvSpPr>
            <a:spLocks noGrp="1"/>
          </p:cNvSpPr>
          <p:nvPr>
            <p:ph sz="quarter" idx="4"/>
          </p:nvPr>
        </p:nvSpPr>
        <p:spPr/>
        <p:txBody>
          <a:bodyPr>
            <a:normAutofit/>
          </a:bodyPr>
          <a:lstStyle/>
          <a:p>
            <a:r>
              <a:rPr lang="en-US" dirty="0"/>
              <a:t>Logistic Regression</a:t>
            </a:r>
          </a:p>
          <a:p>
            <a:r>
              <a:rPr lang="en-US" dirty="0"/>
              <a:t>k-Nearest Neighbors (</a:t>
            </a:r>
            <a:r>
              <a:rPr lang="en-US" dirty="0" err="1"/>
              <a:t>kNN</a:t>
            </a:r>
            <a:r>
              <a:rPr lang="en-US" dirty="0"/>
              <a:t>)</a:t>
            </a:r>
          </a:p>
          <a:p>
            <a:r>
              <a:rPr lang="en-US" dirty="0"/>
              <a:t>Decision Trees</a:t>
            </a:r>
          </a:p>
          <a:p>
            <a:r>
              <a:rPr lang="en-US" dirty="0"/>
              <a:t>Random Forests</a:t>
            </a:r>
          </a:p>
          <a:p>
            <a:r>
              <a:rPr lang="en-US" dirty="0"/>
              <a:t>Support Vector Machines (SVMs)</a:t>
            </a:r>
          </a:p>
          <a:p>
            <a:r>
              <a:rPr lang="en-US" dirty="0"/>
              <a:t>Naïve Bayes</a:t>
            </a:r>
          </a:p>
          <a:p>
            <a:r>
              <a:rPr lang="en-US" dirty="0"/>
              <a:t>Neural Networks</a:t>
            </a:r>
          </a:p>
        </p:txBody>
      </p:sp>
      <p:sp>
        <p:nvSpPr>
          <p:cNvPr id="3" name="Content Placeholder 2">
            <a:extLst>
              <a:ext uri="{FF2B5EF4-FFF2-40B4-BE49-F238E27FC236}">
                <a16:creationId xmlns:a16="http://schemas.microsoft.com/office/drawing/2014/main" id="{17D9FB7F-9918-45F0-A97E-2DEFDC4ABC98}"/>
              </a:ext>
            </a:extLst>
          </p:cNvPr>
          <p:cNvSpPr>
            <a:spLocks noGrp="1"/>
          </p:cNvSpPr>
          <p:nvPr>
            <p:ph sz="half" idx="2"/>
          </p:nvPr>
        </p:nvSpPr>
        <p:spPr/>
        <p:txBody>
          <a:bodyPr>
            <a:normAutofit/>
          </a:bodyPr>
          <a:lstStyle/>
          <a:p>
            <a:r>
              <a:rPr lang="en-US" dirty="0"/>
              <a:t>Linear Regression</a:t>
            </a:r>
          </a:p>
          <a:p>
            <a:r>
              <a:rPr lang="en-US" dirty="0"/>
              <a:t>k-Nearest Neighbors (</a:t>
            </a:r>
            <a:r>
              <a:rPr lang="en-US" dirty="0" err="1"/>
              <a:t>kNN</a:t>
            </a:r>
            <a:r>
              <a:rPr lang="en-US" dirty="0"/>
              <a:t>)</a:t>
            </a:r>
          </a:p>
          <a:p>
            <a:r>
              <a:rPr lang="en-US" dirty="0"/>
              <a:t>Decision Trees</a:t>
            </a:r>
          </a:p>
          <a:p>
            <a:r>
              <a:rPr lang="en-US" dirty="0"/>
              <a:t>Random Forests</a:t>
            </a:r>
          </a:p>
          <a:p>
            <a:r>
              <a:rPr lang="en-US" dirty="0"/>
              <a:t>Neural Networks</a:t>
            </a:r>
          </a:p>
        </p:txBody>
      </p:sp>
    </p:spTree>
    <p:extLst>
      <p:ext uri="{BB962C8B-B14F-4D97-AF65-F5344CB8AC3E}">
        <p14:creationId xmlns:p14="http://schemas.microsoft.com/office/powerpoint/2010/main" val="42785145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DD84-31EF-7241-B4C8-32E53869F8FA}"/>
              </a:ext>
            </a:extLst>
          </p:cNvPr>
          <p:cNvSpPr>
            <a:spLocks noGrp="1"/>
          </p:cNvSpPr>
          <p:nvPr>
            <p:ph type="title"/>
          </p:nvPr>
        </p:nvSpPr>
        <p:spPr>
          <a:xfrm>
            <a:off x="838200" y="307373"/>
            <a:ext cx="10515600" cy="1325563"/>
          </a:xfrm>
        </p:spPr>
        <p:txBody>
          <a:bodyPr>
            <a:normAutofit/>
          </a:bodyPr>
          <a:lstStyle/>
          <a:p>
            <a:r>
              <a:rPr lang="en-US" b="1" dirty="0">
                <a:latin typeface="Calibri" panose="020F0502020204030204" pitchFamily="34" charset="0"/>
                <a:ea typeface="Calibri" panose="020F0502020204030204" pitchFamily="34" charset="0"/>
                <a:cs typeface="Times New Roman" panose="02020603050405020304" pitchFamily="18" charset="0"/>
              </a:rPr>
              <a:t>Training Phase: Model Fitting</a:t>
            </a:r>
            <a:endParaRPr lang="en-US" b="1" dirty="0"/>
          </a:p>
        </p:txBody>
      </p:sp>
      <p:sp>
        <p:nvSpPr>
          <p:cNvPr id="3" name="Content Placeholder 2">
            <a:extLst>
              <a:ext uri="{FF2B5EF4-FFF2-40B4-BE49-F238E27FC236}">
                <a16:creationId xmlns:a16="http://schemas.microsoft.com/office/drawing/2014/main" id="{65C3EB12-174B-424E-9FE6-576D3D2FBBF7}"/>
              </a:ext>
            </a:extLst>
          </p:cNvPr>
          <p:cNvSpPr>
            <a:spLocks noGrp="1"/>
          </p:cNvSpPr>
          <p:nvPr>
            <p:ph idx="1"/>
          </p:nvPr>
        </p:nvSpPr>
        <p:spPr>
          <a:xfrm>
            <a:off x="838200" y="4383980"/>
            <a:ext cx="10515600" cy="2166648"/>
          </a:xfrm>
        </p:spPr>
        <p:txBody>
          <a:bodyPr>
            <a:noAutofit/>
          </a:bodyPr>
          <a:lstStyle/>
          <a:p>
            <a:pPr>
              <a:lnSpc>
                <a:spcPct val="110000"/>
              </a:lnSpc>
            </a:pPr>
            <a:r>
              <a:rPr lang="en-US" sz="2200" dirty="0"/>
              <a:t>The functional form assumed by a machine learning model can be defined by certain </a:t>
            </a:r>
            <a:r>
              <a:rPr lang="en-US" sz="2200" b="1" i="1" dirty="0"/>
              <a:t>characteristics (or parameters) </a:t>
            </a:r>
            <a:r>
              <a:rPr lang="en-US" sz="2200" dirty="0"/>
              <a:t>that we need to find using the training data: a machine learning model tries to summarize the training data using its characteristics.</a:t>
            </a:r>
          </a:p>
          <a:p>
            <a:pPr>
              <a:lnSpc>
                <a:spcPct val="110000"/>
              </a:lnSpc>
            </a:pPr>
            <a:r>
              <a:rPr lang="en-US" sz="2200" dirty="0"/>
              <a:t>Fitting a machine learning model means finding the best model’s characteristics that best models the feature-label relationship.  </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AF0264A-DE96-5C8A-82FD-18843BE7AA7D}"/>
                  </a:ext>
                </a:extLst>
              </p:cNvPr>
              <p:cNvSpPr/>
              <p:nvPr/>
            </p:nvSpPr>
            <p:spPr>
              <a:xfrm>
                <a:off x="4496399" y="2380461"/>
                <a:ext cx="1981200" cy="7452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Model</a:t>
                </a:r>
              </a:p>
              <a:p>
                <a:pPr algn="ctr"/>
                <a14:m>
                  <m:oMath xmlns:m="http://schemas.openxmlformats.org/officeDocument/2006/math">
                    <m:r>
                      <a:rPr lang="en-US" b="0" i="1" smtClean="0">
                        <a:latin typeface="Cambria Math" panose="02040503050406030204" pitchFamily="18" charset="0"/>
                      </a:rPr>
                      <m:t>𝑓</m:t>
                    </m:r>
                    <m:r>
                      <a:rPr lang="en-US" b="0" i="1" smtClean="0">
                        <a:latin typeface="Cambria Math" panose="02040503050406030204" pitchFamily="18" charset="0"/>
                      </a:rPr>
                      <m:t>(.)</m:t>
                    </m:r>
                  </m:oMath>
                </a14:m>
                <a:r>
                  <a:rPr lang="en-US" b="1" dirty="0"/>
                  <a:t> </a:t>
                </a:r>
              </a:p>
            </p:txBody>
          </p:sp>
        </mc:Choice>
        <mc:Fallback xmlns="">
          <p:sp>
            <p:nvSpPr>
              <p:cNvPr id="11" name="Rectangle 10">
                <a:extLst>
                  <a:ext uri="{FF2B5EF4-FFF2-40B4-BE49-F238E27FC236}">
                    <a16:creationId xmlns:a16="http://schemas.microsoft.com/office/drawing/2014/main" id="{CAF0264A-DE96-5C8A-82FD-18843BE7AA7D}"/>
                  </a:ext>
                </a:extLst>
              </p:cNvPr>
              <p:cNvSpPr>
                <a:spLocks noRot="1" noChangeAspect="1" noMove="1" noResize="1" noEditPoints="1" noAdjustHandles="1" noChangeArrowheads="1" noChangeShapeType="1" noTextEdit="1"/>
              </p:cNvSpPr>
              <p:nvPr/>
            </p:nvSpPr>
            <p:spPr>
              <a:xfrm>
                <a:off x="4496399" y="2380461"/>
                <a:ext cx="1981200" cy="745271"/>
              </a:xfrm>
              <a:prstGeom prst="rect">
                <a:avLst/>
              </a:prstGeom>
              <a:blipFill>
                <a:blip r:embed="rId2"/>
                <a:stretch>
                  <a:fillRect/>
                </a:stretch>
              </a:blipFill>
            </p:spPr>
            <p:txBody>
              <a:bodyPr/>
              <a:lstStyle/>
              <a:p>
                <a:r>
                  <a:rPr lang="en-US">
                    <a:noFill/>
                  </a:rPr>
                  <a:t> </a:t>
                </a:r>
              </a:p>
            </p:txBody>
          </p:sp>
        </mc:Fallback>
      </mc:AlternateContent>
      <p:cxnSp>
        <p:nvCxnSpPr>
          <p:cNvPr id="12" name="Straight Arrow Connector 11">
            <a:extLst>
              <a:ext uri="{FF2B5EF4-FFF2-40B4-BE49-F238E27FC236}">
                <a16:creationId xmlns:a16="http://schemas.microsoft.com/office/drawing/2014/main" id="{6C8E0BEC-C39D-1B02-DBEA-1584144E6E2F}"/>
              </a:ext>
            </a:extLst>
          </p:cNvPr>
          <p:cNvCxnSpPr>
            <a:cxnSpLocks/>
          </p:cNvCxnSpPr>
          <p:nvPr/>
        </p:nvCxnSpPr>
        <p:spPr>
          <a:xfrm rot="16200000">
            <a:off x="4058785" y="2350282"/>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270CFB06-0E7F-409F-45E8-2A34D68959F3}"/>
              </a:ext>
            </a:extLst>
          </p:cNvPr>
          <p:cNvCxnSpPr>
            <a:cxnSpLocks/>
          </p:cNvCxnSpPr>
          <p:nvPr/>
        </p:nvCxnSpPr>
        <p:spPr>
          <a:xfrm rot="16200000">
            <a:off x="6915214" y="2350281"/>
            <a:ext cx="0" cy="8752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4" name="TextBox 13">
            <a:extLst>
              <a:ext uri="{FF2B5EF4-FFF2-40B4-BE49-F238E27FC236}">
                <a16:creationId xmlns:a16="http://schemas.microsoft.com/office/drawing/2014/main" id="{876EFB41-FCC6-0A56-CE7E-3A0325A5DAA9}"/>
              </a:ext>
            </a:extLst>
          </p:cNvPr>
          <p:cNvSpPr txBox="1"/>
          <p:nvPr/>
        </p:nvSpPr>
        <p:spPr>
          <a:xfrm>
            <a:off x="1732006" y="2479401"/>
            <a:ext cx="1889163" cy="646331"/>
          </a:xfrm>
          <a:prstGeom prst="rect">
            <a:avLst/>
          </a:prstGeom>
          <a:noFill/>
        </p:spPr>
        <p:txBody>
          <a:bodyPr wrap="square" rtlCol="0">
            <a:spAutoFit/>
          </a:bodyPr>
          <a:lstStyle/>
          <a:p>
            <a:pPr algn="ctr"/>
            <a:r>
              <a:rPr lang="en-US" dirty="0"/>
              <a:t>Data features (Input)</a:t>
            </a:r>
          </a:p>
        </p:txBody>
      </p:sp>
      <p:sp>
        <p:nvSpPr>
          <p:cNvPr id="15" name="TextBox 14">
            <a:extLst>
              <a:ext uri="{FF2B5EF4-FFF2-40B4-BE49-F238E27FC236}">
                <a16:creationId xmlns:a16="http://schemas.microsoft.com/office/drawing/2014/main" id="{4CFD805C-9633-DEB7-EE5A-61B6320113B8}"/>
              </a:ext>
            </a:extLst>
          </p:cNvPr>
          <p:cNvSpPr txBox="1"/>
          <p:nvPr/>
        </p:nvSpPr>
        <p:spPr>
          <a:xfrm>
            <a:off x="7664992" y="2464729"/>
            <a:ext cx="1981199" cy="646331"/>
          </a:xfrm>
          <a:prstGeom prst="rect">
            <a:avLst/>
          </a:prstGeom>
          <a:noFill/>
        </p:spPr>
        <p:txBody>
          <a:bodyPr wrap="square" rtlCol="0">
            <a:spAutoFit/>
          </a:bodyPr>
          <a:lstStyle/>
          <a:p>
            <a:pPr algn="ctr"/>
            <a:r>
              <a:rPr lang="en-US" dirty="0"/>
              <a:t>Label</a:t>
            </a:r>
          </a:p>
          <a:p>
            <a:pPr algn="ctr"/>
            <a:r>
              <a:rPr lang="en-US" dirty="0"/>
              <a:t> (Output)</a:t>
            </a:r>
          </a:p>
        </p:txBody>
      </p:sp>
      <p:sp>
        <p:nvSpPr>
          <p:cNvPr id="16" name="Rectangle: Rounded Corners 15">
            <a:extLst>
              <a:ext uri="{FF2B5EF4-FFF2-40B4-BE49-F238E27FC236}">
                <a16:creationId xmlns:a16="http://schemas.microsoft.com/office/drawing/2014/main" id="{5BEF303F-BC75-1054-9B8F-666DCE65650C}"/>
              </a:ext>
            </a:extLst>
          </p:cNvPr>
          <p:cNvSpPr/>
          <p:nvPr/>
        </p:nvSpPr>
        <p:spPr>
          <a:xfrm>
            <a:off x="1857638" y="2175340"/>
            <a:ext cx="7788553" cy="115551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189274CC-CEE6-678E-5A15-1388F44703DE}"/>
                  </a:ext>
                </a:extLst>
              </p:cNvPr>
              <p:cNvSpPr txBox="1"/>
              <p:nvPr/>
            </p:nvSpPr>
            <p:spPr>
              <a:xfrm>
                <a:off x="3886277" y="3330852"/>
                <a:ext cx="3201444" cy="646331"/>
              </a:xfrm>
              <a:prstGeom prst="rect">
                <a:avLst/>
              </a:prstGeom>
              <a:noFill/>
            </p:spPr>
            <p:txBody>
              <a:bodyPr wrap="square">
                <a:spAutoFit/>
              </a:bodyPr>
              <a:lstStyle/>
              <a:p>
                <a:pPr algn="ctr"/>
                <a14:m>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m:t>
                        </m:r>
                      </m:e>
                    </m:d>
                  </m:oMath>
                </a14:m>
                <a:r>
                  <a:rPr lang="en-US" b="1" dirty="0"/>
                  <a:t> has certain parameters or building blocks </a:t>
                </a:r>
              </a:p>
            </p:txBody>
          </p:sp>
        </mc:Choice>
        <mc:Fallback xmlns="">
          <p:sp>
            <p:nvSpPr>
              <p:cNvPr id="23" name="TextBox 22">
                <a:extLst>
                  <a:ext uri="{FF2B5EF4-FFF2-40B4-BE49-F238E27FC236}">
                    <a16:creationId xmlns:a16="http://schemas.microsoft.com/office/drawing/2014/main" id="{189274CC-CEE6-678E-5A15-1388F44703DE}"/>
                  </a:ext>
                </a:extLst>
              </p:cNvPr>
              <p:cNvSpPr txBox="1">
                <a:spLocks noRot="1" noChangeAspect="1" noMove="1" noResize="1" noEditPoints="1" noAdjustHandles="1" noChangeArrowheads="1" noChangeShapeType="1" noTextEdit="1"/>
              </p:cNvSpPr>
              <p:nvPr/>
            </p:nvSpPr>
            <p:spPr>
              <a:xfrm>
                <a:off x="3886277" y="3330852"/>
                <a:ext cx="3201444" cy="646331"/>
              </a:xfrm>
              <a:prstGeom prst="rect">
                <a:avLst/>
              </a:prstGeom>
              <a:blipFill>
                <a:blip r:embed="rId3"/>
                <a:stretch>
                  <a:fillRect t="-4717" r="-952" b="-14151"/>
                </a:stretch>
              </a:blipFill>
            </p:spPr>
            <p:txBody>
              <a:bodyPr/>
              <a:lstStyle/>
              <a:p>
                <a:r>
                  <a:rPr lang="en-US">
                    <a:noFill/>
                  </a:rPr>
                  <a:t> </a:t>
                </a:r>
              </a:p>
            </p:txBody>
          </p:sp>
        </mc:Fallback>
      </mc:AlternateContent>
    </p:spTree>
    <p:extLst>
      <p:ext uri="{BB962C8B-B14F-4D97-AF65-F5344CB8AC3E}">
        <p14:creationId xmlns:p14="http://schemas.microsoft.com/office/powerpoint/2010/main" val="23815205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484C7-F5D8-9D7E-3832-CDFE9525A1FD}"/>
              </a:ext>
            </a:extLst>
          </p:cNvPr>
          <p:cNvSpPr>
            <a:spLocks noGrp="1"/>
          </p:cNvSpPr>
          <p:nvPr>
            <p:ph type="title"/>
          </p:nvPr>
        </p:nvSpPr>
        <p:spPr/>
        <p:txBody>
          <a:bodyPr/>
          <a:lstStyle/>
          <a:p>
            <a:r>
              <a:rPr lang="en-US" b="1" dirty="0"/>
              <a:t>Training Phase : Model Selection</a:t>
            </a:r>
          </a:p>
        </p:txBody>
      </p:sp>
      <p:sp>
        <p:nvSpPr>
          <p:cNvPr id="3" name="Content Placeholder 2">
            <a:extLst>
              <a:ext uri="{FF2B5EF4-FFF2-40B4-BE49-F238E27FC236}">
                <a16:creationId xmlns:a16="http://schemas.microsoft.com/office/drawing/2014/main" id="{CEAD1B65-BF0F-0878-9C91-B3D06FA64CDC}"/>
              </a:ext>
            </a:extLst>
          </p:cNvPr>
          <p:cNvSpPr>
            <a:spLocks noGrp="1"/>
          </p:cNvSpPr>
          <p:nvPr>
            <p:ph idx="1"/>
          </p:nvPr>
        </p:nvSpPr>
        <p:spPr/>
        <p:txBody>
          <a:bodyPr/>
          <a:lstStyle/>
          <a:p>
            <a:pPr>
              <a:lnSpc>
                <a:spcPct val="100000"/>
              </a:lnSpc>
            </a:pPr>
            <a:r>
              <a:rPr lang="en-US" dirty="0"/>
              <a:t>Each machine learning models has its own weaknesses and advantages. We might not be sure which model could be successful.</a:t>
            </a:r>
          </a:p>
          <a:p>
            <a:pPr>
              <a:lnSpc>
                <a:spcPct val="100000"/>
              </a:lnSpc>
            </a:pPr>
            <a:endParaRPr lang="en-US" dirty="0"/>
          </a:p>
          <a:p>
            <a:pPr>
              <a:lnSpc>
                <a:spcPct val="100000"/>
              </a:lnSpc>
            </a:pPr>
            <a:r>
              <a:rPr lang="en-US" dirty="0"/>
              <a:t>In this case, we might need to train more than one model: this is known as model selection that could be performed using cross-validation techniques.</a:t>
            </a:r>
          </a:p>
          <a:p>
            <a:pPr>
              <a:lnSpc>
                <a:spcPct val="100000"/>
              </a:lnSpc>
            </a:pPr>
            <a:endParaRPr lang="en-US" dirty="0"/>
          </a:p>
          <a:p>
            <a:pPr marL="0" indent="0">
              <a:lnSpc>
                <a:spcPct val="100000"/>
              </a:lnSpc>
              <a:buNone/>
            </a:pPr>
            <a:endParaRPr lang="en-US" dirty="0"/>
          </a:p>
        </p:txBody>
      </p:sp>
    </p:spTree>
    <p:extLst>
      <p:ext uri="{BB962C8B-B14F-4D97-AF65-F5344CB8AC3E}">
        <p14:creationId xmlns:p14="http://schemas.microsoft.com/office/powerpoint/2010/main" val="1132045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7DD84-31EF-7241-B4C8-32E53869F8FA}"/>
              </a:ext>
            </a:extLst>
          </p:cNvPr>
          <p:cNvSpPr>
            <a:spLocks noGrp="1"/>
          </p:cNvSpPr>
          <p:nvPr>
            <p:ph type="title"/>
          </p:nvPr>
        </p:nvSpPr>
        <p:spPr>
          <a:xfrm>
            <a:off x="838200" y="307373"/>
            <a:ext cx="10515600" cy="1325563"/>
          </a:xfrm>
        </p:spPr>
        <p:txBody>
          <a:bodyPr>
            <a:normAutofit/>
          </a:bodyPr>
          <a:lstStyle/>
          <a:p>
            <a:r>
              <a:rPr lang="en-US" dirty="0">
                <a:latin typeface="Calibri" panose="020F0502020204030204" pitchFamily="34" charset="0"/>
                <a:cs typeface="Times New Roman" panose="02020603050405020304" pitchFamily="18" charset="0"/>
              </a:rPr>
              <a:t>Training Phase </a:t>
            </a:r>
            <a:endParaRPr lang="en-US" dirty="0"/>
          </a:p>
        </p:txBody>
      </p:sp>
      <p:sp>
        <p:nvSpPr>
          <p:cNvPr id="3" name="Content Placeholder 2">
            <a:extLst>
              <a:ext uri="{FF2B5EF4-FFF2-40B4-BE49-F238E27FC236}">
                <a16:creationId xmlns:a16="http://schemas.microsoft.com/office/drawing/2014/main" id="{65C3EB12-174B-424E-9FE6-576D3D2FBBF7}"/>
              </a:ext>
            </a:extLst>
          </p:cNvPr>
          <p:cNvSpPr>
            <a:spLocks noGrp="1"/>
          </p:cNvSpPr>
          <p:nvPr>
            <p:ph idx="1"/>
          </p:nvPr>
        </p:nvSpPr>
        <p:spPr/>
        <p:txBody>
          <a:bodyPr>
            <a:normAutofit/>
          </a:bodyPr>
          <a:lstStyle/>
          <a:p>
            <a:endParaRPr lang="en-US" dirty="0"/>
          </a:p>
          <a:p>
            <a:endParaRPr lang="en-US" dirty="0"/>
          </a:p>
          <a:p>
            <a:pPr marL="0" indent="0">
              <a:buNone/>
            </a:pPr>
            <a:endParaRPr lang="en-US" dirty="0"/>
          </a:p>
          <a:p>
            <a:endParaRPr lang="en-US" dirty="0"/>
          </a:p>
          <a:p>
            <a:pPr marL="0" indent="0">
              <a:buNone/>
            </a:pPr>
            <a:endParaRPr lang="en-US" dirty="0"/>
          </a:p>
          <a:p>
            <a:pPr marL="0" indent="0">
              <a:buNone/>
            </a:pPr>
            <a:endParaRPr lang="en-US" dirty="0"/>
          </a:p>
          <a:p>
            <a:pPr marL="0" indent="0">
              <a:buNone/>
            </a:pPr>
            <a:endParaRPr lang="en-US" dirty="0"/>
          </a:p>
        </p:txBody>
      </p:sp>
      <p:pic>
        <p:nvPicPr>
          <p:cNvPr id="4" name="Content Placeholder 4">
            <a:extLst>
              <a:ext uri="{FF2B5EF4-FFF2-40B4-BE49-F238E27FC236}">
                <a16:creationId xmlns:a16="http://schemas.microsoft.com/office/drawing/2014/main" id="{7F84848A-F339-4F9C-A5E5-58891C016909}"/>
              </a:ext>
            </a:extLst>
          </p:cNvPr>
          <p:cNvPicPr>
            <a:picLocks noChangeAspect="1"/>
          </p:cNvPicPr>
          <p:nvPr/>
        </p:nvPicPr>
        <p:blipFill rotWithShape="1">
          <a:blip r:embed="rId2">
            <a:extLst>
              <a:ext uri="{28A0092B-C50C-407E-A947-70E740481C1C}">
                <a14:useLocalDpi xmlns:a14="http://schemas.microsoft.com/office/drawing/2010/main" val="0"/>
              </a:ext>
            </a:extLst>
          </a:blip>
          <a:srcRect b="51301"/>
          <a:stretch/>
        </p:blipFill>
        <p:spPr>
          <a:xfrm>
            <a:off x="1371302" y="2666937"/>
            <a:ext cx="6082439" cy="2119054"/>
          </a:xfrm>
          <a:prstGeom prst="rect">
            <a:avLst/>
          </a:prstGeom>
        </p:spPr>
      </p:pic>
      <p:sp>
        <p:nvSpPr>
          <p:cNvPr id="5" name="TextBox 4">
            <a:extLst>
              <a:ext uri="{FF2B5EF4-FFF2-40B4-BE49-F238E27FC236}">
                <a16:creationId xmlns:a16="http://schemas.microsoft.com/office/drawing/2014/main" id="{AEF65AAD-A52D-468F-9F86-9DBB30BE67EB}"/>
              </a:ext>
            </a:extLst>
          </p:cNvPr>
          <p:cNvSpPr txBox="1"/>
          <p:nvPr/>
        </p:nvSpPr>
        <p:spPr>
          <a:xfrm>
            <a:off x="7677150" y="2783489"/>
            <a:ext cx="2543175" cy="1631216"/>
          </a:xfrm>
          <a:prstGeom prst="rect">
            <a:avLst/>
          </a:prstGeom>
          <a:noFill/>
        </p:spPr>
        <p:txBody>
          <a:bodyPr wrap="square" rtlCol="0">
            <a:spAutoFit/>
          </a:bodyPr>
          <a:lstStyle/>
          <a:p>
            <a:r>
              <a:rPr lang="en-US" sz="2000" dirty="0"/>
              <a:t>Okay, we found a model that maps data to answers. Can we use it immediately on new data?</a:t>
            </a:r>
          </a:p>
        </p:txBody>
      </p:sp>
    </p:spTree>
    <p:extLst>
      <p:ext uri="{BB962C8B-B14F-4D97-AF65-F5344CB8AC3E}">
        <p14:creationId xmlns:p14="http://schemas.microsoft.com/office/powerpoint/2010/main" val="2671669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225E2-7B99-E540-82E4-8F7FC86781E3}"/>
              </a:ext>
            </a:extLst>
          </p:cNvPr>
          <p:cNvSpPr>
            <a:spLocks noGrp="1"/>
          </p:cNvSpPr>
          <p:nvPr>
            <p:ph type="title"/>
          </p:nvPr>
        </p:nvSpPr>
        <p:spPr/>
        <p:txBody>
          <a:bodyPr/>
          <a:lstStyle/>
          <a:p>
            <a:r>
              <a:rPr lang="en-US" b="1" dirty="0"/>
              <a:t>Model Evaluation</a:t>
            </a:r>
          </a:p>
        </p:txBody>
      </p:sp>
      <p:sp>
        <p:nvSpPr>
          <p:cNvPr id="3" name="Content Placeholder 2">
            <a:extLst>
              <a:ext uri="{FF2B5EF4-FFF2-40B4-BE49-F238E27FC236}">
                <a16:creationId xmlns:a16="http://schemas.microsoft.com/office/drawing/2014/main" id="{745E543D-2BBE-1C44-8087-DBEB33268FF9}"/>
              </a:ext>
            </a:extLst>
          </p:cNvPr>
          <p:cNvSpPr>
            <a:spLocks noGrp="1"/>
          </p:cNvSpPr>
          <p:nvPr>
            <p:ph idx="1"/>
          </p:nvPr>
        </p:nvSpPr>
        <p:spPr/>
        <p:txBody>
          <a:bodyPr>
            <a:normAutofit/>
          </a:bodyPr>
          <a:lstStyle/>
          <a:p>
            <a:pPr marL="0" indent="0">
              <a:buNone/>
            </a:pPr>
            <a:r>
              <a:rPr lang="en-US" dirty="0"/>
              <a:t>Before we launch the model into production, we need to evaluate the model:</a:t>
            </a:r>
          </a:p>
          <a:p>
            <a:pPr marL="0" indent="0">
              <a:buNone/>
            </a:pPr>
            <a:endParaRPr lang="en-US" dirty="0"/>
          </a:p>
          <a:p>
            <a:r>
              <a:rPr lang="en-US" dirty="0"/>
              <a:t>By evaluation, we need to understand how the model could perform on unseen data. Does the model only perform well on the available data? Does it generalize well to new data?</a:t>
            </a:r>
          </a:p>
          <a:p>
            <a:pPr marL="0" indent="0">
              <a:buNone/>
            </a:pPr>
            <a:endParaRPr lang="en-US" dirty="0"/>
          </a:p>
        </p:txBody>
      </p:sp>
    </p:spTree>
    <p:extLst>
      <p:ext uri="{BB962C8B-B14F-4D97-AF65-F5344CB8AC3E}">
        <p14:creationId xmlns:p14="http://schemas.microsoft.com/office/powerpoint/2010/main" val="8226649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963E3-8862-BA42-82C0-8C7DD9590400}"/>
              </a:ext>
            </a:extLst>
          </p:cNvPr>
          <p:cNvSpPr>
            <a:spLocks noGrp="1"/>
          </p:cNvSpPr>
          <p:nvPr>
            <p:ph type="title"/>
          </p:nvPr>
        </p:nvSpPr>
        <p:spPr/>
        <p:txBody>
          <a:bodyPr/>
          <a:lstStyle/>
          <a:p>
            <a:r>
              <a:rPr lang="en-US" b="1" dirty="0"/>
              <a:t>Evaluation Metrics</a:t>
            </a:r>
          </a:p>
        </p:txBody>
      </p:sp>
      <p:sp>
        <p:nvSpPr>
          <p:cNvPr id="5" name="Text Placeholder 4">
            <a:extLst>
              <a:ext uri="{FF2B5EF4-FFF2-40B4-BE49-F238E27FC236}">
                <a16:creationId xmlns:a16="http://schemas.microsoft.com/office/drawing/2014/main" id="{03D3601D-36FA-1046-9334-F0F54101876E}"/>
              </a:ext>
            </a:extLst>
          </p:cNvPr>
          <p:cNvSpPr>
            <a:spLocks noGrp="1"/>
          </p:cNvSpPr>
          <p:nvPr>
            <p:ph type="body" idx="1"/>
          </p:nvPr>
        </p:nvSpPr>
        <p:spPr/>
        <p:txBody>
          <a:bodyPr/>
          <a:lstStyle/>
          <a:p>
            <a:r>
              <a:rPr lang="en-US" dirty="0"/>
              <a:t>Regression</a:t>
            </a:r>
          </a:p>
        </p:txBody>
      </p:sp>
      <p:sp>
        <p:nvSpPr>
          <p:cNvPr id="6" name="Content Placeholder 5">
            <a:extLst>
              <a:ext uri="{FF2B5EF4-FFF2-40B4-BE49-F238E27FC236}">
                <a16:creationId xmlns:a16="http://schemas.microsoft.com/office/drawing/2014/main" id="{B4C31020-D290-5644-BA60-AB291683BF12}"/>
              </a:ext>
            </a:extLst>
          </p:cNvPr>
          <p:cNvSpPr>
            <a:spLocks noGrp="1"/>
          </p:cNvSpPr>
          <p:nvPr>
            <p:ph sz="half" idx="2"/>
          </p:nvPr>
        </p:nvSpPr>
        <p:spPr/>
        <p:txBody>
          <a:bodyPr/>
          <a:lstStyle/>
          <a:p>
            <a:r>
              <a:rPr lang="en-US" dirty="0"/>
              <a:t>Root Mean-Squared Error</a:t>
            </a:r>
          </a:p>
          <a:p>
            <a:r>
              <a:rPr lang="en-US" dirty="0"/>
              <a:t>Mean Absolute Error</a:t>
            </a:r>
          </a:p>
          <a:p>
            <a:r>
              <a:rPr lang="en-US" dirty="0"/>
              <a:t>R-squared</a:t>
            </a:r>
          </a:p>
        </p:txBody>
      </p:sp>
      <p:sp>
        <p:nvSpPr>
          <p:cNvPr id="7" name="Text Placeholder 6">
            <a:extLst>
              <a:ext uri="{FF2B5EF4-FFF2-40B4-BE49-F238E27FC236}">
                <a16:creationId xmlns:a16="http://schemas.microsoft.com/office/drawing/2014/main" id="{5C544B2A-190B-9044-92FE-6D2C755D9C88}"/>
              </a:ext>
            </a:extLst>
          </p:cNvPr>
          <p:cNvSpPr>
            <a:spLocks noGrp="1"/>
          </p:cNvSpPr>
          <p:nvPr>
            <p:ph type="body" sz="quarter" idx="3"/>
          </p:nvPr>
        </p:nvSpPr>
        <p:spPr/>
        <p:txBody>
          <a:bodyPr/>
          <a:lstStyle/>
          <a:p>
            <a:r>
              <a:rPr lang="en-US" dirty="0"/>
              <a:t>Classification</a:t>
            </a:r>
          </a:p>
        </p:txBody>
      </p:sp>
      <p:sp>
        <p:nvSpPr>
          <p:cNvPr id="8" name="Content Placeholder 7">
            <a:extLst>
              <a:ext uri="{FF2B5EF4-FFF2-40B4-BE49-F238E27FC236}">
                <a16:creationId xmlns:a16="http://schemas.microsoft.com/office/drawing/2014/main" id="{8915D11E-BC25-CA48-A7B7-0F78D6EEF993}"/>
              </a:ext>
            </a:extLst>
          </p:cNvPr>
          <p:cNvSpPr>
            <a:spLocks noGrp="1"/>
          </p:cNvSpPr>
          <p:nvPr>
            <p:ph sz="quarter" idx="4"/>
          </p:nvPr>
        </p:nvSpPr>
        <p:spPr/>
        <p:txBody>
          <a:bodyPr/>
          <a:lstStyle/>
          <a:p>
            <a:r>
              <a:rPr lang="en-US" dirty="0"/>
              <a:t>Accuracy</a:t>
            </a:r>
          </a:p>
          <a:p>
            <a:r>
              <a:rPr lang="en-US" dirty="0"/>
              <a:t>Precision</a:t>
            </a:r>
          </a:p>
          <a:p>
            <a:r>
              <a:rPr lang="en-US" dirty="0"/>
              <a:t>Recall</a:t>
            </a:r>
          </a:p>
          <a:p>
            <a:r>
              <a:rPr lang="en-US" dirty="0"/>
              <a:t>F1-score</a:t>
            </a:r>
          </a:p>
          <a:p>
            <a:r>
              <a:rPr lang="en-US" dirty="0"/>
              <a:t>ROC curves</a:t>
            </a:r>
          </a:p>
          <a:p>
            <a:r>
              <a:rPr lang="en-US" dirty="0"/>
              <a:t>Precision recall curves</a:t>
            </a:r>
          </a:p>
          <a:p>
            <a:r>
              <a:rPr lang="en-US" dirty="0"/>
              <a:t>Confusion matrices</a:t>
            </a:r>
          </a:p>
        </p:txBody>
      </p:sp>
    </p:spTree>
    <p:extLst>
      <p:ext uri="{BB962C8B-B14F-4D97-AF65-F5344CB8AC3E}">
        <p14:creationId xmlns:p14="http://schemas.microsoft.com/office/powerpoint/2010/main" val="41853536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22948-0A9F-4D24-AD05-5055A9C8D42A}"/>
              </a:ext>
            </a:extLst>
          </p:cNvPr>
          <p:cNvSpPr>
            <a:spLocks noGrp="1"/>
          </p:cNvSpPr>
          <p:nvPr>
            <p:ph type="title"/>
          </p:nvPr>
        </p:nvSpPr>
        <p:spPr/>
        <p:txBody>
          <a:bodyPr/>
          <a:lstStyle/>
          <a:p>
            <a:r>
              <a:rPr lang="en-US" b="1" dirty="0">
                <a:ea typeface="Calibri" panose="020F0502020204030204" pitchFamily="34" charset="0"/>
                <a:cs typeface="Times New Roman" panose="02020603050405020304" pitchFamily="18" charset="0"/>
              </a:rPr>
              <a:t>Prediction</a:t>
            </a:r>
            <a:endParaRPr lang="en-US" b="1" dirty="0"/>
          </a:p>
        </p:txBody>
      </p:sp>
      <p:grpSp>
        <p:nvGrpSpPr>
          <p:cNvPr id="5" name="Group 4">
            <a:extLst>
              <a:ext uri="{FF2B5EF4-FFF2-40B4-BE49-F238E27FC236}">
                <a16:creationId xmlns:a16="http://schemas.microsoft.com/office/drawing/2014/main" id="{00FCB560-BBF8-D398-7304-0283498C6209}"/>
              </a:ext>
            </a:extLst>
          </p:cNvPr>
          <p:cNvGrpSpPr/>
          <p:nvPr/>
        </p:nvGrpSpPr>
        <p:grpSpPr>
          <a:xfrm>
            <a:off x="1504950" y="2223463"/>
            <a:ext cx="7467600" cy="2920037"/>
            <a:chOff x="2254680" y="2223463"/>
            <a:chExt cx="6082439" cy="2206491"/>
          </a:xfrm>
        </p:grpSpPr>
        <p:pic>
          <p:nvPicPr>
            <p:cNvPr id="9" name="Content Placeholder 4">
              <a:extLst>
                <a:ext uri="{FF2B5EF4-FFF2-40B4-BE49-F238E27FC236}">
                  <a16:creationId xmlns:a16="http://schemas.microsoft.com/office/drawing/2014/main" id="{A9A30786-D83C-484C-6405-908325DCDC3F}"/>
                </a:ext>
              </a:extLst>
            </p:cNvPr>
            <p:cNvPicPr>
              <a:picLocks noChangeAspect="1"/>
            </p:cNvPicPr>
            <p:nvPr/>
          </p:nvPicPr>
          <p:blipFill rotWithShape="1">
            <a:blip r:embed="rId2">
              <a:extLst>
                <a:ext uri="{28A0092B-C50C-407E-A947-70E740481C1C}">
                  <a14:useLocalDpi xmlns:a14="http://schemas.microsoft.com/office/drawing/2010/main" val="0"/>
                </a:ext>
              </a:extLst>
            </a:blip>
            <a:srcRect t="51744" b="-2452"/>
            <a:stretch/>
          </p:blipFill>
          <p:spPr>
            <a:xfrm>
              <a:off x="2254680" y="2223463"/>
              <a:ext cx="6082439" cy="2206491"/>
            </a:xfrm>
            <a:prstGeom prst="rect">
              <a:avLst/>
            </a:prstGeom>
          </p:spPr>
        </p:pic>
        <p:sp>
          <p:nvSpPr>
            <p:cNvPr id="10" name="TextBox 9">
              <a:extLst>
                <a:ext uri="{FF2B5EF4-FFF2-40B4-BE49-F238E27FC236}">
                  <a16:creationId xmlns:a16="http://schemas.microsoft.com/office/drawing/2014/main" id="{D54263B3-C0EE-95F5-2F32-F38F4DD5D1AE}"/>
                </a:ext>
              </a:extLst>
            </p:cNvPr>
            <p:cNvSpPr txBox="1"/>
            <p:nvPr/>
          </p:nvSpPr>
          <p:spPr>
            <a:xfrm>
              <a:off x="2878047" y="3677823"/>
              <a:ext cx="1202077" cy="646331"/>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Unlabeled data</a:t>
              </a:r>
            </a:p>
          </p:txBody>
        </p:sp>
        <p:sp>
          <p:nvSpPr>
            <p:cNvPr id="11" name="TextBox 10">
              <a:extLst>
                <a:ext uri="{FF2B5EF4-FFF2-40B4-BE49-F238E27FC236}">
                  <a16:creationId xmlns:a16="http://schemas.microsoft.com/office/drawing/2014/main" id="{3EA8DC8E-4D06-656E-CFED-2D02A54EDFCE}"/>
                </a:ext>
              </a:extLst>
            </p:cNvPr>
            <p:cNvSpPr txBox="1"/>
            <p:nvPr/>
          </p:nvSpPr>
          <p:spPr>
            <a:xfrm>
              <a:off x="7135042" y="3031492"/>
              <a:ext cx="1202077" cy="923330"/>
            </a:xfrm>
            <a:prstGeom prst="rect">
              <a:avLst/>
            </a:prstGeom>
            <a:ln w="19050"/>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b="1" dirty="0"/>
                <a:t>Predicted labels (answers)</a:t>
              </a:r>
            </a:p>
          </p:txBody>
        </p:sp>
      </p:grpSp>
    </p:spTree>
    <p:extLst>
      <p:ext uri="{BB962C8B-B14F-4D97-AF65-F5344CB8AC3E}">
        <p14:creationId xmlns:p14="http://schemas.microsoft.com/office/powerpoint/2010/main" val="540619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CFEFA-FF4C-824C-920C-0D4A4744B5FD}"/>
              </a:ext>
            </a:extLst>
          </p:cNvPr>
          <p:cNvSpPr>
            <a:spLocks noGrp="1"/>
          </p:cNvSpPr>
          <p:nvPr>
            <p:ph type="title"/>
          </p:nvPr>
        </p:nvSpPr>
        <p:spPr/>
        <p:txBody>
          <a:bodyPr/>
          <a:lstStyle/>
          <a:p>
            <a:r>
              <a:rPr lang="en-US" b="1" dirty="0"/>
              <a:t>Model Errors </a:t>
            </a:r>
          </a:p>
        </p:txBody>
      </p:sp>
      <p:sp>
        <p:nvSpPr>
          <p:cNvPr id="3" name="Content Placeholder 2">
            <a:extLst>
              <a:ext uri="{FF2B5EF4-FFF2-40B4-BE49-F238E27FC236}">
                <a16:creationId xmlns:a16="http://schemas.microsoft.com/office/drawing/2014/main" id="{13F320D3-DF88-FE43-B2C8-264F93FC2912}"/>
              </a:ext>
            </a:extLst>
          </p:cNvPr>
          <p:cNvSpPr>
            <a:spLocks noGrp="1"/>
          </p:cNvSpPr>
          <p:nvPr>
            <p:ph idx="1"/>
          </p:nvPr>
        </p:nvSpPr>
        <p:spPr/>
        <p:txBody>
          <a:bodyPr>
            <a:normAutofit fontScale="92500" lnSpcReduction="10000"/>
          </a:bodyPr>
          <a:lstStyle/>
          <a:p>
            <a:pPr marL="0" indent="0">
              <a:buNone/>
            </a:pPr>
            <a:r>
              <a:rPr lang="en-US" dirty="0"/>
              <a:t>Models generally can go bad in many ways:</a:t>
            </a:r>
          </a:p>
          <a:p>
            <a:pPr marL="0" indent="0">
              <a:buNone/>
            </a:pPr>
            <a:endParaRPr lang="en-US" dirty="0"/>
          </a:p>
          <a:p>
            <a:r>
              <a:rPr lang="en-US" dirty="0"/>
              <a:t>Option 1: models are not predictive at all (even on the training set!)</a:t>
            </a:r>
          </a:p>
          <a:p>
            <a:pPr marL="685800">
              <a:buFont typeface="Courier New" panose="02070309020205020404" pitchFamily="49" charset="0"/>
              <a:buChar char="o"/>
            </a:pPr>
            <a:r>
              <a:rPr lang="en-US" sz="2400" dirty="0"/>
              <a:t>Data is not informative or rich enough (garbage in, garbage out).</a:t>
            </a:r>
          </a:p>
          <a:p>
            <a:pPr marL="685800">
              <a:buFont typeface="Courier New" panose="02070309020205020404" pitchFamily="49" charset="0"/>
              <a:buChar char="o"/>
            </a:pPr>
            <a:r>
              <a:rPr lang="en-US" sz="2400" dirty="0"/>
              <a:t>Model is too simple. </a:t>
            </a:r>
          </a:p>
          <a:p>
            <a:pPr marL="685800">
              <a:buFont typeface="Courier New" panose="02070309020205020404" pitchFamily="49" charset="0"/>
              <a:buChar char="o"/>
            </a:pPr>
            <a:endParaRPr lang="en-US" sz="2400" dirty="0"/>
          </a:p>
          <a:p>
            <a:r>
              <a:rPr lang="en-US" dirty="0"/>
              <a:t>Option 2: models "overfit" the training set</a:t>
            </a:r>
          </a:p>
          <a:p>
            <a:pPr lvl="1">
              <a:buFont typeface="Courier New" panose="02070309020205020404" pitchFamily="49" charset="0"/>
              <a:buChar char="o"/>
            </a:pPr>
            <a:r>
              <a:rPr lang="en-US" dirty="0"/>
              <a:t>Models learn rules that enable perfect predictions on the training set.</a:t>
            </a:r>
          </a:p>
          <a:p>
            <a:pPr lvl="1">
              <a:buFont typeface="Courier New" panose="02070309020205020404" pitchFamily="49" charset="0"/>
              <a:buChar char="o"/>
            </a:pPr>
            <a:r>
              <a:rPr lang="en-US" dirty="0"/>
              <a:t>But these rules aren't applicable to any other data points.</a:t>
            </a:r>
          </a:p>
          <a:p>
            <a:pPr lvl="1">
              <a:buFont typeface="Courier New" panose="02070309020205020404" pitchFamily="49" charset="0"/>
              <a:buChar char="o"/>
            </a:pPr>
            <a:r>
              <a:rPr lang="en-US" dirty="0"/>
              <a:t>This might happen when we don’t have enough data or when use a too complex model for the data.</a:t>
            </a:r>
          </a:p>
          <a:p>
            <a:endParaRPr lang="en-US" dirty="0"/>
          </a:p>
        </p:txBody>
      </p:sp>
    </p:spTree>
    <p:extLst>
      <p:ext uri="{BB962C8B-B14F-4D97-AF65-F5344CB8AC3E}">
        <p14:creationId xmlns:p14="http://schemas.microsoft.com/office/powerpoint/2010/main" val="13089778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934E9-B900-48E7-9E99-6D5F6E1E5234}"/>
              </a:ext>
            </a:extLst>
          </p:cNvPr>
          <p:cNvSpPr>
            <a:spLocks noGrp="1"/>
          </p:cNvSpPr>
          <p:nvPr>
            <p:ph type="title"/>
          </p:nvPr>
        </p:nvSpPr>
        <p:spPr/>
        <p:txBody>
          <a:bodyPr/>
          <a:lstStyle/>
          <a:p>
            <a:r>
              <a:rPr lang="en-US" b="1" dirty="0"/>
              <a:t>Python – NumPy and Scikit-Learn</a:t>
            </a:r>
          </a:p>
        </p:txBody>
      </p:sp>
      <p:sp>
        <p:nvSpPr>
          <p:cNvPr id="3" name="Content Placeholder 2">
            <a:extLst>
              <a:ext uri="{FF2B5EF4-FFF2-40B4-BE49-F238E27FC236}">
                <a16:creationId xmlns:a16="http://schemas.microsoft.com/office/drawing/2014/main" id="{470E95B5-2A09-4381-B6A5-AEE44E6BFC77}"/>
              </a:ext>
            </a:extLst>
          </p:cNvPr>
          <p:cNvSpPr>
            <a:spLocks noGrp="1"/>
          </p:cNvSpPr>
          <p:nvPr>
            <p:ph idx="1"/>
          </p:nvPr>
        </p:nvSpPr>
        <p:spPr/>
        <p:txBody>
          <a:bodyPr>
            <a:normAutofit lnSpcReduction="10000"/>
          </a:bodyPr>
          <a:lstStyle/>
          <a:p>
            <a:pPr>
              <a:lnSpc>
                <a:spcPct val="100000"/>
              </a:lnSpc>
            </a:pPr>
            <a:r>
              <a:rPr lang="en-US" dirty="0"/>
              <a:t>Popular Python libraries for data science and machine learning</a:t>
            </a:r>
          </a:p>
          <a:p>
            <a:pPr>
              <a:lnSpc>
                <a:spcPct val="100000"/>
              </a:lnSpc>
            </a:pPr>
            <a:r>
              <a:rPr lang="en-US" dirty="0"/>
              <a:t>Widely used for machine learning applications</a:t>
            </a:r>
          </a:p>
          <a:p>
            <a:pPr>
              <a:lnSpc>
                <a:spcPct val="100000"/>
              </a:lnSpc>
            </a:pPr>
            <a:r>
              <a:rPr lang="en-US" dirty="0"/>
              <a:t>Key components:</a:t>
            </a:r>
          </a:p>
          <a:p>
            <a:pPr lvl="1">
              <a:lnSpc>
                <a:spcPct val="100000"/>
              </a:lnSpc>
            </a:pPr>
            <a:r>
              <a:rPr lang="en-US" dirty="0"/>
              <a:t>High quality software with regular releases</a:t>
            </a:r>
          </a:p>
          <a:p>
            <a:pPr lvl="1">
              <a:lnSpc>
                <a:spcPct val="100000"/>
              </a:lnSpc>
            </a:pPr>
            <a:r>
              <a:rPr lang="en-US" dirty="0"/>
              <a:t>Great user documentation</a:t>
            </a:r>
          </a:p>
          <a:p>
            <a:pPr lvl="1">
              <a:lnSpc>
                <a:spcPct val="100000"/>
              </a:lnSpc>
            </a:pPr>
            <a:r>
              <a:rPr lang="en-US" dirty="0"/>
              <a:t>Scikit-Learn:  </a:t>
            </a:r>
          </a:p>
          <a:p>
            <a:pPr lvl="2">
              <a:lnSpc>
                <a:spcPct val="100000"/>
              </a:lnSpc>
            </a:pPr>
            <a:r>
              <a:rPr lang="en-US" dirty="0"/>
              <a:t>Fit nearly all models into a unified API</a:t>
            </a:r>
          </a:p>
          <a:p>
            <a:pPr lvl="2">
              <a:lnSpc>
                <a:spcPct val="100000"/>
              </a:lnSpc>
            </a:pPr>
            <a:r>
              <a:rPr lang="en-US" dirty="0"/>
              <a:t>Includes a large array of algorithms – hard to find something missing!</a:t>
            </a:r>
          </a:p>
          <a:p>
            <a:pPr marL="457200" lvl="1" indent="0">
              <a:buNone/>
            </a:pPr>
            <a:endParaRPr lang="en-US" dirty="0"/>
          </a:p>
          <a:p>
            <a:pPr marL="0" indent="0">
              <a:buNone/>
            </a:pPr>
            <a:r>
              <a:rPr lang="en-US" sz="2200" dirty="0">
                <a:hlinkClick r:id="rId2"/>
              </a:rPr>
              <a:t>(1)Link to NumPy user guide</a:t>
            </a:r>
            <a:r>
              <a:rPr lang="en-US" sz="2200" dirty="0"/>
              <a:t>; </a:t>
            </a:r>
            <a:r>
              <a:rPr lang="en-US" sz="2200" dirty="0">
                <a:hlinkClick r:id="rId3"/>
              </a:rPr>
              <a:t>(2)Link to Scikit-Learn user guide</a:t>
            </a:r>
            <a:endParaRPr lang="en-US" sz="2200" dirty="0"/>
          </a:p>
        </p:txBody>
      </p:sp>
    </p:spTree>
    <p:extLst>
      <p:ext uri="{BB962C8B-B14F-4D97-AF65-F5344CB8AC3E}">
        <p14:creationId xmlns:p14="http://schemas.microsoft.com/office/powerpoint/2010/main" val="20885258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6275C-C9FD-E24B-84CB-59E54593ACCE}"/>
              </a:ext>
            </a:extLst>
          </p:cNvPr>
          <p:cNvSpPr>
            <a:spLocks noGrp="1"/>
          </p:cNvSpPr>
          <p:nvPr>
            <p:ph type="title"/>
          </p:nvPr>
        </p:nvSpPr>
        <p:spPr/>
        <p:txBody>
          <a:bodyPr/>
          <a:lstStyle/>
          <a:p>
            <a:r>
              <a:rPr lang="en-US" b="1" dirty="0"/>
              <a:t>Approach of This Course</a:t>
            </a:r>
          </a:p>
        </p:txBody>
      </p:sp>
      <p:sp>
        <p:nvSpPr>
          <p:cNvPr id="3" name="Content Placeholder 2">
            <a:extLst>
              <a:ext uri="{FF2B5EF4-FFF2-40B4-BE49-F238E27FC236}">
                <a16:creationId xmlns:a16="http://schemas.microsoft.com/office/drawing/2014/main" id="{91B19F40-A32A-D44D-93CD-BAA94C151FDE}"/>
              </a:ext>
            </a:extLst>
          </p:cNvPr>
          <p:cNvSpPr>
            <a:spLocks noGrp="1"/>
          </p:cNvSpPr>
          <p:nvPr>
            <p:ph idx="1"/>
          </p:nvPr>
        </p:nvSpPr>
        <p:spPr/>
        <p:txBody>
          <a:bodyPr>
            <a:normAutofit/>
          </a:bodyPr>
          <a:lstStyle/>
          <a:p>
            <a:r>
              <a:rPr lang="en-US" sz="2400" dirty="0"/>
              <a:t>The goal of this course is to provide you with the fundamentals of machine learning.</a:t>
            </a:r>
          </a:p>
          <a:p>
            <a:r>
              <a:rPr lang="en-US" sz="2400" dirty="0"/>
              <a:t>We will discuss specific ML models, but a bigger goal of this course is to teach you to think in this high dimensional space (Feature space, Parameter space).</a:t>
            </a:r>
          </a:p>
          <a:p>
            <a:r>
              <a:rPr lang="en-US" sz="2400" b="1" dirty="0"/>
              <a:t>First half focus</a:t>
            </a:r>
            <a:r>
              <a:rPr lang="en-US" sz="2400" dirty="0"/>
              <a:t>: Terminology, linear algebra, evaluation metrics, and a few models</a:t>
            </a:r>
          </a:p>
          <a:p>
            <a:r>
              <a:rPr lang="en-US" sz="2400" b="1" dirty="0"/>
              <a:t>Second half focus</a:t>
            </a:r>
            <a:r>
              <a:rPr lang="en-US" sz="2400" dirty="0"/>
              <a:t>: How do we use data to actually “train” our models – Optimization</a:t>
            </a:r>
          </a:p>
          <a:p>
            <a:r>
              <a:rPr lang="en-US" sz="2400" dirty="0"/>
              <a:t>Labs will focus on how do you actually implement certain algorithms on data. </a:t>
            </a:r>
          </a:p>
          <a:p>
            <a:r>
              <a:rPr lang="en-US" sz="2400" dirty="0"/>
              <a:t>We want to give you the tools to be successful when learning about new algorithms in the future.</a:t>
            </a:r>
          </a:p>
        </p:txBody>
      </p:sp>
    </p:spTree>
    <p:extLst>
      <p:ext uri="{BB962C8B-B14F-4D97-AF65-F5344CB8AC3E}">
        <p14:creationId xmlns:p14="http://schemas.microsoft.com/office/powerpoint/2010/main" val="212329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52687</TotalTime>
  <Words>2211</Words>
  <Application>Microsoft Macintosh PowerPoint</Application>
  <PresentationFormat>Widescreen</PresentationFormat>
  <Paragraphs>320</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Cambria Math</vt:lpstr>
      <vt:lpstr>Courier New</vt:lpstr>
      <vt:lpstr>Wingdings</vt:lpstr>
      <vt:lpstr>Office Theme</vt:lpstr>
      <vt:lpstr>Introduction to Machine Learning</vt:lpstr>
      <vt:lpstr>Syllabus Introduction</vt:lpstr>
      <vt:lpstr>Who am I?</vt:lpstr>
      <vt:lpstr>Introduce Yourselves</vt:lpstr>
      <vt:lpstr>Class Time Organization</vt:lpstr>
      <vt:lpstr>Class Time Organization</vt:lpstr>
      <vt:lpstr>What Will I Be Graded On?</vt:lpstr>
      <vt:lpstr>What Will I Be Graded On?</vt:lpstr>
      <vt:lpstr>What Will I Be Graded On?</vt:lpstr>
      <vt:lpstr>What Will I Be Graded On?</vt:lpstr>
      <vt:lpstr>What Will I Be Graded On?</vt:lpstr>
      <vt:lpstr>What Will I Be Graded On?</vt:lpstr>
      <vt:lpstr>What Will I Be Graded On?</vt:lpstr>
      <vt:lpstr>Course Philosophy</vt:lpstr>
      <vt:lpstr>Generative AI: Do’s &amp; Don’ts</vt:lpstr>
      <vt:lpstr>Office Hours</vt:lpstr>
      <vt:lpstr>Course Introduction</vt:lpstr>
      <vt:lpstr>What is Machine Learning?</vt:lpstr>
      <vt:lpstr>Traditional Programming vs Machine Learning</vt:lpstr>
      <vt:lpstr>Traditional Programming vs Machine Learning</vt:lpstr>
      <vt:lpstr>Goal of Machine Learning</vt:lpstr>
      <vt:lpstr>Types of Machine Learning Problems</vt:lpstr>
      <vt:lpstr>Types of Machine Learning Problems</vt:lpstr>
      <vt:lpstr>Types of Machine Learning Problems </vt:lpstr>
      <vt:lpstr>Terminology </vt:lpstr>
      <vt:lpstr>Steps of Building Machine Learning Systems</vt:lpstr>
      <vt:lpstr>Data Pre-processing</vt:lpstr>
      <vt:lpstr>Training Phase : Model Fitting</vt:lpstr>
      <vt:lpstr>Training Phase : Model Fitting</vt:lpstr>
      <vt:lpstr>Training Phase: Model Fitting</vt:lpstr>
      <vt:lpstr>Common Machine Learning Models</vt:lpstr>
      <vt:lpstr>Training Phase: Model Fitting</vt:lpstr>
      <vt:lpstr>Training Phase : Model Selection</vt:lpstr>
      <vt:lpstr>Training Phase </vt:lpstr>
      <vt:lpstr>Model Evaluation</vt:lpstr>
      <vt:lpstr>Evaluation Metrics</vt:lpstr>
      <vt:lpstr>Prediction</vt:lpstr>
      <vt:lpstr>Model Errors </vt:lpstr>
      <vt:lpstr>Python – NumPy and Scikit-Learn</vt:lpstr>
      <vt:lpstr>Approach of This Course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CS4981 Data Science</dc:title>
  <dc:creator>Nowling, RJ</dc:creator>
  <cp:lastModifiedBy>Bukowy, John</cp:lastModifiedBy>
  <cp:revision>278</cp:revision>
  <dcterms:created xsi:type="dcterms:W3CDTF">2018-08-24T15:44:19Z</dcterms:created>
  <dcterms:modified xsi:type="dcterms:W3CDTF">2025-09-03T16:50:28Z</dcterms:modified>
</cp:coreProperties>
</file>