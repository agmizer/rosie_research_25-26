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585" r:id="rId3"/>
    <p:sldId id="577" r:id="rId4"/>
    <p:sldId id="726" r:id="rId5"/>
    <p:sldId id="587" r:id="rId6"/>
    <p:sldId id="588" r:id="rId7"/>
    <p:sldId id="590" r:id="rId8"/>
    <p:sldId id="589" r:id="rId9"/>
    <p:sldId id="591" r:id="rId10"/>
    <p:sldId id="594" r:id="rId11"/>
    <p:sldId id="727" r:id="rId12"/>
    <p:sldId id="728" r:id="rId13"/>
    <p:sldId id="729" r:id="rId14"/>
    <p:sldId id="593" r:id="rId15"/>
    <p:sldId id="730" r:id="rId16"/>
    <p:sldId id="731" r:id="rId17"/>
    <p:sldId id="721" r:id="rId18"/>
    <p:sldId id="700" r:id="rId19"/>
    <p:sldId id="722" r:id="rId20"/>
    <p:sldId id="717" r:id="rId21"/>
    <p:sldId id="723" r:id="rId22"/>
    <p:sldId id="724" r:id="rId23"/>
    <p:sldId id="677" r:id="rId24"/>
    <p:sldId id="725" r:id="rId25"/>
    <p:sldId id="702" r:id="rId26"/>
    <p:sldId id="713" r:id="rId27"/>
    <p:sldId id="703" r:id="rId28"/>
    <p:sldId id="699" r:id="rId29"/>
    <p:sldId id="2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31" autoAdjust="0"/>
    <p:restoredTop sz="94660"/>
  </p:normalViewPr>
  <p:slideViewPr>
    <p:cSldViewPr snapToGrid="0">
      <p:cViewPr varScale="1">
        <p:scale>
          <a:sx n="94" d="100"/>
          <a:sy n="94" d="100"/>
        </p:scale>
        <p:origin x="21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E193B-261B-45BF-A503-508443DA0D8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ADCDA-BA1C-4FC6-9368-D670A9A66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AC5-8427-166B-69A4-27748E777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78E9E-0EE6-DA9B-1BE1-65FE3D0B4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72CBA-FBCE-28C6-951E-FDF06285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3C405-C0E3-C9A7-531C-FA072B3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2E173-3677-177A-082B-5B489452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4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81BE-FBFF-CA8C-04D7-92BE5B4D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16F89-441A-E9C4-A6E1-59BC44DE4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8CB20-C3BF-3A43-ABDA-BE97F1B9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13CE9-9EAD-4411-F228-B9C2AFF0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49A9-1664-B3EC-69EC-94A42F9A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6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8658-EAF5-9F20-12EE-A473A657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BE3BA-C257-C0DD-5D53-65A53CDDF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73E8F-2948-18B7-FDDC-2C14C3E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522DF-C24B-65EC-1621-16ED9960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45369-F96E-A4C5-D3E1-971B7F17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5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246D-6C8B-2E03-B24F-B7C8A65F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F233-3111-8168-4404-E26BCB845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F3E7F-D4C5-A200-4FEB-63739D372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16CF4-E7F7-A9C9-06A9-E98F187B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C980E-2D57-CF8A-B3D1-125D64F8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81D8D-A707-60DB-1D4E-3E70D9B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5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91DF-BAC1-401A-D091-EDFE54B7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A5F72-C983-0016-ADB7-385CCBAD8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CC6B6-ACC2-60B2-61B2-EA47BF81B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6CF3C-C29B-49F6-7A30-EABD39EE9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8ADF0-9AC5-F416-D23C-704A4CBF5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F9AFA-8832-A60F-CA15-A6DEBEF4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8AF4A-6C91-69B0-E9E9-3217C7B3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DD274-CE9B-4AC3-DEED-0464E793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9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DBF1-86F3-0C38-B1FF-6B41093B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C158D-D57D-501B-AB7D-28719E21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09A6A-A4D5-CDAF-60F6-B483BC6E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0522E-CB6C-F6F2-23F6-243F4AE1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5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860292-22B6-BD8A-4657-0F1EF903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24385-A65E-AFAB-D770-5C6A9D67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592F9-2A19-782A-1032-2EB9C61D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3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0035-29A6-21C0-D6EE-F1EA5F0F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CA28-54CA-C0C5-D9D9-DDF67111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62070-B123-8100-394C-11A71157E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F5F28-BC45-F1FA-FE14-96AD6490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03406-C1E6-031C-9430-6CDDDD62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D6D4-6FDE-6950-422E-0B3081EC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4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DBF6D-6EFA-4D63-E12A-34FD4FCD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0F700-7F66-BF4D-9DE2-A48034D58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E68F4-13CA-110B-08AF-FE7FB1BA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9211F-40C1-C989-CB7A-E535E932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6984D-F776-532B-AD57-662C9D15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82543-773E-0F35-4A6D-735B385C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5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88E3-3241-E9E5-FE3A-8FE06A2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B41E7-75F8-E366-C0F9-FF1239F9E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2F233-0864-42F4-FCE2-B5B377C1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A910-1C37-BDDB-DF78-8618020D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6F1DF-03BB-0566-A326-3C0F412B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B4E29-0D33-356C-2AE8-D44F11AF3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2C0D4-D7C4-731B-7318-99DE6300A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F9F9D-16B4-309F-9302-1F0F98801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E301-319B-7B61-2189-2F1C659A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C1579-8346-ED74-8800-B16BCCC1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C1361-36E8-F862-66F4-C1E95D4B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724C3-FDAE-E6AB-6B54-7592FA8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51F6-E490-D576-10D1-B8144F7E6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B6AE4-CD38-4801-8B61-995B2406240D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B28E6-A81D-810A-2EDA-6FCE84403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CE9C-AF72-FC04-3185-727CF768B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2CC2C-DA39-43F1-8B46-9B354EBC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.png"/><Relationship Id="rId18" Type="http://schemas.openxmlformats.org/officeDocument/2006/relationships/image" Target="../media/image21.png"/><Relationship Id="rId3" Type="http://schemas.openxmlformats.org/officeDocument/2006/relationships/tags" Target="../tags/tag3.xml"/><Relationship Id="rId21" Type="http://schemas.openxmlformats.org/officeDocument/2006/relationships/image" Target="../media/image14.png"/><Relationship Id="rId7" Type="http://schemas.openxmlformats.org/officeDocument/2006/relationships/image" Target="../media/image31.png"/><Relationship Id="rId12" Type="http://schemas.openxmlformats.org/officeDocument/2006/relationships/image" Target="../media/image3.png"/><Relationship Id="rId17" Type="http://schemas.openxmlformats.org/officeDocument/2006/relationships/image" Target="../media/image20.png"/><Relationship Id="rId2" Type="http://schemas.openxmlformats.org/officeDocument/2006/relationships/tags" Target="../tags/tag2.xml"/><Relationship Id="rId16" Type="http://schemas.openxmlformats.org/officeDocument/2006/relationships/image" Target="../media/image19.png"/><Relationship Id="rId20" Type="http://schemas.openxmlformats.org/officeDocument/2006/relationships/image" Target="../media/image36.png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.png"/><Relationship Id="rId24" Type="http://schemas.openxmlformats.org/officeDocument/2006/relationships/image" Target="../media/image17.png"/><Relationship Id="rId5" Type="http://schemas.openxmlformats.org/officeDocument/2006/relationships/tags" Target="../tags/tag5.xml"/><Relationship Id="rId15" Type="http://schemas.openxmlformats.org/officeDocument/2006/relationships/image" Target="../media/image18.png"/><Relationship Id="rId23" Type="http://schemas.openxmlformats.org/officeDocument/2006/relationships/image" Target="../media/image16.png"/><Relationship Id="rId10" Type="http://schemas.openxmlformats.org/officeDocument/2006/relationships/image" Target="../media/image34.png"/><Relationship Id="rId19" Type="http://schemas.openxmlformats.org/officeDocument/2006/relationships/image" Target="../media/image22.png"/><Relationship Id="rId4" Type="http://schemas.openxmlformats.org/officeDocument/2006/relationships/tags" Target="../tags/tag4.xml"/><Relationship Id="rId9" Type="http://schemas.openxmlformats.org/officeDocument/2006/relationships/image" Target="../media/image33.png"/><Relationship Id="rId14" Type="http://schemas.openxmlformats.org/officeDocument/2006/relationships/image" Target="../media/image5.png"/><Relationship Id="rId22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0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nimations-of-logistic-regression-with-python-31f8c9cb420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B932-E397-4929-95D5-E688161E3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Fitting a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E6D2B-55C7-4A2B-B516-E6D8FFBE9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CSC4601 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5313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A22A90-5E81-45BD-BCC4-0185C838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2C24A-7B35-4324-9FE7-E9D8E3C93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0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/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A49C1C7B-94BB-485C-8517-4BB9F326CFFC}"/>
              </a:ext>
            </a:extLst>
          </p:cNvPr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FBB6486-F67B-432B-A87A-A6BA92909489}"/>
              </a:ext>
            </a:extLst>
          </p:cNvPr>
          <p:cNvCxnSpPr/>
          <p:nvPr/>
        </p:nvCxnSpPr>
        <p:spPr>
          <a:xfrm flipV="1">
            <a:off x="7690760" y="3018374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A451F93-0366-4D85-9EF3-12A971A556C7}"/>
              </a:ext>
            </a:extLst>
          </p:cNvPr>
          <p:cNvCxnSpPr/>
          <p:nvPr/>
        </p:nvCxnSpPr>
        <p:spPr>
          <a:xfrm flipV="1">
            <a:off x="7690760" y="4684542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FCACE5-0D3E-4423-A6D7-5088BA9FD8BD}"/>
              </a:ext>
            </a:extLst>
          </p:cNvPr>
          <p:cNvCxnSpPr/>
          <p:nvPr/>
        </p:nvCxnSpPr>
        <p:spPr>
          <a:xfrm>
            <a:off x="7695028" y="3010486"/>
            <a:ext cx="0" cy="1674056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188425C3-AFBD-4128-8BDD-C9F7282DDA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69" y="4549336"/>
            <a:ext cx="580726" cy="2271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321346E-31B7-48AF-94EC-A3F5BD061709}"/>
              </a:ext>
            </a:extLst>
          </p:cNvPr>
          <p:cNvSpPr txBox="1"/>
          <p:nvPr/>
        </p:nvSpPr>
        <p:spPr>
          <a:xfrm>
            <a:off x="7898383" y="5396777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Thresholding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ounded Rectangle 56">
            <a:extLst>
              <a:ext uri="{FF2B5EF4-FFF2-40B4-BE49-F238E27FC236}">
                <a16:creationId xmlns:a16="http://schemas.microsoft.com/office/drawing/2014/main" id="{E96C4525-1787-4A0B-9046-ECBF6E45FF3D}"/>
              </a:ext>
            </a:extLst>
          </p:cNvPr>
          <p:cNvSpPr/>
          <p:nvPr/>
        </p:nvSpPr>
        <p:spPr>
          <a:xfrm>
            <a:off x="5711482" y="2053883"/>
            <a:ext cx="1477109" cy="4642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A4649A3-541D-4F02-882C-5579BA70A909}"/>
              </a:ext>
            </a:extLst>
          </p:cNvPr>
          <p:cNvCxnSpPr/>
          <p:nvPr/>
        </p:nvCxnSpPr>
        <p:spPr>
          <a:xfrm>
            <a:off x="6457073" y="2686928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48027C7-501D-460A-B929-CA3BB70D70DB}"/>
                  </a:ext>
                </a:extLst>
              </p:cNvPr>
              <p:cNvSpPr txBox="1"/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48027C7-501D-460A-B929-CA3BB70D7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D777AA6-4DE0-4207-84EC-01B007097692}"/>
                  </a:ext>
                </a:extLst>
              </p:cNvPr>
              <p:cNvSpPr txBox="1"/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D777AA6-4DE0-4207-84EC-01B007097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>
            <a:extLst>
              <a:ext uri="{FF2B5EF4-FFF2-40B4-BE49-F238E27FC236}">
                <a16:creationId xmlns:a16="http://schemas.microsoft.com/office/drawing/2014/main" id="{15659E7B-AF54-492B-B86E-55665E1B90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46" y="2863557"/>
            <a:ext cx="570056" cy="22710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A5C94BA-4D6E-E3ED-FE48-6631D3906B26}"/>
              </a:ext>
            </a:extLst>
          </p:cNvPr>
          <p:cNvSpPr/>
          <p:nvPr/>
        </p:nvSpPr>
        <p:spPr>
          <a:xfrm>
            <a:off x="4876796" y="3574473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5B820-725F-F4AA-5A58-A885A5DC829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63" y="3800241"/>
            <a:ext cx="548640" cy="2739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AE75BF-376E-0DB4-A232-33D19446FBD4}"/>
              </a:ext>
            </a:extLst>
          </p:cNvPr>
          <p:cNvCxnSpPr/>
          <p:nvPr/>
        </p:nvCxnSpPr>
        <p:spPr>
          <a:xfrm flipV="1">
            <a:off x="5611086" y="3906982"/>
            <a:ext cx="2103120" cy="13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577963E-0183-FDA3-5B9D-A02174F407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36" y="5033818"/>
            <a:ext cx="1647674" cy="533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1BFBE1-1616-7D50-CA9D-88280C63253A}"/>
              </a:ext>
            </a:extLst>
          </p:cNvPr>
          <p:cNvSpPr txBox="1"/>
          <p:nvPr/>
        </p:nvSpPr>
        <p:spPr>
          <a:xfrm>
            <a:off x="4488873" y="4486035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Function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443B5-812B-A4B5-8045-CE0687D05B92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D3398F-84A5-5E67-6C12-62394A1EB18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0D5A5E-FD04-B3B1-4383-1DF8FF715B0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EB699E-F3F8-F47A-77FB-C7CDCEF0D18F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E9F24B-7446-5529-4A07-D4ABDBB9B822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4617A2B-3BD8-6E3D-9A3C-89A360AFDCA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EDC53D-78F1-60E6-5085-513BFE25E92C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10D827-4389-9FE5-FA4F-16209106AE8C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10D827-4389-9FE5-FA4F-16209106A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72AE1-EA4D-3024-469E-70020796D01E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72AE1-EA4D-3024-469E-70020796D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E527B9-3434-60A0-6526-B7AE565C1690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E527B9-3434-60A0-6526-B7AE565C1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BD39EE-ECEB-C74E-4CFC-45988DA21CB1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BD39EE-ECEB-C74E-4CFC-45988DA21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BD7973-4B1C-F1A2-EAF2-798353E7B66A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BD7973-4B1C-F1A2-EAF2-798353E7B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35C264-3A5D-A41E-58EC-49303010A335}"/>
                  </a:ext>
                </a:extLst>
              </p:cNvPr>
              <p:cNvSpPr txBox="1"/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35C264-3A5D-A41E-58EC-49303010A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blipFill>
                <a:blip r:embed="rId20"/>
                <a:stretch>
                  <a:fillRect l="-1508" t="-2222" r="-402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327722F2-4C6E-EB2D-1182-AF2C24AEF0F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4" y="3896758"/>
            <a:ext cx="30484" cy="228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5C5C99-168E-F365-3E26-56A64C43BB18}"/>
                  </a:ext>
                </a:extLst>
              </p:cNvPr>
              <p:cNvSpPr txBox="1"/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5C5C99-168E-F365-3E26-56A64C43B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0D3C35-6020-5FC6-B7DE-86B8CECD8BBC}"/>
                  </a:ext>
                </a:extLst>
              </p:cNvPr>
              <p:cNvSpPr txBox="1"/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0D3C35-6020-5FC6-B7DE-86B8CECD8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6EDDD5-ABCB-85EC-8B41-54E696B7AE0D}"/>
                  </a:ext>
                </a:extLst>
              </p:cNvPr>
              <p:cNvSpPr txBox="1"/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6EDDD5-ABCB-85EC-8B41-54E696B7A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952860-2512-54BB-04E3-C60D7DCE4DCC}"/>
                  </a:ext>
                </a:extLst>
              </p:cNvPr>
              <p:cNvSpPr txBox="1"/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952860-2512-54BB-04E3-C60D7DCE4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66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                                                             as great as possible.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If                                                              as great as possible.</a:t>
                </a:r>
              </a:p>
              <a:p>
                <a:endParaRPr lang="en-US" dirty="0"/>
              </a:p>
              <a:p>
                <a:r>
                  <a:rPr lang="en-US" dirty="0"/>
                  <a:t>The above two conditions can be written compactly as: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 this quantity is maximized.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4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35" y="2009831"/>
            <a:ext cx="712469" cy="27432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719469" y="2156760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23" y="2935954"/>
            <a:ext cx="725804" cy="27432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2731192" y="3068815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8454" y="2424047"/>
            <a:ext cx="295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w such that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33FC90-249C-49ED-B9F9-CE7604BF9AEE}"/>
              </a:ext>
            </a:extLst>
          </p:cNvPr>
          <p:cNvCxnSpPr/>
          <p:nvPr/>
        </p:nvCxnSpPr>
        <p:spPr>
          <a:xfrm flipV="1">
            <a:off x="4682836" y="4969164"/>
            <a:ext cx="526473" cy="480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210D65-6BD9-E477-446D-C0C02C6D80EF}"/>
                  </a:ext>
                </a:extLst>
              </p:cNvPr>
              <p:cNvSpPr txBox="1"/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P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=1|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210D65-6BD9-E477-446D-C0C02C6D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5A2BF-8B2A-4824-009D-66DDFF58732A}"/>
                  </a:ext>
                </a:extLst>
              </p:cNvPr>
              <p:cNvSpPr txBox="1"/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1−</m:t>
                      </m:r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P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=1|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5A2BF-8B2A-4824-009D-66DDFF58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21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that: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is maximized for each data point in the training set.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 the following function is maximized: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10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w such that (the likelihood function) is maximized: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feature vector of the </a:t>
                </a:r>
                <a:r>
                  <a:rPr lang="en-US" dirty="0" err="1"/>
                  <a:t>ith</a:t>
                </a:r>
                <a:r>
                  <a:rPr lang="en-US" dirty="0"/>
                  <a:t> sample in the training data.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label of the </a:t>
                </a:r>
                <a:r>
                  <a:rPr lang="en-US" dirty="0" err="1"/>
                  <a:t>ith</a:t>
                </a:r>
                <a:r>
                  <a:rPr lang="en-US" dirty="0"/>
                  <a:t> sample in the training data.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232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82C6-6CCD-4471-A676-F7844C44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Fitting a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8245D4-4B73-412F-BDD5-A2B5D423D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maximum likelihood formulation of logistic function can be equivalently written in the form: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mode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e>
                                    <m:sup>
                                      <m: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parameter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𝑡𝑟𝑢𝑒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How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8245D4-4B73-412F-BDD5-A2B5D423D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02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By taking the - log of this function: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obtain: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82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is the cost function that we are trying</a:t>
                </a:r>
                <a:r>
                  <a:rPr lang="en-US" b="1" dirty="0"/>
                  <a:t> to </a:t>
                </a:r>
                <a:r>
                  <a:rPr lang="en-US" dirty="0"/>
                  <a:t>minimize (find w and w0 such that the following is minimized):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00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is the cost function that we are trying</a:t>
                </a:r>
                <a:r>
                  <a:rPr lang="en-US" b="1" dirty="0"/>
                  <a:t> to </a:t>
                </a:r>
                <a:r>
                  <a:rPr lang="en-US" dirty="0"/>
                  <a:t>minimize (find w and w0 such that the following is minimized):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Loss for each instance: (</a:t>
                </a:r>
                <a:r>
                  <a:rPr lang="en-US" b="1" dirty="0"/>
                  <a:t>known as log loss or cross entropy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92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CCBC-0FC8-3D7A-9589-20A0F1C5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 Loss or Cross Entropy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The Loss for each instance: (</a:t>
                </a:r>
                <a:r>
                  <a:rPr lang="en-US" sz="2000" b="1" dirty="0"/>
                  <a:t>known as log loss or cross entropy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We said that a loss function is a measure of misfit or prediction error:</a:t>
                </a:r>
              </a:p>
              <a:p>
                <a:pPr lvl="1"/>
                <a:r>
                  <a:rPr lang="en-US" sz="2000" dirty="0"/>
                  <a:t>the smaller the loss the smaller the difference between the model’s output and the true label. </a:t>
                </a:r>
              </a:p>
              <a:p>
                <a:pPr lvl="1"/>
                <a:r>
                  <a:rPr lang="en-US" sz="2000" dirty="0"/>
                  <a:t>let’s ensure that this is indeed what this particular loss does.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80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CCBC-0FC8-3D7A-9589-20A0F1C5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 Loss or Cross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9377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The Loss for each instance: (</a:t>
                </a:r>
                <a:r>
                  <a:rPr lang="en-US" sz="2000" b="1" dirty="0"/>
                  <a:t>known as log loss or cross entropy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 the true label is 1, then loss: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=1|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9377"/>
                <a:ext cx="10515600" cy="4351338"/>
              </a:xfrm>
              <a:blipFill>
                <a:blip r:embed="rId2"/>
                <a:stretch>
                  <a:fillRect l="-522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A8AF6E0-6CE1-236F-7EA0-CA2658D62D4E}"/>
              </a:ext>
            </a:extLst>
          </p:cNvPr>
          <p:cNvSpPr txBox="1"/>
          <p:nvPr/>
        </p:nvSpPr>
        <p:spPr>
          <a:xfrm>
            <a:off x="1826635" y="4755471"/>
            <a:ext cx="2509936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loss is minimized when the output of the model (probability of y=1) is close to 1.</a:t>
            </a:r>
          </a:p>
        </p:txBody>
      </p:sp>
    </p:spTree>
    <p:extLst>
      <p:ext uri="{BB962C8B-B14F-4D97-AF65-F5344CB8AC3E}">
        <p14:creationId xmlns:p14="http://schemas.microsoft.com/office/powerpoint/2010/main" val="161712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CCBC-0FC8-3D7A-9589-20A0F1C5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 Loss or Cross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9377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The Loss for each instance: (</a:t>
                </a:r>
                <a:r>
                  <a:rPr lang="en-US" sz="2000" b="1" dirty="0"/>
                  <a:t>known as log loss or cross entropy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 the true label is 0, then loss: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0C748-9333-FA0C-D1AD-521A7A766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9377"/>
                <a:ext cx="10515600" cy="4351338"/>
              </a:xfrm>
              <a:blipFill>
                <a:blip r:embed="rId2"/>
                <a:stretch>
                  <a:fillRect l="-522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A8AF6E0-6CE1-236F-7EA0-CA2658D62D4E}"/>
              </a:ext>
            </a:extLst>
          </p:cNvPr>
          <p:cNvSpPr txBox="1"/>
          <p:nvPr/>
        </p:nvSpPr>
        <p:spPr>
          <a:xfrm>
            <a:off x="1826635" y="4755471"/>
            <a:ext cx="2509936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loss is minimized when the output of the model (probability of y=1) is close to 0.</a:t>
            </a:r>
          </a:p>
        </p:txBody>
      </p:sp>
    </p:spTree>
    <p:extLst>
      <p:ext uri="{BB962C8B-B14F-4D97-AF65-F5344CB8AC3E}">
        <p14:creationId xmlns:p14="http://schemas.microsoft.com/office/powerpoint/2010/main" val="110402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BA84-406A-49E5-A233-F82C8CF2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Fitting Logistic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5CCCA-490D-4C09-93DB-6F0DF194A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nary>
                          <m:func>
                            <m:func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There is a good news and a bad news!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5CCCA-490D-4C09-93DB-6F0DF194A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342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BA84-406A-49E5-A233-F82C8CF2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Fitting Logistic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5CCCA-490D-4C09-93DB-6F0DF194A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nary>
                          <m:func>
                            <m:func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Good news: the cost function is a convex function</a:t>
                </a:r>
              </a:p>
              <a:p>
                <a:r>
                  <a:rPr lang="en-US" dirty="0"/>
                  <a:t>Bad news: unlike linear regression, it does not have a closed-form solution (i.e., we don’t have a formula for the optimal values of </a:t>
                </a:r>
                <a:r>
                  <a:rPr lang="en-US" b="1" dirty="0"/>
                  <a:t>w</a:t>
                </a:r>
                <a:r>
                  <a:rPr lang="en-US" dirty="0"/>
                  <a:t> and w0)</a:t>
                </a:r>
              </a:p>
              <a:p>
                <a:endParaRPr lang="en-US" dirty="0"/>
              </a:p>
              <a:p>
                <a:r>
                  <a:rPr lang="en-US" dirty="0"/>
                  <a:t>But we can still compute the derivate of the cost function and use iterative algorithm to find the optimal values.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5CCCA-490D-4C09-93DB-6F0DF194A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9477" r="-483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19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145F-FB2C-5FFD-2138-5FAEBBDA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Fitting Logistic Regression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134B370-6D41-654E-40F1-AB04679DA7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12"/>
          <a:stretch/>
        </p:blipFill>
        <p:spPr bwMode="auto">
          <a:xfrm>
            <a:off x="2465605" y="2136066"/>
            <a:ext cx="5301022" cy="296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E10C43-EE42-017A-433F-E7B0366B0129}"/>
              </a:ext>
            </a:extLst>
          </p:cNvPr>
          <p:cNvSpPr txBox="1"/>
          <p:nvPr/>
        </p:nvSpPr>
        <p:spPr>
          <a:xfrm>
            <a:off x="8961121" y="2510444"/>
            <a:ext cx="2194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  <a:br>
              <a:rPr lang="en-US" dirty="0"/>
            </a:br>
            <a:r>
              <a:rPr lang="en-US" dirty="0">
                <a:hlinkClick r:id="rId3"/>
              </a:rPr>
              <a:t>https://towardsdatascience.com/animations-of-logistic-regression-with-python-31f8c9cb420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C6DA7-4E1B-BA75-6F06-17E5AC5A9B67}"/>
              </a:ext>
            </a:extLst>
          </p:cNvPr>
          <p:cNvSpPr txBox="1"/>
          <p:nvPr/>
        </p:nvSpPr>
        <p:spPr>
          <a:xfrm>
            <a:off x="274320" y="1968560"/>
            <a:ext cx="2759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cost function of logistic regression is convex.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the optimal parameters, it uses an iterative method: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with an initial guess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guess until the minimizer is reached.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69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5681-6D73-4E76-9B14-C3444451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5FCD8-80E8-468F-AE9E-ED0A5E3A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Question: why did we not use an evaluation metric as our loss function? Evaluation metric vs loss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36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6581-1885-B749-BBD7-3A91EC33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C891B-0E2C-8D46-A724-41D53B9B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You've evaluated predicted models but did a loss function ever come up?</a:t>
            </a:r>
          </a:p>
          <a:p>
            <a:r>
              <a:rPr lang="en-US" dirty="0"/>
              <a:t>Once the model is trained, we no longer need the loss function</a:t>
            </a:r>
          </a:p>
          <a:p>
            <a:r>
              <a:rPr lang="en-US" dirty="0"/>
              <a:t>The loss function is used during the training phase to find the model’s parameter.</a:t>
            </a:r>
          </a:p>
        </p:txBody>
      </p:sp>
    </p:spTree>
    <p:extLst>
      <p:ext uri="{BB962C8B-B14F-4D97-AF65-F5344CB8AC3E}">
        <p14:creationId xmlns:p14="http://schemas.microsoft.com/office/powerpoint/2010/main" val="676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0C071-BA18-4011-A1EE-FBBDFAEE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solve optimization problems?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C3598-766B-44F4-83A2-8BFEB0970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92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ECD6-B296-431E-93A7-1EF76D51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47B7-CA39-4F63-ABD4-522F124A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or fitting a model to the training data is a search problem, where we’re looking for the best parameters (</a:t>
            </a:r>
            <a:r>
              <a:rPr lang="en-US" b="1" dirty="0"/>
              <a:t>search the parameter space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We search the parameter space to find a point (combination of parameter values) which minimizes the cost function.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73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92F64C-198E-43B6-8B41-15AC56CE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Several Approaches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48A79C-1E2D-4DB1-A478-8F6A5541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Analytical Approach: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We’ve seen that with linear regression, the objective function is a convex function and it has closed form solution (by setting the derivative equal to zero)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Iterative (Numerical) Approach</a:t>
            </a:r>
            <a:r>
              <a:rPr lang="en-US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We’ve seen that with logistic function, the objective function is a convex function, but it does not have closed solution. This is why we use a numerical optimization problem (or when solving the derivative method may not be feasible).</a:t>
            </a:r>
          </a:p>
        </p:txBody>
      </p:sp>
    </p:spTree>
    <p:extLst>
      <p:ext uri="{BB962C8B-B14F-4D97-AF65-F5344CB8AC3E}">
        <p14:creationId xmlns:p14="http://schemas.microsoft.com/office/powerpoint/2010/main" val="3636406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ACB9-2264-407D-BB47-9C9A28CB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Analytical &amp; Iterative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49F2-0206-4091-84CB-729AFEE40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These approaches usually assume that the objective function is a smooth function: 1-continuous and 2-differentiable</a:t>
            </a:r>
          </a:p>
        </p:txBody>
      </p:sp>
    </p:spTree>
    <p:extLst>
      <p:ext uri="{BB962C8B-B14F-4D97-AF65-F5344CB8AC3E}">
        <p14:creationId xmlns:p14="http://schemas.microsoft.com/office/powerpoint/2010/main" val="2520848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4D22-66C5-E04C-B207-987B82A0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Smooth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5B13-65FB-0949-A105-5EAE782967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We use loss functions and models that are continuous and differentiable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Examples of equations that are not: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Accuracy – not smooth, a prediction is either right or wrong, leading to lots of discontinuities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Absolute values</a:t>
            </a:r>
          </a:p>
          <a:p>
            <a:pPr>
              <a:lnSpc>
                <a:spcPct val="100000"/>
              </a:lnSpc>
            </a:pPr>
            <a:r>
              <a:rPr lang="en-US" dirty="0"/>
              <a:t>We often modify functions to smooth them if we intend to use them with optimizations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C2B12C-1939-6A4C-9E89-8904B3BB3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"/>
          <a:stretch/>
        </p:blipFill>
        <p:spPr>
          <a:xfrm>
            <a:off x="6172200" y="2057401"/>
            <a:ext cx="5943600" cy="445861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49AFAD-1796-4073-B071-75EC23916C20}"/>
              </a:ext>
            </a:extLst>
          </p:cNvPr>
          <p:cNvSpPr txBox="1"/>
          <p:nvPr/>
        </p:nvSpPr>
        <p:spPr>
          <a:xfrm>
            <a:off x="6918158" y="2322095"/>
            <a:ext cx="4572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Non-smooth Functions</a:t>
            </a:r>
          </a:p>
        </p:txBody>
      </p:sp>
    </p:spTree>
    <p:extLst>
      <p:ext uri="{BB962C8B-B14F-4D97-AF65-F5344CB8AC3E}">
        <p14:creationId xmlns:p14="http://schemas.microsoft.com/office/powerpoint/2010/main" val="2525112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390FDF-0B6E-4370-8065-22F73E34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D7C8-028A-4747-9FDB-ED929E83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and numerical methods make some assumptions about the cost functions.</a:t>
            </a:r>
          </a:p>
          <a:p>
            <a:endParaRPr lang="en-US" dirty="0"/>
          </a:p>
          <a:p>
            <a:r>
              <a:rPr lang="en-US" dirty="0"/>
              <a:t>Grid search (exhaustive search or brute force) assume nothing about the cost function.</a:t>
            </a:r>
          </a:p>
          <a:p>
            <a:endParaRPr lang="en-US" dirty="0"/>
          </a:p>
          <a:p>
            <a:r>
              <a:rPr lang="en-US" dirty="0"/>
              <a:t>Simple approach that evaluates the cost function over many possible values for the parameters.</a:t>
            </a:r>
          </a:p>
        </p:txBody>
      </p:sp>
    </p:spTree>
    <p:extLst>
      <p:ext uri="{BB962C8B-B14F-4D97-AF65-F5344CB8AC3E}">
        <p14:creationId xmlns:p14="http://schemas.microsoft.com/office/powerpoint/2010/main" val="1327368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1AD5-A798-574B-BF85-F9C33437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A7ACCB-F9E5-374E-80AA-054349ED91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" b="6730"/>
          <a:stretch/>
        </p:blipFill>
        <p:spPr>
          <a:xfrm>
            <a:off x="1116530" y="2274094"/>
            <a:ext cx="4903269" cy="322193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D61D2-0BBD-1646-99FC-9D4350ADC6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want to do a grid search of </a:t>
            </a:r>
            <a:r>
              <a:rPr lang="en-US" b="1" i="1" dirty="0"/>
              <a:t>parameter space</a:t>
            </a:r>
          </a:p>
          <a:p>
            <a:r>
              <a:rPr lang="en-US" dirty="0"/>
              <a:t>We define a grid of points</a:t>
            </a:r>
          </a:p>
          <a:p>
            <a:r>
              <a:rPr lang="en-US" dirty="0"/>
              <a:t>Evaluated the </a:t>
            </a:r>
            <a:r>
              <a:rPr lang="en-US" i="1" dirty="0"/>
              <a:t>loss function </a:t>
            </a:r>
            <a:r>
              <a:rPr lang="en-US" dirty="0"/>
              <a:t>at each point</a:t>
            </a:r>
          </a:p>
          <a:p>
            <a:r>
              <a:rPr lang="en-US" dirty="0"/>
              <a:t>Use the point that produced the lowest loss value as the parameters for the model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DBC04FD-D46F-7946-AAA0-36022BEEB925}"/>
                  </a:ext>
                </a:extLst>
              </p:cNvPr>
              <p:cNvSpPr/>
              <p:nvPr/>
            </p:nvSpPr>
            <p:spPr>
              <a:xfrm>
                <a:off x="3286869" y="5496025"/>
                <a:ext cx="5625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DBC04FD-D46F-7946-AAA0-36022BEEB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69" y="5496025"/>
                <a:ext cx="562590" cy="461665"/>
              </a:xfrm>
              <a:prstGeom prst="rect">
                <a:avLst/>
              </a:prstGeom>
              <a:blipFill>
                <a:blip r:embed="rId3"/>
                <a:stretch>
                  <a:fillRect l="-2222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73D37CE-FDAC-BB4D-B3F8-22D0842838F0}"/>
                  </a:ext>
                </a:extLst>
              </p:cNvPr>
              <p:cNvSpPr/>
              <p:nvPr/>
            </p:nvSpPr>
            <p:spPr>
              <a:xfrm>
                <a:off x="560464" y="3654226"/>
                <a:ext cx="5554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73D37CE-FDAC-BB4D-B3F8-22D084283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64" y="3654226"/>
                <a:ext cx="555472" cy="461665"/>
              </a:xfrm>
              <a:prstGeom prst="rect">
                <a:avLst/>
              </a:prstGeom>
              <a:blipFill>
                <a:blip r:embed="rId4"/>
                <a:stretch>
                  <a:fillRect l="-4545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48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1AD5-A798-574B-BF85-F9C33437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D61D2-0BBD-1646-99FC-9D4350ADC6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"Query" the loss function to get a prediction of error for each grid point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Search through this function space to find what model parameters lead to a minimal error value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C4CE72-CAA5-486D-9AAA-5B14F9112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00" y="4307696"/>
            <a:ext cx="2955599" cy="2350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F1407F-AB7A-4037-B5DA-C7CDCF865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00" y="1650697"/>
            <a:ext cx="2955329" cy="235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32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5983-778C-384B-BEA3-BFCD56AD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ACDCD-F864-F846-AA51-31D2EBBC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23B4E-5474-5B45-A1D0-21A446BD0E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Easy to do</a:t>
            </a:r>
          </a:p>
          <a:p>
            <a:r>
              <a:rPr lang="en-US" dirty="0"/>
              <a:t>Does not require taking any derivatives</a:t>
            </a:r>
          </a:p>
          <a:p>
            <a:r>
              <a:rPr lang="en-US" dirty="0"/>
              <a:t>Does not assume any property on the cost functions (support non-smooth functions)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64B69-939C-0944-9D3A-EE5C0CBAB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E5E9C36-EE46-6B42-9996-254D85CC217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Computationally expensive</a:t>
                </a:r>
              </a:p>
              <a:p>
                <a:pPr lvl="1"/>
                <a:r>
                  <a:rPr lang="en-US" dirty="0"/>
                  <a:t>If there are m features, and p grid points per feature</a:t>
                </a:r>
              </a:p>
              <a:p>
                <a:pPr lvl="1"/>
                <a:r>
                  <a:rPr lang="en-US" dirty="0"/>
                  <a:t>you would need to 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points </a:t>
                </a:r>
              </a:p>
              <a:p>
                <a:pPr lvl="1"/>
                <a:r>
                  <a:rPr lang="en-US" dirty="0"/>
                  <a:t>Run grows </a:t>
                </a:r>
                <a:r>
                  <a:rPr lang="en-US" b="1" i="1" dirty="0"/>
                  <a:t>exponentially</a:t>
                </a:r>
                <a:r>
                  <a:rPr lang="en-US" dirty="0"/>
                  <a:t> with the number of features!</a:t>
                </a:r>
              </a:p>
              <a:p>
                <a:r>
                  <a:rPr lang="en-US" dirty="0"/>
                  <a:t>Hard to choose grid resolution to find "best" parameters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E5E9C36-EE46-6B42-9996-254D85CC2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2"/>
                <a:stretch>
                  <a:fillRect l="-2118" t="-2815" r="-3765" b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380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ECE4-C88E-054A-A331-77C69930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Approaches for Optimizing Model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24BF-0AC4-5447-AF79-A791946AE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"Naïve" Grid Search</a:t>
            </a:r>
          </a:p>
          <a:p>
            <a:pPr lvl="1"/>
            <a:r>
              <a:rPr lang="en-US" dirty="0"/>
              <a:t>Divide the parameter space into a grid</a:t>
            </a:r>
          </a:p>
          <a:p>
            <a:pPr lvl="1"/>
            <a:r>
              <a:rPr lang="en-US" dirty="0"/>
              <a:t>Try the parameters represented at each grid cell</a:t>
            </a:r>
          </a:p>
          <a:p>
            <a:r>
              <a:rPr lang="en-US" dirty="0"/>
              <a:t>"Smart" Grid Search:</a:t>
            </a:r>
          </a:p>
          <a:p>
            <a:pPr lvl="1"/>
            <a:r>
              <a:rPr lang="en-US" dirty="0"/>
              <a:t>Simulated Annealing</a:t>
            </a:r>
          </a:p>
          <a:p>
            <a:pPr lvl="1"/>
            <a:r>
              <a:rPr lang="en-US" dirty="0"/>
              <a:t>Genetic Algorithms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2C166-F934-0E48-8358-4BA90BB651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Analytical Calculus Techniques</a:t>
            </a:r>
          </a:p>
          <a:p>
            <a:pPr lvl="1"/>
            <a:r>
              <a:rPr lang="en-US" dirty="0"/>
              <a:t>Take the first derivative</a:t>
            </a:r>
          </a:p>
          <a:p>
            <a:pPr lvl="1"/>
            <a:r>
              <a:rPr lang="en-US" dirty="0"/>
              <a:t>Find the parameters which make the derivative output 0</a:t>
            </a:r>
          </a:p>
          <a:p>
            <a:r>
              <a:rPr lang="en-US" dirty="0"/>
              <a:t>Numerical techniques</a:t>
            </a:r>
          </a:p>
          <a:p>
            <a:pPr lvl="1"/>
            <a:r>
              <a:rPr lang="en-US" dirty="0"/>
              <a:t>Use the derivative to perform a "smart" search of the parameter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47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915D-E4DE-4D60-97D1-AE68C0F7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5D4000-205B-4B7B-AE33-A9349F3053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Common forms</a:t>
                </a:r>
              </a:p>
              <a:p>
                <a:endParaRPr lang="en-US" dirty="0"/>
              </a:p>
              <a:p>
                <a:r>
                  <a:rPr lang="en-US" dirty="0"/>
                  <a:t>Mean Absolute error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Mean-Squared Error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5D4000-205B-4B7B-AE33-A9349F305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8F0345C-19F0-4BC4-B6EF-3C6BB1D8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9413" y="1690688"/>
            <a:ext cx="5234845" cy="410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114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5.7899"/>
  <p:tag name="OUTPUTDPI" val="1200"/>
  <p:tag name="LATEXADDIN" val="\documentclass{article}&#10;\usepackage{amsmath}&#10;\pagestyle{empty}&#10;\begin{document}&#10;&#10;&#10;$\hat{y}=0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0.5391"/>
  <p:tag name="OUTPUTDPI" val="1200"/>
  <p:tag name="LATEXADDIN" val="\documentclass{article}&#10;\usepackage{amsmath}&#10;\pagestyle{empty}&#10;\begin{document}&#10;&#10;&#10;$\hat{y}=1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366"/>
  <p:tag name="ORIGINALWIDTH" val="810.8632"/>
  <p:tag name="OUTPUTDPI" val="1200"/>
  <p:tag name="LATEXADDIN" val="\documentclass{article}&#10;\usepackage{amsmath}&#10;\pagestyle{empty}&#10;\begin{document}&#10;&#10;&#10;\begin{align*}&#10;\sigma(s)= \frac{1}{1+e^{-s}}&#10;\end{align*}&#10;&#10;\end{document}"/>
  <p:tag name="IGUANATEXSIZE" val="20"/>
  <p:tag name="IGUANATEXCURSOR" val="124"/>
  <p:tag name="TRANSPARENCY" val="True"/>
  <p:tag name="FILENAME" val=""/>
  <p:tag name="INPUTTYPE" val="0"/>
  <p:tag name="LATEXENGINEID" val="1"/>
  <p:tag name="TEMPFOLDER" val="C:\Users\User\Documents\PowerPointLAtex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0.5391"/>
  <p:tag name="OUTPUTDPI" val="1200"/>
  <p:tag name="LATEXADDIN" val="\documentclass{article}&#10;\usepackage{amsmath}&#10;\pagestyle{empty}&#10;\begin{document}&#10;&#10;$y=1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5.7899"/>
  <p:tag name="OUTPUTDPI" val="1200"/>
  <p:tag name="LATEXADDIN" val="\documentclass{article}&#10;\usepackage{amsmath}&#10;\pagestyle{empty}&#10;\begin{document}&#10;&#10;$y=0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1177</Words>
  <Application>Microsoft Macintosh PowerPoint</Application>
  <PresentationFormat>Widescreen</PresentationFormat>
  <Paragraphs>198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Fitting a Model</vt:lpstr>
      <vt:lpstr>Logistic Regression</vt:lpstr>
      <vt:lpstr>Logistic Regression</vt:lpstr>
      <vt:lpstr>Formulation of the Optimization Problem</vt:lpstr>
      <vt:lpstr>Formulation of the Optimization Problem</vt:lpstr>
      <vt:lpstr>Formulation of the Optimization Problem</vt:lpstr>
      <vt:lpstr>Fitting a logistic Regression Model</vt:lpstr>
      <vt:lpstr>Formulation of the Optimization Problem</vt:lpstr>
      <vt:lpstr>Formulation of the Optimization Problem</vt:lpstr>
      <vt:lpstr>Formulation of the Optimization Problem</vt:lpstr>
      <vt:lpstr>Log Loss or Cross Entropy</vt:lpstr>
      <vt:lpstr>Log Loss or Cross Entropy</vt:lpstr>
      <vt:lpstr>Log Loss or Cross Entropy</vt:lpstr>
      <vt:lpstr>Fitting Logistic Regression </vt:lpstr>
      <vt:lpstr>Fitting Logistic Regression </vt:lpstr>
      <vt:lpstr>Fitting Logistic Regression</vt:lpstr>
      <vt:lpstr>Question</vt:lpstr>
      <vt:lpstr>Loss Function</vt:lpstr>
      <vt:lpstr>How to solve optimization problems? </vt:lpstr>
      <vt:lpstr>Training Phase</vt:lpstr>
      <vt:lpstr>Several Approaches </vt:lpstr>
      <vt:lpstr>Analytical &amp; Iterative Approach</vt:lpstr>
      <vt:lpstr>Smooth Functions</vt:lpstr>
      <vt:lpstr>Grid Search</vt:lpstr>
      <vt:lpstr>Grid Search</vt:lpstr>
      <vt:lpstr>Grid Search</vt:lpstr>
      <vt:lpstr>Grid Search</vt:lpstr>
      <vt:lpstr>Approaches for Optimizing Model Parameters</vt:lpstr>
      <vt:lpstr>Error functions</vt:lpstr>
    </vt:vector>
  </TitlesOfParts>
  <Company>Milwaukee School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Fitting a Model</dc:title>
  <dc:creator>Salami, Hawraa</dc:creator>
  <cp:lastModifiedBy>Bukowy, John</cp:lastModifiedBy>
  <cp:revision>3</cp:revision>
  <dcterms:created xsi:type="dcterms:W3CDTF">2022-10-19T01:53:07Z</dcterms:created>
  <dcterms:modified xsi:type="dcterms:W3CDTF">2024-11-08T18:57:08Z</dcterms:modified>
</cp:coreProperties>
</file>