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ink/ink1.xml" ContentType="application/inkml+xml"/>
  <Override PartName="/ppt/ink/ink2.xml" ContentType="application/inkml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ink/ink3.xml" ContentType="application/inkml+xml"/>
  <Override PartName="/ppt/ink/ink4.xml" ContentType="application/inkml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ink/ink5.xml" ContentType="application/inkml+xml"/>
  <Override PartName="/ppt/ink/ink6.xml" ContentType="application/inkml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ink/ink7.xml" ContentType="application/inkml+xml"/>
  <Override PartName="/ppt/ink/ink8.xml" ContentType="application/inkml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75" r:id="rId3"/>
    <p:sldId id="547" r:id="rId4"/>
    <p:sldId id="576" r:id="rId5"/>
    <p:sldId id="303" r:id="rId6"/>
    <p:sldId id="281" r:id="rId7"/>
    <p:sldId id="592" r:id="rId8"/>
    <p:sldId id="284" r:id="rId9"/>
    <p:sldId id="282" r:id="rId10"/>
    <p:sldId id="577" r:id="rId11"/>
    <p:sldId id="341" r:id="rId12"/>
    <p:sldId id="314" r:id="rId13"/>
    <p:sldId id="579" r:id="rId14"/>
    <p:sldId id="593" r:id="rId15"/>
    <p:sldId id="316" r:id="rId16"/>
    <p:sldId id="594" r:id="rId17"/>
    <p:sldId id="589" r:id="rId18"/>
    <p:sldId id="595" r:id="rId19"/>
    <p:sldId id="550" r:id="rId20"/>
    <p:sldId id="551" r:id="rId21"/>
    <p:sldId id="566" r:id="rId22"/>
    <p:sldId id="567" r:id="rId23"/>
    <p:sldId id="556" r:id="rId24"/>
    <p:sldId id="582" r:id="rId25"/>
    <p:sldId id="261" r:id="rId26"/>
    <p:sldId id="307" r:id="rId27"/>
    <p:sldId id="585" r:id="rId28"/>
    <p:sldId id="586" r:id="rId29"/>
    <p:sldId id="587" r:id="rId30"/>
    <p:sldId id="588" r:id="rId31"/>
    <p:sldId id="597" r:id="rId32"/>
    <p:sldId id="596" r:id="rId33"/>
    <p:sldId id="583" r:id="rId34"/>
    <p:sldId id="293" r:id="rId35"/>
    <p:sldId id="529" r:id="rId36"/>
    <p:sldId id="350" r:id="rId37"/>
    <p:sldId id="563" r:id="rId38"/>
    <p:sldId id="57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4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7T07:25:43.2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7T07:25:51.336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7T07:25:43.2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7T07:25:51.336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28T06:05:46.0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28T06:05:46.078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28T06:05:46.0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28T06:05:46.078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B829-8A23-1F3E-4B29-96ADE444A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80A44-3BCC-128B-86C3-97ED3E9EA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B57F-3F73-BA83-87C7-58D7D547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A1EA-408A-4A15-F473-15269753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FA098-AB03-6FF6-79A6-3A5AA1AC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0EF0-0D2D-DB0D-8D73-1EA3CE53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7E2D5-67B2-B009-57D2-43EEB1C5A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D3D6B-3446-9E6F-8391-CCA31D22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CB55A-5953-5759-431C-036BB952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C4213-7A25-133D-F143-5B6F0CB6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9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8FB9-E253-40D1-58FF-CADE8F26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ABF62-2B52-1B6A-A9A4-73CAEE78C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0D6C6-0D58-5812-9C0F-D0C8BC04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FCBA0-4F2A-E3DB-967E-3E8BD7BA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F219F-2B1D-16A3-E71E-60FE4547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4865-C9B4-5B3E-D86B-8E9BD621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F1838-03FE-C6D0-90D8-15E8D556D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C79C6-4109-3DD1-A9AF-FA0C02A60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7C427-2938-8BDB-A043-B2DFCB4E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7C573-1CE4-B2E1-DFF7-2CB66DAE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A9F3-A29A-5670-3818-918D0FF8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8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4679-0C9C-F352-8440-15CA0FB4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ACDF8-8FE6-FBF2-4BAA-A2C45CCED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F2A72-8363-9ED5-C64A-BF1E4FF7D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EF747-35ED-840E-1A1D-570700165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08F810-4193-B0C5-41B5-9DDACCFB3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FD858-1B29-7ABE-D486-56AFBBDB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B6252-CBE0-16EE-4169-797A5C0F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ADEE4-727F-B4C8-75E7-2E24C90D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8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E8D7-00E8-6246-DEC9-B7ACF165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678A5-E767-4007-CA60-1843FE37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63F65-4F7A-65DC-9303-7B1DE564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06FA1-85AA-5675-E639-CA9547E7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6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938AF-FB3B-C37E-D41A-3BC1BA9E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E293C-F64C-D242-A769-3D3EF82E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46BCE-88B3-E0B5-604D-6C7C4F4F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5A89-9B03-0C4F-6638-4E2BCC20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4A13-D936-9DCD-F46C-EBE8CCF9B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35A0D-6110-FAA7-5976-58033F958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F9AAB-1E30-7DD8-0A95-08954755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6AAEF-4E6B-1599-402B-D9941F3E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AEB42-D916-FB76-CDE2-72CB8AE6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09CB-E1E9-0AEB-7774-22BD346AB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991E1-E643-54E0-6E3B-9489F1E35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E7BF5-EEC1-52DE-E26D-2004A0118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F6558-E34B-0E62-6F6B-4AF3CA96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26619-0FDE-820A-5F71-AED7F0CB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D1CD4-1738-3BF5-1260-AE184C90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15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94D2-B08E-88B9-C9EB-B422E140A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B39C0-581A-4E5F-D4C9-FA5D6EC20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DB0AE-E256-ABB7-7AF6-E709C9B7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5788D-576D-1F2E-8AC9-02A6BAF5B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4AC9-8D55-484A-801D-3D953B43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8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246D5-903F-8B2F-453F-A51A4BEE9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547BD-2FCA-9D2E-17E0-B91F3CCDD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20BE-AEA4-84B9-D0F0-216EDF18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64F1C-24BE-4D56-905D-B079C6F5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3E14F-98C0-99D3-DE63-E65333E4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7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085C9-A63A-C4B0-CFDC-09880F59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473D3-D1E8-9B65-A9E5-940BAA8B1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C8A89-5AD1-C9FE-7488-D14CF4E3A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10D0B-C894-49F6-AF0C-E2CC522273BD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71400-4EF7-5C9E-FEF0-5B6A98192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90F82-5E1E-31E0-C76B-0A96166E4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5D5E3-1FB0-4EDA-A6B6-A9EC9C44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8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.png"/><Relationship Id="rId10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12" Type="http://schemas.openxmlformats.org/officeDocument/2006/relationships/image" Target="../media/image2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9.png"/><Relationship Id="rId11" Type="http://schemas.openxmlformats.org/officeDocument/2006/relationships/image" Target="../media/image21.png"/><Relationship Id="rId5" Type="http://schemas.openxmlformats.org/officeDocument/2006/relationships/image" Target="../media/image28.png"/><Relationship Id="rId10" Type="http://schemas.openxmlformats.org/officeDocument/2006/relationships/image" Target="../media/image20.png"/><Relationship Id="rId4" Type="http://schemas.openxmlformats.org/officeDocument/2006/relationships/image" Target="../media/image27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1.png"/><Relationship Id="rId18" Type="http://schemas.openxmlformats.org/officeDocument/2006/relationships/image" Target="../media/image22.png"/><Relationship Id="rId3" Type="http://schemas.openxmlformats.org/officeDocument/2006/relationships/tags" Target="../tags/tag13.xml"/><Relationship Id="rId7" Type="http://schemas.openxmlformats.org/officeDocument/2006/relationships/image" Target="../media/image32.png"/><Relationship Id="rId12" Type="http://schemas.openxmlformats.org/officeDocument/2006/relationships/image" Target="../media/image28.png"/><Relationship Id="rId17" Type="http://schemas.openxmlformats.org/officeDocument/2006/relationships/image" Target="../media/image21.png"/><Relationship Id="rId2" Type="http://schemas.openxmlformats.org/officeDocument/2006/relationships/tags" Target="../tags/tag12.xml"/><Relationship Id="rId16" Type="http://schemas.openxmlformats.org/officeDocument/2006/relationships/image" Target="../media/image20.png"/><Relationship Id="rId1" Type="http://schemas.openxmlformats.org/officeDocument/2006/relationships/tags" Target="../tags/tag11.xml"/><Relationship Id="rId6" Type="http://schemas.openxmlformats.org/officeDocument/2006/relationships/image" Target="../media/image31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19.png"/><Relationship Id="rId10" Type="http://schemas.openxmlformats.org/officeDocument/2006/relationships/image" Target="../media/image35.png"/><Relationship Id="rId19" Type="http://schemas.openxmlformats.org/officeDocument/2006/relationships/image" Target="../media/image36.png"/><Relationship Id="rId4" Type="http://schemas.openxmlformats.org/officeDocument/2006/relationships/tags" Target="../tags/tag14.xml"/><Relationship Id="rId9" Type="http://schemas.openxmlformats.org/officeDocument/2006/relationships/image" Target="../media/image34.png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2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4.png"/><Relationship Id="rId12" Type="http://schemas.openxmlformats.org/officeDocument/2006/relationships/image" Target="NUL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10" Type="http://schemas.openxmlformats.org/officeDocument/2006/relationships/customXml" Target="../ink/ink1.xml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4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4.png"/><Relationship Id="rId12" Type="http://schemas.openxmlformats.org/officeDocument/2006/relationships/image" Target="../media/image51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3.png"/><Relationship Id="rId11" Type="http://schemas.openxmlformats.org/officeDocument/2006/relationships/customXml" Target="../ink/ink3.xml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10" Type="http://schemas.openxmlformats.org/officeDocument/2006/relationships/image" Target="../media/image48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0.png"/><Relationship Id="rId18" Type="http://schemas.openxmlformats.org/officeDocument/2006/relationships/image" Target="../media/image5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6.png"/><Relationship Id="rId12" Type="http://schemas.openxmlformats.org/officeDocument/2006/relationships/image" Target="../media/image59.png"/><Relationship Id="rId17" Type="http://schemas.openxmlformats.org/officeDocument/2006/relationships/customXml" Target="../ink/ink6.xml"/><Relationship Id="rId2" Type="http://schemas.openxmlformats.org/officeDocument/2006/relationships/tags" Target="../tags/tag20.xml"/><Relationship Id="rId16" Type="http://schemas.openxmlformats.org/officeDocument/2006/relationships/image" Target="../media/image51.png"/><Relationship Id="rId20" Type="http://schemas.openxmlformats.org/officeDocument/2006/relationships/image" Target="../media/image63.png"/><Relationship Id="rId1" Type="http://schemas.openxmlformats.org/officeDocument/2006/relationships/tags" Target="../tags/tag19.xml"/><Relationship Id="rId6" Type="http://schemas.openxmlformats.org/officeDocument/2006/relationships/image" Target="../media/image55.png"/><Relationship Id="rId11" Type="http://schemas.openxmlformats.org/officeDocument/2006/relationships/image" Target="../media/image58.png"/><Relationship Id="rId5" Type="http://schemas.openxmlformats.org/officeDocument/2006/relationships/image" Target="../media/image50.svg"/><Relationship Id="rId15" Type="http://schemas.openxmlformats.org/officeDocument/2006/relationships/customXml" Target="../ink/ink5.xml"/><Relationship Id="rId10" Type="http://schemas.openxmlformats.org/officeDocument/2006/relationships/image" Target="../media/image42.png"/><Relationship Id="rId19" Type="http://schemas.openxmlformats.org/officeDocument/2006/relationships/image" Target="../media/image62.png"/><Relationship Id="rId4" Type="http://schemas.openxmlformats.org/officeDocument/2006/relationships/image" Target="../media/image49.png"/><Relationship Id="rId9" Type="http://schemas.openxmlformats.org/officeDocument/2006/relationships/image" Target="../media/image41.png"/><Relationship Id="rId1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0.png"/><Relationship Id="rId18" Type="http://schemas.openxmlformats.org/officeDocument/2006/relationships/image" Target="../media/image5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6.png"/><Relationship Id="rId12" Type="http://schemas.openxmlformats.org/officeDocument/2006/relationships/image" Target="../media/image59.png"/><Relationship Id="rId17" Type="http://schemas.openxmlformats.org/officeDocument/2006/relationships/customXml" Target="../ink/ink8.xml"/><Relationship Id="rId2" Type="http://schemas.openxmlformats.org/officeDocument/2006/relationships/tags" Target="../tags/tag22.xml"/><Relationship Id="rId16" Type="http://schemas.openxmlformats.org/officeDocument/2006/relationships/image" Target="../media/image51.png"/><Relationship Id="rId20" Type="http://schemas.openxmlformats.org/officeDocument/2006/relationships/image" Target="../media/image63.png"/><Relationship Id="rId1" Type="http://schemas.openxmlformats.org/officeDocument/2006/relationships/tags" Target="../tags/tag21.xml"/><Relationship Id="rId6" Type="http://schemas.openxmlformats.org/officeDocument/2006/relationships/image" Target="../media/image55.png"/><Relationship Id="rId11" Type="http://schemas.openxmlformats.org/officeDocument/2006/relationships/image" Target="../media/image58.png"/><Relationship Id="rId5" Type="http://schemas.openxmlformats.org/officeDocument/2006/relationships/image" Target="../media/image50.svg"/><Relationship Id="rId15" Type="http://schemas.openxmlformats.org/officeDocument/2006/relationships/customXml" Target="../ink/ink7.xml"/><Relationship Id="rId10" Type="http://schemas.openxmlformats.org/officeDocument/2006/relationships/image" Target="../media/image42.png"/><Relationship Id="rId19" Type="http://schemas.openxmlformats.org/officeDocument/2006/relationships/image" Target="../media/image65.png"/><Relationship Id="rId4" Type="http://schemas.openxmlformats.org/officeDocument/2006/relationships/image" Target="../media/image49.png"/><Relationship Id="rId9" Type="http://schemas.openxmlformats.org/officeDocument/2006/relationships/image" Target="../media/image41.png"/><Relationship Id="rId1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1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70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0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8.png"/><Relationship Id="rId18" Type="http://schemas.openxmlformats.org/officeDocument/2006/relationships/image" Target="../media/image21.png"/><Relationship Id="rId3" Type="http://schemas.openxmlformats.org/officeDocument/2006/relationships/tags" Target="../tags/tag29.xml"/><Relationship Id="rId21" Type="http://schemas.openxmlformats.org/officeDocument/2006/relationships/image" Target="../media/image14.png"/><Relationship Id="rId7" Type="http://schemas.openxmlformats.org/officeDocument/2006/relationships/image" Target="../media/image31.png"/><Relationship Id="rId12" Type="http://schemas.openxmlformats.org/officeDocument/2006/relationships/image" Target="../media/image27.png"/><Relationship Id="rId17" Type="http://schemas.openxmlformats.org/officeDocument/2006/relationships/image" Target="../media/image20.png"/><Relationship Id="rId2" Type="http://schemas.openxmlformats.org/officeDocument/2006/relationships/tags" Target="../tags/tag28.xml"/><Relationship Id="rId16" Type="http://schemas.openxmlformats.org/officeDocument/2006/relationships/image" Target="../media/image19.png"/><Relationship Id="rId20" Type="http://schemas.openxmlformats.org/officeDocument/2006/relationships/image" Target="../media/image36.png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24" Type="http://schemas.openxmlformats.org/officeDocument/2006/relationships/image" Target="../media/image17.png"/><Relationship Id="rId5" Type="http://schemas.openxmlformats.org/officeDocument/2006/relationships/tags" Target="../tags/tag31.xml"/><Relationship Id="rId15" Type="http://schemas.openxmlformats.org/officeDocument/2006/relationships/image" Target="../media/image18.png"/><Relationship Id="rId23" Type="http://schemas.openxmlformats.org/officeDocument/2006/relationships/image" Target="../media/image16.png"/><Relationship Id="rId10" Type="http://schemas.openxmlformats.org/officeDocument/2006/relationships/image" Target="../media/image34.png"/><Relationship Id="rId19" Type="http://schemas.openxmlformats.org/officeDocument/2006/relationships/image" Target="../media/image22.png"/><Relationship Id="rId4" Type="http://schemas.openxmlformats.org/officeDocument/2006/relationships/tags" Target="../tags/tag30.xml"/><Relationship Id="rId9" Type="http://schemas.openxmlformats.org/officeDocument/2006/relationships/image" Target="../media/image33.png"/><Relationship Id="rId14" Type="http://schemas.openxmlformats.org/officeDocument/2006/relationships/image" Target="../media/image1.png"/><Relationship Id="rId22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gi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shrutijadon10104776/survey-on-activation-functions-for-deep-learning-9689331ba092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B932-E397-4929-95D5-E688161E3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E6D2B-55C7-4A2B-B516-E6D8FFBE9A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CSC4601 Theory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5313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C475-6802-46EE-8041-49D5951E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5D28D-2095-4009-B017-B14B2E253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Overview - How does logistic regression predict the labels?</a:t>
            </a:r>
          </a:p>
          <a:p>
            <a:pPr>
              <a:lnSpc>
                <a:spcPct val="100000"/>
              </a:lnSpc>
            </a:pPr>
            <a:r>
              <a:rPr lang="en-US" dirty="0"/>
              <a:t>Training and Prediction phases</a:t>
            </a:r>
          </a:p>
          <a:p>
            <a:pPr>
              <a:lnSpc>
                <a:spcPct val="100000"/>
              </a:lnSpc>
            </a:pPr>
            <a:r>
              <a:rPr lang="en-US" dirty="0"/>
              <a:t>Logistic Regression in Scikit learn</a:t>
            </a:r>
          </a:p>
          <a:p>
            <a:pPr>
              <a:lnSpc>
                <a:spcPct val="100000"/>
              </a:lnSpc>
            </a:pPr>
            <a:r>
              <a:rPr lang="en-US" dirty="0"/>
              <a:t>Do we need to scale features?</a:t>
            </a:r>
          </a:p>
          <a:p>
            <a:pPr>
              <a:lnSpc>
                <a:spcPct val="100000"/>
              </a:lnSpc>
            </a:pPr>
            <a:r>
              <a:rPr lang="en-US" dirty="0"/>
              <a:t>Multi-class classification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5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96A5-7EDA-CA4F-A4D5-FF586308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F4E30-547D-BE4D-99A8-7E426EC7B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Despite its name, Logistic Regression is a model for </a:t>
            </a:r>
            <a:r>
              <a:rPr lang="en-US" b="1" dirty="0"/>
              <a:t>classification</a:t>
            </a:r>
            <a:r>
              <a:rPr lang="en-US" dirty="0"/>
              <a:t>, not regression.</a:t>
            </a:r>
          </a:p>
          <a:p>
            <a:pPr>
              <a:lnSpc>
                <a:spcPct val="100000"/>
              </a:lnSpc>
            </a:pPr>
            <a:r>
              <a:rPr lang="en-US" dirty="0"/>
              <a:t>It’s a linear model for </a:t>
            </a:r>
            <a:r>
              <a:rPr lang="en-US" b="1" dirty="0"/>
              <a:t>binary classification </a:t>
            </a:r>
            <a:r>
              <a:rPr lang="en-US" dirty="0"/>
              <a:t>that is easy to implement.</a:t>
            </a:r>
          </a:p>
          <a:p>
            <a:pPr>
              <a:lnSpc>
                <a:spcPct val="100000"/>
              </a:lnSpc>
            </a:pPr>
            <a:r>
              <a:rPr lang="en-US" dirty="0"/>
              <a:t>It is one of the most widely used machine learning model.</a:t>
            </a:r>
          </a:p>
          <a:p>
            <a:pPr>
              <a:lnSpc>
                <a:spcPct val="100000"/>
              </a:lnSpc>
            </a:pPr>
            <a:r>
              <a:rPr lang="en-US" dirty="0"/>
              <a:t>Logistic regression </a:t>
            </a:r>
            <a:r>
              <a:rPr lang="en-US" b="1" dirty="0"/>
              <a:t>models the class probability</a:t>
            </a:r>
            <a:r>
              <a:rPr lang="en-US" dirty="0"/>
              <a:t>: the probability that an instance belongs to class 1 or 0.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71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5DD052-30DB-48FE-8777-8B17C1D8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87046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62AAA56B-0CE4-6667-9D5A-F161FA500C9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Linear Models 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02FF85C5-9E72-8507-B67A-0DD0D29A6E4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1A27A1E-888B-54BB-63FA-75F6F977ECCC}"/>
              </a:ext>
            </a:extLst>
          </p:cNvPr>
          <p:cNvSpPr/>
          <p:nvPr/>
        </p:nvSpPr>
        <p:spPr>
          <a:xfrm>
            <a:off x="3131129" y="3408218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+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5D876AB-C7FB-2A60-D6C1-6A3A369324A5}"/>
              </a:ext>
            </a:extLst>
          </p:cNvPr>
          <p:cNvCxnSpPr>
            <a:endCxn id="62" idx="0"/>
          </p:cNvCxnSpPr>
          <p:nvPr/>
        </p:nvCxnSpPr>
        <p:spPr>
          <a:xfrm>
            <a:off x="1856511" y="2826327"/>
            <a:ext cx="1641764" cy="58189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36CE309-7D59-7F0D-DC71-DCAAA86AF68A}"/>
              </a:ext>
            </a:extLst>
          </p:cNvPr>
          <p:cNvCxnSpPr>
            <a:endCxn id="62" idx="1"/>
          </p:cNvCxnSpPr>
          <p:nvPr/>
        </p:nvCxnSpPr>
        <p:spPr>
          <a:xfrm>
            <a:off x="1828800" y="3297383"/>
            <a:ext cx="1409863" cy="21634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83AE2A7-3DA5-4707-9D69-45448D5E77B9}"/>
              </a:ext>
            </a:extLst>
          </p:cNvPr>
          <p:cNvCxnSpPr>
            <a:endCxn id="62" idx="3"/>
          </p:cNvCxnSpPr>
          <p:nvPr/>
        </p:nvCxnSpPr>
        <p:spPr>
          <a:xfrm flipV="1">
            <a:off x="1911930" y="4023149"/>
            <a:ext cx="1326733" cy="42416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436442-4752-D7AB-6CC9-5C8A69EE558B}"/>
              </a:ext>
            </a:extLst>
          </p:cNvPr>
          <p:cNvCxnSpPr>
            <a:endCxn id="62" idx="4"/>
          </p:cNvCxnSpPr>
          <p:nvPr/>
        </p:nvCxnSpPr>
        <p:spPr>
          <a:xfrm flipV="1">
            <a:off x="1911930" y="4128654"/>
            <a:ext cx="1586345" cy="7204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73443B41-6461-19B0-56C2-28E4BB75EE3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84" y="3676072"/>
            <a:ext cx="30484" cy="22863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314DCE3-EA95-4FEF-7B64-20052196A9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457" y="3606800"/>
            <a:ext cx="30484" cy="228632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3152F68-C5CF-51E1-C388-53432D1CE652}"/>
              </a:ext>
            </a:extLst>
          </p:cNvPr>
          <p:cNvCxnSpPr>
            <a:stCxn id="62" idx="6"/>
          </p:cNvCxnSpPr>
          <p:nvPr/>
        </p:nvCxnSpPr>
        <p:spPr>
          <a:xfrm flipV="1">
            <a:off x="3865420" y="3740727"/>
            <a:ext cx="4754880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7195C25-7697-9009-E828-16E8909F9E2B}"/>
                  </a:ext>
                </a:extLst>
              </p:cNvPr>
              <p:cNvSpPr txBox="1"/>
              <p:nvPr/>
            </p:nvSpPr>
            <p:spPr>
              <a:xfrm>
                <a:off x="1063451" y="2566183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7195C25-7697-9009-E828-16E8909F9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51" y="2566183"/>
                <a:ext cx="11811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910E3E-4238-2AF5-85F5-F002881F94F6}"/>
                  </a:ext>
                </a:extLst>
              </p:cNvPr>
              <p:cNvSpPr txBox="1"/>
              <p:nvPr/>
            </p:nvSpPr>
            <p:spPr>
              <a:xfrm>
                <a:off x="1025293" y="304241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910E3E-4238-2AF5-85F5-F002881F9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93" y="3042418"/>
                <a:ext cx="1181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71AF60-55AD-B586-5871-0B9C090EB0A3}"/>
                  </a:ext>
                </a:extLst>
              </p:cNvPr>
              <p:cNvSpPr txBox="1"/>
              <p:nvPr/>
            </p:nvSpPr>
            <p:spPr>
              <a:xfrm>
                <a:off x="979634" y="4224254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71AF60-55AD-B586-5871-0B9C090EB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34" y="4224254"/>
                <a:ext cx="11811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F8D8125-A7E8-B630-225F-8C3F22A710DD}"/>
                  </a:ext>
                </a:extLst>
              </p:cNvPr>
              <p:cNvSpPr txBox="1"/>
              <p:nvPr/>
            </p:nvSpPr>
            <p:spPr>
              <a:xfrm>
                <a:off x="977039" y="467149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F8D8125-A7E8-B630-225F-8C3F22A7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039" y="4671492"/>
                <a:ext cx="1181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445CB61-6E5D-F071-1EDC-E8C5759EDCA3}"/>
                  </a:ext>
                </a:extLst>
              </p:cNvPr>
              <p:cNvSpPr txBox="1"/>
              <p:nvPr/>
            </p:nvSpPr>
            <p:spPr>
              <a:xfrm>
                <a:off x="1856511" y="3906069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445CB61-6E5D-F071-1EDC-E8C5759ED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511" y="3906069"/>
                <a:ext cx="11811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45D4C78-6EB8-E1A0-EB66-172BF0D5CFF0}"/>
                  </a:ext>
                </a:extLst>
              </p:cNvPr>
              <p:cNvSpPr txBox="1"/>
              <p:nvPr/>
            </p:nvSpPr>
            <p:spPr>
              <a:xfrm>
                <a:off x="1828800" y="3030754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45D4C78-6EB8-E1A0-EB66-172BF0D5C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030754"/>
                <a:ext cx="11811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936C87B-29FE-4BA9-1621-624407451958}"/>
                  </a:ext>
                </a:extLst>
              </p:cNvPr>
              <p:cNvSpPr txBox="1"/>
              <p:nvPr/>
            </p:nvSpPr>
            <p:spPr>
              <a:xfrm>
                <a:off x="1855589" y="2680576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936C87B-29FE-4BA9-1621-624407451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589" y="2680576"/>
                <a:ext cx="1181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F1F3E28-E31B-FF29-3378-99A45B381152}"/>
                  </a:ext>
                </a:extLst>
              </p:cNvPr>
              <p:cNvSpPr txBox="1"/>
              <p:nvPr/>
            </p:nvSpPr>
            <p:spPr>
              <a:xfrm>
                <a:off x="1838327" y="430990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F1F3E28-E31B-FF29-3378-99A45B381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7" y="4309902"/>
                <a:ext cx="11811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69A5BD0-3BF9-FB85-0F2B-93F02D69C75C}"/>
                  </a:ext>
                </a:extLst>
              </p:cNvPr>
              <p:cNvSpPr txBox="1"/>
              <p:nvPr/>
            </p:nvSpPr>
            <p:spPr>
              <a:xfrm>
                <a:off x="4246757" y="3397908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69A5BD0-3BF9-FB85-0F2B-93F02D69C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757" y="3397908"/>
                <a:ext cx="340765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036E4C53-177F-FD73-A235-61CC3BABF894}"/>
              </a:ext>
            </a:extLst>
          </p:cNvPr>
          <p:cNvSpPr txBox="1"/>
          <p:nvPr/>
        </p:nvSpPr>
        <p:spPr>
          <a:xfrm>
            <a:off x="1999775" y="1690188"/>
            <a:ext cx="1641764" cy="71508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Weight each feature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83C5CD2-A333-7347-8F09-9A54648FED59}"/>
              </a:ext>
            </a:extLst>
          </p:cNvPr>
          <p:cNvCxnSpPr>
            <a:stCxn id="79" idx="2"/>
          </p:cNvCxnSpPr>
          <p:nvPr/>
        </p:nvCxnSpPr>
        <p:spPr>
          <a:xfrm flipH="1">
            <a:off x="2562225" y="2405277"/>
            <a:ext cx="258432" cy="338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B75716D9-5706-EFE9-D9B7-8BF75B3ADA3C}"/>
              </a:ext>
            </a:extLst>
          </p:cNvPr>
          <p:cNvSpPr txBox="1"/>
          <p:nvPr/>
        </p:nvSpPr>
        <p:spPr>
          <a:xfrm>
            <a:off x="5322686" y="2253138"/>
            <a:ext cx="1859159" cy="71508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Weighted sum of features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D2BFC0E-4292-EBCD-4FAA-A985D26B320E}"/>
              </a:ext>
            </a:extLst>
          </p:cNvPr>
          <p:cNvCxnSpPr/>
          <p:nvPr/>
        </p:nvCxnSpPr>
        <p:spPr>
          <a:xfrm flipH="1">
            <a:off x="6096000" y="2968227"/>
            <a:ext cx="0" cy="338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2774051-E8CF-3600-C082-DF7D57AEBD08}"/>
                  </a:ext>
                </a:extLst>
              </p:cNvPr>
              <p:cNvSpPr txBox="1"/>
              <p:nvPr/>
            </p:nvSpPr>
            <p:spPr>
              <a:xfrm>
                <a:off x="7650765" y="3502456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2774051-E8CF-3600-C082-DF7D57AEB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765" y="3502456"/>
                <a:ext cx="340765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DC79E2E-FD1E-C1F2-7B41-BA7A0CBEE9F6}"/>
                  </a:ext>
                </a:extLst>
              </p:cNvPr>
              <p:cNvSpPr txBox="1"/>
              <p:nvPr/>
            </p:nvSpPr>
            <p:spPr>
              <a:xfrm>
                <a:off x="4152900" y="4593586"/>
                <a:ext cx="4676775" cy="2220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where,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eqArr>
                          </m:e>
                        </m:eqArr>
                      </m:e>
                    </m:d>
                  </m:oMath>
                </a14:m>
                <a:r>
                  <a:rPr lang="en-US" dirty="0"/>
                  <a:t>    and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eqAr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DC79E2E-FD1E-C1F2-7B41-BA7A0CBEE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4593586"/>
                <a:ext cx="4676775" cy="2220801"/>
              </a:xfrm>
              <a:prstGeom prst="rect">
                <a:avLst/>
              </a:prstGeom>
              <a:blipFill>
                <a:blip r:embed="rId15"/>
                <a:stretch>
                  <a:fillRect l="-1043" t="-1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79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86463" y="2857990"/>
                <a:ext cx="603284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is a continuous value, not suitable to use for classification.</a:t>
                </a:r>
              </a:p>
              <a:p>
                <a:pPr marR="0" lvl="0" algn="l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How does logistic regression convert this output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so it is more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suitable for classification?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463" y="2857990"/>
                <a:ext cx="6032840" cy="2308324"/>
              </a:xfrm>
              <a:prstGeom prst="rect">
                <a:avLst/>
              </a:prstGeom>
              <a:blipFill>
                <a:blip r:embed="rId4"/>
                <a:stretch>
                  <a:fillRect l="-1416" t="-2116" r="-2427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0135E336-6089-B459-0AFD-05BEE5C2577E}"/>
              </a:ext>
            </a:extLst>
          </p:cNvPr>
          <p:cNvSpPr/>
          <p:nvPr/>
        </p:nvSpPr>
        <p:spPr>
          <a:xfrm>
            <a:off x="2065499" y="3628904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+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E386BD-E807-28CE-A6AE-EE19506B62A2}"/>
              </a:ext>
            </a:extLst>
          </p:cNvPr>
          <p:cNvCxnSpPr>
            <a:endCxn id="4" idx="0"/>
          </p:cNvCxnSpPr>
          <p:nvPr/>
        </p:nvCxnSpPr>
        <p:spPr>
          <a:xfrm>
            <a:off x="790881" y="3047013"/>
            <a:ext cx="1641764" cy="58189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F52039-68F7-56BF-3481-7C0E48D64213}"/>
              </a:ext>
            </a:extLst>
          </p:cNvPr>
          <p:cNvCxnSpPr>
            <a:endCxn id="4" idx="1"/>
          </p:cNvCxnSpPr>
          <p:nvPr/>
        </p:nvCxnSpPr>
        <p:spPr>
          <a:xfrm>
            <a:off x="763170" y="3518069"/>
            <a:ext cx="1409863" cy="21634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BFD2A9-80D0-D4AE-DE3B-30734FA80D04}"/>
              </a:ext>
            </a:extLst>
          </p:cNvPr>
          <p:cNvCxnSpPr>
            <a:endCxn id="4" idx="3"/>
          </p:cNvCxnSpPr>
          <p:nvPr/>
        </p:nvCxnSpPr>
        <p:spPr>
          <a:xfrm flipV="1">
            <a:off x="846300" y="4243835"/>
            <a:ext cx="1326733" cy="42416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E79945-2B79-091E-DD2B-F18C008F8E2B}"/>
              </a:ext>
            </a:extLst>
          </p:cNvPr>
          <p:cNvCxnSpPr>
            <a:endCxn id="4" idx="4"/>
          </p:cNvCxnSpPr>
          <p:nvPr/>
        </p:nvCxnSpPr>
        <p:spPr>
          <a:xfrm flipV="1">
            <a:off x="846300" y="4349340"/>
            <a:ext cx="1586345" cy="7204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04B44B3-FD26-5E86-420F-E9D40A98CE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54" y="3896758"/>
            <a:ext cx="30484" cy="2286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82BF3C-8FD5-17BA-968C-601946F4B79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27" y="3827486"/>
            <a:ext cx="30484" cy="22863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54AAC2-89E7-8CE7-235A-041C5A2F0F08}"/>
              </a:ext>
            </a:extLst>
          </p:cNvPr>
          <p:cNvCxnSpPr>
            <a:cxnSpLocks/>
          </p:cNvCxnSpPr>
          <p:nvPr/>
        </p:nvCxnSpPr>
        <p:spPr>
          <a:xfrm>
            <a:off x="2799790" y="3941802"/>
            <a:ext cx="205484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87AECB-0EAB-6C06-F6DB-405CD09CF91E}"/>
                  </a:ext>
                </a:extLst>
              </p:cNvPr>
              <p:cNvSpPr txBox="1"/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87AECB-0EAB-6C06-F6DB-405CD09CF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2A05F-7983-54FE-2221-EFCA0A3E29EE}"/>
                  </a:ext>
                </a:extLst>
              </p:cNvPr>
              <p:cNvSpPr txBox="1"/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2A05F-7983-54FE-2221-EFCA0A3E2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B78AEE-4E6C-3BAF-F495-CB015F9425D7}"/>
                  </a:ext>
                </a:extLst>
              </p:cNvPr>
              <p:cNvSpPr txBox="1"/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B78AEE-4E6C-3BAF-F495-CB015F94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5EC5EC-0708-3E17-CE6F-64CFC944659F}"/>
                  </a:ext>
                </a:extLst>
              </p:cNvPr>
              <p:cNvSpPr txBox="1"/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5EC5EC-0708-3E17-CE6F-64CFC944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A7D58A-3FEB-C491-F480-2D6F02ECB53A}"/>
                  </a:ext>
                </a:extLst>
              </p:cNvPr>
              <p:cNvSpPr txBox="1"/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A7D58A-3FEB-C491-F480-2D6F02ECB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A6329E-FC48-EFEB-1429-DA86C798F923}"/>
                  </a:ext>
                </a:extLst>
              </p:cNvPr>
              <p:cNvSpPr txBox="1"/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A6329E-FC48-EFEB-1429-DA86C798F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7F52A3-7A2F-B88D-7F30-74B0315F06CF}"/>
                  </a:ext>
                </a:extLst>
              </p:cNvPr>
              <p:cNvSpPr txBox="1"/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7F52A3-7A2F-B88D-7F30-74B0315F0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DC71A0-5BBD-3AA9-23A9-A4C2C3986F05}"/>
                  </a:ext>
                </a:extLst>
              </p:cNvPr>
              <p:cNvSpPr txBox="1"/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DC71A0-5BBD-3AA9-23A9-A4C2C3986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C5C1F6-4547-CDFE-B0B1-9F42BB576C99}"/>
                  </a:ext>
                </a:extLst>
              </p:cNvPr>
              <p:cNvSpPr txBox="1"/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C5C1F6-4547-CDFE-B0B1-9F42BB576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493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57491" y="2017105"/>
                <a:ext cx="590203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Logistic regression maps the weighted sum to a certainty measure:</a:t>
                </a:r>
              </a:p>
              <a:p>
                <a:pPr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  <a:defRPr/>
                </a:pPr>
                <a:r>
                  <a:rPr lang="en-US" sz="2000" dirty="0">
                    <a:solidFill>
                      <a:prstClr val="black"/>
                    </a:solidFill>
                    <a:latin typeface="Calibri" panose="020F0502020204030204"/>
                  </a:rPr>
                  <a:t>I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positive and very big,  let’s map it to 1</a:t>
                </a:r>
                <a:r>
                  <a:rPr lang="en-US" sz="2000" dirty="0">
                    <a:solidFill>
                      <a:prstClr val="black"/>
                    </a:solidFill>
                    <a:latin typeface="Calibri" panose="020F0502020204030204"/>
                  </a:rPr>
                  <a:t>. The bigger the number is, the more certain it belongs to class 1.</a:t>
                </a:r>
              </a:p>
              <a:p>
                <a:pPr lvl="1">
                  <a:defRPr/>
                </a:pPr>
                <a:endParaRPr lang="en-US" sz="20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negative</a:t>
                </a:r>
                <a:r>
                  <a:rPr kumimoji="0" lang="en-US" sz="20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very small,  let’s map it to 0. The smaller the</a:t>
                </a:r>
                <a:r>
                  <a:rPr kumimoji="0" lang="en-US" sz="20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number is, the more certain it belongs to class 0.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1" y="2017105"/>
                <a:ext cx="5902036" cy="3477875"/>
              </a:xfrm>
              <a:prstGeom prst="rect">
                <a:avLst/>
              </a:prstGeom>
              <a:blipFill>
                <a:blip r:embed="rId4"/>
                <a:stretch>
                  <a:fillRect l="-930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524925" y="5159677"/>
            <a:ext cx="59020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How is this exactly done? By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passing the weighted sum through a logistic function.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135E336-6089-B459-0AFD-05BEE5C2577E}"/>
              </a:ext>
            </a:extLst>
          </p:cNvPr>
          <p:cNvSpPr/>
          <p:nvPr/>
        </p:nvSpPr>
        <p:spPr>
          <a:xfrm>
            <a:off x="2065499" y="3628904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+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E386BD-E807-28CE-A6AE-EE19506B62A2}"/>
              </a:ext>
            </a:extLst>
          </p:cNvPr>
          <p:cNvCxnSpPr>
            <a:endCxn id="4" idx="0"/>
          </p:cNvCxnSpPr>
          <p:nvPr/>
        </p:nvCxnSpPr>
        <p:spPr>
          <a:xfrm>
            <a:off x="790881" y="3047013"/>
            <a:ext cx="1641764" cy="58189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F52039-68F7-56BF-3481-7C0E48D64213}"/>
              </a:ext>
            </a:extLst>
          </p:cNvPr>
          <p:cNvCxnSpPr>
            <a:endCxn id="4" idx="1"/>
          </p:cNvCxnSpPr>
          <p:nvPr/>
        </p:nvCxnSpPr>
        <p:spPr>
          <a:xfrm>
            <a:off x="763170" y="3518069"/>
            <a:ext cx="1409863" cy="21634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BFD2A9-80D0-D4AE-DE3B-30734FA80D04}"/>
              </a:ext>
            </a:extLst>
          </p:cNvPr>
          <p:cNvCxnSpPr>
            <a:endCxn id="4" idx="3"/>
          </p:cNvCxnSpPr>
          <p:nvPr/>
        </p:nvCxnSpPr>
        <p:spPr>
          <a:xfrm flipV="1">
            <a:off x="846300" y="4243835"/>
            <a:ext cx="1326733" cy="42416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E79945-2B79-091E-DD2B-F18C008F8E2B}"/>
              </a:ext>
            </a:extLst>
          </p:cNvPr>
          <p:cNvCxnSpPr>
            <a:endCxn id="4" idx="4"/>
          </p:cNvCxnSpPr>
          <p:nvPr/>
        </p:nvCxnSpPr>
        <p:spPr>
          <a:xfrm flipV="1">
            <a:off x="846300" y="4349340"/>
            <a:ext cx="1586345" cy="7204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04B44B3-FD26-5E86-420F-E9D40A98CE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54" y="3896758"/>
            <a:ext cx="30484" cy="2286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82BF3C-8FD5-17BA-968C-601946F4B79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27" y="3827486"/>
            <a:ext cx="30484" cy="22863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54AAC2-89E7-8CE7-235A-041C5A2F0F08}"/>
              </a:ext>
            </a:extLst>
          </p:cNvPr>
          <p:cNvCxnSpPr>
            <a:cxnSpLocks/>
          </p:cNvCxnSpPr>
          <p:nvPr/>
        </p:nvCxnSpPr>
        <p:spPr>
          <a:xfrm>
            <a:off x="2799790" y="3941802"/>
            <a:ext cx="205484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87AECB-0EAB-6C06-F6DB-405CD09CF91E}"/>
                  </a:ext>
                </a:extLst>
              </p:cNvPr>
              <p:cNvSpPr txBox="1"/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87AECB-0EAB-6C06-F6DB-405CD09CF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2A05F-7983-54FE-2221-EFCA0A3E29EE}"/>
                  </a:ext>
                </a:extLst>
              </p:cNvPr>
              <p:cNvSpPr txBox="1"/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2A05F-7983-54FE-2221-EFCA0A3E2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B78AEE-4E6C-3BAF-F495-CB015F9425D7}"/>
                  </a:ext>
                </a:extLst>
              </p:cNvPr>
              <p:cNvSpPr txBox="1"/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B78AEE-4E6C-3BAF-F495-CB015F94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5EC5EC-0708-3E17-CE6F-64CFC944659F}"/>
                  </a:ext>
                </a:extLst>
              </p:cNvPr>
              <p:cNvSpPr txBox="1"/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5EC5EC-0708-3E17-CE6F-64CFC944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A7D58A-3FEB-C491-F480-2D6F02ECB53A}"/>
                  </a:ext>
                </a:extLst>
              </p:cNvPr>
              <p:cNvSpPr txBox="1"/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A7D58A-3FEB-C491-F480-2D6F02ECB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A6329E-FC48-EFEB-1429-DA86C798F923}"/>
                  </a:ext>
                </a:extLst>
              </p:cNvPr>
              <p:cNvSpPr txBox="1"/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A6329E-FC48-EFEB-1429-DA86C798F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7F52A3-7A2F-B88D-7F30-74B0315F06CF}"/>
                  </a:ext>
                </a:extLst>
              </p:cNvPr>
              <p:cNvSpPr txBox="1"/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7F52A3-7A2F-B88D-7F30-74B0315F0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DC71A0-5BBD-3AA9-23A9-A4C2C3986F05}"/>
                  </a:ext>
                </a:extLst>
              </p:cNvPr>
              <p:cNvSpPr txBox="1"/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DC71A0-5BBD-3AA9-23A9-A4C2C3986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C5C1F6-4547-CDFE-B0B1-9F42BB576C99}"/>
                  </a:ext>
                </a:extLst>
              </p:cNvPr>
              <p:cNvSpPr txBox="1"/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C5C1F6-4547-CDFE-B0B1-9F42BB576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81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r="5005"/>
          <a:stretch/>
        </p:blipFill>
        <p:spPr>
          <a:xfrm>
            <a:off x="5464609" y="1987550"/>
            <a:ext cx="6583680" cy="4505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B6C978-3BD6-A448-8D02-2A5030CB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Sigmoid or Logistic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F5679F-01C2-1542-9FCF-DE147F85918C}"/>
              </a:ext>
            </a:extLst>
          </p:cNvPr>
          <p:cNvSpPr/>
          <p:nvPr/>
        </p:nvSpPr>
        <p:spPr>
          <a:xfrm>
            <a:off x="6185187" y="2748148"/>
            <a:ext cx="1966351" cy="604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01704" y="6269478"/>
            <a:ext cx="6049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98030" y="3945964"/>
            <a:ext cx="6049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441" y="2623530"/>
            <a:ext cx="1828800" cy="59211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535" y="6319497"/>
            <a:ext cx="182880" cy="2248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A15600-3A0D-28CA-C983-56FA7F6C433F}"/>
              </a:ext>
            </a:extLst>
          </p:cNvPr>
          <p:cNvSpPr txBox="1"/>
          <p:nvPr/>
        </p:nvSpPr>
        <p:spPr>
          <a:xfrm>
            <a:off x="838200" y="2205318"/>
            <a:ext cx="45495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sigmoid function compressions the range –infinity, infinity to the range 0 to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output of the sigmoid function is treated as certainty measure or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603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25" name="Oval 24"/>
          <p:cNvSpPr/>
          <p:nvPr/>
        </p:nvSpPr>
        <p:spPr>
          <a:xfrm>
            <a:off x="4876796" y="3574473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863" y="3800241"/>
            <a:ext cx="548640" cy="273933"/>
          </a:xfrm>
          <a:prstGeom prst="rect">
            <a:avLst/>
          </a:prstGeom>
        </p:spPr>
      </p:pic>
      <p:cxnSp>
        <p:nvCxnSpPr>
          <p:cNvPr id="38" name="Straight Arrow Connector 37"/>
          <p:cNvCxnSpPr/>
          <p:nvPr/>
        </p:nvCxnSpPr>
        <p:spPr>
          <a:xfrm flipV="1">
            <a:off x="5611086" y="3906982"/>
            <a:ext cx="1260764" cy="1385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636" y="5033818"/>
            <a:ext cx="1647674" cy="5334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88873" y="4475018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Logistic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5955" y="2231647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779435" y="1842868"/>
            <a:ext cx="3470030" cy="1659987"/>
            <a:chOff x="7779435" y="1842868"/>
            <a:chExt cx="3470030" cy="1659987"/>
          </a:xfrm>
        </p:grpSpPr>
        <p:sp>
          <p:nvSpPr>
            <p:cNvPr id="47" name="Rounded Rectangle 46"/>
            <p:cNvSpPr/>
            <p:nvPr/>
          </p:nvSpPr>
          <p:spPr>
            <a:xfrm>
              <a:off x="8609428" y="1842868"/>
              <a:ext cx="2518117" cy="144897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787620" y="2025751"/>
              <a:ext cx="24618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The output of sigmoid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 interpreted as: 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H="1">
              <a:off x="7779435" y="2686929"/>
              <a:ext cx="731519" cy="8159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22E16-4E7D-44A7-9EF2-95680181F9C4}"/>
                  </a:ext>
                </a:extLst>
              </p:cNvPr>
              <p:cNvSpPr txBox="1"/>
              <p:nvPr/>
            </p:nvSpPr>
            <p:spPr>
              <a:xfrm>
                <a:off x="6937534" y="3613372"/>
                <a:ext cx="1532599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22E16-4E7D-44A7-9EF2-95680181F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534" y="3613372"/>
                <a:ext cx="1532599" cy="5536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86BFC0A6-3D80-302B-B82E-395E3607C445}"/>
              </a:ext>
            </a:extLst>
          </p:cNvPr>
          <p:cNvSpPr/>
          <p:nvPr/>
        </p:nvSpPr>
        <p:spPr>
          <a:xfrm>
            <a:off x="2065499" y="3628904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+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F9C55B-F87C-A46C-D14C-1AE00A73D332}"/>
              </a:ext>
            </a:extLst>
          </p:cNvPr>
          <p:cNvCxnSpPr>
            <a:endCxn id="8" idx="0"/>
          </p:cNvCxnSpPr>
          <p:nvPr/>
        </p:nvCxnSpPr>
        <p:spPr>
          <a:xfrm>
            <a:off x="790881" y="3047013"/>
            <a:ext cx="1641764" cy="58189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005DBB-89DA-AD28-1D6F-232354D54A97}"/>
              </a:ext>
            </a:extLst>
          </p:cNvPr>
          <p:cNvCxnSpPr>
            <a:endCxn id="8" idx="1"/>
          </p:cNvCxnSpPr>
          <p:nvPr/>
        </p:nvCxnSpPr>
        <p:spPr>
          <a:xfrm>
            <a:off x="763170" y="3518069"/>
            <a:ext cx="1409863" cy="21634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8B18B6-0B35-8550-9DDF-8F8696910680}"/>
              </a:ext>
            </a:extLst>
          </p:cNvPr>
          <p:cNvCxnSpPr>
            <a:endCxn id="8" idx="3"/>
          </p:cNvCxnSpPr>
          <p:nvPr/>
        </p:nvCxnSpPr>
        <p:spPr>
          <a:xfrm flipV="1">
            <a:off x="846300" y="4243835"/>
            <a:ext cx="1326733" cy="42416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BB0D61-F029-56EC-C6A9-31E939F22E34}"/>
              </a:ext>
            </a:extLst>
          </p:cNvPr>
          <p:cNvCxnSpPr>
            <a:endCxn id="8" idx="4"/>
          </p:cNvCxnSpPr>
          <p:nvPr/>
        </p:nvCxnSpPr>
        <p:spPr>
          <a:xfrm flipV="1">
            <a:off x="846300" y="4349340"/>
            <a:ext cx="1586345" cy="7204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4089127-9F04-10A8-7F60-3F2F24C7B3D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27" y="3827486"/>
            <a:ext cx="30484" cy="22863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2D05DA-F97F-8987-2EFD-B83FE5B8D3D3}"/>
              </a:ext>
            </a:extLst>
          </p:cNvPr>
          <p:cNvCxnSpPr>
            <a:cxnSpLocks/>
          </p:cNvCxnSpPr>
          <p:nvPr/>
        </p:nvCxnSpPr>
        <p:spPr>
          <a:xfrm>
            <a:off x="2799790" y="3941802"/>
            <a:ext cx="205484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44109E-68F7-98EF-6E06-B907F2C94785}"/>
                  </a:ext>
                </a:extLst>
              </p:cNvPr>
              <p:cNvSpPr txBox="1"/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44109E-68F7-98EF-6E06-B907F2C94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3601E3-391C-89D8-E7DC-B62E007A140E}"/>
                  </a:ext>
                </a:extLst>
              </p:cNvPr>
              <p:cNvSpPr txBox="1"/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3601E3-391C-89D8-E7DC-B62E007A1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707D63-DF44-DF3E-1120-D0267CA04651}"/>
                  </a:ext>
                </a:extLst>
              </p:cNvPr>
              <p:cNvSpPr txBox="1"/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707D63-DF44-DF3E-1120-D0267CA04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6B8C47-6F46-ABF9-A567-B91E3B446257}"/>
                  </a:ext>
                </a:extLst>
              </p:cNvPr>
              <p:cNvSpPr txBox="1"/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6B8C47-6F46-ABF9-A567-B91E3B446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512CB5-CC08-13C5-E0CA-2D39791F43BF}"/>
                  </a:ext>
                </a:extLst>
              </p:cNvPr>
              <p:cNvSpPr txBox="1"/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512CB5-CC08-13C5-E0CA-2D39791F4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DDCDBF-10E6-FE70-AE40-7DB2D7106CB1}"/>
                  </a:ext>
                </a:extLst>
              </p:cNvPr>
              <p:cNvSpPr txBox="1"/>
              <p:nvPr/>
            </p:nvSpPr>
            <p:spPr>
              <a:xfrm>
                <a:off x="9378305" y="2762762"/>
                <a:ext cx="12068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DDCDBF-10E6-FE70-AE40-7DB2D7106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8305" y="2762762"/>
                <a:ext cx="1206800" cy="276999"/>
              </a:xfrm>
              <a:prstGeom prst="rect">
                <a:avLst/>
              </a:prstGeom>
              <a:blipFill>
                <a:blip r:embed="rId13"/>
                <a:stretch>
                  <a:fillRect l="-1515" t="-2174" r="-454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56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5955" y="2231647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22E16-4E7D-44A7-9EF2-95680181F9C4}"/>
                  </a:ext>
                </a:extLst>
              </p:cNvPr>
              <p:cNvSpPr txBox="1"/>
              <p:nvPr/>
            </p:nvSpPr>
            <p:spPr>
              <a:xfrm>
                <a:off x="5879615" y="3208427"/>
                <a:ext cx="1532599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122E16-4E7D-44A7-9EF2-95680181F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15" y="3208427"/>
                <a:ext cx="1532599" cy="5536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A49C1C7B-94BB-485C-8517-4BB9F326CFFC}"/>
              </a:ext>
            </a:extLst>
          </p:cNvPr>
          <p:cNvSpPr txBox="1"/>
          <p:nvPr/>
        </p:nvSpPr>
        <p:spPr>
          <a:xfrm>
            <a:off x="7975955" y="2231647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FBB6486-F67B-432B-A87A-A6BA92909489}"/>
              </a:ext>
            </a:extLst>
          </p:cNvPr>
          <p:cNvCxnSpPr/>
          <p:nvPr/>
        </p:nvCxnSpPr>
        <p:spPr>
          <a:xfrm flipV="1">
            <a:off x="7690760" y="3018374"/>
            <a:ext cx="1737360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A451F93-0366-4D85-9EF3-12A971A556C7}"/>
              </a:ext>
            </a:extLst>
          </p:cNvPr>
          <p:cNvCxnSpPr/>
          <p:nvPr/>
        </p:nvCxnSpPr>
        <p:spPr>
          <a:xfrm flipV="1">
            <a:off x="7690760" y="4684542"/>
            <a:ext cx="1737360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FCACE5-0D3E-4423-A6D7-5088BA9FD8BD}"/>
              </a:ext>
            </a:extLst>
          </p:cNvPr>
          <p:cNvCxnSpPr/>
          <p:nvPr/>
        </p:nvCxnSpPr>
        <p:spPr>
          <a:xfrm>
            <a:off x="7695028" y="3010486"/>
            <a:ext cx="0" cy="1674056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188425C3-AFBD-4128-8BDD-C9F7282DDA3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569" y="4549336"/>
            <a:ext cx="580726" cy="22710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D321346E-31B7-48AF-94EC-A3F5BD061709}"/>
              </a:ext>
            </a:extLst>
          </p:cNvPr>
          <p:cNvSpPr txBox="1"/>
          <p:nvPr/>
        </p:nvSpPr>
        <p:spPr>
          <a:xfrm>
            <a:off x="7898383" y="5396777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Thresholding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ounded Rectangle 56">
            <a:extLst>
              <a:ext uri="{FF2B5EF4-FFF2-40B4-BE49-F238E27FC236}">
                <a16:creationId xmlns:a16="http://schemas.microsoft.com/office/drawing/2014/main" id="{E96C4525-1787-4A0B-9046-ECBF6E45FF3D}"/>
              </a:ext>
            </a:extLst>
          </p:cNvPr>
          <p:cNvSpPr/>
          <p:nvPr/>
        </p:nvSpPr>
        <p:spPr>
          <a:xfrm>
            <a:off x="5711482" y="2053883"/>
            <a:ext cx="1477109" cy="46423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A4649A3-541D-4F02-882C-5579BA70A909}"/>
              </a:ext>
            </a:extLst>
          </p:cNvPr>
          <p:cNvCxnSpPr/>
          <p:nvPr/>
        </p:nvCxnSpPr>
        <p:spPr>
          <a:xfrm>
            <a:off x="6457073" y="2686928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48027C7-501D-460A-B929-CA3BB70D70DB}"/>
                  </a:ext>
                </a:extLst>
              </p:cNvPr>
              <p:cNvSpPr txBox="1"/>
              <p:nvPr/>
            </p:nvSpPr>
            <p:spPr>
              <a:xfrm>
                <a:off x="7708134" y="2191440"/>
                <a:ext cx="2138534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48027C7-501D-460A-B929-CA3BB70D7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134" y="2191440"/>
                <a:ext cx="2138534" cy="5536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D777AA6-4DE0-4207-84EC-01B007097692}"/>
                  </a:ext>
                </a:extLst>
              </p:cNvPr>
              <p:cNvSpPr txBox="1"/>
              <p:nvPr/>
            </p:nvSpPr>
            <p:spPr>
              <a:xfrm>
                <a:off x="7645349" y="4708227"/>
                <a:ext cx="2138534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D777AA6-4DE0-4207-84EC-01B007097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349" y="4708227"/>
                <a:ext cx="2138534" cy="5536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" name="Picture 69">
            <a:extLst>
              <a:ext uri="{FF2B5EF4-FFF2-40B4-BE49-F238E27FC236}">
                <a16:creationId xmlns:a16="http://schemas.microsoft.com/office/drawing/2014/main" id="{15659E7B-AF54-492B-B86E-55665E1B90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846" y="2863557"/>
            <a:ext cx="570056" cy="22710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A5C94BA-4D6E-E3ED-FE48-6631D3906B26}"/>
              </a:ext>
            </a:extLst>
          </p:cNvPr>
          <p:cNvSpPr/>
          <p:nvPr/>
        </p:nvSpPr>
        <p:spPr>
          <a:xfrm>
            <a:off x="4876796" y="3574473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05B820-725F-F4AA-5A58-A885A5DC829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863" y="3800241"/>
            <a:ext cx="548640" cy="27393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AE75BF-376E-0DB4-A232-33D19446FBD4}"/>
              </a:ext>
            </a:extLst>
          </p:cNvPr>
          <p:cNvCxnSpPr/>
          <p:nvPr/>
        </p:nvCxnSpPr>
        <p:spPr>
          <a:xfrm flipV="1">
            <a:off x="5611086" y="3906982"/>
            <a:ext cx="2103120" cy="1385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577963E-0183-FDA3-5B9D-A02174F4072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636" y="5033818"/>
            <a:ext cx="1647674" cy="5334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1BFBE1-1616-7D50-CA9D-88280C63253A}"/>
              </a:ext>
            </a:extLst>
          </p:cNvPr>
          <p:cNvSpPr txBox="1"/>
          <p:nvPr/>
        </p:nvSpPr>
        <p:spPr>
          <a:xfrm>
            <a:off x="4488873" y="4486035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Logistic Function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3443B5-812B-A4B5-8045-CE0687D05B92}"/>
              </a:ext>
            </a:extLst>
          </p:cNvPr>
          <p:cNvSpPr/>
          <p:nvPr/>
        </p:nvSpPr>
        <p:spPr>
          <a:xfrm>
            <a:off x="2065499" y="3628904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+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D3398F-84A5-5E67-6C12-62394A1EB188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90881" y="3047013"/>
            <a:ext cx="1641764" cy="58189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0D5A5E-FD04-B3B1-4383-1DF8FF715B0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63170" y="3518069"/>
            <a:ext cx="1409863" cy="21634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EB699E-F3F8-F47A-77FB-C7CDCEF0D18F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846300" y="4243835"/>
            <a:ext cx="1326733" cy="42416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E9F24B-7446-5529-4A07-D4ABDBB9B822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846300" y="4349340"/>
            <a:ext cx="1586345" cy="7204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4617A2B-3BD8-6E3D-9A3C-89A360AFDCA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27" y="3827486"/>
            <a:ext cx="30484" cy="228632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EDC53D-78F1-60E6-5085-513BFE25E92C}"/>
              </a:ext>
            </a:extLst>
          </p:cNvPr>
          <p:cNvCxnSpPr>
            <a:cxnSpLocks/>
          </p:cNvCxnSpPr>
          <p:nvPr/>
        </p:nvCxnSpPr>
        <p:spPr>
          <a:xfrm>
            <a:off x="2799790" y="3941802"/>
            <a:ext cx="205484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10D827-4389-9FE5-FA4F-16209106AE8C}"/>
                  </a:ext>
                </a:extLst>
              </p:cNvPr>
              <p:cNvSpPr txBox="1"/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10D827-4389-9FE5-FA4F-16209106A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72AE1-EA4D-3024-469E-70020796D01E}"/>
                  </a:ext>
                </a:extLst>
              </p:cNvPr>
              <p:cNvSpPr txBox="1"/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72AE1-EA4D-3024-469E-70020796D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E527B9-3434-60A0-6526-B7AE565C1690}"/>
                  </a:ext>
                </a:extLst>
              </p:cNvPr>
              <p:cNvSpPr txBox="1"/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E527B9-3434-60A0-6526-B7AE565C1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BD39EE-ECEB-C74E-4CFC-45988DA21CB1}"/>
                  </a:ext>
                </a:extLst>
              </p:cNvPr>
              <p:cNvSpPr txBox="1"/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BD39EE-ECEB-C74E-4CFC-45988DA21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BD7973-4B1C-F1A2-EAF2-798353E7B66A}"/>
                  </a:ext>
                </a:extLst>
              </p:cNvPr>
              <p:cNvSpPr txBox="1"/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BD7973-4B1C-F1A2-EAF2-798353E7B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635C264-3A5D-A41E-58EC-49303010A335}"/>
                  </a:ext>
                </a:extLst>
              </p:cNvPr>
              <p:cNvSpPr txBox="1"/>
              <p:nvPr/>
            </p:nvSpPr>
            <p:spPr>
              <a:xfrm>
                <a:off x="5879615" y="2150950"/>
                <a:ext cx="12140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635C264-3A5D-A41E-58EC-49303010A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15" y="2150950"/>
                <a:ext cx="1214042" cy="276999"/>
              </a:xfrm>
              <a:prstGeom prst="rect">
                <a:avLst/>
              </a:prstGeom>
              <a:blipFill>
                <a:blip r:embed="rId19"/>
                <a:stretch>
                  <a:fillRect l="-1508" t="-2222" r="-4020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661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9B84-A97A-4C1E-B5DE-C96BAF5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0FC8E-09BC-4C1B-9951-036F3552DB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Logistic Regression assumes that there are two outputs (e.g., positive and negative)</a:t>
            </a:r>
          </a:p>
          <a:p>
            <a:pPr>
              <a:lnSpc>
                <a:spcPct val="110000"/>
              </a:lnSpc>
            </a:pPr>
            <a:r>
              <a:rPr lang="en-US" dirty="0"/>
              <a:t>Logistic Regression outputs a probability that the data point is in the positive class:</a:t>
            </a:r>
            <a:br>
              <a:rPr lang="en-US" dirty="0"/>
            </a:br>
            <a:r>
              <a:rPr lang="en-US" dirty="0"/>
              <a:t>	P(y = 1)</a:t>
            </a:r>
          </a:p>
          <a:p>
            <a:pPr>
              <a:lnSpc>
                <a:spcPct val="110000"/>
              </a:lnSpc>
            </a:pPr>
            <a:r>
              <a:rPr lang="en-US" dirty="0"/>
              <a:t>We threshold this probability.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P(y=1) &gt;= 0.5, we predict y=1.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Otherwise, we predict y=0.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548344D-29AB-8349-8FE5-079555E4C5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3137515"/>
              </p:ext>
            </p:extLst>
          </p:nvPr>
        </p:nvGraphicFramePr>
        <p:xfrm>
          <a:off x="6351494" y="2345578"/>
          <a:ext cx="518160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322174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P(y = </a:t>
                      </a:r>
                      <a:r>
                        <a:rPr lang="en-US" sz="2800" b="0" dirty="0" err="1"/>
                        <a:t>setosa</a:t>
                      </a:r>
                      <a:r>
                        <a:rPr lang="en-US" sz="28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51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000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85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79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4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641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72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Geometric interpretation: linear classification model!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39915" y="2630905"/>
            <a:ext cx="5662863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02378" y="2638925"/>
            <a:ext cx="3200400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90020" y="2630906"/>
            <a:ext cx="1828800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67B91E-3C4A-4B0F-968C-E8D3C476E6DE}"/>
                  </a:ext>
                </a:extLst>
              </p:cNvPr>
              <p:cNvSpPr txBox="1"/>
              <p:nvPr/>
            </p:nvSpPr>
            <p:spPr>
              <a:xfrm>
                <a:off x="1208675" y="1632674"/>
                <a:ext cx="3902799" cy="738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67B91E-3C4A-4B0F-968C-E8D3C476E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675" y="1632674"/>
                <a:ext cx="3902799" cy="7382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004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It’s a linear classification model!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39915" y="2630905"/>
            <a:ext cx="5662863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02378" y="2638925"/>
            <a:ext cx="3200400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90020" y="2630906"/>
            <a:ext cx="1828800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67B91E-3C4A-4B0F-968C-E8D3C476E6DE}"/>
                  </a:ext>
                </a:extLst>
              </p:cNvPr>
              <p:cNvSpPr txBox="1"/>
              <p:nvPr/>
            </p:nvSpPr>
            <p:spPr>
              <a:xfrm>
                <a:off x="1208675" y="1632674"/>
                <a:ext cx="3902799" cy="738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67B91E-3C4A-4B0F-968C-E8D3C476E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675" y="1632674"/>
                <a:ext cx="3902799" cy="7382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634922-3358-4752-9EE1-CF715A8118B9}"/>
                  </a:ext>
                </a:extLst>
              </p:cNvPr>
              <p:cNvSpPr txBox="1"/>
              <p:nvPr/>
            </p:nvSpPr>
            <p:spPr>
              <a:xfrm>
                <a:off x="2466448" y="3273588"/>
                <a:ext cx="11045170" cy="200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634922-3358-4752-9EE1-CF715A811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448" y="3273588"/>
                <a:ext cx="11045170" cy="2000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833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It’s a linear classification model!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25353" cy="4351338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39915" y="2630905"/>
            <a:ext cx="5662863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02378" y="2638925"/>
            <a:ext cx="3200400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90020" y="2630906"/>
            <a:ext cx="1828800" cy="8823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6FF677-15DB-5D77-5684-B1B6884CB7D4}"/>
              </a:ext>
            </a:extLst>
          </p:cNvPr>
          <p:cNvSpPr/>
          <p:nvPr/>
        </p:nvSpPr>
        <p:spPr>
          <a:xfrm>
            <a:off x="1280392" y="1669117"/>
            <a:ext cx="797546" cy="7382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67B91E-3C4A-4B0F-968C-E8D3C476E6DE}"/>
                  </a:ext>
                </a:extLst>
              </p:cNvPr>
              <p:cNvSpPr txBox="1"/>
              <p:nvPr/>
            </p:nvSpPr>
            <p:spPr>
              <a:xfrm>
                <a:off x="1208675" y="1632674"/>
                <a:ext cx="3902799" cy="738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67B91E-3C4A-4B0F-968C-E8D3C476E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675" y="1632674"/>
                <a:ext cx="3902799" cy="7382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A05B23-C553-EC87-E236-222649144E08}"/>
              </a:ext>
            </a:extLst>
          </p:cNvPr>
          <p:cNvSpPr/>
          <p:nvPr/>
        </p:nvSpPr>
        <p:spPr>
          <a:xfrm>
            <a:off x="243471" y="2980574"/>
            <a:ext cx="2660151" cy="8308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828FFE-46B1-8D70-138E-5EC06318265E}"/>
              </a:ext>
            </a:extLst>
          </p:cNvPr>
          <p:cNvSpPr/>
          <p:nvPr/>
        </p:nvSpPr>
        <p:spPr>
          <a:xfrm>
            <a:off x="3324344" y="4377972"/>
            <a:ext cx="1991725" cy="7382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634922-3358-4752-9EE1-CF715A8118B9}"/>
                  </a:ext>
                </a:extLst>
              </p:cNvPr>
              <p:cNvSpPr txBox="1"/>
              <p:nvPr/>
            </p:nvSpPr>
            <p:spPr>
              <a:xfrm>
                <a:off x="243471" y="2980574"/>
                <a:ext cx="6220082" cy="200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634922-3358-4752-9EE1-CF715A811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71" y="2980574"/>
                <a:ext cx="6220082" cy="2000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46">
                <a:extLst>
                  <a:ext uri="{FF2B5EF4-FFF2-40B4-BE49-F238E27FC236}">
                    <a16:creationId xmlns:a16="http://schemas.microsoft.com/office/drawing/2014/main" id="{C3B2F1CB-B85B-2662-6A48-140F96B18575}"/>
                  </a:ext>
                </a:extLst>
              </p:cNvPr>
              <p:cNvSpPr/>
              <p:nvPr/>
            </p:nvSpPr>
            <p:spPr>
              <a:xfrm>
                <a:off x="6605337" y="3097703"/>
                <a:ext cx="5126837" cy="2441596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342900" marR="0" lvl="0" indent="-34290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Checking if P(y=1|x)&gt;=0.5 is equivalent to checking if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belongs to the half-space defined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</a:p>
              <a:p>
                <a:pPr marL="342900" marR="0" lvl="0" indent="-34290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20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342900" marR="0" lvl="0" indent="-34290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If it is true, predict the label 1. Otherwise, predict 0. </a:t>
                </a:r>
              </a:p>
            </p:txBody>
          </p:sp>
        </mc:Choice>
        <mc:Fallback xmlns="">
          <p:sp>
            <p:nvSpPr>
              <p:cNvPr id="8" name="Rounded Rectangle 46">
                <a:extLst>
                  <a:ext uri="{FF2B5EF4-FFF2-40B4-BE49-F238E27FC236}">
                    <a16:creationId xmlns:a16="http://schemas.microsoft.com/office/drawing/2014/main" id="{C3B2F1CB-B85B-2662-6A48-140F96B185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337" y="3097703"/>
                <a:ext cx="5126837" cy="24415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817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Geometric Interpretation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433553" y="3800763"/>
            <a:ext cx="3435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1948845" y="1934951"/>
            <a:ext cx="2176" cy="3825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086696" y="2180970"/>
            <a:ext cx="2403566" cy="3069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Picture 5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268" y="3871885"/>
            <a:ext cx="222535" cy="149373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2" y="1725222"/>
            <a:ext cx="227108" cy="14937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EFBE190-1139-462F-A829-A5910BCEEF0D}"/>
              </a:ext>
            </a:extLst>
          </p:cNvPr>
          <p:cNvSpPr txBox="1"/>
          <p:nvPr/>
        </p:nvSpPr>
        <p:spPr>
          <a:xfrm>
            <a:off x="0" y="3900473"/>
            <a:ext cx="466636" cy="2658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19F998-8962-40E0-B623-AC419751E36F}"/>
                  </a:ext>
                </a:extLst>
              </p:cNvPr>
              <p:cNvSpPr txBox="1"/>
              <p:nvPr/>
            </p:nvSpPr>
            <p:spPr>
              <a:xfrm>
                <a:off x="821084" y="526334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19F998-8962-40E0-B623-AC419751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84" y="5263345"/>
                <a:ext cx="6096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701DB6-278D-4A0F-92AF-0D437CBDF326}"/>
              </a:ext>
            </a:extLst>
          </p:cNvPr>
          <p:cNvCxnSpPr>
            <a:cxnSpLocks/>
          </p:cNvCxnSpPr>
          <p:nvPr/>
        </p:nvCxnSpPr>
        <p:spPr>
          <a:xfrm rot="16200000">
            <a:off x="2135335" y="3043153"/>
            <a:ext cx="349034" cy="4576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52A5784-22C9-4E68-8035-ACBED3B661EA}"/>
                  </a:ext>
                </a:extLst>
              </p:cNvPr>
              <p:cNvSpPr txBox="1"/>
              <p:nvPr/>
            </p:nvSpPr>
            <p:spPr>
              <a:xfrm>
                <a:off x="-738148" y="280415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52A5784-22C9-4E68-8035-ACBED3B66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8148" y="2804152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13E98A3-E810-4E01-9C5F-CED38A45AA5D}"/>
                  </a:ext>
                </a:extLst>
              </p:cNvPr>
              <p:cNvSpPr txBox="1"/>
              <p:nvPr/>
            </p:nvSpPr>
            <p:spPr>
              <a:xfrm>
                <a:off x="-1961304" y="468599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13E98A3-E810-4E01-9C5F-CED38A45A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61304" y="4685991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15D391F-2BAE-4750-B560-89DF7217439C}"/>
                  </a:ext>
                </a:extLst>
              </p:cNvPr>
              <p:cNvSpPr txBox="1"/>
              <p:nvPr/>
            </p:nvSpPr>
            <p:spPr>
              <a:xfrm>
                <a:off x="231606" y="208181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15D391F-2BAE-4750-B560-89DF72174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6" y="2081818"/>
                <a:ext cx="60960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E19E348-A69D-4223-81DF-44C3ACE14247}"/>
                  </a:ext>
                </a:extLst>
              </p14:cNvPr>
              <p14:cNvContentPartPr/>
              <p14:nvPr/>
            </p14:nvContentPartPr>
            <p14:xfrm>
              <a:off x="3234133" y="33979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E19E348-A69D-4223-81DF-44C3ACE1424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25493" y="3388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A06501-BC7D-4459-A802-228188DAAD09}"/>
                  </a:ext>
                </a:extLst>
              </p14:cNvPr>
              <p14:cNvContentPartPr/>
              <p14:nvPr/>
            </p14:nvContentPartPr>
            <p14:xfrm>
              <a:off x="3248173" y="339791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A06501-BC7D-4459-A802-228188DAAD0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85173" y="333491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D920AA-961C-4785-BCBE-1AFAC39287AD}"/>
                  </a:ext>
                </a:extLst>
              </p:cNvPr>
              <p:cNvSpPr txBox="1"/>
              <p:nvPr/>
            </p:nvSpPr>
            <p:spPr>
              <a:xfrm>
                <a:off x="3357349" y="3097465"/>
                <a:ext cx="4576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D920AA-961C-4785-BCBE-1AFAC3928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349" y="3097465"/>
                <a:ext cx="45766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89762ED-1D0F-41DB-9FEF-8964110EBD4E}"/>
              </a:ext>
            </a:extLst>
          </p:cNvPr>
          <p:cNvCxnSpPr>
            <a:cxnSpLocks/>
          </p:cNvCxnSpPr>
          <p:nvPr/>
        </p:nvCxnSpPr>
        <p:spPr>
          <a:xfrm flipV="1">
            <a:off x="2505657" y="3397916"/>
            <a:ext cx="728476" cy="5571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7E9AE6-7530-4896-B9FD-23B53167B02F}"/>
              </a:ext>
            </a:extLst>
          </p:cNvPr>
          <p:cNvSpPr txBox="1"/>
          <p:nvPr/>
        </p:nvSpPr>
        <p:spPr>
          <a:xfrm>
            <a:off x="2656954" y="3336646"/>
            <a:ext cx="27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44044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Geometric Interpretation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433553" y="3800763"/>
            <a:ext cx="3435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1948845" y="1934951"/>
            <a:ext cx="2176" cy="3825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086696" y="2180970"/>
            <a:ext cx="2403566" cy="3069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Picture 5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268" y="3871885"/>
            <a:ext cx="222535" cy="149373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2" y="1725222"/>
            <a:ext cx="227108" cy="14937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EFBE190-1139-462F-A829-A5910BCEEF0D}"/>
              </a:ext>
            </a:extLst>
          </p:cNvPr>
          <p:cNvSpPr txBox="1"/>
          <p:nvPr/>
        </p:nvSpPr>
        <p:spPr>
          <a:xfrm>
            <a:off x="0" y="3900473"/>
            <a:ext cx="466636" cy="2658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19F998-8962-40E0-B623-AC419751E36F}"/>
                  </a:ext>
                </a:extLst>
              </p:cNvPr>
              <p:cNvSpPr txBox="1"/>
              <p:nvPr/>
            </p:nvSpPr>
            <p:spPr>
              <a:xfrm>
                <a:off x="821084" y="526334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19F998-8962-40E0-B623-AC419751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84" y="5263345"/>
                <a:ext cx="6096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701DB6-278D-4A0F-92AF-0D437CBDF326}"/>
              </a:ext>
            </a:extLst>
          </p:cNvPr>
          <p:cNvCxnSpPr>
            <a:cxnSpLocks/>
          </p:cNvCxnSpPr>
          <p:nvPr/>
        </p:nvCxnSpPr>
        <p:spPr>
          <a:xfrm rot="16200000">
            <a:off x="2135335" y="3043153"/>
            <a:ext cx="349034" cy="4576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52A5784-22C9-4E68-8035-ACBED3B661EA}"/>
                  </a:ext>
                </a:extLst>
              </p:cNvPr>
              <p:cNvSpPr txBox="1"/>
              <p:nvPr/>
            </p:nvSpPr>
            <p:spPr>
              <a:xfrm>
                <a:off x="-738148" y="280415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52A5784-22C9-4E68-8035-ACBED3B66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8148" y="2804152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13E98A3-E810-4E01-9C5F-CED38A45AA5D}"/>
                  </a:ext>
                </a:extLst>
              </p:cNvPr>
              <p:cNvSpPr txBox="1"/>
              <p:nvPr/>
            </p:nvSpPr>
            <p:spPr>
              <a:xfrm>
                <a:off x="-1961304" y="468599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13E98A3-E810-4E01-9C5F-CED38A45A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61304" y="4685991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15D391F-2BAE-4750-B560-89DF7217439C}"/>
                  </a:ext>
                </a:extLst>
              </p:cNvPr>
              <p:cNvSpPr txBox="1"/>
              <p:nvPr/>
            </p:nvSpPr>
            <p:spPr>
              <a:xfrm>
                <a:off x="231606" y="208181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15D391F-2BAE-4750-B560-89DF72174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6" y="2081818"/>
                <a:ext cx="60960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E32078-E45F-429A-8663-76F868A8CAEB}"/>
                  </a:ext>
                </a:extLst>
              </p:cNvPr>
              <p:cNvSpPr txBox="1"/>
              <p:nvPr/>
            </p:nvSpPr>
            <p:spPr>
              <a:xfrm>
                <a:off x="5182807" y="1740506"/>
                <a:ext cx="5982550" cy="5205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said that the greater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is, the more certain we are that x belongs to class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said that the smaller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is, the less certain we are that x belongs to class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Why is that?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can show that distance d can be expressed as follows:</a:t>
                </a:r>
              </a:p>
              <a:p>
                <a:pPr algn="ctr"/>
                <a:r>
                  <a:rPr lang="en-US" sz="2000" dirty="0"/>
                  <a:t>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greater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is, the more distant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from the hyperplane.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E32078-E45F-429A-8663-76F868A8C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807" y="1740506"/>
                <a:ext cx="5982550" cy="5205464"/>
              </a:xfrm>
              <a:prstGeom prst="rect">
                <a:avLst/>
              </a:prstGeom>
              <a:blipFill>
                <a:blip r:embed="rId10"/>
                <a:stretch>
                  <a:fillRect l="-847" t="-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E19E348-A69D-4223-81DF-44C3ACE14247}"/>
                  </a:ext>
                </a:extLst>
              </p14:cNvPr>
              <p14:cNvContentPartPr/>
              <p14:nvPr/>
            </p14:nvContentPartPr>
            <p14:xfrm>
              <a:off x="3234133" y="33979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E19E348-A69D-4223-81DF-44C3ACE1424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25133" y="3388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A06501-BC7D-4459-A802-228188DAAD09}"/>
                  </a:ext>
                </a:extLst>
              </p14:cNvPr>
              <p14:cNvContentPartPr/>
              <p14:nvPr/>
            </p14:nvContentPartPr>
            <p14:xfrm>
              <a:off x="3248173" y="339791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A06501-BC7D-4459-A802-228188DAAD0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85173" y="333491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D920AA-961C-4785-BCBE-1AFAC39287AD}"/>
                  </a:ext>
                </a:extLst>
              </p:cNvPr>
              <p:cNvSpPr txBox="1"/>
              <p:nvPr/>
            </p:nvSpPr>
            <p:spPr>
              <a:xfrm>
                <a:off x="3357349" y="3097465"/>
                <a:ext cx="4576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D920AA-961C-4785-BCBE-1AFAC3928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349" y="3097465"/>
                <a:ext cx="45766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89762ED-1D0F-41DB-9FEF-8964110EBD4E}"/>
              </a:ext>
            </a:extLst>
          </p:cNvPr>
          <p:cNvCxnSpPr>
            <a:cxnSpLocks/>
          </p:cNvCxnSpPr>
          <p:nvPr/>
        </p:nvCxnSpPr>
        <p:spPr>
          <a:xfrm flipV="1">
            <a:off x="2505657" y="3397916"/>
            <a:ext cx="728476" cy="5571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7E9AE6-7530-4896-B9FD-23B53167B02F}"/>
              </a:ext>
            </a:extLst>
          </p:cNvPr>
          <p:cNvSpPr txBox="1"/>
          <p:nvPr/>
        </p:nvSpPr>
        <p:spPr>
          <a:xfrm>
            <a:off x="2656954" y="3336646"/>
            <a:ext cx="27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54582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D9E59AA9-6322-4E0C-BC0F-9A7D0EB25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1821" y="842771"/>
            <a:ext cx="5181600" cy="345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BD3121-AB89-4C39-8625-C76891289BC5}"/>
                  </a:ext>
                </a:extLst>
              </p:cNvPr>
              <p:cNvSpPr txBox="1"/>
              <p:nvPr/>
            </p:nvSpPr>
            <p:spPr>
              <a:xfrm>
                <a:off x="8754034" y="0"/>
                <a:ext cx="4247641" cy="816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BD3121-AB89-4C39-8625-C76891289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034" y="0"/>
                <a:ext cx="4247641" cy="8166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3E00D8-447F-4086-8DD1-713CC8BA2274}"/>
                  </a:ext>
                </a:extLst>
              </p:cNvPr>
              <p:cNvSpPr txBox="1"/>
              <p:nvPr/>
            </p:nvSpPr>
            <p:spPr>
              <a:xfrm>
                <a:off x="7308428" y="4283182"/>
                <a:ext cx="36869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3E00D8-447F-4086-8DD1-713CC8BA2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428" y="4283182"/>
                <a:ext cx="3686907" cy="369332"/>
              </a:xfrm>
              <a:prstGeom prst="rect">
                <a:avLst/>
              </a:prstGeom>
              <a:blipFill>
                <a:blip r:embed="rId7"/>
                <a:stretch>
                  <a:fillRect l="-1653" t="-1667" r="-2314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54337A-E30A-456D-A246-B7136BB502FF}"/>
                  </a:ext>
                </a:extLst>
              </p:cNvPr>
              <p:cNvSpPr txBox="1"/>
              <p:nvPr/>
            </p:nvSpPr>
            <p:spPr>
              <a:xfrm>
                <a:off x="536282" y="5278203"/>
                <a:ext cx="1144729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Sigmoid function converts distance from the hyperplane plane into probabilities:</a:t>
                </a:r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on the same side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large distance d -&gt;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is a large positive number -&gt; P(y=1|</a:t>
                </a:r>
                <a:r>
                  <a:rPr lang="en-US" sz="2000" b="1" dirty="0"/>
                  <a:t>x</a:t>
                </a:r>
                <a:r>
                  <a:rPr lang="en-US" sz="2000" dirty="0"/>
                  <a:t>) is close to 1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small distance d -&gt;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is a small positive number -&gt; P(y=1|</a:t>
                </a:r>
                <a:r>
                  <a:rPr lang="en-US" sz="2000" b="1" dirty="0"/>
                  <a:t>x</a:t>
                </a:r>
                <a:r>
                  <a:rPr lang="en-US" sz="2000" dirty="0"/>
                  <a:t>) is close to 0.5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54337A-E30A-456D-A246-B7136BB50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82" y="5278203"/>
                <a:ext cx="11447294" cy="1323439"/>
              </a:xfrm>
              <a:prstGeom prst="rect">
                <a:avLst/>
              </a:prstGeom>
              <a:blipFill>
                <a:blip r:embed="rId8"/>
                <a:stretch>
                  <a:fillRect l="-586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0433F9-73FF-4CBA-8E93-0C10E3244D7F}"/>
              </a:ext>
            </a:extLst>
          </p:cNvPr>
          <p:cNvCxnSpPr/>
          <p:nvPr/>
        </p:nvCxnSpPr>
        <p:spPr>
          <a:xfrm>
            <a:off x="9055864" y="3813971"/>
            <a:ext cx="2324559" cy="0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67B992-A0C5-CDC2-B2B2-247F6D745989}"/>
              </a:ext>
            </a:extLst>
          </p:cNvPr>
          <p:cNvCxnSpPr/>
          <p:nvPr/>
        </p:nvCxnSpPr>
        <p:spPr>
          <a:xfrm>
            <a:off x="941553" y="2543772"/>
            <a:ext cx="3435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43DE34-D93A-C0CA-D696-9FF138048589}"/>
              </a:ext>
            </a:extLst>
          </p:cNvPr>
          <p:cNvCxnSpPr/>
          <p:nvPr/>
        </p:nvCxnSpPr>
        <p:spPr>
          <a:xfrm flipV="1">
            <a:off x="2456845" y="677960"/>
            <a:ext cx="2176" cy="3825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BC20D9-49CC-D65A-A8E9-D5DD6057EBE1}"/>
              </a:ext>
            </a:extLst>
          </p:cNvPr>
          <p:cNvCxnSpPr/>
          <p:nvPr/>
        </p:nvCxnSpPr>
        <p:spPr>
          <a:xfrm>
            <a:off x="1594696" y="923979"/>
            <a:ext cx="2403566" cy="3069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31C3E6D-F2B9-0826-18E9-C97AC89496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268" y="2614894"/>
            <a:ext cx="222535" cy="1493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64E3CCE-85DE-5381-FF07-A166C525E0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982" y="468231"/>
            <a:ext cx="227108" cy="149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D18BBF-7CE2-DC3F-94C2-8E25735332F8}"/>
                  </a:ext>
                </a:extLst>
              </p:cNvPr>
              <p:cNvSpPr txBox="1"/>
              <p:nvPr/>
            </p:nvSpPr>
            <p:spPr>
              <a:xfrm>
                <a:off x="1329084" y="400635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D18BBF-7CE2-DC3F-94C2-8E2573533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084" y="4006354"/>
                <a:ext cx="60960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5B85F5-634B-CCAE-48D2-CFC9B13E6B9C}"/>
              </a:ext>
            </a:extLst>
          </p:cNvPr>
          <p:cNvCxnSpPr>
            <a:cxnSpLocks/>
          </p:cNvCxnSpPr>
          <p:nvPr/>
        </p:nvCxnSpPr>
        <p:spPr>
          <a:xfrm rot="16200000">
            <a:off x="2643335" y="1786162"/>
            <a:ext cx="349034" cy="4576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77454-09C5-9141-CBF4-9A4438779113}"/>
                  </a:ext>
                </a:extLst>
              </p:cNvPr>
              <p:cNvSpPr txBox="1"/>
              <p:nvPr/>
            </p:nvSpPr>
            <p:spPr>
              <a:xfrm>
                <a:off x="-230148" y="154716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77454-09C5-9141-CBF4-9A4438779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0148" y="1547161"/>
                <a:ext cx="60960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A7B897-C85F-423D-F1CA-2D75F5338C0E}"/>
                  </a:ext>
                </a:extLst>
              </p:cNvPr>
              <p:cNvSpPr txBox="1"/>
              <p:nvPr/>
            </p:nvSpPr>
            <p:spPr>
              <a:xfrm>
                <a:off x="-1453304" y="342900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A7B897-C85F-423D-F1CA-2D75F5338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3304" y="3429000"/>
                <a:ext cx="60960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DD6A99-229B-7CBF-A1E1-DD783A087803}"/>
                  </a:ext>
                </a:extLst>
              </p:cNvPr>
              <p:cNvSpPr txBox="1"/>
              <p:nvPr/>
            </p:nvSpPr>
            <p:spPr>
              <a:xfrm>
                <a:off x="739606" y="82482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DD6A99-229B-7CBF-A1E1-DD783A087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06" y="824827"/>
                <a:ext cx="6096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184B619-AFA7-2807-A587-2A20B1A72165}"/>
                  </a:ext>
                </a:extLst>
              </p14:cNvPr>
              <p14:cNvContentPartPr/>
              <p14:nvPr/>
            </p14:nvContentPartPr>
            <p14:xfrm>
              <a:off x="3742133" y="2140925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184B619-AFA7-2807-A587-2A20B1A721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33133" y="21319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5408016-393B-286D-5931-E0BFAE2BC89A}"/>
                  </a:ext>
                </a:extLst>
              </p14:cNvPr>
              <p14:cNvContentPartPr/>
              <p14:nvPr/>
            </p14:nvContentPartPr>
            <p14:xfrm>
              <a:off x="3756173" y="2140925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5408016-393B-286D-5931-E0BFAE2BC8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93173" y="207792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CE8FF53-C70E-E34C-D81A-7A628D27BF6E}"/>
                  </a:ext>
                </a:extLst>
              </p:cNvPr>
              <p:cNvSpPr txBox="1"/>
              <p:nvPr/>
            </p:nvSpPr>
            <p:spPr>
              <a:xfrm>
                <a:off x="3865349" y="1840474"/>
                <a:ext cx="4576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CE8FF53-C70E-E34C-D81A-7A628D2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349" y="1840474"/>
                <a:ext cx="45766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7AFFD60-ECBD-E98F-BABF-C80813BAE613}"/>
              </a:ext>
            </a:extLst>
          </p:cNvPr>
          <p:cNvCxnSpPr>
            <a:cxnSpLocks/>
          </p:cNvCxnSpPr>
          <p:nvPr/>
        </p:nvCxnSpPr>
        <p:spPr>
          <a:xfrm flipV="1">
            <a:off x="3013657" y="2140925"/>
            <a:ext cx="728476" cy="5571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CEADB06-DAF2-BF6F-87C0-2916D4C729EA}"/>
              </a:ext>
            </a:extLst>
          </p:cNvPr>
          <p:cNvSpPr txBox="1"/>
          <p:nvPr/>
        </p:nvSpPr>
        <p:spPr>
          <a:xfrm>
            <a:off x="3164954" y="2079655"/>
            <a:ext cx="27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22FBFF-684F-D5B3-73C8-33487DF4D899}"/>
                  </a:ext>
                </a:extLst>
              </p:cNvPr>
              <p:cNvSpPr txBox="1"/>
              <p:nvPr/>
            </p:nvSpPr>
            <p:spPr>
              <a:xfrm>
                <a:off x="-2760288" y="64051"/>
                <a:ext cx="7221556" cy="68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22FBFF-684F-D5B3-73C8-33487DF4D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60288" y="64051"/>
                <a:ext cx="7221556" cy="6854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851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D9E59AA9-6322-4E0C-BC0F-9A7D0EB25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1821" y="842771"/>
            <a:ext cx="5181600" cy="345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BD3121-AB89-4C39-8625-C76891289BC5}"/>
                  </a:ext>
                </a:extLst>
              </p:cNvPr>
              <p:cNvSpPr txBox="1"/>
              <p:nvPr/>
            </p:nvSpPr>
            <p:spPr>
              <a:xfrm>
                <a:off x="8754034" y="0"/>
                <a:ext cx="4247641" cy="816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BD3121-AB89-4C39-8625-C76891289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034" y="0"/>
                <a:ext cx="4247641" cy="8166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3E00D8-447F-4086-8DD1-713CC8BA2274}"/>
                  </a:ext>
                </a:extLst>
              </p:cNvPr>
              <p:cNvSpPr txBox="1"/>
              <p:nvPr/>
            </p:nvSpPr>
            <p:spPr>
              <a:xfrm>
                <a:off x="7308428" y="4283182"/>
                <a:ext cx="36869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3E00D8-447F-4086-8DD1-713CC8BA2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428" y="4283182"/>
                <a:ext cx="3686907" cy="369332"/>
              </a:xfrm>
              <a:prstGeom prst="rect">
                <a:avLst/>
              </a:prstGeom>
              <a:blipFill>
                <a:blip r:embed="rId7"/>
                <a:stretch>
                  <a:fillRect l="-1653" t="-1667" r="-2314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54337A-E30A-456D-A246-B7136BB502FF}"/>
                  </a:ext>
                </a:extLst>
              </p:cNvPr>
              <p:cNvSpPr txBox="1"/>
              <p:nvPr/>
            </p:nvSpPr>
            <p:spPr>
              <a:xfrm>
                <a:off x="536282" y="5278203"/>
                <a:ext cx="1144729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Sigmoid function converts distance from the hyperplane plane into probabilities:</a:t>
                </a:r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on the other side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large distance d -&gt;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is a large negative number -&gt; P(y=1|</a:t>
                </a:r>
                <a:r>
                  <a:rPr lang="en-US" sz="2000" b="1" dirty="0"/>
                  <a:t>x</a:t>
                </a:r>
                <a:r>
                  <a:rPr lang="en-US" sz="2000" dirty="0"/>
                  <a:t>) is close to 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small distance d -&gt;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is a small negative number -&gt; P(y=1|</a:t>
                </a:r>
                <a:r>
                  <a:rPr lang="en-US" sz="2000" b="1" dirty="0"/>
                  <a:t>x</a:t>
                </a:r>
                <a:r>
                  <a:rPr lang="en-US" sz="2000" dirty="0"/>
                  <a:t>) is close to 0.5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54337A-E30A-456D-A246-B7136BB50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82" y="5278203"/>
                <a:ext cx="11447294" cy="1323439"/>
              </a:xfrm>
              <a:prstGeom prst="rect">
                <a:avLst/>
              </a:prstGeom>
              <a:blipFill>
                <a:blip r:embed="rId8"/>
                <a:stretch>
                  <a:fillRect l="-586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0433F9-73FF-4CBA-8E93-0C10E3244D7F}"/>
              </a:ext>
            </a:extLst>
          </p:cNvPr>
          <p:cNvCxnSpPr/>
          <p:nvPr/>
        </p:nvCxnSpPr>
        <p:spPr>
          <a:xfrm>
            <a:off x="6708062" y="3798332"/>
            <a:ext cx="2324559" cy="0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67B992-A0C5-CDC2-B2B2-247F6D745989}"/>
              </a:ext>
            </a:extLst>
          </p:cNvPr>
          <p:cNvCxnSpPr/>
          <p:nvPr/>
        </p:nvCxnSpPr>
        <p:spPr>
          <a:xfrm>
            <a:off x="941553" y="2543772"/>
            <a:ext cx="3435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43DE34-D93A-C0CA-D696-9FF138048589}"/>
              </a:ext>
            </a:extLst>
          </p:cNvPr>
          <p:cNvCxnSpPr/>
          <p:nvPr/>
        </p:nvCxnSpPr>
        <p:spPr>
          <a:xfrm flipV="1">
            <a:off x="2456845" y="677960"/>
            <a:ext cx="2176" cy="3825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BC20D9-49CC-D65A-A8E9-D5DD6057EBE1}"/>
              </a:ext>
            </a:extLst>
          </p:cNvPr>
          <p:cNvCxnSpPr/>
          <p:nvPr/>
        </p:nvCxnSpPr>
        <p:spPr>
          <a:xfrm>
            <a:off x="1594696" y="923979"/>
            <a:ext cx="2403566" cy="3069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31C3E6D-F2B9-0826-18E9-C97AC89496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268" y="2614894"/>
            <a:ext cx="222535" cy="1493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64E3CCE-85DE-5381-FF07-A166C525E0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982" y="468231"/>
            <a:ext cx="227108" cy="149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D18BBF-7CE2-DC3F-94C2-8E25735332F8}"/>
                  </a:ext>
                </a:extLst>
              </p:cNvPr>
              <p:cNvSpPr txBox="1"/>
              <p:nvPr/>
            </p:nvSpPr>
            <p:spPr>
              <a:xfrm>
                <a:off x="1329084" y="400635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D18BBF-7CE2-DC3F-94C2-8E2573533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084" y="4006354"/>
                <a:ext cx="60960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5B85F5-634B-CCAE-48D2-CFC9B13E6B9C}"/>
              </a:ext>
            </a:extLst>
          </p:cNvPr>
          <p:cNvCxnSpPr>
            <a:cxnSpLocks/>
          </p:cNvCxnSpPr>
          <p:nvPr/>
        </p:nvCxnSpPr>
        <p:spPr>
          <a:xfrm rot="16200000">
            <a:off x="2643335" y="1786162"/>
            <a:ext cx="349034" cy="4576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77454-09C5-9141-CBF4-9A4438779113}"/>
                  </a:ext>
                </a:extLst>
              </p:cNvPr>
              <p:cNvSpPr txBox="1"/>
              <p:nvPr/>
            </p:nvSpPr>
            <p:spPr>
              <a:xfrm>
                <a:off x="-230148" y="154716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77454-09C5-9141-CBF4-9A4438779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0148" y="1547161"/>
                <a:ext cx="60960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A7B897-C85F-423D-F1CA-2D75F5338C0E}"/>
                  </a:ext>
                </a:extLst>
              </p:cNvPr>
              <p:cNvSpPr txBox="1"/>
              <p:nvPr/>
            </p:nvSpPr>
            <p:spPr>
              <a:xfrm>
                <a:off x="-1453304" y="342900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A7B897-C85F-423D-F1CA-2D75F5338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3304" y="3429000"/>
                <a:ext cx="60960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DD6A99-229B-7CBF-A1E1-DD783A087803}"/>
                  </a:ext>
                </a:extLst>
              </p:cNvPr>
              <p:cNvSpPr txBox="1"/>
              <p:nvPr/>
            </p:nvSpPr>
            <p:spPr>
              <a:xfrm>
                <a:off x="739606" y="82482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DD6A99-229B-7CBF-A1E1-DD783A087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06" y="824827"/>
                <a:ext cx="6096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184B619-AFA7-2807-A587-2A20B1A72165}"/>
                  </a:ext>
                </a:extLst>
              </p14:cNvPr>
              <p14:cNvContentPartPr/>
              <p14:nvPr/>
            </p14:nvContentPartPr>
            <p14:xfrm>
              <a:off x="3742133" y="2140925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184B619-AFA7-2807-A587-2A20B1A721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33133" y="21319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5408016-393B-286D-5931-E0BFAE2BC89A}"/>
                  </a:ext>
                </a:extLst>
              </p14:cNvPr>
              <p14:cNvContentPartPr/>
              <p14:nvPr/>
            </p14:nvContentPartPr>
            <p14:xfrm>
              <a:off x="1487696" y="2240270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5408016-393B-286D-5931-E0BFAE2BC8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24696" y="217727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CE8FF53-C70E-E34C-D81A-7A628D27BF6E}"/>
                  </a:ext>
                </a:extLst>
              </p:cNvPr>
              <p:cNvSpPr txBox="1"/>
              <p:nvPr/>
            </p:nvSpPr>
            <p:spPr>
              <a:xfrm>
                <a:off x="1047605" y="2051010"/>
                <a:ext cx="4576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CE8FF53-C70E-E34C-D81A-7A628D2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05" y="2051010"/>
                <a:ext cx="45766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7AFFD60-ECBD-E98F-BABF-C80813BAE613}"/>
              </a:ext>
            </a:extLst>
          </p:cNvPr>
          <p:cNvCxnSpPr>
            <a:cxnSpLocks/>
          </p:cNvCxnSpPr>
          <p:nvPr/>
        </p:nvCxnSpPr>
        <p:spPr>
          <a:xfrm flipV="1">
            <a:off x="1470814" y="1670554"/>
            <a:ext cx="728476" cy="5571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CEADB06-DAF2-BF6F-87C0-2916D4C729EA}"/>
              </a:ext>
            </a:extLst>
          </p:cNvPr>
          <p:cNvSpPr txBox="1"/>
          <p:nvPr/>
        </p:nvSpPr>
        <p:spPr>
          <a:xfrm>
            <a:off x="1569505" y="1618859"/>
            <a:ext cx="27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22FBFF-684F-D5B3-73C8-33487DF4D899}"/>
                  </a:ext>
                </a:extLst>
              </p:cNvPr>
              <p:cNvSpPr txBox="1"/>
              <p:nvPr/>
            </p:nvSpPr>
            <p:spPr>
              <a:xfrm>
                <a:off x="-2760288" y="64051"/>
                <a:ext cx="7221556" cy="68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22FBFF-684F-D5B3-73C8-33487DF4D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60288" y="64051"/>
                <a:ext cx="7221556" cy="6854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68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1938-FD62-9B49-B768-E964A807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Certainty Expressed as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7C671-86E0-3D44-9FA8-B4536DB494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sigmoid function compressions the range –infinity, infinity to the range 0 to 1</a:t>
            </a:r>
          </a:p>
          <a:p>
            <a:pPr>
              <a:lnSpc>
                <a:spcPct val="100000"/>
              </a:lnSpc>
            </a:pPr>
            <a:r>
              <a:rPr lang="en-US" dirty="0"/>
              <a:t>That certainty is expressed as a probability</a:t>
            </a:r>
          </a:p>
          <a:p>
            <a:pPr>
              <a:lnSpc>
                <a:spcPct val="100000"/>
              </a:lnSpc>
            </a:pPr>
            <a:r>
              <a:rPr lang="en-US" dirty="0"/>
              <a:t>Sigmoid function converts distance from the plane into probabilities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6D7209-7ACC-E148-AC38-D4372A70E8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200" y="2274094"/>
            <a:ext cx="5181600" cy="345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7B7CE5-02CA-CF4B-8492-CD89E08EF9C6}"/>
                  </a:ext>
                </a:extLst>
              </p:cNvPr>
              <p:cNvSpPr txBox="1"/>
              <p:nvPr/>
            </p:nvSpPr>
            <p:spPr>
              <a:xfrm>
                <a:off x="5943600" y="5593566"/>
                <a:ext cx="5080000" cy="1166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7B7CE5-02CA-CF4B-8492-CD89E08EF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5593566"/>
                <a:ext cx="5080000" cy="11667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533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1938-FD62-9B49-B768-E964A807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Certainty Comes from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7C671-86E0-3D44-9FA8-B4536DB494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66006-1A2A-A742-B28F-C4AC78BBF1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Distance from the plane is used to estimate the certainty</a:t>
            </a:r>
          </a:p>
          <a:p>
            <a:pPr>
              <a:lnSpc>
                <a:spcPct val="100000"/>
              </a:lnSpc>
            </a:pPr>
            <a:r>
              <a:rPr lang="en-US" dirty="0"/>
              <a:t>The further from the plane, the more confidence the model is</a:t>
            </a:r>
          </a:p>
          <a:p>
            <a:pPr>
              <a:lnSpc>
                <a:spcPct val="100000"/>
              </a:lnSpc>
            </a:pPr>
            <a:r>
              <a:rPr lang="en-US" dirty="0"/>
              <a:t>The magnitude of the equation becomes larger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7AB305-E372-E542-85BD-8A5C04B3B8EF}"/>
              </a:ext>
            </a:extLst>
          </p:cNvPr>
          <p:cNvGrpSpPr/>
          <p:nvPr/>
        </p:nvGrpSpPr>
        <p:grpSpPr>
          <a:xfrm>
            <a:off x="832221" y="1825625"/>
            <a:ext cx="5187579" cy="3758184"/>
            <a:chOff x="6096000" y="1825625"/>
            <a:chExt cx="5187579" cy="3758184"/>
          </a:xfrm>
        </p:grpSpPr>
        <p:pic>
          <p:nvPicPr>
            <p:cNvPr id="8" name="Content Placeholder 5">
              <a:extLst>
                <a:ext uri="{FF2B5EF4-FFF2-40B4-BE49-F238E27FC236}">
                  <a16:creationId xmlns:a16="http://schemas.microsoft.com/office/drawing/2014/main" id="{8682C80A-6E3A-1D47-BF4F-9631A63AD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825625"/>
              <a:ext cx="5187579" cy="3758184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EB3E61-99D9-BB4B-868E-6261A79098EF}"/>
                </a:ext>
              </a:extLst>
            </p:cNvPr>
            <p:cNvCxnSpPr>
              <a:cxnSpLocks/>
            </p:cNvCxnSpPr>
            <p:nvPr/>
          </p:nvCxnSpPr>
          <p:spPr>
            <a:xfrm>
              <a:off x="6428740" y="3901090"/>
              <a:ext cx="3954780" cy="12432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632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1938-FD62-9B49-B768-E964A807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Certainty Comes from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7C671-86E0-3D44-9FA8-B4536DB494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66006-1A2A-A742-B28F-C4AC78BBF1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Distance from the plane is used to estimate the certainty</a:t>
            </a:r>
          </a:p>
          <a:p>
            <a:pPr>
              <a:lnSpc>
                <a:spcPct val="100000"/>
              </a:lnSpc>
            </a:pPr>
            <a:r>
              <a:rPr lang="en-US" dirty="0"/>
              <a:t>The further from the plane, the more confidence the model is</a:t>
            </a:r>
          </a:p>
          <a:p>
            <a:pPr>
              <a:lnSpc>
                <a:spcPct val="100000"/>
              </a:lnSpc>
            </a:pPr>
            <a:r>
              <a:rPr lang="en-US" dirty="0"/>
              <a:t>The magnitude of the equation becomes larger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7AB305-E372-E542-85BD-8A5C04B3B8EF}"/>
              </a:ext>
            </a:extLst>
          </p:cNvPr>
          <p:cNvGrpSpPr/>
          <p:nvPr/>
        </p:nvGrpSpPr>
        <p:grpSpPr>
          <a:xfrm>
            <a:off x="832221" y="1825625"/>
            <a:ext cx="5187579" cy="3758184"/>
            <a:chOff x="6096000" y="1825625"/>
            <a:chExt cx="5187579" cy="3758184"/>
          </a:xfrm>
        </p:grpSpPr>
        <p:pic>
          <p:nvPicPr>
            <p:cNvPr id="8" name="Content Placeholder 5">
              <a:extLst>
                <a:ext uri="{FF2B5EF4-FFF2-40B4-BE49-F238E27FC236}">
                  <a16:creationId xmlns:a16="http://schemas.microsoft.com/office/drawing/2014/main" id="{8682C80A-6E3A-1D47-BF4F-9631A63AD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825625"/>
              <a:ext cx="5187579" cy="3758184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EB3E61-99D9-BB4B-868E-6261A79098EF}"/>
                </a:ext>
              </a:extLst>
            </p:cNvPr>
            <p:cNvCxnSpPr>
              <a:cxnSpLocks/>
            </p:cNvCxnSpPr>
            <p:nvPr/>
          </p:nvCxnSpPr>
          <p:spPr>
            <a:xfrm>
              <a:off x="6428740" y="3901090"/>
              <a:ext cx="3954780" cy="12432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99AC93-B54D-404A-B300-848322146338}"/>
              </a:ext>
            </a:extLst>
          </p:cNvPr>
          <p:cNvSpPr txBox="1"/>
          <p:nvPr/>
        </p:nvSpPr>
        <p:spPr>
          <a:xfrm>
            <a:off x="6853768" y="4913460"/>
            <a:ext cx="4603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Less certain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D7FB7B-7CE3-0945-8201-436A764019CE}"/>
              </a:ext>
            </a:extLst>
          </p:cNvPr>
          <p:cNvCxnSpPr>
            <a:cxnSpLocks/>
            <a:stCxn id="10" idx="1"/>
            <a:endCxn id="12" idx="0"/>
          </p:cNvCxnSpPr>
          <p:nvPr/>
        </p:nvCxnSpPr>
        <p:spPr>
          <a:xfrm flipH="1" flipV="1">
            <a:off x="3778963" y="3649632"/>
            <a:ext cx="3074805" cy="1494661"/>
          </a:xfrm>
          <a:prstGeom prst="straightConnector1">
            <a:avLst/>
          </a:prstGeom>
          <a:ln w="31750">
            <a:solidFill>
              <a:srgbClr val="FF0000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onut 11">
            <a:extLst>
              <a:ext uri="{FF2B5EF4-FFF2-40B4-BE49-F238E27FC236}">
                <a16:creationId xmlns:a16="http://schemas.microsoft.com/office/drawing/2014/main" id="{EED8F5C5-6B8B-EA46-A2CE-DA50E597EA77}"/>
              </a:ext>
            </a:extLst>
          </p:cNvPr>
          <p:cNvSpPr/>
          <p:nvPr/>
        </p:nvSpPr>
        <p:spPr>
          <a:xfrm rot="5400000">
            <a:off x="2161531" y="2688198"/>
            <a:ext cx="1311996" cy="1922867"/>
          </a:xfrm>
          <a:prstGeom prst="donut">
            <a:avLst>
              <a:gd name="adj" fmla="val 233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0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1938-FD62-9B49-B768-E964A807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Certainty Comes from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7C671-86E0-3D44-9FA8-B4536DB494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66006-1A2A-A742-B28F-C4AC78BBF1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Distance from the plane is used to estimate the certainty</a:t>
            </a:r>
          </a:p>
          <a:p>
            <a:pPr>
              <a:lnSpc>
                <a:spcPct val="100000"/>
              </a:lnSpc>
            </a:pPr>
            <a:r>
              <a:rPr lang="en-US" dirty="0"/>
              <a:t>The further from the plane, the more confidence the model is</a:t>
            </a:r>
          </a:p>
          <a:p>
            <a:pPr>
              <a:lnSpc>
                <a:spcPct val="100000"/>
              </a:lnSpc>
            </a:pPr>
            <a:r>
              <a:rPr lang="en-US" dirty="0"/>
              <a:t>The magnitude of the equation becomes larger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7AB305-E372-E542-85BD-8A5C04B3B8EF}"/>
              </a:ext>
            </a:extLst>
          </p:cNvPr>
          <p:cNvGrpSpPr/>
          <p:nvPr/>
        </p:nvGrpSpPr>
        <p:grpSpPr>
          <a:xfrm>
            <a:off x="832221" y="1825625"/>
            <a:ext cx="5187579" cy="3758184"/>
            <a:chOff x="6096000" y="1825625"/>
            <a:chExt cx="5187579" cy="3758184"/>
          </a:xfrm>
        </p:grpSpPr>
        <p:pic>
          <p:nvPicPr>
            <p:cNvPr id="8" name="Content Placeholder 5">
              <a:extLst>
                <a:ext uri="{FF2B5EF4-FFF2-40B4-BE49-F238E27FC236}">
                  <a16:creationId xmlns:a16="http://schemas.microsoft.com/office/drawing/2014/main" id="{8682C80A-6E3A-1D47-BF4F-9631A63AD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825625"/>
              <a:ext cx="5187579" cy="3758184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EB3E61-99D9-BB4B-868E-6261A79098EF}"/>
                </a:ext>
              </a:extLst>
            </p:cNvPr>
            <p:cNvCxnSpPr>
              <a:cxnSpLocks/>
            </p:cNvCxnSpPr>
            <p:nvPr/>
          </p:nvCxnSpPr>
          <p:spPr>
            <a:xfrm>
              <a:off x="6428740" y="3901090"/>
              <a:ext cx="3954780" cy="12432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510239-24E7-AD42-A4E1-CE4D355E62F5}"/>
              </a:ext>
            </a:extLst>
          </p:cNvPr>
          <p:cNvSpPr txBox="1"/>
          <p:nvPr/>
        </p:nvSpPr>
        <p:spPr>
          <a:xfrm>
            <a:off x="6853768" y="4913460"/>
            <a:ext cx="4603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More certain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0A7A20-19EC-1946-81B9-CD0F3EA303E6}"/>
              </a:ext>
            </a:extLst>
          </p:cNvPr>
          <p:cNvCxnSpPr>
            <a:cxnSpLocks/>
            <a:stCxn id="10" idx="1"/>
            <a:endCxn id="12" idx="6"/>
          </p:cNvCxnSpPr>
          <p:nvPr/>
        </p:nvCxnSpPr>
        <p:spPr>
          <a:xfrm flipH="1" flipV="1">
            <a:off x="4103784" y="3326763"/>
            <a:ext cx="2749984" cy="1817530"/>
          </a:xfrm>
          <a:prstGeom prst="straightConnector1">
            <a:avLst/>
          </a:prstGeom>
          <a:ln w="31750">
            <a:solidFill>
              <a:srgbClr val="FF0000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onut 11">
            <a:extLst>
              <a:ext uri="{FF2B5EF4-FFF2-40B4-BE49-F238E27FC236}">
                <a16:creationId xmlns:a16="http://schemas.microsoft.com/office/drawing/2014/main" id="{D4C9A427-B00E-9E40-B2E0-CE400C370E31}"/>
              </a:ext>
            </a:extLst>
          </p:cNvPr>
          <p:cNvSpPr/>
          <p:nvPr/>
        </p:nvSpPr>
        <p:spPr>
          <a:xfrm rot="5400000">
            <a:off x="3447786" y="1709331"/>
            <a:ext cx="1311996" cy="1922867"/>
          </a:xfrm>
          <a:prstGeom prst="donut">
            <a:avLst>
              <a:gd name="adj" fmla="val 233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528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D53F-F98C-BD4C-8C96-39E6F975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BC86FC-FD6D-514C-8A9F-E6DAC85DCA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223" y="1825625"/>
            <a:ext cx="5637276" cy="3758184"/>
          </a:xfr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A3BF96FB-D83F-0B4F-87BD-43DDE31B91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5187579" cy="3758184"/>
          </a:xfr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924732-EE4D-9545-8338-AEE1B9A68162}"/>
              </a:ext>
            </a:extLst>
          </p:cNvPr>
          <p:cNvCxnSpPr>
            <a:cxnSpLocks/>
          </p:cNvCxnSpPr>
          <p:nvPr/>
        </p:nvCxnSpPr>
        <p:spPr>
          <a:xfrm>
            <a:off x="1165860" y="3704717"/>
            <a:ext cx="3954780" cy="124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485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D65C54-93BB-46DE-B1EA-DB58E7C9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Phase: How to find the weights?</a:t>
            </a:r>
          </a:p>
        </p:txBody>
      </p:sp>
    </p:spTree>
    <p:extLst>
      <p:ext uri="{BB962C8B-B14F-4D97-AF65-F5344CB8AC3E}">
        <p14:creationId xmlns:p14="http://schemas.microsoft.com/office/powerpoint/2010/main" val="8533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Find the Weights?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Using the training data, the problem is formulated as an optimization problem.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We minimize/maximize a function that forces the classifier output to be as close as possible to the correct label in the training data.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9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8081"/>
          </a:xfrm>
        </p:spPr>
        <p:txBody>
          <a:bodyPr>
            <a:normAutofit/>
          </a:bodyPr>
          <a:lstStyle/>
          <a:p>
            <a:r>
              <a:rPr lang="en-US" dirty="0"/>
              <a:t>If                                                              as great as possible.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                                                             as great as possible.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35" y="2009831"/>
            <a:ext cx="712469" cy="27432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719469" y="2156760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23" y="2935954"/>
            <a:ext cx="725804" cy="274320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2731192" y="3068815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8454" y="2424047"/>
            <a:ext cx="295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find w such that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24729E-C9DA-BA1A-BFC2-FB1B48B9CFBC}"/>
                  </a:ext>
                </a:extLst>
              </p:cNvPr>
              <p:cNvSpPr txBox="1"/>
              <p:nvPr/>
            </p:nvSpPr>
            <p:spPr>
              <a:xfrm>
                <a:off x="1792995" y="1846209"/>
                <a:ext cx="6097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24729E-C9DA-BA1A-BFC2-FB1B48B9C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995" y="1846209"/>
                <a:ext cx="6097836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EA1B02-20F7-F01F-BBAE-5CD649711547}"/>
                  </a:ext>
                </a:extLst>
              </p:cNvPr>
              <p:cNvSpPr txBox="1"/>
              <p:nvPr/>
            </p:nvSpPr>
            <p:spPr>
              <a:xfrm>
                <a:off x="1977709" y="2782002"/>
                <a:ext cx="6097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EA1B02-20F7-F01F-BBAE-5CD649711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709" y="2782002"/>
                <a:ext cx="6097836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676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                                                             as great as possible.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If                                                              as great as possible.</a:t>
                </a:r>
              </a:p>
              <a:p>
                <a:endParaRPr lang="en-US" dirty="0"/>
              </a:p>
              <a:p>
                <a:r>
                  <a:rPr lang="en-US" dirty="0"/>
                  <a:t>The above two conditions can be written compactly as: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Find </a:t>
                </a:r>
                <a:r>
                  <a:rPr lang="en-US" b="1" dirty="0"/>
                  <a:t>w</a:t>
                </a:r>
                <a:r>
                  <a:rPr lang="en-US" dirty="0"/>
                  <a:t> such that this quantity is maximized.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4"/>
                <a:stretch>
                  <a:fillRect l="-1043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35" y="2009831"/>
            <a:ext cx="712469" cy="27432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719469" y="2156760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23" y="2935954"/>
            <a:ext cx="725804" cy="274320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2731192" y="3068815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8454" y="2424047"/>
            <a:ext cx="295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find w such that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33FC90-249C-49ED-B9F9-CE7604BF9AEE}"/>
              </a:ext>
            </a:extLst>
          </p:cNvPr>
          <p:cNvCxnSpPr/>
          <p:nvPr/>
        </p:nvCxnSpPr>
        <p:spPr>
          <a:xfrm flipV="1">
            <a:off x="4682836" y="4969164"/>
            <a:ext cx="526473" cy="480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210D65-6BD9-E477-446D-C0C02C6D80EF}"/>
                  </a:ext>
                </a:extLst>
              </p:cNvPr>
              <p:cNvSpPr txBox="1"/>
              <p:nvPr/>
            </p:nvSpPr>
            <p:spPr>
              <a:xfrm>
                <a:off x="1792995" y="1846209"/>
                <a:ext cx="6097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210D65-6BD9-E477-446D-C0C02C6D8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995" y="1846209"/>
                <a:ext cx="6097836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65A2BF-8B2A-4824-009D-66DDFF58732A}"/>
                  </a:ext>
                </a:extLst>
              </p:cNvPr>
              <p:cNvSpPr txBox="1"/>
              <p:nvPr/>
            </p:nvSpPr>
            <p:spPr>
              <a:xfrm>
                <a:off x="1977709" y="2782002"/>
                <a:ext cx="6097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65A2BF-8B2A-4824-009D-66DDFF587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709" y="2782002"/>
                <a:ext cx="6097836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214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</a:t>
                </a:r>
                <a:r>
                  <a:rPr lang="en-US" b="1" dirty="0"/>
                  <a:t>w </a:t>
                </a:r>
                <a:r>
                  <a:rPr lang="en-US" dirty="0"/>
                  <a:t>such that: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is maximized for each data point in the training set.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086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</a:t>
                </a:r>
                <a:r>
                  <a:rPr lang="en-US" b="1" dirty="0"/>
                  <a:t>w</a:t>
                </a:r>
                <a:r>
                  <a:rPr lang="en-US" dirty="0"/>
                  <a:t> such that: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is maximized for each data point in the training set.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Find </a:t>
                </a:r>
                <a:r>
                  <a:rPr lang="en-US" b="1" dirty="0"/>
                  <a:t>w</a:t>
                </a:r>
                <a:r>
                  <a:rPr lang="en-US" dirty="0"/>
                  <a:t> such that the following function is maximized: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105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Formulation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</a:t>
                </a:r>
                <a:r>
                  <a:rPr lang="en-US" b="1" dirty="0"/>
                  <a:t>w</a:t>
                </a:r>
                <a:r>
                  <a:rPr lang="en-US" dirty="0"/>
                  <a:t> such that (the likelihood function) is maximized: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=1|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feature vector of the </a:t>
                </a:r>
                <a:r>
                  <a:rPr lang="en-US" dirty="0" err="1"/>
                  <a:t>ith</a:t>
                </a:r>
                <a:r>
                  <a:rPr lang="en-US" dirty="0"/>
                  <a:t> sample in the training data.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label of the </a:t>
                </a:r>
                <a:r>
                  <a:rPr lang="en-US" dirty="0" err="1"/>
                  <a:t>ith</a:t>
                </a:r>
                <a:r>
                  <a:rPr lang="en-US" dirty="0"/>
                  <a:t> sample in the training data.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To be continued!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406" b="-2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232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6A70-76B2-FA3A-AD9A-9A640C81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Optimization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BD37-A7DC-772B-A63B-F8333E89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learn after week 9 how this optimization problem is solved.</a:t>
            </a:r>
          </a:p>
          <a:p>
            <a:endParaRPr lang="en-US" dirty="0"/>
          </a:p>
          <a:p>
            <a:r>
              <a:rPr lang="en-US" dirty="0"/>
              <a:t>The optimization algorithm that solves the optimization problem comes with a set of hyperparameters: learning rate, regularization factor. We will learn later about them!</a:t>
            </a:r>
          </a:p>
        </p:txBody>
      </p:sp>
    </p:spTree>
    <p:extLst>
      <p:ext uri="{BB962C8B-B14F-4D97-AF65-F5344CB8AC3E}">
        <p14:creationId xmlns:p14="http://schemas.microsoft.com/office/powerpoint/2010/main" val="167212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9634-7EC9-C796-54EF-1BBD21F9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 we need to scale the features?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1FE6A-9FCA-D07A-42A2-91EE0EA4D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Theoretically speaking, the predictions of logistic regression should not change whether we scale the data or not.</a:t>
            </a:r>
          </a:p>
          <a:p>
            <a:endParaRPr lang="en-US" dirty="0"/>
          </a:p>
          <a:p>
            <a:r>
              <a:rPr lang="en-US" dirty="0"/>
              <a:t>However, the optimization algorithm behaves in a better way when the features are scaled.</a:t>
            </a:r>
          </a:p>
          <a:p>
            <a:endParaRPr lang="en-US" dirty="0"/>
          </a:p>
          <a:p>
            <a:r>
              <a:rPr lang="en-US" dirty="0"/>
              <a:t>So yes, we need to scale the features when using logistic regression.</a:t>
            </a:r>
          </a:p>
        </p:txBody>
      </p:sp>
    </p:spTree>
    <p:extLst>
      <p:ext uri="{BB962C8B-B14F-4D97-AF65-F5344CB8AC3E}">
        <p14:creationId xmlns:p14="http://schemas.microsoft.com/office/powerpoint/2010/main" val="2930292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D65C54-93BB-46DE-B1EA-DB58E7C9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Prediction Phase</a:t>
            </a:r>
          </a:p>
        </p:txBody>
      </p:sp>
    </p:spTree>
    <p:extLst>
      <p:ext uri="{BB962C8B-B14F-4D97-AF65-F5344CB8AC3E}">
        <p14:creationId xmlns:p14="http://schemas.microsoft.com/office/powerpoint/2010/main" val="2726412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03954B5-2311-6399-D404-550B97703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Predict the label for new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2DBF24-EFA8-4F0F-4569-CB5A70F865FE}"/>
              </a:ext>
            </a:extLst>
          </p:cNvPr>
          <p:cNvSpPr txBox="1"/>
          <p:nvPr/>
        </p:nvSpPr>
        <p:spPr>
          <a:xfrm>
            <a:off x="7975955" y="2231647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57A5BC-6880-1EDA-4781-6E02DB3FB525}"/>
                  </a:ext>
                </a:extLst>
              </p:cNvPr>
              <p:cNvSpPr txBox="1"/>
              <p:nvPr/>
            </p:nvSpPr>
            <p:spPr>
              <a:xfrm>
                <a:off x="5879615" y="3208427"/>
                <a:ext cx="1532599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57A5BC-6880-1EDA-4781-6E02DB3FB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15" y="3208427"/>
                <a:ext cx="1532599" cy="5536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67B3E93-D732-564B-5AF1-0DC04E72DA92}"/>
              </a:ext>
            </a:extLst>
          </p:cNvPr>
          <p:cNvSpPr txBox="1"/>
          <p:nvPr/>
        </p:nvSpPr>
        <p:spPr>
          <a:xfrm>
            <a:off x="7975955" y="2231647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156DF-C39D-5E0C-9131-655B99B872B7}"/>
              </a:ext>
            </a:extLst>
          </p:cNvPr>
          <p:cNvCxnSpPr/>
          <p:nvPr/>
        </p:nvCxnSpPr>
        <p:spPr>
          <a:xfrm flipV="1">
            <a:off x="7690760" y="3018374"/>
            <a:ext cx="1737360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9602AE-C4C4-3841-A873-CE3B9029DE86}"/>
              </a:ext>
            </a:extLst>
          </p:cNvPr>
          <p:cNvCxnSpPr/>
          <p:nvPr/>
        </p:nvCxnSpPr>
        <p:spPr>
          <a:xfrm flipV="1">
            <a:off x="7690760" y="4684542"/>
            <a:ext cx="1737360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64F3FE-D918-ED19-B9A2-18F202355DEB}"/>
              </a:ext>
            </a:extLst>
          </p:cNvPr>
          <p:cNvCxnSpPr/>
          <p:nvPr/>
        </p:nvCxnSpPr>
        <p:spPr>
          <a:xfrm>
            <a:off x="7695028" y="3010486"/>
            <a:ext cx="0" cy="1674056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02786E44-B5A0-832A-7984-99EBE451FC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569" y="4549336"/>
            <a:ext cx="580726" cy="22710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A535541-0C8F-79C8-514D-5CB2021E9FD3}"/>
              </a:ext>
            </a:extLst>
          </p:cNvPr>
          <p:cNvSpPr txBox="1"/>
          <p:nvPr/>
        </p:nvSpPr>
        <p:spPr>
          <a:xfrm>
            <a:off x="7898383" y="5396777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Thresholding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ounded Rectangle 56">
            <a:extLst>
              <a:ext uri="{FF2B5EF4-FFF2-40B4-BE49-F238E27FC236}">
                <a16:creationId xmlns:a16="http://schemas.microsoft.com/office/drawing/2014/main" id="{6DC36E93-0D3E-95CD-24B0-0E37D38C2F4C}"/>
              </a:ext>
            </a:extLst>
          </p:cNvPr>
          <p:cNvSpPr/>
          <p:nvPr/>
        </p:nvSpPr>
        <p:spPr>
          <a:xfrm>
            <a:off x="5711482" y="2053883"/>
            <a:ext cx="1477109" cy="46423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99A408-83B0-00D9-3455-6037F92FF73A}"/>
              </a:ext>
            </a:extLst>
          </p:cNvPr>
          <p:cNvCxnSpPr/>
          <p:nvPr/>
        </p:nvCxnSpPr>
        <p:spPr>
          <a:xfrm>
            <a:off x="6457073" y="2686928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245292-C968-204E-2CE4-2B42F2DE8802}"/>
                  </a:ext>
                </a:extLst>
              </p:cNvPr>
              <p:cNvSpPr txBox="1"/>
              <p:nvPr/>
            </p:nvSpPr>
            <p:spPr>
              <a:xfrm>
                <a:off x="7708134" y="2191440"/>
                <a:ext cx="2138534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245292-C968-204E-2CE4-2B42F2DE8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134" y="2191440"/>
                <a:ext cx="2138534" cy="5536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FE695-422D-F8B2-10AE-70C553601C23}"/>
                  </a:ext>
                </a:extLst>
              </p:cNvPr>
              <p:cNvSpPr txBox="1"/>
              <p:nvPr/>
            </p:nvSpPr>
            <p:spPr>
              <a:xfrm>
                <a:off x="7645349" y="4708227"/>
                <a:ext cx="2138534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FE695-422D-F8B2-10AE-70C553601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349" y="4708227"/>
                <a:ext cx="2138534" cy="5536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32CA4B1F-E371-2C8A-8545-14E7A4C763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846" y="2863557"/>
            <a:ext cx="570056" cy="227108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33E2FB63-78DC-F8FA-D014-D0580C77C6A8}"/>
              </a:ext>
            </a:extLst>
          </p:cNvPr>
          <p:cNvSpPr/>
          <p:nvPr/>
        </p:nvSpPr>
        <p:spPr>
          <a:xfrm>
            <a:off x="4876796" y="3574473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24589ED-69DB-A9E9-5ECB-49EF73487C5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863" y="3800241"/>
            <a:ext cx="548640" cy="273933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F01EF99-B900-E00F-A076-67C2184E9BBE}"/>
              </a:ext>
            </a:extLst>
          </p:cNvPr>
          <p:cNvCxnSpPr/>
          <p:nvPr/>
        </p:nvCxnSpPr>
        <p:spPr>
          <a:xfrm flipV="1">
            <a:off x="5611086" y="3906982"/>
            <a:ext cx="2103120" cy="1385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B83E65F5-F93E-F114-9D9F-6C02FC29B0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636" y="5033818"/>
            <a:ext cx="1647674" cy="53347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C2225D1-85F3-AE1F-E892-83521D9E7CD2}"/>
              </a:ext>
            </a:extLst>
          </p:cNvPr>
          <p:cNvSpPr txBox="1"/>
          <p:nvPr/>
        </p:nvSpPr>
        <p:spPr>
          <a:xfrm>
            <a:off x="4488873" y="4486035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Logistic Function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3D190EE-4DCD-3F1C-839E-CD233881E2C8}"/>
              </a:ext>
            </a:extLst>
          </p:cNvPr>
          <p:cNvSpPr/>
          <p:nvPr/>
        </p:nvSpPr>
        <p:spPr>
          <a:xfrm>
            <a:off x="2065499" y="3628904"/>
            <a:ext cx="734291" cy="7204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+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E0CBAF9-6D5A-0CF0-5247-0D3C3A4659F3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790881" y="3047013"/>
            <a:ext cx="1641764" cy="58189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729E881-6039-806F-8DBC-434FC8BD9A81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763170" y="3518069"/>
            <a:ext cx="1409863" cy="21634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46B0B5E-1160-03D0-2C88-946CEBDF75C9}"/>
              </a:ext>
            </a:extLst>
          </p:cNvPr>
          <p:cNvCxnSpPr>
            <a:cxnSpLocks/>
            <a:endCxn id="44" idx="3"/>
          </p:cNvCxnSpPr>
          <p:nvPr/>
        </p:nvCxnSpPr>
        <p:spPr>
          <a:xfrm flipV="1">
            <a:off x="846300" y="4243835"/>
            <a:ext cx="1326733" cy="42416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C344895-2E5B-2671-ACBB-BC2F9E0ED282}"/>
              </a:ext>
            </a:extLst>
          </p:cNvPr>
          <p:cNvCxnSpPr>
            <a:cxnSpLocks/>
            <a:endCxn id="44" idx="4"/>
          </p:cNvCxnSpPr>
          <p:nvPr/>
        </p:nvCxnSpPr>
        <p:spPr>
          <a:xfrm flipV="1">
            <a:off x="846300" y="4349340"/>
            <a:ext cx="1586345" cy="7204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631F7CA6-19FC-1201-D088-6F6EDD305F9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27" y="3827486"/>
            <a:ext cx="30484" cy="228632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8ECF397-891A-7949-905A-114E1B5142DD}"/>
              </a:ext>
            </a:extLst>
          </p:cNvPr>
          <p:cNvCxnSpPr>
            <a:cxnSpLocks/>
          </p:cNvCxnSpPr>
          <p:nvPr/>
        </p:nvCxnSpPr>
        <p:spPr>
          <a:xfrm>
            <a:off x="2799790" y="3941802"/>
            <a:ext cx="205484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F81460D-6528-A38B-B8BC-12A81C0221E1}"/>
                  </a:ext>
                </a:extLst>
              </p:cNvPr>
              <p:cNvSpPr txBox="1"/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F81460D-6528-A38B-B8BC-12A81C022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1" y="4126755"/>
                <a:ext cx="11811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31C0B57-B4F9-036C-A8E2-CE2CEB5F7912}"/>
                  </a:ext>
                </a:extLst>
              </p:cNvPr>
              <p:cNvSpPr txBox="1"/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31C0B57-B4F9-036C-A8E2-CE2CEB5F7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0" y="3251440"/>
                <a:ext cx="118110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E6B6870-5F6B-FFE2-0465-6B0B9D647C1E}"/>
                  </a:ext>
                </a:extLst>
              </p:cNvPr>
              <p:cNvSpPr txBox="1"/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E6B6870-5F6B-FFE2-0465-6B0B9D647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59" y="2901262"/>
                <a:ext cx="118110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5801D0A-8811-99CE-5258-A9298C6DAB81}"/>
                  </a:ext>
                </a:extLst>
              </p:cNvPr>
              <p:cNvSpPr txBox="1"/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5801D0A-8811-99CE-5258-A9298C6DA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97" y="4530588"/>
                <a:ext cx="118110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96A0A6F-CF16-FBB3-16E4-5F94B5C22D24}"/>
                  </a:ext>
                </a:extLst>
              </p:cNvPr>
              <p:cNvSpPr txBox="1"/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96A0A6F-CF16-FBB3-16E4-5F94B5C22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12" y="3494433"/>
                <a:ext cx="340765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AE67E2C-78CB-72BD-F13D-F71222665D6E}"/>
                  </a:ext>
                </a:extLst>
              </p:cNvPr>
              <p:cNvSpPr txBox="1"/>
              <p:nvPr/>
            </p:nvSpPr>
            <p:spPr>
              <a:xfrm>
                <a:off x="5879615" y="2150950"/>
                <a:ext cx="12140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AE67E2C-78CB-72BD-F13D-F71222665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15" y="2150950"/>
                <a:ext cx="1214042" cy="276999"/>
              </a:xfrm>
              <a:prstGeom prst="rect">
                <a:avLst/>
              </a:prstGeom>
              <a:blipFill>
                <a:blip r:embed="rId20"/>
                <a:stretch>
                  <a:fillRect l="-1508" t="-2222" r="-4020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Picture 66">
            <a:extLst>
              <a:ext uri="{FF2B5EF4-FFF2-40B4-BE49-F238E27FC236}">
                <a16:creationId xmlns:a16="http://schemas.microsoft.com/office/drawing/2014/main" id="{6BAC7F1C-EDD7-D80A-79D2-A883C1C0774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54" y="3896758"/>
            <a:ext cx="30484" cy="228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0076715-B4AF-E9CB-4BE8-1FA22C6F428B}"/>
                  </a:ext>
                </a:extLst>
              </p:cNvPr>
              <p:cNvSpPr txBox="1"/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0076715-B4AF-E9CB-4BE8-1FA22C6F4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9" y="2786869"/>
                <a:ext cx="1181100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2F6319C-6F20-863A-A2C8-3324E85D148A}"/>
                  </a:ext>
                </a:extLst>
              </p:cNvPr>
              <p:cNvSpPr txBox="1"/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2F6319C-6F20-863A-A2C8-3324E85D1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37" y="3263104"/>
                <a:ext cx="118110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1E57110-5EA4-A6F4-74C6-0C2C6E9B0F94}"/>
                  </a:ext>
                </a:extLst>
              </p:cNvPr>
              <p:cNvSpPr txBox="1"/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1E57110-5EA4-A6F4-74C6-0C2C6E9B0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996" y="4444940"/>
                <a:ext cx="118110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8E0630F-1F62-E9D2-D083-182C1C41C5B0}"/>
                  </a:ext>
                </a:extLst>
              </p:cNvPr>
              <p:cNvSpPr txBox="1"/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8E0630F-1F62-E9D2-D083-182C1C41C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591" y="4892178"/>
                <a:ext cx="118110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35B92B8D-77ED-5227-144B-DBF53ACFFD86}"/>
              </a:ext>
            </a:extLst>
          </p:cNvPr>
          <p:cNvSpPr txBox="1"/>
          <p:nvPr/>
        </p:nvSpPr>
        <p:spPr>
          <a:xfrm>
            <a:off x="1436306" y="2217743"/>
            <a:ext cx="1166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Learned weights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4C24FDF-28DE-932C-7A29-993D66DA10A9}"/>
              </a:ext>
            </a:extLst>
          </p:cNvPr>
          <p:cNvCxnSpPr>
            <a:stCxn id="72" idx="2"/>
          </p:cNvCxnSpPr>
          <p:nvPr/>
        </p:nvCxnSpPr>
        <p:spPr>
          <a:xfrm flipH="1">
            <a:off x="1639472" y="2864074"/>
            <a:ext cx="380038" cy="215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B2945E0-F0F2-88BA-DD76-4DBD6313852D}"/>
              </a:ext>
            </a:extLst>
          </p:cNvPr>
          <p:cNvSpPr txBox="1"/>
          <p:nvPr/>
        </p:nvSpPr>
        <p:spPr>
          <a:xfrm>
            <a:off x="169419" y="5480499"/>
            <a:ext cx="1647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 label for the given Feature vector</a:t>
            </a:r>
          </a:p>
        </p:txBody>
      </p:sp>
    </p:spTree>
    <p:extLst>
      <p:ext uri="{BB962C8B-B14F-4D97-AF65-F5344CB8AC3E}">
        <p14:creationId xmlns:p14="http://schemas.microsoft.com/office/powerpoint/2010/main" val="25550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B54F-AEB2-3346-9FEF-97A98CF1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in </a:t>
            </a:r>
            <a:r>
              <a:rPr lang="en-US" b="1" dirty="0" err="1"/>
              <a:t>Scikit</a:t>
            </a:r>
            <a:r>
              <a:rPr lang="en-US" b="1" dirty="0"/>
              <a:t>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029-A806-DE40-A8EA-C4F886CA31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Scikit-Learn contains two main implementations:</a:t>
            </a:r>
          </a:p>
          <a:p>
            <a:r>
              <a:rPr lang="en-US" dirty="0" err="1"/>
              <a:t>LogisticRegression</a:t>
            </a:r>
            <a:endParaRPr lang="en-US" dirty="0"/>
          </a:p>
          <a:p>
            <a:r>
              <a:rPr lang="en-US" dirty="0" err="1"/>
              <a:t>SGDClassifier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CBCCD-34FB-2A4C-AF85-134102B4F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6591" y="2861693"/>
            <a:ext cx="5936018" cy="2843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Roboto Mono" pitchFamily="2" charset="0"/>
                <a:ea typeface="Roboto Mono" pitchFamily="2" charset="0"/>
              </a:rPr>
              <a:t>X = </a:t>
            </a:r>
            <a:r>
              <a:rPr lang="en-US" dirty="0" err="1">
                <a:latin typeface="Roboto Mono" pitchFamily="2" charset="0"/>
                <a:ea typeface="Roboto Mono" pitchFamily="2" charset="0"/>
              </a:rPr>
              <a:t>iris.data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 </a:t>
            </a:r>
          </a:p>
          <a:p>
            <a:pPr marL="0" indent="0">
              <a:buNone/>
            </a:pPr>
            <a:r>
              <a:rPr lang="en-US" dirty="0" err="1">
                <a:latin typeface="Roboto Mono" pitchFamily="2" charset="0"/>
                <a:ea typeface="Roboto Mono" pitchFamily="2" charset="0"/>
              </a:rPr>
              <a:t>sgd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 = </a:t>
            </a:r>
            <a:r>
              <a:rPr lang="en-US" dirty="0" err="1">
                <a:latin typeface="Roboto Mono" pitchFamily="2" charset="0"/>
                <a:ea typeface="Roboto Mono" pitchFamily="2" charset="0"/>
              </a:rPr>
              <a:t>SGDClassifier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( loss="log")</a:t>
            </a:r>
          </a:p>
          <a:p>
            <a:pPr marL="0" indent="0">
              <a:buNone/>
            </a:pPr>
            <a:r>
              <a:rPr lang="en-US" dirty="0" err="1">
                <a:latin typeface="Roboto Mono" pitchFamily="2" charset="0"/>
                <a:ea typeface="Roboto Mono" pitchFamily="2" charset="0"/>
              </a:rPr>
              <a:t>sgd.fit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(X, </a:t>
            </a:r>
            <a:r>
              <a:rPr lang="en-US" dirty="0" err="1">
                <a:latin typeface="Roboto Mono" pitchFamily="2" charset="0"/>
                <a:ea typeface="Roboto Mono" pitchFamily="2" charset="0"/>
              </a:rPr>
              <a:t>setosa_labels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 err="1">
                <a:latin typeface="Roboto Mono" pitchFamily="2" charset="0"/>
                <a:ea typeface="Roboto Mono" pitchFamily="2" charset="0"/>
              </a:rPr>
              <a:t>pred_labels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 = </a:t>
            </a:r>
            <a:r>
              <a:rPr lang="en-US" dirty="0" err="1">
                <a:latin typeface="Roboto Mono" pitchFamily="2" charset="0"/>
                <a:ea typeface="Roboto Mono" pitchFamily="2" charset="0"/>
              </a:rPr>
              <a:t>sgd.predict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(X)</a:t>
            </a:r>
          </a:p>
          <a:p>
            <a:pPr marL="0" indent="0">
              <a:buNone/>
            </a:pPr>
            <a:r>
              <a:rPr lang="en-US" dirty="0" err="1">
                <a:latin typeface="Roboto Mono" pitchFamily="2" charset="0"/>
                <a:ea typeface="Roboto Mono" pitchFamily="2" charset="0"/>
              </a:rPr>
              <a:t>pred_prob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 = </a:t>
            </a:r>
            <a:r>
              <a:rPr lang="en-US" dirty="0" err="1">
                <a:latin typeface="Roboto Mono" pitchFamily="2" charset="0"/>
                <a:ea typeface="Roboto Mono" pitchFamily="2" charset="0"/>
              </a:rPr>
              <a:t>sgd.predict_proba</a:t>
            </a:r>
            <a:r>
              <a:rPr lang="en-US" dirty="0">
                <a:latin typeface="Roboto Mono" pitchFamily="2" charset="0"/>
                <a:ea typeface="Roboto Mono" pitchFamily="2" charset="0"/>
              </a:rPr>
              <a:t>(X)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31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379BE-C79A-4E98-8482-5065DAEC0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with Multiple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953F-FEE0-4EA8-992F-B9ACABCF23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What if our classification problem as more than two classes?</a:t>
            </a:r>
          </a:p>
          <a:p>
            <a:pPr>
              <a:lnSpc>
                <a:spcPct val="110000"/>
              </a:lnSpc>
            </a:pPr>
            <a:r>
              <a:rPr lang="en-US" dirty="0"/>
              <a:t>We create a model for each class: is this </a:t>
            </a:r>
            <a:r>
              <a:rPr lang="en-US" dirty="0" err="1"/>
              <a:t>setosa</a:t>
            </a:r>
            <a:r>
              <a:rPr lang="en-US" dirty="0"/>
              <a:t> or not? is this virginica or not?  is this versicolor or not?</a:t>
            </a:r>
          </a:p>
          <a:p>
            <a:pPr>
              <a:lnSpc>
                <a:spcPct val="110000"/>
              </a:lnSpc>
            </a:pPr>
            <a:r>
              <a:rPr lang="en-US" dirty="0"/>
              <a:t>When classifying objects, we pick the class with the highest estimated probability.</a:t>
            </a:r>
          </a:p>
          <a:p>
            <a:pPr marL="0" indent="0">
              <a:lnSpc>
                <a:spcPct val="11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                          One-vs-all!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EBA17A9-3FD9-D540-B35D-E8D2E5193C1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745480" cy="3535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5160">
                  <a:extLst>
                    <a:ext uri="{9D8B030D-6E8A-4147-A177-3AD203B41FA5}">
                      <a16:colId xmlns:a16="http://schemas.microsoft.com/office/drawing/2014/main" val="3522386426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396165931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37176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P(y = </a:t>
                      </a:r>
                      <a:r>
                        <a:rPr lang="en-US" sz="2800" b="1" dirty="0" err="1"/>
                        <a:t>setosa</a:t>
                      </a:r>
                      <a:r>
                        <a:rPr lang="en-US" sz="28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P(y = virginica)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P(y = versicolor)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015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3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231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84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422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72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4319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9B84-A97A-4C1E-B5DE-C96BAF5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Connection to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20FC8E-09BC-4C1B-9951-036F3552DB0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Neural networks are composed of neurons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Each neuron performs regression on its inputs: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And passes the results of the regression through an "activation"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20FC8E-09BC-4C1B-9951-036F3552D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227E-BA6A-6A49-8EE9-C1590C2763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0F0D8-F30F-B742-B022-C9EAB329C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980" y="1690688"/>
            <a:ext cx="4384040" cy="507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97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EDF337-73AC-5043-B4D9-441827C2B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83" y="848519"/>
            <a:ext cx="10287634" cy="5160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66AA1A-A5F5-994D-8409-A8D76BC84D62}"/>
              </a:ext>
            </a:extLst>
          </p:cNvPr>
          <p:cNvSpPr txBox="1"/>
          <p:nvPr/>
        </p:nvSpPr>
        <p:spPr>
          <a:xfrm>
            <a:off x="772160" y="6380480"/>
            <a:ext cx="1058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medium.com</a:t>
            </a:r>
            <a:r>
              <a:rPr lang="en-US" dirty="0">
                <a:hlinkClick r:id="rId3"/>
              </a:rPr>
              <a:t>/@shrutijadon10104776/survey-on-activation-functions-for-deep-learning-9689331ba092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281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2.5366"/>
  <p:tag name="ORIGINALWIDTH" val="810.8632"/>
  <p:tag name="OUTPUTDPI" val="1200"/>
  <p:tag name="LATEXADDIN" val="\documentclass{article}&#10;\usepackage{amsmath}&#10;\pagestyle{empty}&#10;\begin{document}&#10;&#10;&#10;\begin{align*}&#10;\sigma(s)= \frac{1}{1+e^{-s}}&#10;\end{align*}&#10;&#10;\end{document}"/>
  <p:tag name="IGUANATEXSIZE" val="20"/>
  <p:tag name="IGUANATEXCURSOR" val="124"/>
  <p:tag name="TRANSPARENCY" val="True"/>
  <p:tag name="FILENAME" val=""/>
  <p:tag name="INPUTTYPE" val="0"/>
  <p:tag name="LATEXENGINEID" val="1"/>
  <p:tag name="TEMPFOLDER" val="C:\Users\User\Documents\PowerPointLAtex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787"/>
  <p:tag name="ORIGINALWIDTH" val="45.75638"/>
  <p:tag name="OUTPUTDPI" val="1200"/>
  <p:tag name="LATEXADDIN" val="\documentclass{article}&#10;\usepackage{amsmath}&#10;\pagestyle{empty}&#10;\begin{document}&#10;&#10;&#10;$s$&#10;&#10;\end{document}"/>
  <p:tag name="IGUANATEXSIZE" val="20"/>
  <p:tag name="IGUANATEXCURSOR" val="84"/>
  <p:tag name="TRANSPARENCY" val="True"/>
  <p:tag name="FILENAME" val=""/>
  <p:tag name="INPUTTYPE" val="0"/>
  <p:tag name="LATEXENGINEID" val="1"/>
  <p:tag name="TEMPFOLDER" val="C:\Users\User\Documents\PowerPointLAtex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2.5366"/>
  <p:tag name="ORIGINALWIDTH" val="810.8632"/>
  <p:tag name="OUTPUTDPI" val="1200"/>
  <p:tag name="LATEXADDIN" val="\documentclass{article}&#10;\usepackage{amsmath}&#10;\pagestyle{empty}&#10;\begin{document}&#10;&#10;&#10;\begin{align*}&#10;\sigma(s)= \frac{1}{1+e^{-s}}&#10;\end{align*}&#10;&#10;\end{document}"/>
  <p:tag name="IGUANATEXSIZE" val="20"/>
  <p:tag name="IGUANATEXCURSOR" val="124"/>
  <p:tag name="TRANSPARENCY" val="True"/>
  <p:tag name="FILENAME" val=""/>
  <p:tag name="INPUTTYPE" val="0"/>
  <p:tag name="LATEXENGINEID" val="1"/>
  <p:tag name="TEMPFOLDER" val="C:\Users\User\Documents\PowerPointLAtex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656"/>
  <p:tag name="ORIGINALWIDTH" val="285.7899"/>
  <p:tag name="OUTPUTDPI" val="1200"/>
  <p:tag name="LATEXADDIN" val="\documentclass{article}&#10;\usepackage{amsmath}&#10;\pagestyle{empty}&#10;\begin{document}&#10;&#10;&#10;$\hat{y}=0$&#10;&#10;\end{document}"/>
  <p:tag name="IGUANATEXSIZE" val="20"/>
  <p:tag name="IGUANATEXCURSOR" val="92"/>
  <p:tag name="TRANSPARENCY" val="True"/>
  <p:tag name="FILENAME" val=""/>
  <p:tag name="INPUTTYPE" val="0"/>
  <p:tag name="LATEXENGINEID" val="1"/>
  <p:tag name="TEMPFOLDER" val="C:\Users\User\Documents\PowerPointLAtex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656"/>
  <p:tag name="ORIGINALWIDTH" val="280.5391"/>
  <p:tag name="OUTPUTDPI" val="1200"/>
  <p:tag name="LATEXADDIN" val="\documentclass{article}&#10;\usepackage{amsmath}&#10;\pagestyle{empty}&#10;\begin{document}&#10;&#10;&#10;$\hat{y}=1$&#10;&#10;\end{document}"/>
  <p:tag name="IGUANATEXSIZE" val="20"/>
  <p:tag name="IGUANATEXCURSOR" val="92"/>
  <p:tag name="TRANSPARENCY" val="True"/>
  <p:tag name="FILENAME" val=""/>
  <p:tag name="INPUTTYPE" val="0"/>
  <p:tag name="LATEXENGINEID" val="1"/>
  <p:tag name="TEMPFOLDER" val="C:\Users\User\Documents\PowerPointLAtex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2.5366"/>
  <p:tag name="ORIGINALWIDTH" val="810.8632"/>
  <p:tag name="OUTPUTDPI" val="1200"/>
  <p:tag name="LATEXADDIN" val="\documentclass{article}&#10;\usepackage{amsmath}&#10;\pagestyle{empty}&#10;\begin{document}&#10;&#10;&#10;\begin{align*}&#10;\sigma(s)= \frac{1}{1+e^{-s}}&#10;\end{align*}&#10;&#10;\end{document}"/>
  <p:tag name="IGUANATEXSIZE" val="20"/>
  <p:tag name="IGUANATEXCURSOR" val="124"/>
  <p:tag name="TRANSPARENCY" val="True"/>
  <p:tag name="FILENAME" val=""/>
  <p:tag name="INPUTTYPE" val="0"/>
  <p:tag name="LATEXENGINEID" val="1"/>
  <p:tag name="TEMPFOLDER" val="C:\Users\User\Documents\PowerPointLAtex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09.5153"/>
  <p:tag name="OUTPUTDPI" val="1200"/>
  <p:tag name="LATEXADDIN" val="\documentclass{article}&#10;\usepackage{amsmath}&#10;\pagestyle{empty}&#10;\begin{document}&#10;&#10;&#10;$x_1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11.7656"/>
  <p:tag name="OUTPUTDPI" val="1200"/>
  <p:tag name="LATEXADDIN" val="\documentclass{article}&#10;\usepackage{amsmath}&#10;\pagestyle{empty}&#10;\begin{document}&#10;&#10;&#10;$x_2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09.5153"/>
  <p:tag name="OUTPUTDPI" val="1200"/>
  <p:tag name="LATEXADDIN" val="\documentclass{article}&#10;\usepackage{amsmath}&#10;\pagestyle{empty}&#10;\begin{document}&#10;&#10;&#10;$x_1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11.7656"/>
  <p:tag name="OUTPUTDPI" val="1200"/>
  <p:tag name="LATEXADDIN" val="\documentclass{article}&#10;\usepackage{amsmath}&#10;\pagestyle{empty}&#10;\begin{document}&#10;&#10;&#10;$x_2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09.5153"/>
  <p:tag name="OUTPUTDPI" val="1200"/>
  <p:tag name="LATEXADDIN" val="\documentclass{article}&#10;\usepackage{amsmath}&#10;\pagestyle{empty}&#10;\begin{document}&#10;&#10;&#10;$x_1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11.7656"/>
  <p:tag name="OUTPUTDPI" val="1200"/>
  <p:tag name="LATEXADDIN" val="\documentclass{article}&#10;\usepackage{amsmath}&#10;\pagestyle{empty}&#10;\begin{document}&#10;&#10;&#10;$x_2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09.5153"/>
  <p:tag name="OUTPUTDPI" val="1200"/>
  <p:tag name="LATEXADDIN" val="\documentclass{article}&#10;\usepackage{amsmath}&#10;\pagestyle{empty}&#10;\begin{document}&#10;&#10;&#10;$x_1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1024"/>
  <p:tag name="ORIGINALWIDTH" val="111.7656"/>
  <p:tag name="OUTPUTDPI" val="1200"/>
  <p:tag name="LATEXADDIN" val="\documentclass{article}&#10;\usepackage{amsmath}&#10;\pagestyle{empty}&#10;\begin{document}&#10;&#10;&#10;$x_2$&#10;&#10;\end{document}"/>
  <p:tag name="IGUANATEXSIZE" val="20"/>
  <p:tag name="IGUANATEXCURSOR" val="86"/>
  <p:tag name="TRANSPARENCY" val="True"/>
  <p:tag name="FILENAME" val=""/>
  <p:tag name="INPUTTYPE" val="0"/>
  <p:tag name="LATEXENGINEID" val="1"/>
  <p:tag name="TEMPFOLDER" val="C:\Users\User\Documents\PowerPointLAtex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015"/>
  <p:tag name="ORIGINALWIDTH" val="280.5391"/>
  <p:tag name="OUTPUTDPI" val="1200"/>
  <p:tag name="LATEXADDIN" val="\documentclass{article}&#10;\usepackage{amsmath}&#10;\pagestyle{empty}&#10;\begin{document}&#10;&#10;$y=1$&#10;&#10;&#10;\end{document}"/>
  <p:tag name="IGUANATEXSIZE" val="20"/>
  <p:tag name="IGUANATEXCURSOR" val="85"/>
  <p:tag name="TRANSPARENCY" val="True"/>
  <p:tag name="FILENAME" val=""/>
  <p:tag name="INPUTTYPE" val="0"/>
  <p:tag name="LATEXENGINEID" val="1"/>
  <p:tag name="TEMPFOLDER" val="C:\Users\User\Documents\PowerPointLAtex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015"/>
  <p:tag name="ORIGINALWIDTH" val="285.7899"/>
  <p:tag name="OUTPUTDPI" val="1200"/>
  <p:tag name="LATEXADDIN" val="\documentclass{article}&#10;\usepackage{amsmath}&#10;\pagestyle{empty}&#10;\begin{document}&#10;&#10;$y=0$&#10;&#10;&#10;\end{document}"/>
  <p:tag name="IGUANATEXSIZE" val="20"/>
  <p:tag name="IGUANATEXCURSOR" val="85"/>
  <p:tag name="TRANSPARENCY" val="True"/>
  <p:tag name="FILENAME" val=""/>
  <p:tag name="INPUTTYPE" val="0"/>
  <p:tag name="LATEXENGINEID" val="1"/>
  <p:tag name="TEMPFOLDER" val="C:\Users\User\Documents\PowerPointLAtex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015"/>
  <p:tag name="ORIGINALWIDTH" val="280.5391"/>
  <p:tag name="OUTPUTDPI" val="1200"/>
  <p:tag name="LATEXADDIN" val="\documentclass{article}&#10;\usepackage{amsmath}&#10;\pagestyle{empty}&#10;\begin{document}&#10;&#10;$y=1$&#10;&#10;&#10;\end{document}"/>
  <p:tag name="IGUANATEXSIZE" val="20"/>
  <p:tag name="IGUANATEXCURSOR" val="85"/>
  <p:tag name="TRANSPARENCY" val="True"/>
  <p:tag name="FILENAME" val=""/>
  <p:tag name="INPUTTYPE" val="0"/>
  <p:tag name="LATEXENGINEID" val="1"/>
  <p:tag name="TEMPFOLDER" val="C:\Users\User\Documents\PowerPointLAtex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015"/>
  <p:tag name="ORIGINALWIDTH" val="285.7899"/>
  <p:tag name="OUTPUTDPI" val="1200"/>
  <p:tag name="LATEXADDIN" val="\documentclass{article}&#10;\usepackage{amsmath}&#10;\pagestyle{empty}&#10;\begin{document}&#10;&#10;$y=0$&#10;&#10;&#10;\end{document}"/>
  <p:tag name="IGUANATEXSIZE" val="20"/>
  <p:tag name="IGUANATEXCURSOR" val="85"/>
  <p:tag name="TRANSPARENCY" val="True"/>
  <p:tag name="FILENAME" val=""/>
  <p:tag name="INPUTTYPE" val="0"/>
  <p:tag name="LATEXENGINEID" val="1"/>
  <p:tag name="TEMPFOLDER" val="C:\Users\User\Documents\PowerPointLAtex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656"/>
  <p:tag name="ORIGINALWIDTH" val="285.7899"/>
  <p:tag name="OUTPUTDPI" val="1200"/>
  <p:tag name="LATEXADDIN" val="\documentclass{article}&#10;\usepackage{amsmath}&#10;\pagestyle{empty}&#10;\begin{document}&#10;&#10;&#10;$\hat{y}=0$&#10;&#10;\end{document}"/>
  <p:tag name="IGUANATEXSIZE" val="20"/>
  <p:tag name="IGUANATEXCURSOR" val="92"/>
  <p:tag name="TRANSPARENCY" val="True"/>
  <p:tag name="FILENAME" val=""/>
  <p:tag name="INPUTTYPE" val="0"/>
  <p:tag name="LATEXENGINEID" val="1"/>
  <p:tag name="TEMPFOLDER" val="C:\Users\User\Documents\PowerPointLAtex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656"/>
  <p:tag name="ORIGINALWIDTH" val="280.5391"/>
  <p:tag name="OUTPUTDPI" val="1200"/>
  <p:tag name="LATEXADDIN" val="\documentclass{article}&#10;\usepackage{amsmath}&#10;\pagestyle{empty}&#10;\begin{document}&#10;&#10;&#10;$\hat{y}=1$&#10;&#10;\end{document}"/>
  <p:tag name="IGUANATEXSIZE" val="20"/>
  <p:tag name="IGUANATEXCURSOR" val="92"/>
  <p:tag name="TRANSPARENCY" val="True"/>
  <p:tag name="FILENAME" val=""/>
  <p:tag name="INPUTTYPE" val="0"/>
  <p:tag name="LATEXENGINEID" val="1"/>
  <p:tag name="TEMPFOLDER" val="C:\Users\User\Documents\PowerPointLAtex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2.5366"/>
  <p:tag name="ORIGINALWIDTH" val="810.8632"/>
  <p:tag name="OUTPUTDPI" val="1200"/>
  <p:tag name="LATEXADDIN" val="\documentclass{article}&#10;\usepackage{amsmath}&#10;\pagestyle{empty}&#10;\begin{document}&#10;&#10;&#10;\begin{align*}&#10;\sigma(s)= \frac{1}{1+e^{-s}}&#10;\end{align*}&#10;&#10;\end{document}"/>
  <p:tag name="IGUANATEXSIZE" val="20"/>
  <p:tag name="IGUANATEXCURSOR" val="124"/>
  <p:tag name="TRANSPARENCY" val="True"/>
  <p:tag name="FILENAME" val=""/>
  <p:tag name="INPUTTYPE" val="0"/>
  <p:tag name="LATEXENGINEID" val="1"/>
  <p:tag name="TEMPFOLDER" val="C:\Users\User\Documents\PowerPointLAtex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157"/>
  <p:tag name="ORIGINALWIDTH" val="15.00213"/>
  <p:tag name="OUTPUTDPI" val="1200"/>
  <p:tag name="LATEXADDIN" val="\documentclass{article}&#10;\usepackage{amsmath}&#10;\pagestyle{empty}&#10;\begin{document}&#10;&#10;$\vdots$&#10;&#10;&#10;\end{document}"/>
  <p:tag name="IGUANATEXSIZE" val="20"/>
  <p:tag name="IGUANATEXCURSOR" val="82"/>
  <p:tag name="TRANSPARENCY" val="True"/>
  <p:tag name="FILENAME" val=""/>
  <p:tag name="INPUTTYPE" val="0"/>
  <p:tag name="LATEXENGINEID" val="1"/>
  <p:tag name="TEMPFOLDER" val="C:\Users\User\Documents\PowerPointLAtex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1703</Words>
  <Application>Microsoft Macintosh PowerPoint</Application>
  <PresentationFormat>Widescreen</PresentationFormat>
  <Paragraphs>330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Courier New</vt:lpstr>
      <vt:lpstr>Roboto Mono</vt:lpstr>
      <vt:lpstr>Office Theme</vt:lpstr>
      <vt:lpstr>Logistic Regression</vt:lpstr>
      <vt:lpstr>Plan</vt:lpstr>
      <vt:lpstr>Logistic Regression</vt:lpstr>
      <vt:lpstr>Overview</vt:lpstr>
      <vt:lpstr>PowerPoint Presentation</vt:lpstr>
      <vt:lpstr>Logistic Regression</vt:lpstr>
      <vt:lpstr>Logistic Regression</vt:lpstr>
      <vt:lpstr>Sigmoid or Logistic Function</vt:lpstr>
      <vt:lpstr>Logistic Regression</vt:lpstr>
      <vt:lpstr>Logistic Regression</vt:lpstr>
      <vt:lpstr>Logistic Regression</vt:lpstr>
      <vt:lpstr>Geometric interpretation: linear classification model!</vt:lpstr>
      <vt:lpstr>It’s a linear classification model!</vt:lpstr>
      <vt:lpstr>It’s a linear classification model!</vt:lpstr>
      <vt:lpstr>Geometric Interpretation</vt:lpstr>
      <vt:lpstr>Geometric Interpretation</vt:lpstr>
      <vt:lpstr>PowerPoint Presentation</vt:lpstr>
      <vt:lpstr>PowerPoint Presentation</vt:lpstr>
      <vt:lpstr>Certainty Expressed as Probability</vt:lpstr>
      <vt:lpstr>Certainty Comes from Distance</vt:lpstr>
      <vt:lpstr>Certainty Comes from Distance</vt:lpstr>
      <vt:lpstr>Certainty Comes from Distance</vt:lpstr>
      <vt:lpstr>Example</vt:lpstr>
      <vt:lpstr>Training Phase: How to find the weights?</vt:lpstr>
      <vt:lpstr>How to Find the Weights?</vt:lpstr>
      <vt:lpstr>Formulation of the Optimization Problem</vt:lpstr>
      <vt:lpstr>Formulation of the Optimization Problem</vt:lpstr>
      <vt:lpstr>Formulation of the Optimization Problem</vt:lpstr>
      <vt:lpstr>Formulation of the Optimization Problem</vt:lpstr>
      <vt:lpstr>Formulation of the Optimization Problem</vt:lpstr>
      <vt:lpstr>Optimization Problem</vt:lpstr>
      <vt:lpstr>Do we need to scale the features?</vt:lpstr>
      <vt:lpstr>Prediction Phase</vt:lpstr>
      <vt:lpstr>Predict the label for new data</vt:lpstr>
      <vt:lpstr>Logistic Regression in Scikit Learn</vt:lpstr>
      <vt:lpstr>Logistic Regression with Multiple Classes</vt:lpstr>
      <vt:lpstr>Connection to Neural Networks</vt:lpstr>
      <vt:lpstr>PowerPoint Presentation</vt:lpstr>
    </vt:vector>
  </TitlesOfParts>
  <Company>Milwaukee School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</dc:title>
  <dc:creator>Salami, Hawraa</dc:creator>
  <cp:lastModifiedBy>Bukowy, John</cp:lastModifiedBy>
  <cp:revision>5</cp:revision>
  <dcterms:created xsi:type="dcterms:W3CDTF">2022-09-28T01:28:22Z</dcterms:created>
  <dcterms:modified xsi:type="dcterms:W3CDTF">2024-02-12T12:24:18Z</dcterms:modified>
</cp:coreProperties>
</file>