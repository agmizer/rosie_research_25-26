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2.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13.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8.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9.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20.xml" ContentType="application/vnd.openxmlformats-officedocument.presentationml.notesSlide+xml"/>
  <Override PartName="/ppt/tags/tag54.xml" ContentType="application/vnd.openxmlformats-officedocument.presentationml.tags+xml"/>
  <Override PartName="/ppt/notesSlides/notesSlide21.xml" ContentType="application/vnd.openxmlformats-officedocument.presentationml.notesSlide+xml"/>
  <Override PartName="/ppt/tags/tag55.xml" ContentType="application/vnd.openxmlformats-officedocument.presentationml.tags+xml"/>
  <Override PartName="/ppt/notesSlides/notesSlide22.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23.xml" ContentType="application/vnd.openxmlformats-officedocument.presentationml.notesSlide+xml"/>
  <Override PartName="/ppt/tags/tag59.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26.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27.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71.xml" ContentType="application/vnd.openxmlformats-officedocument.presentationml.tags+xml"/>
  <Override PartName="/ppt/notesSlides/notesSlide30.xml" ContentType="application/vnd.openxmlformats-officedocument.presentationml.notesSlide+xml"/>
  <Override PartName="/ppt/tags/tag72.xml" ContentType="application/vnd.openxmlformats-officedocument.presentationml.tags+xml"/>
  <Override PartName="/ppt/notesSlides/notesSlide31.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32.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33.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34.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35.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notesSlides/notesSlide36.xml" ContentType="application/vnd.openxmlformats-officedocument.presentationml.notesSlide+xml"/>
  <Override PartName="/ppt/tags/tag94.xml" ContentType="application/vnd.openxmlformats-officedocument.presentationml.tags+xml"/>
  <Override PartName="/ppt/notesSlides/notesSlide37.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261" r:id="rId3"/>
    <p:sldId id="258" r:id="rId4"/>
    <p:sldId id="259" r:id="rId5"/>
    <p:sldId id="260" r:id="rId6"/>
    <p:sldId id="263" r:id="rId7"/>
    <p:sldId id="264" r:id="rId8"/>
    <p:sldId id="265" r:id="rId9"/>
    <p:sldId id="266" r:id="rId10"/>
    <p:sldId id="267" r:id="rId11"/>
    <p:sldId id="268" r:id="rId12"/>
    <p:sldId id="270" r:id="rId13"/>
    <p:sldId id="269" r:id="rId14"/>
    <p:sldId id="271" r:id="rId15"/>
    <p:sldId id="272" r:id="rId16"/>
    <p:sldId id="278" r:id="rId17"/>
    <p:sldId id="274" r:id="rId18"/>
    <p:sldId id="275" r:id="rId19"/>
    <p:sldId id="316" r:id="rId20"/>
    <p:sldId id="277" r:id="rId21"/>
    <p:sldId id="279" r:id="rId22"/>
    <p:sldId id="280" r:id="rId23"/>
    <p:sldId id="288" r:id="rId24"/>
    <p:sldId id="317" r:id="rId25"/>
    <p:sldId id="282" r:id="rId26"/>
    <p:sldId id="283" r:id="rId27"/>
    <p:sldId id="284" r:id="rId28"/>
    <p:sldId id="285" r:id="rId29"/>
    <p:sldId id="286" r:id="rId30"/>
    <p:sldId id="287" r:id="rId31"/>
    <p:sldId id="289" r:id="rId32"/>
    <p:sldId id="290" r:id="rId33"/>
    <p:sldId id="291" r:id="rId34"/>
    <p:sldId id="292" r:id="rId35"/>
    <p:sldId id="293" r:id="rId36"/>
    <p:sldId id="312" r:id="rId37"/>
    <p:sldId id="311" r:id="rId38"/>
    <p:sldId id="295" r:id="rId39"/>
    <p:sldId id="296" r:id="rId40"/>
    <p:sldId id="318" r:id="rId41"/>
    <p:sldId id="297" r:id="rId42"/>
    <p:sldId id="298" r:id="rId43"/>
    <p:sldId id="313" r:id="rId44"/>
    <p:sldId id="314" r:id="rId45"/>
    <p:sldId id="299" r:id="rId46"/>
    <p:sldId id="300" r:id="rId47"/>
    <p:sldId id="301" r:id="rId48"/>
    <p:sldId id="302" r:id="rId49"/>
    <p:sldId id="303" r:id="rId50"/>
    <p:sldId id="305" r:id="rId51"/>
    <p:sldId id="306" r:id="rId52"/>
    <p:sldId id="315" r:id="rId53"/>
    <p:sldId id="307" r:id="rId54"/>
    <p:sldId id="308" r:id="rId55"/>
    <p:sldId id="309" r:id="rId56"/>
    <p:sldId id="310"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8" autoAdjust="0"/>
    <p:restoredTop sz="94660"/>
  </p:normalViewPr>
  <p:slideViewPr>
    <p:cSldViewPr snapToGrid="0">
      <p:cViewPr>
        <p:scale>
          <a:sx n="112" d="100"/>
          <a:sy n="112" d="100"/>
        </p:scale>
        <p:origin x="512" y="5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DCC28C-51A9-4FDB-A259-F7F9AD744170}" type="datetimeFigureOut">
              <a:rPr lang="en-US" smtClean="0"/>
              <a:t>2/26/24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8CB8C-F9D6-4DD2-B211-4103A718FE0F}" type="slidenum">
              <a:rPr lang="en-US" smtClean="0"/>
              <a:t>‹#›</a:t>
            </a:fld>
            <a:endParaRPr lang="en-US"/>
          </a:p>
        </p:txBody>
      </p:sp>
    </p:spTree>
    <p:extLst>
      <p:ext uri="{BB962C8B-B14F-4D97-AF65-F5344CB8AC3E}">
        <p14:creationId xmlns:p14="http://schemas.microsoft.com/office/powerpoint/2010/main" val="488856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095902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770821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5207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675567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24362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8030861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215595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229922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9292310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239981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498272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414876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363419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2956605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548055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9881348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666032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491054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545096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3949513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6406441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186156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2799463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0066045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2405399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2879668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9609200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5226026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9466376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9473954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7053722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7092125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3969933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4528691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848874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0748898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785290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7376974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9317275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8027725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452956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591720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0194829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813e8ad05_2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813e8ad05_2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632324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61CC50C-1565-46BD-88F6-9796D2C576CE}" type="datetimeFigureOut">
              <a:rPr lang="en-US" smtClean="0"/>
              <a:t>2/26/24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D5E4B7-694A-41DA-8420-313BBBE4DD8E}" type="slidenum">
              <a:rPr lang="en-US" smtClean="0"/>
              <a:t>‹#›</a:t>
            </a:fld>
            <a:endParaRPr lang="en-US"/>
          </a:p>
        </p:txBody>
      </p:sp>
    </p:spTree>
    <p:extLst>
      <p:ext uri="{BB962C8B-B14F-4D97-AF65-F5344CB8AC3E}">
        <p14:creationId xmlns:p14="http://schemas.microsoft.com/office/powerpoint/2010/main" val="4266355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1CC50C-1565-46BD-88F6-9796D2C576CE}" type="datetimeFigureOut">
              <a:rPr lang="en-US" smtClean="0"/>
              <a:t>2/26/24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D5E4B7-694A-41DA-8420-313BBBE4DD8E}" type="slidenum">
              <a:rPr lang="en-US" smtClean="0"/>
              <a:t>‹#›</a:t>
            </a:fld>
            <a:endParaRPr lang="en-US"/>
          </a:p>
        </p:txBody>
      </p:sp>
    </p:spTree>
    <p:extLst>
      <p:ext uri="{BB962C8B-B14F-4D97-AF65-F5344CB8AC3E}">
        <p14:creationId xmlns:p14="http://schemas.microsoft.com/office/powerpoint/2010/main" val="2757895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1CC50C-1565-46BD-88F6-9796D2C576CE}" type="datetimeFigureOut">
              <a:rPr lang="en-US" smtClean="0"/>
              <a:t>2/26/24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D5E4B7-694A-41DA-8420-313BBBE4DD8E}" type="slidenum">
              <a:rPr lang="en-US" smtClean="0"/>
              <a:t>‹#›</a:t>
            </a:fld>
            <a:endParaRPr lang="en-US"/>
          </a:p>
        </p:txBody>
      </p:sp>
    </p:spTree>
    <p:extLst>
      <p:ext uri="{BB962C8B-B14F-4D97-AF65-F5344CB8AC3E}">
        <p14:creationId xmlns:p14="http://schemas.microsoft.com/office/powerpoint/2010/main" val="3942553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1CC50C-1565-46BD-88F6-9796D2C576CE}" type="datetimeFigureOut">
              <a:rPr lang="en-US" smtClean="0"/>
              <a:t>2/26/24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D5E4B7-694A-41DA-8420-313BBBE4DD8E}" type="slidenum">
              <a:rPr lang="en-US" smtClean="0"/>
              <a:t>‹#›</a:t>
            </a:fld>
            <a:endParaRPr lang="en-US"/>
          </a:p>
        </p:txBody>
      </p:sp>
    </p:spTree>
    <p:extLst>
      <p:ext uri="{BB962C8B-B14F-4D97-AF65-F5344CB8AC3E}">
        <p14:creationId xmlns:p14="http://schemas.microsoft.com/office/powerpoint/2010/main" val="4124481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61CC50C-1565-46BD-88F6-9796D2C576CE}" type="datetimeFigureOut">
              <a:rPr lang="en-US" smtClean="0"/>
              <a:t>2/26/24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D5E4B7-694A-41DA-8420-313BBBE4DD8E}" type="slidenum">
              <a:rPr lang="en-US" smtClean="0"/>
              <a:t>‹#›</a:t>
            </a:fld>
            <a:endParaRPr lang="en-US"/>
          </a:p>
        </p:txBody>
      </p:sp>
    </p:spTree>
    <p:extLst>
      <p:ext uri="{BB962C8B-B14F-4D97-AF65-F5344CB8AC3E}">
        <p14:creationId xmlns:p14="http://schemas.microsoft.com/office/powerpoint/2010/main" val="264843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61CC50C-1565-46BD-88F6-9796D2C576CE}" type="datetimeFigureOut">
              <a:rPr lang="en-US" smtClean="0"/>
              <a:t>2/26/24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D5E4B7-694A-41DA-8420-313BBBE4DD8E}" type="slidenum">
              <a:rPr lang="en-US" smtClean="0"/>
              <a:t>‹#›</a:t>
            </a:fld>
            <a:endParaRPr lang="en-US"/>
          </a:p>
        </p:txBody>
      </p:sp>
    </p:spTree>
    <p:extLst>
      <p:ext uri="{BB962C8B-B14F-4D97-AF65-F5344CB8AC3E}">
        <p14:creationId xmlns:p14="http://schemas.microsoft.com/office/powerpoint/2010/main" val="2034306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1CC50C-1565-46BD-88F6-9796D2C576CE}" type="datetimeFigureOut">
              <a:rPr lang="en-US" smtClean="0"/>
              <a:t>2/26/24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D5E4B7-694A-41DA-8420-313BBBE4DD8E}" type="slidenum">
              <a:rPr lang="en-US" smtClean="0"/>
              <a:t>‹#›</a:t>
            </a:fld>
            <a:endParaRPr lang="en-US"/>
          </a:p>
        </p:txBody>
      </p:sp>
    </p:spTree>
    <p:extLst>
      <p:ext uri="{BB962C8B-B14F-4D97-AF65-F5344CB8AC3E}">
        <p14:creationId xmlns:p14="http://schemas.microsoft.com/office/powerpoint/2010/main" val="686019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61CC50C-1565-46BD-88F6-9796D2C576CE}" type="datetimeFigureOut">
              <a:rPr lang="en-US" smtClean="0"/>
              <a:t>2/26/24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D5E4B7-694A-41DA-8420-313BBBE4DD8E}" type="slidenum">
              <a:rPr lang="en-US" smtClean="0"/>
              <a:t>‹#›</a:t>
            </a:fld>
            <a:endParaRPr lang="en-US"/>
          </a:p>
        </p:txBody>
      </p:sp>
    </p:spTree>
    <p:extLst>
      <p:ext uri="{BB962C8B-B14F-4D97-AF65-F5344CB8AC3E}">
        <p14:creationId xmlns:p14="http://schemas.microsoft.com/office/powerpoint/2010/main" val="2494043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61CC50C-1565-46BD-88F6-9796D2C576CE}" type="datetimeFigureOut">
              <a:rPr lang="en-US" smtClean="0"/>
              <a:t>2/26/24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D5E4B7-694A-41DA-8420-313BBBE4DD8E}" type="slidenum">
              <a:rPr lang="en-US" smtClean="0"/>
              <a:t>‹#›</a:t>
            </a:fld>
            <a:endParaRPr lang="en-US"/>
          </a:p>
        </p:txBody>
      </p:sp>
    </p:spTree>
    <p:extLst>
      <p:ext uri="{BB962C8B-B14F-4D97-AF65-F5344CB8AC3E}">
        <p14:creationId xmlns:p14="http://schemas.microsoft.com/office/powerpoint/2010/main" val="4163431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1CC50C-1565-46BD-88F6-9796D2C576CE}" type="datetimeFigureOut">
              <a:rPr lang="en-US" smtClean="0"/>
              <a:t>2/26/24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D5E4B7-694A-41DA-8420-313BBBE4DD8E}" type="slidenum">
              <a:rPr lang="en-US" smtClean="0"/>
              <a:t>‹#›</a:t>
            </a:fld>
            <a:endParaRPr lang="en-US"/>
          </a:p>
        </p:txBody>
      </p:sp>
    </p:spTree>
    <p:extLst>
      <p:ext uri="{BB962C8B-B14F-4D97-AF65-F5344CB8AC3E}">
        <p14:creationId xmlns:p14="http://schemas.microsoft.com/office/powerpoint/2010/main" val="450241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1CC50C-1565-46BD-88F6-9796D2C576CE}" type="datetimeFigureOut">
              <a:rPr lang="en-US" smtClean="0"/>
              <a:t>2/26/24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D5E4B7-694A-41DA-8420-313BBBE4DD8E}" type="slidenum">
              <a:rPr lang="en-US" smtClean="0"/>
              <a:t>‹#›</a:t>
            </a:fld>
            <a:endParaRPr lang="en-US"/>
          </a:p>
        </p:txBody>
      </p:sp>
    </p:spTree>
    <p:extLst>
      <p:ext uri="{BB962C8B-B14F-4D97-AF65-F5344CB8AC3E}">
        <p14:creationId xmlns:p14="http://schemas.microsoft.com/office/powerpoint/2010/main" val="1105737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926400" y="422400"/>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None/>
              <a:defRPr sz="2133">
                <a:solidFill>
                  <a:srgbClr val="003B4C"/>
                </a:solidFill>
                <a:latin typeface="Montserrat SemiBold"/>
                <a:ea typeface="Montserrat SemiBold"/>
                <a:cs typeface="Montserrat SemiBold"/>
                <a:sym typeface="Montserrat SemiBold"/>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11" name="Google Shape;11;p2"/>
          <p:cNvSpPr/>
          <p:nvPr/>
        </p:nvSpPr>
        <p:spPr>
          <a:xfrm rot="-5400000">
            <a:off x="658217" y="684167"/>
            <a:ext cx="418800" cy="48800"/>
          </a:xfrm>
          <a:prstGeom prst="rect">
            <a:avLst/>
          </a:prstGeom>
          <a:solidFill>
            <a:srgbClr val="F38F1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18095" y="6823003"/>
            <a:ext cx="12241200" cy="48800"/>
          </a:xfrm>
          <a:prstGeom prst="rect">
            <a:avLst/>
          </a:prstGeom>
          <a:solidFill>
            <a:srgbClr val="F38F1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 name="Google Shape;13;p2"/>
          <p:cNvSpPr txBox="1">
            <a:spLocks noGrp="1"/>
          </p:cNvSpPr>
          <p:nvPr>
            <p:ph type="sldNum" idx="12"/>
          </p:nvPr>
        </p:nvSpPr>
        <p:spPr>
          <a:xfrm>
            <a:off x="11409045" y="6333135"/>
            <a:ext cx="731600" cy="524800"/>
          </a:xfrm>
          <a:prstGeom prst="rect">
            <a:avLst/>
          </a:prstGeom>
        </p:spPr>
        <p:txBody>
          <a:bodyPr spcFirstLastPara="1" wrap="square" lIns="91425" tIns="91425" rIns="91425" bIns="91425" anchor="t" anchorCtr="0">
            <a:noAutofit/>
          </a:bodyPr>
          <a:lstStyle>
            <a:lvl1pPr lvl="0">
              <a:buNone/>
              <a:defRPr sz="1733">
                <a:solidFill>
                  <a:srgbClr val="003B4C"/>
                </a:solidFill>
                <a:latin typeface="Montserrat"/>
                <a:ea typeface="Montserrat"/>
                <a:cs typeface="Montserrat"/>
                <a:sym typeface="Montserrat"/>
              </a:defRPr>
            </a:lvl1pPr>
            <a:lvl2pPr lvl="1">
              <a:buNone/>
              <a:defRPr sz="1733">
                <a:solidFill>
                  <a:srgbClr val="003B4C"/>
                </a:solidFill>
                <a:latin typeface="Montserrat"/>
                <a:ea typeface="Montserrat"/>
                <a:cs typeface="Montserrat"/>
                <a:sym typeface="Montserrat"/>
              </a:defRPr>
            </a:lvl2pPr>
            <a:lvl3pPr lvl="2">
              <a:buNone/>
              <a:defRPr sz="1733">
                <a:solidFill>
                  <a:srgbClr val="003B4C"/>
                </a:solidFill>
                <a:latin typeface="Montserrat"/>
                <a:ea typeface="Montserrat"/>
                <a:cs typeface="Montserrat"/>
                <a:sym typeface="Montserrat"/>
              </a:defRPr>
            </a:lvl3pPr>
            <a:lvl4pPr lvl="3">
              <a:buNone/>
              <a:defRPr sz="1733">
                <a:solidFill>
                  <a:srgbClr val="003B4C"/>
                </a:solidFill>
                <a:latin typeface="Montserrat"/>
                <a:ea typeface="Montserrat"/>
                <a:cs typeface="Montserrat"/>
                <a:sym typeface="Montserrat"/>
              </a:defRPr>
            </a:lvl4pPr>
            <a:lvl5pPr lvl="4">
              <a:buNone/>
              <a:defRPr sz="1733">
                <a:solidFill>
                  <a:srgbClr val="003B4C"/>
                </a:solidFill>
                <a:latin typeface="Montserrat"/>
                <a:ea typeface="Montserrat"/>
                <a:cs typeface="Montserrat"/>
                <a:sym typeface="Montserrat"/>
              </a:defRPr>
            </a:lvl5pPr>
            <a:lvl6pPr lvl="5">
              <a:buNone/>
              <a:defRPr sz="1733">
                <a:solidFill>
                  <a:srgbClr val="003B4C"/>
                </a:solidFill>
                <a:latin typeface="Montserrat"/>
                <a:ea typeface="Montserrat"/>
                <a:cs typeface="Montserrat"/>
                <a:sym typeface="Montserrat"/>
              </a:defRPr>
            </a:lvl6pPr>
            <a:lvl7pPr lvl="6">
              <a:buNone/>
              <a:defRPr sz="1733">
                <a:solidFill>
                  <a:srgbClr val="003B4C"/>
                </a:solidFill>
                <a:latin typeface="Montserrat"/>
                <a:ea typeface="Montserrat"/>
                <a:cs typeface="Montserrat"/>
                <a:sym typeface="Montserrat"/>
              </a:defRPr>
            </a:lvl7pPr>
            <a:lvl8pPr lvl="7">
              <a:buNone/>
              <a:defRPr sz="1733">
                <a:solidFill>
                  <a:srgbClr val="003B4C"/>
                </a:solidFill>
                <a:latin typeface="Montserrat"/>
                <a:ea typeface="Montserrat"/>
                <a:cs typeface="Montserrat"/>
                <a:sym typeface="Montserrat"/>
              </a:defRPr>
            </a:lvl8pPr>
            <a:lvl9pPr lvl="8">
              <a:buNone/>
              <a:defRPr sz="1733">
                <a:solidFill>
                  <a:srgbClr val="003B4C"/>
                </a:solidFill>
                <a:latin typeface="Montserrat"/>
                <a:ea typeface="Montserrat"/>
                <a:cs typeface="Montserrat"/>
                <a:sym typeface="Montserrat"/>
              </a:defRPr>
            </a:lvl9pPr>
          </a:lstStyle>
          <a:p>
            <a:fld id="{00000000-1234-1234-1234-123412341234}" type="slidenum">
              <a:rPr lang="es" smtClean="0"/>
              <a:pPr/>
              <a:t>‹#›</a:t>
            </a:fld>
            <a:endParaRPr lang="es"/>
          </a:p>
        </p:txBody>
      </p:sp>
    </p:spTree>
    <p:extLst>
      <p:ext uri="{BB962C8B-B14F-4D97-AF65-F5344CB8AC3E}">
        <p14:creationId xmlns:p14="http://schemas.microsoft.com/office/powerpoint/2010/main" val="2473174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1CC50C-1565-46BD-88F6-9796D2C576CE}" type="datetimeFigureOut">
              <a:rPr lang="en-US" smtClean="0"/>
              <a:t>2/26/24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D5E4B7-694A-41DA-8420-313BBBE4DD8E}" type="slidenum">
              <a:rPr lang="en-US" smtClean="0"/>
              <a:t>‹#›</a:t>
            </a:fld>
            <a:endParaRPr lang="en-US"/>
          </a:p>
        </p:txBody>
      </p:sp>
    </p:spTree>
    <p:extLst>
      <p:ext uri="{BB962C8B-B14F-4D97-AF65-F5344CB8AC3E}">
        <p14:creationId xmlns:p14="http://schemas.microsoft.com/office/powerpoint/2010/main" val="66226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svms.org/history.html"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xml"/><Relationship Id="rId7"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3.xml"/><Relationship Id="rId5" Type="http://schemas.openxmlformats.org/officeDocument/2006/relationships/slideLayout" Target="../slideLayouts/slideLayout2.xml"/><Relationship Id="rId10" Type="http://schemas.openxmlformats.org/officeDocument/2006/relationships/image" Target="../media/image4.png"/><Relationship Id="rId4" Type="http://schemas.openxmlformats.org/officeDocument/2006/relationships/tags" Target="../tags/tag4.xml"/><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7.xml"/><Relationship Id="rId7" Type="http://schemas.openxmlformats.org/officeDocument/2006/relationships/notesSlide" Target="../notesSlides/notesSlide4.xml"/><Relationship Id="rId12" Type="http://schemas.openxmlformats.org/officeDocument/2006/relationships/image" Target="../media/image9.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slideLayout" Target="../slideLayouts/slideLayout2.xml"/><Relationship Id="rId11" Type="http://schemas.openxmlformats.org/officeDocument/2006/relationships/image" Target="../media/image8.png"/><Relationship Id="rId5" Type="http://schemas.openxmlformats.org/officeDocument/2006/relationships/tags" Target="../tags/tag9.xml"/><Relationship Id="rId10" Type="http://schemas.openxmlformats.org/officeDocument/2006/relationships/image" Target="../media/image7.png"/><Relationship Id="rId4" Type="http://schemas.openxmlformats.org/officeDocument/2006/relationships/tags" Target="../tags/tag8.xml"/><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13.xml"/><Relationship Id="rId7" Type="http://schemas.openxmlformats.org/officeDocument/2006/relationships/image" Target="../media/image12.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1.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1.xml"/><Relationship Id="rId13" Type="http://schemas.openxmlformats.org/officeDocument/2006/relationships/image" Target="../media/image12.png"/><Relationship Id="rId3" Type="http://schemas.openxmlformats.org/officeDocument/2006/relationships/tags" Target="../tags/tag16.xml"/><Relationship Id="rId7" Type="http://schemas.openxmlformats.org/officeDocument/2006/relationships/slideLayout" Target="../slideLayouts/slideLayout2.xml"/><Relationship Id="rId12" Type="http://schemas.openxmlformats.org/officeDocument/2006/relationships/image" Target="../media/image11.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image" Target="../media/image16.png"/><Relationship Id="rId5" Type="http://schemas.openxmlformats.org/officeDocument/2006/relationships/tags" Target="../tags/tag18.xml"/><Relationship Id="rId10" Type="http://schemas.openxmlformats.org/officeDocument/2006/relationships/image" Target="../media/image15.png"/><Relationship Id="rId4" Type="http://schemas.openxmlformats.org/officeDocument/2006/relationships/tags" Target="../tags/tag17.xml"/><Relationship Id="rId9" Type="http://schemas.openxmlformats.org/officeDocument/2006/relationships/image" Target="../media/image14.png"/><Relationship Id="rId14" Type="http://schemas.openxmlformats.org/officeDocument/2006/relationships/image" Target="../media/image13.png"/></Relationships>
</file>

<file path=ppt/slides/_rels/slide1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22.xml"/><Relationship Id="rId7" Type="http://schemas.openxmlformats.org/officeDocument/2006/relationships/image" Target="../media/image14.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notesSlide" Target="../notesSlides/notesSlide12.xml"/><Relationship Id="rId5" Type="http://schemas.openxmlformats.org/officeDocument/2006/relationships/slideLayout" Target="../slideLayouts/slideLayout2.xml"/><Relationship Id="rId10" Type="http://schemas.openxmlformats.org/officeDocument/2006/relationships/image" Target="../media/image11.png"/><Relationship Id="rId4" Type="http://schemas.openxmlformats.org/officeDocument/2006/relationships/tags" Target="../tags/tag23.xml"/><Relationship Id="rId9" Type="http://schemas.openxmlformats.org/officeDocument/2006/relationships/image" Target="../media/image16.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3.xml"/><Relationship Id="rId13" Type="http://schemas.openxmlformats.org/officeDocument/2006/relationships/image" Target="../media/image21.png"/><Relationship Id="rId3" Type="http://schemas.openxmlformats.org/officeDocument/2006/relationships/tags" Target="../tags/tag26.xml"/><Relationship Id="rId7" Type="http://schemas.openxmlformats.org/officeDocument/2006/relationships/slideLayout" Target="../slideLayouts/slideLayout2.xml"/><Relationship Id="rId12" Type="http://schemas.openxmlformats.org/officeDocument/2006/relationships/image" Target="../media/image20.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image" Target="../media/image19.png"/><Relationship Id="rId5" Type="http://schemas.openxmlformats.org/officeDocument/2006/relationships/tags" Target="../tags/tag28.xml"/><Relationship Id="rId10" Type="http://schemas.openxmlformats.org/officeDocument/2006/relationships/image" Target="../media/image18.png"/><Relationship Id="rId4" Type="http://schemas.openxmlformats.org/officeDocument/2006/relationships/tags" Target="../tags/tag27.xml"/><Relationship Id="rId9" Type="http://schemas.openxmlformats.org/officeDocument/2006/relationships/image" Target="../media/image17.png"/><Relationship Id="rId14" Type="http://schemas.openxmlformats.org/officeDocument/2006/relationships/image" Target="../media/image22.png"/></Relationships>
</file>

<file path=ppt/slides/_rels/slide20.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tags" Target="../tags/tag32.xml"/><Relationship Id="rId21" Type="http://schemas.openxmlformats.org/officeDocument/2006/relationships/image" Target="../media/image30.png"/><Relationship Id="rId7" Type="http://schemas.openxmlformats.org/officeDocument/2006/relationships/tags" Target="../tags/tag36.xml"/><Relationship Id="rId12" Type="http://schemas.openxmlformats.org/officeDocument/2006/relationships/notesSlide" Target="../notesSlides/notesSlide14.xml"/><Relationship Id="rId17" Type="http://schemas.openxmlformats.org/officeDocument/2006/relationships/image" Target="../media/image27.png"/><Relationship Id="rId2" Type="http://schemas.openxmlformats.org/officeDocument/2006/relationships/tags" Target="../tags/tag31.xml"/><Relationship Id="rId16" Type="http://schemas.openxmlformats.org/officeDocument/2006/relationships/image" Target="../media/image26.png"/><Relationship Id="rId20" Type="http://schemas.openxmlformats.org/officeDocument/2006/relationships/image" Target="../media/image29.png"/><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slideLayout" Target="../slideLayouts/slideLayout2.xml"/><Relationship Id="rId5" Type="http://schemas.openxmlformats.org/officeDocument/2006/relationships/tags" Target="../tags/tag34.xml"/><Relationship Id="rId15" Type="http://schemas.openxmlformats.org/officeDocument/2006/relationships/image" Target="../media/image25.png"/><Relationship Id="rId10" Type="http://schemas.openxmlformats.org/officeDocument/2006/relationships/tags" Target="../tags/tag39.xml"/><Relationship Id="rId19" Type="http://schemas.openxmlformats.org/officeDocument/2006/relationships/image" Target="../media/image10.png"/><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image" Target="../media/image24.png"/><Relationship Id="rId22"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tags" Target="../tags/tag42.xml"/><Relationship Id="rId7" Type="http://schemas.openxmlformats.org/officeDocument/2006/relationships/image" Target="../media/image33.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32.png"/><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36.png"/><Relationship Id="rId18" Type="http://schemas.openxmlformats.org/officeDocument/2006/relationships/image" Target="../media/image4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image" Target="../media/image35.png"/><Relationship Id="rId17" Type="http://schemas.openxmlformats.org/officeDocument/2006/relationships/image" Target="../media/image40.png"/><Relationship Id="rId2" Type="http://schemas.openxmlformats.org/officeDocument/2006/relationships/tags" Target="../tags/tag44.xml"/><Relationship Id="rId16" Type="http://schemas.openxmlformats.org/officeDocument/2006/relationships/image" Target="../media/image39.png"/><Relationship Id="rId20" Type="http://schemas.openxmlformats.org/officeDocument/2006/relationships/image" Target="../media/image43.png"/><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notesSlide" Target="../notesSlides/notesSlide19.xml"/><Relationship Id="rId5" Type="http://schemas.openxmlformats.org/officeDocument/2006/relationships/tags" Target="../tags/tag47.xml"/><Relationship Id="rId15" Type="http://schemas.openxmlformats.org/officeDocument/2006/relationships/image" Target="../media/image38.png"/><Relationship Id="rId10" Type="http://schemas.openxmlformats.org/officeDocument/2006/relationships/slideLayout" Target="../slideLayouts/slideLayout2.xml"/><Relationship Id="rId19" Type="http://schemas.openxmlformats.org/officeDocument/2006/relationships/image" Target="../media/image42.png"/><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54.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55.xml"/><Relationship Id="rId6" Type="http://schemas.openxmlformats.org/officeDocument/2006/relationships/image" Target="../media/image44.png"/><Relationship Id="rId5" Type="http://schemas.openxmlformats.org/officeDocument/2006/relationships/hyperlink" Target="https://scikit-learn.org/stable/auto_examples/svm/plot_linearsvc_support_vectors.html#sphx-glr-auto-examples-svm-plot-linearsvc-support-vectors-py" TargetMode="External"/><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tags" Target="../tags/tag58.xml"/><Relationship Id="rId7" Type="http://schemas.openxmlformats.org/officeDocument/2006/relationships/image" Target="../media/image41.pn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40.png"/><Relationship Id="rId5" Type="http://schemas.openxmlformats.org/officeDocument/2006/relationships/notesSlide" Target="../notesSlides/notesSlide23.xml"/><Relationship Id="rId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59.xml"/><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26.xml"/><Relationship Id="rId13" Type="http://schemas.openxmlformats.org/officeDocument/2006/relationships/image" Target="../media/image52.png"/><Relationship Id="rId3" Type="http://schemas.openxmlformats.org/officeDocument/2006/relationships/tags" Target="../tags/tag62.xml"/><Relationship Id="rId7" Type="http://schemas.openxmlformats.org/officeDocument/2006/relationships/slideLayout" Target="../slideLayouts/slideLayout2.xml"/><Relationship Id="rId12" Type="http://schemas.openxmlformats.org/officeDocument/2006/relationships/image" Target="../media/image51.pn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image" Target="../media/image50.png"/><Relationship Id="rId5" Type="http://schemas.openxmlformats.org/officeDocument/2006/relationships/tags" Target="../tags/tag64.xml"/><Relationship Id="rId10" Type="http://schemas.openxmlformats.org/officeDocument/2006/relationships/image" Target="../media/image49.png"/><Relationship Id="rId4" Type="http://schemas.openxmlformats.org/officeDocument/2006/relationships/tags" Target="../tags/tag63.xml"/><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tags" Target="../tags/tag68.xml"/><Relationship Id="rId7" Type="http://schemas.openxmlformats.org/officeDocument/2006/relationships/image" Target="../media/image53.pn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48.png"/><Relationship Id="rId5" Type="http://schemas.openxmlformats.org/officeDocument/2006/relationships/notesSlide" Target="../notesSlides/notesSlide27.xml"/><Relationship Id="rId4"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71.xml"/><Relationship Id="rId4" Type="http://schemas.openxmlformats.org/officeDocument/2006/relationships/image" Target="../media/image55.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72.xml"/><Relationship Id="rId6" Type="http://schemas.openxmlformats.org/officeDocument/2006/relationships/hyperlink" Target="https://fenix.tecnico.ulisboa.pt/downloadFile/395143144991/thesis.pdf" TargetMode="External"/><Relationship Id="rId5" Type="http://schemas.openxmlformats.org/officeDocument/2006/relationships/image" Target="../media/image55.png"/><Relationship Id="rId4" Type="http://schemas.openxmlformats.org/officeDocument/2006/relationships/image" Target="../media/image56.jpg"/></Relationships>
</file>

<file path=ppt/slides/_rels/slide4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tags" Target="../tags/tag75.xml"/><Relationship Id="rId7" Type="http://schemas.openxmlformats.org/officeDocument/2006/relationships/notesSlide" Target="../notesSlides/notesSlide32.xml"/><Relationship Id="rId12" Type="http://schemas.openxmlformats.org/officeDocument/2006/relationships/image" Target="../media/image61.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slideLayout" Target="../slideLayouts/slideLayout2.xml"/><Relationship Id="rId11" Type="http://schemas.openxmlformats.org/officeDocument/2006/relationships/image" Target="../media/image60.png"/><Relationship Id="rId5" Type="http://schemas.openxmlformats.org/officeDocument/2006/relationships/tags" Target="../tags/tag77.xml"/><Relationship Id="rId10" Type="http://schemas.openxmlformats.org/officeDocument/2006/relationships/image" Target="../media/image59.png"/><Relationship Id="rId4" Type="http://schemas.openxmlformats.org/officeDocument/2006/relationships/tags" Target="../tags/tag76.xml"/><Relationship Id="rId9" Type="http://schemas.openxmlformats.org/officeDocument/2006/relationships/image" Target="../media/image58.png"/></Relationships>
</file>

<file path=ppt/slides/_rels/slide42.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image" Target="../media/image63.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62.png"/><Relationship Id="rId5" Type="http://schemas.openxmlformats.org/officeDocument/2006/relationships/notesSlide" Target="../notesSlides/notesSlide33.xml"/><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tags" Target="../tags/tag83.xml"/><Relationship Id="rId7" Type="http://schemas.openxmlformats.org/officeDocument/2006/relationships/image" Target="../media/image65.png"/><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image" Target="../media/image61.png"/><Relationship Id="rId5" Type="http://schemas.openxmlformats.org/officeDocument/2006/relationships/image" Target="../media/image64.png"/><Relationship Id="rId4"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4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tags" Target="../tags/tag87.xml"/><Relationship Id="rId7" Type="http://schemas.openxmlformats.org/officeDocument/2006/relationships/image" Target="../media/image63.png"/><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notesSlide" Target="../notesSlides/notesSlide34.xml"/><Relationship Id="rId5" Type="http://schemas.openxmlformats.org/officeDocument/2006/relationships/slideLayout" Target="../slideLayouts/slideLayout2.xml"/><Relationship Id="rId4" Type="http://schemas.openxmlformats.org/officeDocument/2006/relationships/tags" Target="../tags/tag88.xml"/><Relationship Id="rId9" Type="http://schemas.openxmlformats.org/officeDocument/2006/relationships/image" Target="../media/image62.png"/></Relationships>
</file>

<file path=ppt/slides/_rels/slide46.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tags" Target="../tags/tag91.xml"/><Relationship Id="rId7" Type="http://schemas.openxmlformats.org/officeDocument/2006/relationships/image" Target="../media/image69.png"/><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image" Target="../media/image68.png"/><Relationship Id="rId5" Type="http://schemas.openxmlformats.org/officeDocument/2006/relationships/notesSlide" Target="../notesSlides/notesSlide35.xml"/><Relationship Id="rId4"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hyperlink" Target="http://cs229.stanford.edu/summer2020/cs229-notes3.pdf" TargetMode="External"/><Relationship Id="rId3" Type="http://schemas.openxmlformats.org/officeDocument/2006/relationships/slideLayout" Target="../slideLayouts/slideLayout2.xml"/><Relationship Id="rId7" Type="http://schemas.openxmlformats.org/officeDocument/2006/relationships/image" Target="../media/image73.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94.xml"/><Relationship Id="rId6" Type="http://schemas.openxmlformats.org/officeDocument/2006/relationships/hyperlink" Target="https://doi.org/10.1371/journal.pcbi.1000173" TargetMode="External"/><Relationship Id="rId5" Type="http://schemas.openxmlformats.org/officeDocument/2006/relationships/image" Target="../media/image75.png"/><Relationship Id="rId4" Type="http://schemas.openxmlformats.org/officeDocument/2006/relationships/image" Target="../media/image74.png"/></Relationships>
</file>

<file path=ppt/slides/_rels/slide49.xml.rels><?xml version="1.0" encoding="UTF-8" standalone="yes"?>
<Relationships xmlns="http://schemas.openxmlformats.org/package/2006/relationships"><Relationship Id="rId8" Type="http://schemas.openxmlformats.org/officeDocument/2006/relationships/hyperlink" Target="https://doi.org/10.1371/journal.pcbi.1000173" TargetMode="External"/><Relationship Id="rId3" Type="http://schemas.openxmlformats.org/officeDocument/2006/relationships/slideLayout" Target="../slideLayouts/slideLayout2.xml"/><Relationship Id="rId7" Type="http://schemas.openxmlformats.org/officeDocument/2006/relationships/image" Target="../media/image78.jpeg"/><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hyperlink" Target="http://scikit-learn.org/stable/auto_examples/svm/plot_iris.html"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tags" Target="../tags/tag99.xml"/><Relationship Id="rId7" Type="http://schemas.openxmlformats.org/officeDocument/2006/relationships/image" Target="../media/image81.png"/><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80.png"/><Relationship Id="rId5" Type="http://schemas.openxmlformats.org/officeDocument/2006/relationships/notesSlide" Target="../notesSlides/notesSlide41.xml"/><Relationship Id="rId4" Type="http://schemas.openxmlformats.org/officeDocument/2006/relationships/slideLayout" Target="../slideLayouts/slideLayout7.xml"/><Relationship Id="rId9" Type="http://schemas.openxmlformats.org/officeDocument/2006/relationships/hyperlink" Target="https://scikit-learn.org/stable/modules/svm.html" TargetMode="Externa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csie.ntu.edu.tw/~cjlin/papers/guide/guide.pdf"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scikit-learn.org/stable/modules/svm.html#scores-and-probabilities"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hyperlink" Target="https://en.wikipedia.org/wiki/Support-vector_machine#Applicat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Support Vector Machine - SVM</a:t>
            </a:r>
          </a:p>
        </p:txBody>
      </p:sp>
      <p:sp>
        <p:nvSpPr>
          <p:cNvPr id="3" name="Subtitle 2"/>
          <p:cNvSpPr>
            <a:spLocks noGrp="1"/>
          </p:cNvSpPr>
          <p:nvPr>
            <p:ph type="subTitle" idx="1"/>
          </p:nvPr>
        </p:nvSpPr>
        <p:spPr/>
        <p:txBody>
          <a:bodyPr/>
          <a:lstStyle/>
          <a:p>
            <a:r>
              <a:rPr lang="en-US" dirty="0"/>
              <a:t>CSC4601 Theory of Machine Learning</a:t>
            </a:r>
          </a:p>
        </p:txBody>
      </p:sp>
    </p:spTree>
    <p:extLst>
      <p:ext uri="{BB962C8B-B14F-4D97-AF65-F5344CB8AC3E}">
        <p14:creationId xmlns:p14="http://schemas.microsoft.com/office/powerpoint/2010/main" val="2078613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Quick Overview of SVM</a:t>
            </a:r>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28155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Linear Classifier</a:t>
            </a:r>
          </a:p>
        </p:txBody>
      </p:sp>
      <p:sp>
        <p:nvSpPr>
          <p:cNvPr id="3" name="Content Placeholder 2"/>
          <p:cNvSpPr>
            <a:spLocks noGrp="1"/>
          </p:cNvSpPr>
          <p:nvPr>
            <p:ph idx="1"/>
          </p:nvPr>
        </p:nvSpPr>
        <p:spPr/>
        <p:txBody>
          <a:bodyPr>
            <a:normAutofit/>
          </a:bodyPr>
          <a:lstStyle/>
          <a:p>
            <a:pPr>
              <a:lnSpc>
                <a:spcPct val="100000"/>
              </a:lnSpc>
            </a:pPr>
            <a:r>
              <a:rPr lang="en-US" sz="2400" dirty="0"/>
              <a:t>Linear classifier uses a linear decision boundary to separate classes.</a:t>
            </a:r>
          </a:p>
          <a:p>
            <a:pPr marL="0" indent="0">
              <a:lnSpc>
                <a:spcPct val="100000"/>
              </a:lnSpc>
              <a:buNone/>
            </a:pPr>
            <a:endParaRPr lang="en-US" sz="2400" dirty="0"/>
          </a:p>
          <a:p>
            <a:pPr>
              <a:lnSpc>
                <a:spcPct val="100000"/>
              </a:lnSpc>
            </a:pPr>
            <a:r>
              <a:rPr lang="en-US" sz="2400" dirty="0"/>
              <a:t>We’ve seen that logistic regression is an example of a linear classifier:</a:t>
            </a:r>
          </a:p>
          <a:p>
            <a:pPr marL="457200">
              <a:lnSpc>
                <a:spcPct val="100000"/>
              </a:lnSpc>
            </a:pPr>
            <a:r>
              <a:rPr lang="en-US" sz="2400" dirty="0"/>
              <a:t>it uses a logistic function that quantifies how certain we are that a data point belongs to a class.</a:t>
            </a:r>
          </a:p>
          <a:p>
            <a:pPr marL="457200">
              <a:lnSpc>
                <a:spcPct val="100000"/>
              </a:lnSpc>
            </a:pPr>
            <a:r>
              <a:rPr lang="en-US" sz="2400" dirty="0"/>
              <a:t>it translates into finding a linear decision boundary.</a:t>
            </a:r>
          </a:p>
          <a:p>
            <a:pPr>
              <a:lnSpc>
                <a:spcPct val="100000"/>
              </a:lnSpc>
            </a:pPr>
            <a:endParaRPr lang="en-US" sz="2400" dirty="0"/>
          </a:p>
          <a:p>
            <a:pPr>
              <a:lnSpc>
                <a:spcPct val="100000"/>
              </a:lnSpc>
            </a:pPr>
            <a:r>
              <a:rPr lang="en-US" sz="2400" dirty="0"/>
              <a:t>SVM explicitly models the boundary between the classes as linear:</a:t>
            </a:r>
          </a:p>
          <a:p>
            <a:pPr marL="457200">
              <a:lnSpc>
                <a:spcPct val="100000"/>
              </a:lnSpc>
            </a:pPr>
            <a:r>
              <a:rPr lang="en-US" sz="2400" dirty="0"/>
              <a:t>it generalizes the idea of maximal margin classifier.</a:t>
            </a:r>
          </a:p>
        </p:txBody>
      </p:sp>
    </p:spTree>
    <p:extLst>
      <p:ext uri="{BB962C8B-B14F-4D97-AF65-F5344CB8AC3E}">
        <p14:creationId xmlns:p14="http://schemas.microsoft.com/office/powerpoint/2010/main" val="2899697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dirty="0">
              <a:latin typeface="Source Sans Pro" panose="020B0604020202020204" charset="0"/>
              <a:ea typeface="Montserrat"/>
              <a:cs typeface="Montserrat"/>
              <a:sym typeface="Montserrat"/>
            </a:endParaRPr>
          </a:p>
        </p:txBody>
      </p:sp>
      <p:sp>
        <p:nvSpPr>
          <p:cNvPr id="194" name="Google Shape;194;p44"/>
          <p:cNvSpPr txBox="1"/>
          <p:nvPr/>
        </p:nvSpPr>
        <p:spPr>
          <a:xfrm>
            <a:off x="958921" y="1329335"/>
            <a:ext cx="10150868" cy="3574800"/>
          </a:xfrm>
          <a:prstGeom prst="rect">
            <a:avLst/>
          </a:prstGeom>
          <a:no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169329">
              <a:lnSpc>
                <a:spcPct val="140000"/>
              </a:lnSpc>
              <a:spcBef>
                <a:spcPts val="1333"/>
              </a:spcBef>
              <a:buClr>
                <a:srgbClr val="003B4C"/>
              </a:buClr>
              <a:buSzPct val="100000"/>
            </a:pPr>
            <a:endParaRPr lang="en-US" sz="2400" dirty="0">
              <a:latin typeface="Source Sans Pro" panose="020B0604020202020204" charset="0"/>
              <a:ea typeface="Source Sans Pro"/>
              <a:cs typeface="Source Sans Pro"/>
              <a:sym typeface="Source Sans Pro"/>
            </a:endParaRPr>
          </a:p>
          <a:p>
            <a:pPr marL="169329">
              <a:lnSpc>
                <a:spcPct val="140000"/>
              </a:lnSpc>
              <a:spcBef>
                <a:spcPts val="1333"/>
              </a:spcBef>
              <a:buClr>
                <a:srgbClr val="003B4C"/>
              </a:buClr>
              <a:buSzPct val="100000"/>
            </a:pPr>
            <a:endParaRPr lang="en-US" sz="2400" dirty="0">
              <a:latin typeface="Source Sans Pro" panose="020B0604020202020204" charset="0"/>
              <a:ea typeface="Source Sans Pro"/>
              <a:cs typeface="Source Sans Pro"/>
              <a:sym typeface="Source Sans Pro"/>
            </a:endParaRPr>
          </a:p>
        </p:txBody>
      </p:sp>
      <p:cxnSp>
        <p:nvCxnSpPr>
          <p:cNvPr id="3" name="Straight Arrow Connector 2"/>
          <p:cNvCxnSpPr/>
          <p:nvPr/>
        </p:nvCxnSpPr>
        <p:spPr>
          <a:xfrm>
            <a:off x="1271082" y="2191972"/>
            <a:ext cx="931261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271072" y="1776919"/>
            <a:ext cx="1089497" cy="338554"/>
          </a:xfrm>
          <a:prstGeom prst="rect">
            <a:avLst/>
          </a:prstGeom>
          <a:noFill/>
        </p:spPr>
        <p:txBody>
          <a:bodyPr wrap="square" rtlCol="0">
            <a:spAutoFit/>
          </a:bodyPr>
          <a:lstStyle/>
          <a:p>
            <a:r>
              <a:rPr lang="en-US" sz="1600" dirty="0">
                <a:latin typeface="Source Sans Pro" panose="020B0604020202020204" charset="0"/>
              </a:rPr>
              <a:t>     1957</a:t>
            </a:r>
          </a:p>
        </p:txBody>
      </p:sp>
      <p:sp>
        <p:nvSpPr>
          <p:cNvPr id="10" name="TextBox 9"/>
          <p:cNvSpPr txBox="1"/>
          <p:nvPr/>
        </p:nvSpPr>
        <p:spPr>
          <a:xfrm>
            <a:off x="2823222" y="1785566"/>
            <a:ext cx="1089497" cy="338554"/>
          </a:xfrm>
          <a:prstGeom prst="rect">
            <a:avLst/>
          </a:prstGeom>
          <a:noFill/>
        </p:spPr>
        <p:txBody>
          <a:bodyPr wrap="square" rtlCol="0">
            <a:spAutoFit/>
          </a:bodyPr>
          <a:lstStyle/>
          <a:p>
            <a:r>
              <a:rPr lang="en-US" sz="1600" dirty="0">
                <a:latin typeface="Source Sans Pro" panose="020B0604020202020204" charset="0"/>
              </a:rPr>
              <a:t> 1963</a:t>
            </a:r>
          </a:p>
        </p:txBody>
      </p:sp>
      <p:sp>
        <p:nvSpPr>
          <p:cNvPr id="11" name="TextBox 10"/>
          <p:cNvSpPr txBox="1"/>
          <p:nvPr/>
        </p:nvSpPr>
        <p:spPr>
          <a:xfrm>
            <a:off x="7228737" y="1781242"/>
            <a:ext cx="1089497" cy="338554"/>
          </a:xfrm>
          <a:prstGeom prst="rect">
            <a:avLst/>
          </a:prstGeom>
          <a:noFill/>
        </p:spPr>
        <p:txBody>
          <a:bodyPr wrap="square" rtlCol="0">
            <a:spAutoFit/>
          </a:bodyPr>
          <a:lstStyle/>
          <a:p>
            <a:r>
              <a:rPr lang="en-US" sz="1600" dirty="0">
                <a:latin typeface="Source Sans Pro" panose="020B0604020202020204" charset="0"/>
              </a:rPr>
              <a:t>  1992</a:t>
            </a:r>
          </a:p>
        </p:txBody>
      </p:sp>
      <p:sp>
        <p:nvSpPr>
          <p:cNvPr id="12" name="TextBox 11"/>
          <p:cNvSpPr txBox="1"/>
          <p:nvPr/>
        </p:nvSpPr>
        <p:spPr>
          <a:xfrm>
            <a:off x="8703022" y="1776918"/>
            <a:ext cx="1089497" cy="338554"/>
          </a:xfrm>
          <a:prstGeom prst="rect">
            <a:avLst/>
          </a:prstGeom>
          <a:noFill/>
        </p:spPr>
        <p:txBody>
          <a:bodyPr wrap="square" rtlCol="0">
            <a:spAutoFit/>
          </a:bodyPr>
          <a:lstStyle/>
          <a:p>
            <a:r>
              <a:rPr lang="en-US" sz="1600" dirty="0">
                <a:latin typeface="Source Sans Pro" panose="020B0604020202020204" charset="0"/>
              </a:rPr>
              <a:t>   1995</a:t>
            </a:r>
          </a:p>
        </p:txBody>
      </p:sp>
      <p:cxnSp>
        <p:nvCxnSpPr>
          <p:cNvPr id="6" name="Straight Arrow Connector 5"/>
          <p:cNvCxnSpPr/>
          <p:nvPr/>
        </p:nvCxnSpPr>
        <p:spPr>
          <a:xfrm>
            <a:off x="1776908" y="2185163"/>
            <a:ext cx="0" cy="72016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160413" y="2195936"/>
            <a:ext cx="0" cy="6791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7643780" y="2178641"/>
            <a:ext cx="0" cy="6791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9144001" y="2174318"/>
            <a:ext cx="0" cy="6791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141381" y="3073941"/>
            <a:ext cx="1828791" cy="1036117"/>
          </a:xfrm>
          <a:prstGeom prst="rect">
            <a:avLst/>
          </a:prstGeom>
          <a:noFill/>
        </p:spPr>
        <p:txBody>
          <a:bodyPr wrap="square" rtlCol="0">
            <a:spAutoFit/>
          </a:bodyPr>
          <a:lstStyle/>
          <a:p>
            <a:r>
              <a:rPr lang="en-US" sz="1600" dirty="0">
                <a:latin typeface="Source Sans Pro" panose="020B0604020202020204" charset="0"/>
              </a:rPr>
              <a:t>Perceptron</a:t>
            </a:r>
          </a:p>
          <a:p>
            <a:r>
              <a:rPr lang="en-US" sz="1600" dirty="0">
                <a:latin typeface="Source Sans Pro" panose="020B0604020202020204" charset="0"/>
              </a:rPr>
              <a:t>(linear classifier)</a:t>
            </a:r>
          </a:p>
          <a:p>
            <a:endParaRPr lang="en-US" sz="1600" dirty="0">
              <a:latin typeface="Source Sans Pro" panose="020B0604020202020204" charset="0"/>
            </a:endParaRPr>
          </a:p>
          <a:p>
            <a:r>
              <a:rPr lang="en-US" sz="1333" i="1" dirty="0">
                <a:latin typeface="Source Sans Pro" panose="020B0604020202020204" charset="0"/>
              </a:rPr>
              <a:t>Rosenblatt</a:t>
            </a:r>
          </a:p>
        </p:txBody>
      </p:sp>
      <p:sp>
        <p:nvSpPr>
          <p:cNvPr id="19" name="TextBox 18"/>
          <p:cNvSpPr txBox="1"/>
          <p:nvPr/>
        </p:nvSpPr>
        <p:spPr>
          <a:xfrm>
            <a:off x="2784271" y="3069618"/>
            <a:ext cx="2209261" cy="1036117"/>
          </a:xfrm>
          <a:prstGeom prst="rect">
            <a:avLst/>
          </a:prstGeom>
          <a:noFill/>
        </p:spPr>
        <p:txBody>
          <a:bodyPr wrap="square" rtlCol="0">
            <a:spAutoFit/>
          </a:bodyPr>
          <a:lstStyle/>
          <a:p>
            <a:r>
              <a:rPr lang="en-US" sz="1600" dirty="0">
                <a:latin typeface="Source Sans Pro" panose="020B0604020202020204" charset="0"/>
              </a:rPr>
              <a:t>Maximal Margin Hyperplane</a:t>
            </a:r>
          </a:p>
          <a:p>
            <a:endParaRPr lang="en-US" sz="1600" dirty="0">
              <a:latin typeface="Source Sans Pro" panose="020B0604020202020204" charset="0"/>
            </a:endParaRPr>
          </a:p>
          <a:p>
            <a:r>
              <a:rPr lang="en-US" sz="1333" i="1" dirty="0" err="1">
                <a:latin typeface="Source Sans Pro" panose="020B0604020202020204" charset="0"/>
              </a:rPr>
              <a:t>Vapnik</a:t>
            </a:r>
            <a:r>
              <a:rPr lang="en-US" sz="1333" i="1" dirty="0">
                <a:latin typeface="Source Sans Pro" panose="020B0604020202020204" charset="0"/>
              </a:rPr>
              <a:t> and </a:t>
            </a:r>
            <a:r>
              <a:rPr lang="en-US" sz="1333" i="1" dirty="0" err="1">
                <a:latin typeface="Source Sans Pro" panose="020B0604020202020204" charset="0"/>
              </a:rPr>
              <a:t>Chervonenkis</a:t>
            </a:r>
            <a:endParaRPr lang="en-US" sz="1333" i="1" dirty="0">
              <a:latin typeface="Source Sans Pro" panose="020B0604020202020204" charset="0"/>
            </a:endParaRPr>
          </a:p>
        </p:txBody>
      </p:sp>
      <p:sp>
        <p:nvSpPr>
          <p:cNvPr id="20" name="TextBox 19"/>
          <p:cNvSpPr txBox="1"/>
          <p:nvPr/>
        </p:nvSpPr>
        <p:spPr>
          <a:xfrm>
            <a:off x="6511047" y="3000443"/>
            <a:ext cx="2213583" cy="1282339"/>
          </a:xfrm>
          <a:prstGeom prst="rect">
            <a:avLst/>
          </a:prstGeom>
          <a:noFill/>
        </p:spPr>
        <p:txBody>
          <a:bodyPr wrap="square" rtlCol="0">
            <a:spAutoFit/>
          </a:bodyPr>
          <a:lstStyle/>
          <a:p>
            <a:r>
              <a:rPr lang="en-US" sz="1600" dirty="0">
                <a:latin typeface="Source Sans Pro" panose="020B0604020202020204" charset="0"/>
              </a:rPr>
              <a:t>Kernel Trick applied to Maximal Margin Hyperplane</a:t>
            </a:r>
          </a:p>
          <a:p>
            <a:endParaRPr lang="en-US" sz="1600" dirty="0">
              <a:latin typeface="Source Sans Pro" panose="020B0604020202020204" charset="0"/>
            </a:endParaRPr>
          </a:p>
          <a:p>
            <a:r>
              <a:rPr lang="en-US" sz="1333" i="1" dirty="0" err="1">
                <a:latin typeface="Source Sans Pro" panose="020B0604020202020204" charset="0"/>
              </a:rPr>
              <a:t>Boser</a:t>
            </a:r>
            <a:r>
              <a:rPr lang="en-US" sz="1333" i="1" dirty="0">
                <a:latin typeface="Source Sans Pro" panose="020B0604020202020204" charset="0"/>
              </a:rPr>
              <a:t>, </a:t>
            </a:r>
            <a:r>
              <a:rPr lang="en-US" sz="1333" i="1" dirty="0" err="1">
                <a:latin typeface="Source Sans Pro" panose="020B0604020202020204" charset="0"/>
              </a:rPr>
              <a:t>Guyon</a:t>
            </a:r>
            <a:r>
              <a:rPr lang="en-US" sz="1333" i="1" dirty="0">
                <a:latin typeface="Source Sans Pro" panose="020B0604020202020204" charset="0"/>
              </a:rPr>
              <a:t> and </a:t>
            </a:r>
            <a:r>
              <a:rPr lang="en-US" sz="1333" i="1" dirty="0" err="1">
                <a:latin typeface="Source Sans Pro" panose="020B0604020202020204" charset="0"/>
              </a:rPr>
              <a:t>Vapnik</a:t>
            </a:r>
            <a:endParaRPr lang="en-US" sz="1333" i="1" dirty="0">
              <a:latin typeface="Source Sans Pro" panose="020B0604020202020204" charset="0"/>
            </a:endParaRPr>
          </a:p>
        </p:txBody>
      </p:sp>
      <p:sp>
        <p:nvSpPr>
          <p:cNvPr id="21" name="TextBox 20"/>
          <p:cNvSpPr txBox="1"/>
          <p:nvPr/>
        </p:nvSpPr>
        <p:spPr>
          <a:xfrm>
            <a:off x="8672750" y="2996121"/>
            <a:ext cx="2213583" cy="1036117"/>
          </a:xfrm>
          <a:prstGeom prst="rect">
            <a:avLst/>
          </a:prstGeom>
          <a:noFill/>
        </p:spPr>
        <p:txBody>
          <a:bodyPr wrap="square" rtlCol="0">
            <a:spAutoFit/>
          </a:bodyPr>
          <a:lstStyle/>
          <a:p>
            <a:r>
              <a:rPr lang="en-US" sz="1600" dirty="0">
                <a:latin typeface="Source Sans Pro" panose="020B0604020202020204" charset="0"/>
              </a:rPr>
              <a:t>Current Form of SVM (soft margin)</a:t>
            </a:r>
          </a:p>
          <a:p>
            <a:endParaRPr lang="en-US" sz="1600" dirty="0">
              <a:latin typeface="Source Sans Pro" panose="020B0604020202020204" charset="0"/>
            </a:endParaRPr>
          </a:p>
          <a:p>
            <a:r>
              <a:rPr lang="en-US" sz="1333" i="1" dirty="0">
                <a:latin typeface="Source Sans Pro" panose="020B0604020202020204" charset="0"/>
              </a:rPr>
              <a:t>Cortes and </a:t>
            </a:r>
            <a:r>
              <a:rPr lang="en-US" sz="1333" i="1" dirty="0" err="1">
                <a:latin typeface="Source Sans Pro" panose="020B0604020202020204" charset="0"/>
              </a:rPr>
              <a:t>Vapnik</a:t>
            </a:r>
            <a:endParaRPr lang="en-US" sz="1333" i="1" dirty="0">
              <a:latin typeface="Source Sans Pro" panose="020B0604020202020204" charset="0"/>
            </a:endParaRPr>
          </a:p>
        </p:txBody>
      </p:sp>
      <p:sp>
        <p:nvSpPr>
          <p:cNvPr id="8" name="TextBox 7"/>
          <p:cNvSpPr txBox="1"/>
          <p:nvPr/>
        </p:nvSpPr>
        <p:spPr>
          <a:xfrm>
            <a:off x="1206230" y="5667983"/>
            <a:ext cx="3618689" cy="338554"/>
          </a:xfrm>
          <a:prstGeom prst="rect">
            <a:avLst/>
          </a:prstGeom>
          <a:noFill/>
        </p:spPr>
        <p:txBody>
          <a:bodyPr wrap="square" rtlCol="0">
            <a:spAutoFit/>
          </a:bodyPr>
          <a:lstStyle/>
          <a:p>
            <a:r>
              <a:rPr lang="en-US" sz="1600" dirty="0">
                <a:latin typeface="Source Sans Pro" panose="020B0604020202020204" charset="0"/>
                <a:hlinkClick r:id="rId3"/>
              </a:rPr>
              <a:t>Check here for a detailed History</a:t>
            </a:r>
            <a:endParaRPr lang="en-US" sz="1600" dirty="0">
              <a:latin typeface="Source Sans Pro" panose="020B0604020202020204" charset="0"/>
            </a:endParaRPr>
          </a:p>
        </p:txBody>
      </p:sp>
      <p:sp>
        <p:nvSpPr>
          <p:cNvPr id="5" name="Title 4"/>
          <p:cNvSpPr>
            <a:spLocks noGrp="1"/>
          </p:cNvSpPr>
          <p:nvPr>
            <p:ph type="title"/>
          </p:nvPr>
        </p:nvSpPr>
        <p:spPr/>
        <p:txBody>
          <a:bodyPr/>
          <a:lstStyle/>
          <a:p>
            <a:r>
              <a:rPr lang="en-US" b="1" dirty="0"/>
              <a:t>History of SVM</a:t>
            </a:r>
          </a:p>
        </p:txBody>
      </p:sp>
    </p:spTree>
    <p:extLst>
      <p:ext uri="{BB962C8B-B14F-4D97-AF65-F5344CB8AC3E}">
        <p14:creationId xmlns:p14="http://schemas.microsoft.com/office/powerpoint/2010/main" val="1647785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5" name="Title 4"/>
          <p:cNvSpPr>
            <a:spLocks noGrp="1"/>
          </p:cNvSpPr>
          <p:nvPr>
            <p:ph type="title"/>
          </p:nvPr>
        </p:nvSpPr>
        <p:spPr/>
        <p:txBody>
          <a:bodyPr/>
          <a:lstStyle/>
          <a:p>
            <a:r>
              <a:rPr lang="es" b="1" dirty="0">
                <a:ea typeface="Source Sans Pro"/>
                <a:cs typeface="Source Sans Pro"/>
                <a:sym typeface="Source Sans Pro"/>
              </a:rPr>
              <a:t>Quick Overview of SVM</a:t>
            </a:r>
            <a:endParaRPr lang="en-US" dirty="0"/>
          </a:p>
        </p:txBody>
      </p:sp>
      <p:sp>
        <p:nvSpPr>
          <p:cNvPr id="4" name="Content Placeholder 3"/>
          <p:cNvSpPr>
            <a:spLocks noGrp="1"/>
          </p:cNvSpPr>
          <p:nvPr>
            <p:ph idx="1"/>
          </p:nvPr>
        </p:nvSpPr>
        <p:spPr/>
        <p:txBody>
          <a:bodyPr/>
          <a:lstStyle/>
          <a:p>
            <a:pPr>
              <a:lnSpc>
                <a:spcPct val="100000"/>
              </a:lnSpc>
              <a:spcBef>
                <a:spcPts val="1333"/>
              </a:spcBef>
              <a:buSzPct val="100000"/>
            </a:pPr>
            <a:r>
              <a:rPr lang="en-US" sz="2400" dirty="0">
                <a:ea typeface="Source Sans Pro"/>
                <a:cs typeface="Source Sans Pro"/>
                <a:sym typeface="Source Sans Pro"/>
              </a:rPr>
              <a:t>SVM is a supervised learning model that can be used for classification and regression.</a:t>
            </a:r>
          </a:p>
          <a:p>
            <a:pPr marL="0" indent="0">
              <a:lnSpc>
                <a:spcPct val="100000"/>
              </a:lnSpc>
              <a:spcBef>
                <a:spcPts val="1333"/>
              </a:spcBef>
              <a:buSzPct val="100000"/>
              <a:buNone/>
            </a:pPr>
            <a:endParaRPr lang="en-US" sz="2400" dirty="0">
              <a:ea typeface="Source Sans Pro"/>
              <a:cs typeface="Source Sans Pro"/>
              <a:sym typeface="Source Sans Pro"/>
            </a:endParaRPr>
          </a:p>
          <a:p>
            <a:pPr>
              <a:lnSpc>
                <a:spcPct val="100000"/>
              </a:lnSpc>
              <a:spcBef>
                <a:spcPts val="1333"/>
              </a:spcBef>
              <a:buSzPct val="100000"/>
            </a:pPr>
            <a:r>
              <a:rPr lang="en-US" sz="2400" dirty="0">
                <a:ea typeface="Source Sans Pro"/>
                <a:cs typeface="Source Sans Pro"/>
                <a:sym typeface="Source Sans Pro"/>
              </a:rPr>
              <a:t>The algorithm is based on finding the best linear classifier that separates the data points of different classes (separating hyperplane).</a:t>
            </a:r>
          </a:p>
          <a:p>
            <a:pPr marL="0" indent="0">
              <a:lnSpc>
                <a:spcPct val="100000"/>
              </a:lnSpc>
              <a:spcBef>
                <a:spcPts val="1333"/>
              </a:spcBef>
              <a:buSzPct val="100000"/>
              <a:buNone/>
            </a:pPr>
            <a:endParaRPr lang="en-US" sz="2400" dirty="0">
              <a:ea typeface="Source Sans Pro"/>
              <a:cs typeface="Source Sans Pro"/>
              <a:sym typeface="Source Sans Pro"/>
            </a:endParaRPr>
          </a:p>
          <a:p>
            <a:pPr>
              <a:lnSpc>
                <a:spcPct val="100000"/>
              </a:lnSpc>
              <a:spcBef>
                <a:spcPts val="1333"/>
              </a:spcBef>
              <a:buSzPct val="100000"/>
            </a:pPr>
            <a:r>
              <a:rPr lang="en-US" sz="2400" dirty="0">
                <a:ea typeface="Source Sans Pro"/>
                <a:cs typeface="Source Sans Pro"/>
                <a:sym typeface="Source Sans Pro"/>
              </a:rPr>
              <a:t>The kernel trick allows the expansion of features space and the design of non-linear classifier.</a:t>
            </a:r>
          </a:p>
          <a:p>
            <a:pPr>
              <a:lnSpc>
                <a:spcPct val="140000"/>
              </a:lnSpc>
              <a:spcBef>
                <a:spcPts val="1333"/>
              </a:spcBef>
              <a:buSzPct val="100000"/>
            </a:pPr>
            <a:endParaRPr lang="en-US" dirty="0">
              <a:ea typeface="Source Sans Pro"/>
              <a:cs typeface="Source Sans Pro"/>
              <a:sym typeface="Source Sans Pro"/>
            </a:endParaRPr>
          </a:p>
          <a:p>
            <a:pPr>
              <a:lnSpc>
                <a:spcPct val="140000"/>
              </a:lnSpc>
              <a:spcBef>
                <a:spcPts val="1333"/>
              </a:spcBef>
              <a:buSzPct val="100000"/>
            </a:pPr>
            <a:endParaRPr lang="en-US" dirty="0">
              <a:ea typeface="Source Sans Pro"/>
              <a:cs typeface="Source Sans Pro"/>
              <a:sym typeface="Source Sans Pro"/>
            </a:endParaRPr>
          </a:p>
        </p:txBody>
      </p:sp>
    </p:spTree>
    <p:extLst>
      <p:ext uri="{BB962C8B-B14F-4D97-AF65-F5344CB8AC3E}">
        <p14:creationId xmlns:p14="http://schemas.microsoft.com/office/powerpoint/2010/main" val="3750060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Maximal Margin Classifier</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94317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512230" indent="-342900">
              <a:lnSpc>
                <a:spcPct val="100000"/>
              </a:lnSpc>
              <a:spcBef>
                <a:spcPts val="1333"/>
              </a:spcBef>
              <a:buSzPct val="100000"/>
            </a:pPr>
            <a:r>
              <a:rPr lang="en-US" sz="2400" dirty="0">
                <a:ea typeface="Source Sans Pro"/>
                <a:cs typeface="Source Sans Pro"/>
                <a:sym typeface="Source Sans Pro"/>
              </a:rPr>
              <a:t>Consider a training set that consists of n samples:</a:t>
            </a:r>
          </a:p>
          <a:p>
            <a:pPr marL="169330" indent="0">
              <a:lnSpc>
                <a:spcPct val="100000"/>
              </a:lnSpc>
              <a:spcBef>
                <a:spcPts val="1333"/>
              </a:spcBef>
              <a:buClr>
                <a:srgbClr val="003B4C"/>
              </a:buClr>
              <a:buSzPct val="100000"/>
              <a:buNone/>
            </a:pPr>
            <a:endParaRPr lang="en-US" sz="2400" dirty="0">
              <a:ea typeface="Source Sans Pro"/>
              <a:cs typeface="Source Sans Pro"/>
              <a:sym typeface="Source Sans Pro"/>
            </a:endParaRPr>
          </a:p>
          <a:p>
            <a:pPr marL="169330" indent="0">
              <a:lnSpc>
                <a:spcPct val="100000"/>
              </a:lnSpc>
              <a:spcBef>
                <a:spcPts val="1333"/>
              </a:spcBef>
              <a:buClr>
                <a:srgbClr val="003B4C"/>
              </a:buClr>
              <a:buSzPct val="100000"/>
              <a:buNone/>
            </a:pPr>
            <a:endParaRPr lang="en-US" sz="2400" dirty="0">
              <a:ea typeface="Source Sans Pro"/>
              <a:cs typeface="Source Sans Pro"/>
              <a:sym typeface="Source Sans Pro"/>
            </a:endParaRPr>
          </a:p>
          <a:p>
            <a:pPr marL="169330" indent="0">
              <a:lnSpc>
                <a:spcPct val="100000"/>
              </a:lnSpc>
              <a:spcBef>
                <a:spcPts val="1333"/>
              </a:spcBef>
              <a:buClr>
                <a:srgbClr val="003B4C"/>
              </a:buClr>
              <a:buSzPct val="100000"/>
              <a:buNone/>
            </a:pPr>
            <a:r>
              <a:rPr lang="en-US" sz="2400" dirty="0">
                <a:ea typeface="Source Sans Pro"/>
                <a:cs typeface="Source Sans Pro"/>
                <a:sym typeface="Source Sans Pro"/>
              </a:rPr>
              <a:t>                                    :  vector of features</a:t>
            </a:r>
          </a:p>
          <a:p>
            <a:pPr marL="169330" indent="0">
              <a:lnSpc>
                <a:spcPct val="100000"/>
              </a:lnSpc>
              <a:spcBef>
                <a:spcPts val="1333"/>
              </a:spcBef>
              <a:buClr>
                <a:srgbClr val="003B4C"/>
              </a:buClr>
              <a:buSzPct val="100000"/>
              <a:buNone/>
            </a:pPr>
            <a:r>
              <a:rPr lang="en-US" sz="2400" dirty="0">
                <a:ea typeface="Source Sans Pro"/>
                <a:cs typeface="Source Sans Pro"/>
                <a:sym typeface="Source Sans Pro"/>
              </a:rPr>
              <a:t>                                    :  vector of features of the training sample </a:t>
            </a:r>
            <a:r>
              <a:rPr lang="en-US" sz="2400" i="1" dirty="0" err="1">
                <a:ea typeface="Source Sans Pro"/>
                <a:cs typeface="Source Sans Pro"/>
                <a:sym typeface="Source Sans Pro"/>
              </a:rPr>
              <a:t>i</a:t>
            </a:r>
            <a:endParaRPr lang="en-US" sz="2400" dirty="0">
              <a:ea typeface="Source Sans Pro"/>
              <a:cs typeface="Source Sans Pro"/>
              <a:sym typeface="Source Sans Pro"/>
            </a:endParaRPr>
          </a:p>
          <a:p>
            <a:pPr marL="169330" indent="0">
              <a:lnSpc>
                <a:spcPct val="100000"/>
              </a:lnSpc>
              <a:spcBef>
                <a:spcPts val="1333"/>
              </a:spcBef>
              <a:buClr>
                <a:srgbClr val="003B4C"/>
              </a:buClr>
              <a:buSzPct val="100000"/>
              <a:buNone/>
            </a:pPr>
            <a:r>
              <a:rPr lang="en-US" sz="2400" dirty="0">
                <a:ea typeface="Source Sans Pro"/>
                <a:cs typeface="Source Sans Pro"/>
                <a:sym typeface="Source Sans Pro"/>
              </a:rPr>
              <a:t>                                    :   label of the training sample </a:t>
            </a:r>
            <a:r>
              <a:rPr lang="en-US" sz="2400" i="1" dirty="0" err="1">
                <a:ea typeface="Source Sans Pro"/>
                <a:cs typeface="Source Sans Pro"/>
                <a:sym typeface="Source Sans Pro"/>
              </a:rPr>
              <a:t>i</a:t>
            </a:r>
            <a:endParaRPr lang="en-US" sz="2400" i="1" dirty="0">
              <a:ea typeface="Source Sans Pro"/>
              <a:cs typeface="Source Sans Pro"/>
              <a:sym typeface="Source Sans Pro"/>
            </a:endParaRPr>
          </a:p>
          <a:p>
            <a:pPr marL="169330" indent="0">
              <a:lnSpc>
                <a:spcPct val="100000"/>
              </a:lnSpc>
              <a:spcBef>
                <a:spcPts val="1333"/>
              </a:spcBef>
              <a:buClr>
                <a:srgbClr val="003B4C"/>
              </a:buClr>
              <a:buSzPct val="100000"/>
              <a:buNone/>
            </a:pPr>
            <a:endParaRPr lang="en-US" sz="2400" dirty="0">
              <a:ea typeface="Source Sans Pro"/>
              <a:cs typeface="Source Sans Pro"/>
              <a:sym typeface="Source Sans Pro"/>
            </a:endParaRPr>
          </a:p>
        </p:txBody>
      </p:sp>
      <p:pic>
        <p:nvPicPr>
          <p:cNvPr id="2" name="Picture 1"/>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4099912" y="2621911"/>
            <a:ext cx="2743200" cy="284246"/>
          </a:xfrm>
          <a:prstGeom prst="rect">
            <a:avLst/>
          </a:prstGeom>
        </p:spPr>
      </p:pic>
      <p:pic>
        <p:nvPicPr>
          <p:cNvPr id="11" name="Picture 10"/>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370869" y="4080941"/>
            <a:ext cx="955987" cy="219080"/>
          </a:xfrm>
          <a:prstGeom prst="rect">
            <a:avLst/>
          </a:prstGeom>
        </p:spPr>
      </p:pic>
      <p:pic>
        <p:nvPicPr>
          <p:cNvPr id="13" name="Picture 12"/>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353270" y="4617950"/>
            <a:ext cx="1560591" cy="268871"/>
          </a:xfrm>
          <a:prstGeom prst="rect">
            <a:avLst/>
          </a:prstGeom>
        </p:spPr>
      </p:pic>
      <p:sp>
        <p:nvSpPr>
          <p:cNvPr id="4" name="Title 3"/>
          <p:cNvSpPr>
            <a:spLocks noGrp="1"/>
          </p:cNvSpPr>
          <p:nvPr>
            <p:ph type="title"/>
          </p:nvPr>
        </p:nvSpPr>
        <p:spPr/>
        <p:txBody>
          <a:bodyPr/>
          <a:lstStyle/>
          <a:p>
            <a:r>
              <a:rPr lang="en-US" b="1" dirty="0"/>
              <a:t>Notations</a:t>
            </a:r>
          </a:p>
        </p:txBody>
      </p:sp>
      <p:pic>
        <p:nvPicPr>
          <p:cNvPr id="5" name="Picture 4" descr="\documentclass{article}&#10;\usepackage{amsmath}&#10;\pagestyle{empty}&#10;\begin{document}&#10;&#10;$x =[x_1, x_2, \cdots, x_p]$&#10;&#10;&#10;\end{document}" title="IguanaTex Bitmap Display"/>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1353270" y="3500847"/>
            <a:ext cx="2082075" cy="262165"/>
          </a:xfrm>
          <a:prstGeom prst="rect">
            <a:avLst/>
          </a:prstGeom>
        </p:spPr>
      </p:pic>
    </p:spTree>
    <p:extLst>
      <p:ext uri="{BB962C8B-B14F-4D97-AF65-F5344CB8AC3E}">
        <p14:creationId xmlns:p14="http://schemas.microsoft.com/office/powerpoint/2010/main" val="1445874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Content Placeholder 2"/>
          <p:cNvSpPr>
            <a:spLocks noGrp="1"/>
          </p:cNvSpPr>
          <p:nvPr>
            <p:ph idx="1"/>
          </p:nvPr>
        </p:nvSpPr>
        <p:spPr>
          <a:xfrm>
            <a:off x="838200" y="1825625"/>
            <a:ext cx="5931731" cy="4351338"/>
          </a:xfrm>
        </p:spPr>
        <p:txBody>
          <a:bodyPr>
            <a:normAutofit fontScale="92500" lnSpcReduction="20000"/>
          </a:bodyPr>
          <a:lstStyle/>
          <a:p>
            <a:pPr marL="512230" indent="-342900">
              <a:lnSpc>
                <a:spcPct val="120000"/>
              </a:lnSpc>
              <a:spcBef>
                <a:spcPts val="1333"/>
              </a:spcBef>
              <a:buSzPct val="100000"/>
            </a:pPr>
            <a:r>
              <a:rPr lang="en-US" sz="2400" dirty="0">
                <a:ea typeface="Source Sans Pro"/>
                <a:cs typeface="Source Sans Pro"/>
                <a:sym typeface="Source Sans Pro"/>
              </a:rPr>
              <a:t>A separating hyperplane divides the p-dimensional space into two halves:</a:t>
            </a:r>
          </a:p>
          <a:p>
            <a:pPr marL="169330" indent="0">
              <a:lnSpc>
                <a:spcPct val="120000"/>
              </a:lnSpc>
              <a:spcBef>
                <a:spcPts val="1333"/>
              </a:spcBef>
              <a:buClr>
                <a:srgbClr val="003B4C"/>
              </a:buClr>
              <a:buSzPct val="100000"/>
              <a:buNone/>
            </a:pPr>
            <a:endParaRPr lang="en-US" sz="2400" dirty="0">
              <a:ea typeface="Source Sans Pro"/>
              <a:cs typeface="Source Sans Pro"/>
              <a:sym typeface="Source Sans Pro"/>
            </a:endParaRPr>
          </a:p>
          <a:p>
            <a:pPr marL="169330" indent="0">
              <a:lnSpc>
                <a:spcPct val="120000"/>
              </a:lnSpc>
              <a:spcBef>
                <a:spcPts val="1333"/>
              </a:spcBef>
              <a:buClr>
                <a:srgbClr val="003B4C"/>
              </a:buClr>
              <a:buSzPct val="100000"/>
              <a:buNone/>
            </a:pPr>
            <a:endParaRPr lang="en-US" sz="2400" dirty="0">
              <a:ea typeface="Source Sans Pro"/>
              <a:cs typeface="Source Sans Pro"/>
              <a:sym typeface="Source Sans Pro"/>
            </a:endParaRPr>
          </a:p>
          <a:p>
            <a:pPr marL="512230" indent="-342900">
              <a:lnSpc>
                <a:spcPct val="120000"/>
              </a:lnSpc>
              <a:spcBef>
                <a:spcPts val="1333"/>
              </a:spcBef>
              <a:buClr>
                <a:srgbClr val="003B4C"/>
              </a:buClr>
              <a:buSzPct val="100000"/>
            </a:pPr>
            <a:r>
              <a:rPr lang="en-US" sz="2400" b="1" dirty="0">
                <a:ea typeface="Source Sans Pro"/>
                <a:cs typeface="Source Sans Pro"/>
                <a:sym typeface="Source Sans Pro"/>
              </a:rPr>
              <a:t>Goal</a:t>
            </a:r>
            <a:r>
              <a:rPr lang="en-US" sz="2400" dirty="0">
                <a:ea typeface="Source Sans Pro"/>
                <a:cs typeface="Source Sans Pro"/>
                <a:sym typeface="Source Sans Pro"/>
              </a:rPr>
              <a:t>:  Based on the training data, find w and b such that for any training sample i:</a:t>
            </a:r>
          </a:p>
          <a:p>
            <a:pPr marL="169330" indent="0">
              <a:lnSpc>
                <a:spcPct val="120000"/>
              </a:lnSpc>
              <a:spcBef>
                <a:spcPts val="1333"/>
              </a:spcBef>
              <a:buClr>
                <a:srgbClr val="003B4C"/>
              </a:buClr>
              <a:buSzPct val="100000"/>
              <a:buNone/>
            </a:pPr>
            <a:endParaRPr lang="en-US" sz="2400" dirty="0">
              <a:ea typeface="Source Sans Pro"/>
              <a:cs typeface="Source Sans Pro"/>
              <a:sym typeface="Source Sans Pro"/>
            </a:endParaRPr>
          </a:p>
          <a:p>
            <a:pPr marL="169330" indent="0">
              <a:lnSpc>
                <a:spcPct val="120000"/>
              </a:lnSpc>
              <a:spcBef>
                <a:spcPts val="1333"/>
              </a:spcBef>
              <a:buClr>
                <a:srgbClr val="003B4C"/>
              </a:buClr>
              <a:buSzPct val="100000"/>
              <a:buNone/>
            </a:pPr>
            <a:endParaRPr lang="en-US" sz="2400" dirty="0">
              <a:ea typeface="Source Sans Pro"/>
              <a:cs typeface="Source Sans Pro"/>
              <a:sym typeface="Source Sans Pro"/>
            </a:endParaRPr>
          </a:p>
          <a:p>
            <a:pPr marL="169330" indent="0">
              <a:lnSpc>
                <a:spcPct val="120000"/>
              </a:lnSpc>
              <a:spcBef>
                <a:spcPts val="1333"/>
              </a:spcBef>
              <a:buClr>
                <a:srgbClr val="003B4C"/>
              </a:buClr>
              <a:buSzPct val="100000"/>
              <a:buNone/>
            </a:pPr>
            <a:r>
              <a:rPr lang="en-US" sz="2400" dirty="0">
                <a:ea typeface="Source Sans Pro"/>
                <a:cs typeface="Source Sans Pro"/>
                <a:sym typeface="Source Sans Pro"/>
              </a:rPr>
              <a:t>    How to find such hyperplane?</a:t>
            </a:r>
          </a:p>
          <a:p>
            <a:pPr marL="550320" indent="-380990">
              <a:lnSpc>
                <a:spcPct val="120000"/>
              </a:lnSpc>
              <a:spcBef>
                <a:spcPts val="1333"/>
              </a:spcBef>
              <a:buClr>
                <a:srgbClr val="003B4C"/>
              </a:buClr>
              <a:buSzPct val="100000"/>
            </a:pPr>
            <a:endParaRPr lang="en-US" dirty="0">
              <a:solidFill>
                <a:srgbClr val="003B4C"/>
              </a:solidFill>
              <a:latin typeface="Source Sans Pro"/>
              <a:ea typeface="Source Sans Pro"/>
              <a:cs typeface="Source Sans Pro"/>
              <a:sym typeface="Source Sans Pro"/>
            </a:endParaRPr>
          </a:p>
          <a:p>
            <a:pPr marL="550320" indent="-380990">
              <a:lnSpc>
                <a:spcPct val="120000"/>
              </a:lnSpc>
              <a:spcBef>
                <a:spcPts val="1333"/>
              </a:spcBef>
              <a:buClr>
                <a:srgbClr val="003B4C"/>
              </a:buClr>
              <a:buSzPct val="100000"/>
            </a:pPr>
            <a:endParaRPr lang="en-US" dirty="0">
              <a:solidFill>
                <a:srgbClr val="003B4C"/>
              </a:solidFill>
              <a:latin typeface="Source Sans Pro"/>
              <a:ea typeface="Source Sans Pro"/>
              <a:cs typeface="Source Sans Pro"/>
              <a:sym typeface="Source Sans Pro"/>
            </a:endParaRPr>
          </a:p>
          <a:p>
            <a:pPr marL="169329">
              <a:lnSpc>
                <a:spcPct val="120000"/>
              </a:lnSpc>
              <a:spcBef>
                <a:spcPts val="1333"/>
              </a:spcBef>
              <a:buClr>
                <a:srgbClr val="003B4C"/>
              </a:buClr>
              <a:buSzPct val="100000"/>
            </a:pPr>
            <a:endParaRPr lang="en-US" dirty="0">
              <a:solidFill>
                <a:srgbClr val="003B4C"/>
              </a:solidFill>
              <a:latin typeface="Source Sans Pro"/>
              <a:ea typeface="Source Sans Pro"/>
              <a:cs typeface="Source Sans Pro"/>
              <a:sym typeface="Source Sans Pro"/>
            </a:endParaRPr>
          </a:p>
        </p:txBody>
      </p:sp>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cxnSp>
        <p:nvCxnSpPr>
          <p:cNvPr id="19" name="Straight Arrow Connector 18"/>
          <p:cNvCxnSpPr/>
          <p:nvPr/>
        </p:nvCxnSpPr>
        <p:spPr>
          <a:xfrm flipV="1">
            <a:off x="7487080" y="2664862"/>
            <a:ext cx="0" cy="2194560"/>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20" name="Straight Arrow Connector 19"/>
          <p:cNvCxnSpPr/>
          <p:nvPr/>
        </p:nvCxnSpPr>
        <p:spPr>
          <a:xfrm rot="5400000" flipV="1">
            <a:off x="9001834" y="3342145"/>
            <a:ext cx="0" cy="3038255"/>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sp>
        <p:nvSpPr>
          <p:cNvPr id="21" name="TextBox 20"/>
          <p:cNvSpPr txBox="1"/>
          <p:nvPr/>
        </p:nvSpPr>
        <p:spPr>
          <a:xfrm>
            <a:off x="7120431" y="2539365"/>
            <a:ext cx="479897" cy="369332"/>
          </a:xfrm>
          <a:prstGeom prst="rect">
            <a:avLst/>
          </a:prstGeom>
          <a:noFill/>
        </p:spPr>
        <p:txBody>
          <a:bodyPr wrap="square" rtlCol="0">
            <a:spAutoFit/>
          </a:bodyPr>
          <a:lstStyle/>
          <a:p>
            <a:r>
              <a:rPr lang="en-US" dirty="0"/>
              <a:t>x</a:t>
            </a:r>
            <a:r>
              <a:rPr lang="en-US" baseline="-25000" dirty="0"/>
              <a:t>2</a:t>
            </a:r>
            <a:endParaRPr lang="en-US" dirty="0"/>
          </a:p>
        </p:txBody>
      </p:sp>
      <p:sp>
        <p:nvSpPr>
          <p:cNvPr id="22" name="TextBox 21"/>
          <p:cNvSpPr txBox="1"/>
          <p:nvPr/>
        </p:nvSpPr>
        <p:spPr>
          <a:xfrm>
            <a:off x="10333661" y="4802086"/>
            <a:ext cx="479897" cy="369332"/>
          </a:xfrm>
          <a:prstGeom prst="rect">
            <a:avLst/>
          </a:prstGeom>
          <a:noFill/>
        </p:spPr>
        <p:txBody>
          <a:bodyPr wrap="square" rtlCol="0">
            <a:spAutoFit/>
          </a:bodyPr>
          <a:lstStyle/>
          <a:p>
            <a:r>
              <a:rPr lang="en-US" dirty="0"/>
              <a:t>x</a:t>
            </a:r>
            <a:r>
              <a:rPr lang="en-US" baseline="-25000" dirty="0"/>
              <a:t>1</a:t>
            </a:r>
            <a:endParaRPr lang="en-US" dirty="0"/>
          </a:p>
        </p:txBody>
      </p:sp>
      <p:sp>
        <p:nvSpPr>
          <p:cNvPr id="14" name="Flowchart: Connector 13"/>
          <p:cNvSpPr/>
          <p:nvPr/>
        </p:nvSpPr>
        <p:spPr>
          <a:xfrm>
            <a:off x="7750174" y="3653479"/>
            <a:ext cx="182880" cy="178084"/>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p>
        </p:txBody>
      </p:sp>
      <p:sp>
        <p:nvSpPr>
          <p:cNvPr id="25" name="Flowchart: Connector 24"/>
          <p:cNvSpPr/>
          <p:nvPr/>
        </p:nvSpPr>
        <p:spPr>
          <a:xfrm>
            <a:off x="7720494" y="4048464"/>
            <a:ext cx="182880" cy="178084"/>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p>
        </p:txBody>
      </p:sp>
      <p:sp>
        <p:nvSpPr>
          <p:cNvPr id="26" name="Flowchart: Connector 25"/>
          <p:cNvSpPr/>
          <p:nvPr/>
        </p:nvSpPr>
        <p:spPr>
          <a:xfrm>
            <a:off x="8156576" y="4018783"/>
            <a:ext cx="182880" cy="178084"/>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p>
        </p:txBody>
      </p:sp>
      <p:sp>
        <p:nvSpPr>
          <p:cNvPr id="27" name="Flowchart: Connector 26"/>
          <p:cNvSpPr/>
          <p:nvPr/>
        </p:nvSpPr>
        <p:spPr>
          <a:xfrm>
            <a:off x="8236486" y="4400068"/>
            <a:ext cx="182880" cy="178084"/>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p>
        </p:txBody>
      </p:sp>
      <p:sp>
        <p:nvSpPr>
          <p:cNvPr id="28" name="Flowchart: Connector 27"/>
          <p:cNvSpPr/>
          <p:nvPr/>
        </p:nvSpPr>
        <p:spPr>
          <a:xfrm>
            <a:off x="7836936" y="4425183"/>
            <a:ext cx="182880" cy="178084"/>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p>
        </p:txBody>
      </p:sp>
      <p:sp>
        <p:nvSpPr>
          <p:cNvPr id="29" name="Flowchart: Connector 28"/>
          <p:cNvSpPr/>
          <p:nvPr/>
        </p:nvSpPr>
        <p:spPr>
          <a:xfrm>
            <a:off x="8423704" y="3587268"/>
            <a:ext cx="182880" cy="178084"/>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p>
        </p:txBody>
      </p:sp>
      <p:sp>
        <p:nvSpPr>
          <p:cNvPr id="30" name="Flowchart: Connector 29"/>
          <p:cNvSpPr/>
          <p:nvPr/>
        </p:nvSpPr>
        <p:spPr>
          <a:xfrm>
            <a:off x="8065249" y="3530189"/>
            <a:ext cx="182880" cy="178084"/>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p>
        </p:txBody>
      </p:sp>
      <p:sp>
        <p:nvSpPr>
          <p:cNvPr id="31" name="Flowchart: Connector 30"/>
          <p:cNvSpPr/>
          <p:nvPr/>
        </p:nvSpPr>
        <p:spPr>
          <a:xfrm>
            <a:off x="8638318" y="4021065"/>
            <a:ext cx="182880" cy="178084"/>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p>
        </p:txBody>
      </p:sp>
      <p:sp>
        <p:nvSpPr>
          <p:cNvPr id="32" name="Flowchart: Connector 31"/>
          <p:cNvSpPr/>
          <p:nvPr/>
        </p:nvSpPr>
        <p:spPr>
          <a:xfrm>
            <a:off x="8677132" y="4388652"/>
            <a:ext cx="182880" cy="178084"/>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p>
        </p:txBody>
      </p:sp>
      <p:sp>
        <p:nvSpPr>
          <p:cNvPr id="33" name="Flowchart: Connector 32"/>
          <p:cNvSpPr/>
          <p:nvPr/>
        </p:nvSpPr>
        <p:spPr>
          <a:xfrm>
            <a:off x="7761590" y="3158037"/>
            <a:ext cx="182880" cy="178084"/>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p>
        </p:txBody>
      </p:sp>
      <p:sp>
        <p:nvSpPr>
          <p:cNvPr id="15" name="Oval 14"/>
          <p:cNvSpPr/>
          <p:nvPr/>
        </p:nvSpPr>
        <p:spPr>
          <a:xfrm>
            <a:off x="9941997" y="2584962"/>
            <a:ext cx="182880" cy="18288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p>
        </p:txBody>
      </p:sp>
      <p:sp>
        <p:nvSpPr>
          <p:cNvPr id="35" name="Oval 34"/>
          <p:cNvSpPr/>
          <p:nvPr/>
        </p:nvSpPr>
        <p:spPr>
          <a:xfrm>
            <a:off x="9254769" y="2705970"/>
            <a:ext cx="182880" cy="18288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p>
        </p:txBody>
      </p:sp>
      <p:sp>
        <p:nvSpPr>
          <p:cNvPr id="36" name="Oval 35"/>
          <p:cNvSpPr/>
          <p:nvPr/>
        </p:nvSpPr>
        <p:spPr>
          <a:xfrm>
            <a:off x="9718249" y="2799577"/>
            <a:ext cx="182880" cy="18288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p>
        </p:txBody>
      </p:sp>
      <p:sp>
        <p:nvSpPr>
          <p:cNvPr id="37" name="Oval 36"/>
          <p:cNvSpPr/>
          <p:nvPr/>
        </p:nvSpPr>
        <p:spPr>
          <a:xfrm>
            <a:off x="9469386" y="3112370"/>
            <a:ext cx="182880" cy="18288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p>
        </p:txBody>
      </p:sp>
      <p:sp>
        <p:nvSpPr>
          <p:cNvPr id="38" name="Oval 37"/>
          <p:cNvSpPr/>
          <p:nvPr/>
        </p:nvSpPr>
        <p:spPr>
          <a:xfrm>
            <a:off x="9715965" y="3523335"/>
            <a:ext cx="182880" cy="18288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p>
        </p:txBody>
      </p:sp>
      <p:sp>
        <p:nvSpPr>
          <p:cNvPr id="39" name="Oval 38"/>
          <p:cNvSpPr/>
          <p:nvPr/>
        </p:nvSpPr>
        <p:spPr>
          <a:xfrm>
            <a:off x="9811857" y="3126069"/>
            <a:ext cx="182880" cy="18288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p>
        </p:txBody>
      </p:sp>
      <p:sp>
        <p:nvSpPr>
          <p:cNvPr id="40" name="Oval 39"/>
          <p:cNvSpPr/>
          <p:nvPr/>
        </p:nvSpPr>
        <p:spPr>
          <a:xfrm>
            <a:off x="9028738" y="3014194"/>
            <a:ext cx="182880" cy="18288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p>
        </p:txBody>
      </p:sp>
      <p:sp>
        <p:nvSpPr>
          <p:cNvPr id="41" name="Oval 40"/>
          <p:cNvSpPr/>
          <p:nvPr/>
        </p:nvSpPr>
        <p:spPr>
          <a:xfrm>
            <a:off x="10067569" y="2902319"/>
            <a:ext cx="182880" cy="18288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p>
        </p:txBody>
      </p:sp>
      <p:sp>
        <p:nvSpPr>
          <p:cNvPr id="42" name="Oval 41"/>
          <p:cNvSpPr/>
          <p:nvPr/>
        </p:nvSpPr>
        <p:spPr>
          <a:xfrm>
            <a:off x="10106382" y="3420593"/>
            <a:ext cx="182880" cy="18288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p>
        </p:txBody>
      </p:sp>
      <p:sp>
        <p:nvSpPr>
          <p:cNvPr id="43" name="Oval 42"/>
          <p:cNvSpPr/>
          <p:nvPr/>
        </p:nvSpPr>
        <p:spPr>
          <a:xfrm>
            <a:off x="9268468" y="3445707"/>
            <a:ext cx="182880" cy="18288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p>
        </p:txBody>
      </p:sp>
      <p:sp>
        <p:nvSpPr>
          <p:cNvPr id="44" name="Oval 43"/>
          <p:cNvSpPr/>
          <p:nvPr/>
        </p:nvSpPr>
        <p:spPr>
          <a:xfrm>
            <a:off x="10063002" y="3870375"/>
            <a:ext cx="182880" cy="18288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p>
        </p:txBody>
      </p:sp>
      <p:sp>
        <p:nvSpPr>
          <p:cNvPr id="16" name="TextBox 15"/>
          <p:cNvSpPr txBox="1"/>
          <p:nvPr/>
        </p:nvSpPr>
        <p:spPr>
          <a:xfrm>
            <a:off x="8106348" y="3023332"/>
            <a:ext cx="479461" cy="461665"/>
          </a:xfrm>
          <a:prstGeom prst="rect">
            <a:avLst/>
          </a:prstGeom>
          <a:noFill/>
        </p:spPr>
        <p:txBody>
          <a:bodyPr wrap="square" rtlCol="0">
            <a:spAutoFit/>
          </a:bodyPr>
          <a:lstStyle/>
          <a:p>
            <a:r>
              <a:rPr lang="en-US" sz="2400" b="1" dirty="0"/>
              <a:t>-1</a:t>
            </a:r>
          </a:p>
        </p:txBody>
      </p:sp>
      <p:sp>
        <p:nvSpPr>
          <p:cNvPr id="46" name="TextBox 45"/>
          <p:cNvSpPr txBox="1"/>
          <p:nvPr/>
        </p:nvSpPr>
        <p:spPr>
          <a:xfrm>
            <a:off x="9323263" y="3774485"/>
            <a:ext cx="618732" cy="461665"/>
          </a:xfrm>
          <a:prstGeom prst="rect">
            <a:avLst/>
          </a:prstGeom>
          <a:noFill/>
        </p:spPr>
        <p:txBody>
          <a:bodyPr wrap="square" rtlCol="0">
            <a:spAutoFit/>
          </a:bodyPr>
          <a:lstStyle/>
          <a:p>
            <a:r>
              <a:rPr lang="en-US" sz="2400" b="1" dirty="0"/>
              <a:t>+1</a:t>
            </a:r>
          </a:p>
        </p:txBody>
      </p:sp>
      <p:pic>
        <p:nvPicPr>
          <p:cNvPr id="2" name="Picture 1"/>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881134" y="2767842"/>
            <a:ext cx="1685779" cy="658663"/>
          </a:xfrm>
          <a:prstGeom prst="rect">
            <a:avLst/>
          </a:prstGeom>
        </p:spPr>
      </p:pic>
      <p:pic>
        <p:nvPicPr>
          <p:cNvPr id="10" name="Picture 9" descr="\documentclass{article}&#10;\usepackage{amsmath}&#10;\pagestyle{empty}&#10;\begin{document}&#10;&#10;&#10;\begin{align*}&#10;\;\; &amp;w^Tx^{(i)}+b &gt; 0 \;\;\; \text{if } y^{(i)}=+1\\&#10;\;\; &amp;w^Tx^{(i)}+b&lt;0  \; \;\; \text{if } y^{(i)}=-1&#10;\end{align*}&#10;&#10;\end{document}" title="IguanaTex Bitmap Display"/>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2474921" y="4632702"/>
            <a:ext cx="2863690" cy="671465"/>
          </a:xfrm>
          <a:prstGeom prst="rect">
            <a:avLst/>
          </a:prstGeom>
        </p:spPr>
      </p:pic>
      <p:cxnSp>
        <p:nvCxnSpPr>
          <p:cNvPr id="23" name="Straight Connector 22"/>
          <p:cNvCxnSpPr/>
          <p:nvPr/>
        </p:nvCxnSpPr>
        <p:spPr>
          <a:xfrm>
            <a:off x="8691032" y="2479134"/>
            <a:ext cx="573068" cy="2683267"/>
          </a:xfrm>
          <a:prstGeom prst="line">
            <a:avLst/>
          </a:prstGeom>
          <a:ln/>
        </p:spPr>
        <p:style>
          <a:lnRef idx="3">
            <a:schemeClr val="accent6"/>
          </a:lnRef>
          <a:fillRef idx="0">
            <a:schemeClr val="accent6"/>
          </a:fillRef>
          <a:effectRef idx="2">
            <a:schemeClr val="accent6"/>
          </a:effectRef>
          <a:fontRef idx="minor">
            <a:schemeClr val="tx1"/>
          </a:fontRef>
        </p:style>
      </p:cxnSp>
      <p:pic>
        <p:nvPicPr>
          <p:cNvPr id="55" name="Picture 54"/>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9342290" y="4314069"/>
            <a:ext cx="1086459" cy="185344"/>
          </a:xfrm>
          <a:prstGeom prst="rect">
            <a:avLst/>
          </a:prstGeom>
        </p:spPr>
      </p:pic>
      <p:pic>
        <p:nvPicPr>
          <p:cNvPr id="53" name="Picture 52"/>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7613948" y="2750113"/>
            <a:ext cx="1086459" cy="185344"/>
          </a:xfrm>
          <a:prstGeom prst="rect">
            <a:avLst/>
          </a:prstGeom>
        </p:spPr>
      </p:pic>
      <p:cxnSp>
        <p:nvCxnSpPr>
          <p:cNvPr id="45" name="Straight Connector 44"/>
          <p:cNvCxnSpPr/>
          <p:nvPr/>
        </p:nvCxnSpPr>
        <p:spPr>
          <a:xfrm flipH="1">
            <a:off x="8728551" y="2529652"/>
            <a:ext cx="695402" cy="139968"/>
          </a:xfrm>
          <a:prstGeom prst="line">
            <a:avLst/>
          </a:prstGeom>
          <a:ln>
            <a:headEnd type="arrow" w="med" len="med"/>
            <a:tailEnd type="none" w="med" len="med"/>
          </a:ln>
        </p:spPr>
        <p:style>
          <a:lnRef idx="1">
            <a:schemeClr val="dk1"/>
          </a:lnRef>
          <a:fillRef idx="0">
            <a:schemeClr val="dk1"/>
          </a:fillRef>
          <a:effectRef idx="0">
            <a:schemeClr val="dk1"/>
          </a:effectRef>
          <a:fontRef idx="minor">
            <a:schemeClr val="tx1"/>
          </a:fontRef>
        </p:style>
      </p:cxnSp>
      <p:pic>
        <p:nvPicPr>
          <p:cNvPr id="7" name="Picture 6"/>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8923591" y="2408155"/>
            <a:ext cx="156485" cy="106695"/>
          </a:xfrm>
          <a:prstGeom prst="rect">
            <a:avLst/>
          </a:prstGeom>
        </p:spPr>
      </p:pic>
      <p:sp>
        <p:nvSpPr>
          <p:cNvPr id="4" name="Title 3"/>
          <p:cNvSpPr>
            <a:spLocks noGrp="1"/>
          </p:cNvSpPr>
          <p:nvPr>
            <p:ph type="title"/>
          </p:nvPr>
        </p:nvSpPr>
        <p:spPr/>
        <p:txBody>
          <a:bodyPr/>
          <a:lstStyle/>
          <a:p>
            <a:r>
              <a:rPr lang="en-US" b="1" dirty="0"/>
              <a:t>Linear Classifier</a:t>
            </a:r>
          </a:p>
        </p:txBody>
      </p:sp>
    </p:spTree>
    <p:extLst>
      <p:ext uri="{BB962C8B-B14F-4D97-AF65-F5344CB8AC3E}">
        <p14:creationId xmlns:p14="http://schemas.microsoft.com/office/powerpoint/2010/main" val="1381165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4" name="Title 3"/>
          <p:cNvSpPr>
            <a:spLocks noGrp="1"/>
          </p:cNvSpPr>
          <p:nvPr>
            <p:ph type="title"/>
          </p:nvPr>
        </p:nvSpPr>
        <p:spPr/>
        <p:txBody>
          <a:bodyPr/>
          <a:lstStyle/>
          <a:p>
            <a:r>
              <a:rPr lang="en-US" b="1" dirty="0"/>
              <a:t>Linear Classifier</a:t>
            </a:r>
          </a:p>
        </p:txBody>
      </p:sp>
      <p:sp>
        <p:nvSpPr>
          <p:cNvPr id="2" name="Content Placeholder 1"/>
          <p:cNvSpPr>
            <a:spLocks noGrp="1"/>
          </p:cNvSpPr>
          <p:nvPr>
            <p:ph idx="1"/>
          </p:nvPr>
        </p:nvSpPr>
        <p:spPr/>
        <p:txBody>
          <a:bodyPr>
            <a:normAutofit/>
          </a:bodyPr>
          <a:lstStyle/>
          <a:p>
            <a:pPr marL="512230" indent="-342900" algn="just">
              <a:lnSpc>
                <a:spcPct val="120000"/>
              </a:lnSpc>
              <a:spcBef>
                <a:spcPts val="1333"/>
              </a:spcBef>
              <a:buSzPct val="100000"/>
            </a:pPr>
            <a:r>
              <a:rPr lang="en-US" sz="2400" dirty="0">
                <a:ea typeface="Source Sans Pro"/>
                <a:cs typeface="Source Sans Pro"/>
                <a:sym typeface="Source Sans Pro"/>
              </a:rPr>
              <a:t>There is an infinite number of solutions:</a:t>
            </a:r>
          </a:p>
          <a:p>
            <a:pPr marL="626530" indent="-457200" algn="just">
              <a:lnSpc>
                <a:spcPct val="120000"/>
              </a:lnSpc>
              <a:spcBef>
                <a:spcPts val="1333"/>
              </a:spcBef>
              <a:buClr>
                <a:srgbClr val="003B4C"/>
              </a:buClr>
              <a:buSzPct val="100000"/>
            </a:pPr>
            <a:endParaRPr lang="en-US" sz="2400" dirty="0">
              <a:ea typeface="Source Sans Pro"/>
              <a:cs typeface="Source Sans Pro"/>
              <a:sym typeface="Source Sans Pro"/>
            </a:endParaRPr>
          </a:p>
          <a:p>
            <a:pPr marL="626530" indent="-457200" algn="just">
              <a:lnSpc>
                <a:spcPct val="120000"/>
              </a:lnSpc>
              <a:spcBef>
                <a:spcPts val="1333"/>
              </a:spcBef>
              <a:buClr>
                <a:srgbClr val="003B4C"/>
              </a:buClr>
              <a:buSzPct val="100000"/>
            </a:pPr>
            <a:endParaRPr lang="en-US" sz="2400" dirty="0">
              <a:ea typeface="Source Sans Pro"/>
              <a:cs typeface="Source Sans Pro"/>
              <a:sym typeface="Source Sans Pro"/>
            </a:endParaRPr>
          </a:p>
          <a:p>
            <a:pPr marL="626530" indent="-457200" algn="just">
              <a:lnSpc>
                <a:spcPct val="120000"/>
              </a:lnSpc>
              <a:spcBef>
                <a:spcPts val="1333"/>
              </a:spcBef>
              <a:buClr>
                <a:srgbClr val="003B4C"/>
              </a:buClr>
              <a:buSzPct val="100000"/>
            </a:pPr>
            <a:endParaRPr lang="en-US" sz="2400" dirty="0">
              <a:ea typeface="Source Sans Pro"/>
              <a:cs typeface="Source Sans Pro"/>
              <a:sym typeface="Source Sans Pro"/>
            </a:endParaRPr>
          </a:p>
          <a:p>
            <a:pPr algn="just">
              <a:lnSpc>
                <a:spcPct val="120000"/>
              </a:lnSpc>
              <a:spcBef>
                <a:spcPts val="1333"/>
              </a:spcBef>
              <a:buClr>
                <a:srgbClr val="003B4C"/>
              </a:buClr>
              <a:buSzPct val="100000"/>
            </a:pPr>
            <a:endParaRPr lang="en-US" sz="2400" dirty="0">
              <a:ea typeface="Source Sans Pro"/>
              <a:cs typeface="Source Sans Pro"/>
              <a:sym typeface="Source Sans Pro"/>
            </a:endParaRPr>
          </a:p>
          <a:p>
            <a:pPr marL="169330" indent="0" algn="just">
              <a:lnSpc>
                <a:spcPct val="120000"/>
              </a:lnSpc>
              <a:spcBef>
                <a:spcPts val="1333"/>
              </a:spcBef>
              <a:buClr>
                <a:srgbClr val="003B4C"/>
              </a:buClr>
              <a:buSzPct val="100000"/>
              <a:buNone/>
            </a:pPr>
            <a:endParaRPr lang="en-US" sz="2400" dirty="0">
              <a:ea typeface="Source Sans Pro"/>
              <a:cs typeface="Source Sans Pro"/>
              <a:sym typeface="Source Sans Pro"/>
            </a:endParaRPr>
          </a:p>
          <a:p>
            <a:pPr marL="169330" indent="0" algn="just">
              <a:lnSpc>
                <a:spcPct val="120000"/>
              </a:lnSpc>
              <a:spcBef>
                <a:spcPts val="1333"/>
              </a:spcBef>
              <a:buClr>
                <a:srgbClr val="003B4C"/>
              </a:buClr>
              <a:buSzPct val="100000"/>
              <a:buNone/>
            </a:pPr>
            <a:r>
              <a:rPr lang="en-US" sz="2400" dirty="0">
                <a:ea typeface="Source Sans Pro"/>
                <a:cs typeface="Source Sans Pro"/>
                <a:sym typeface="Source Sans Pro"/>
              </a:rPr>
              <a:t>Which one is the best or optimal separator? And in which sense can it be optimal?</a:t>
            </a:r>
          </a:p>
          <a:p>
            <a:endParaRPr lang="en-US" dirty="0"/>
          </a:p>
        </p:txBody>
      </p:sp>
      <p:grpSp>
        <p:nvGrpSpPr>
          <p:cNvPr id="12" name="Group 11"/>
          <p:cNvGrpSpPr/>
          <p:nvPr/>
        </p:nvGrpSpPr>
        <p:grpSpPr>
          <a:xfrm>
            <a:off x="108806" y="2710771"/>
            <a:ext cx="11693875" cy="2731475"/>
            <a:chOff x="103044" y="1633591"/>
            <a:chExt cx="8770406" cy="2048606"/>
          </a:xfrm>
        </p:grpSpPr>
        <p:sp>
          <p:nvSpPr>
            <p:cNvPr id="193" name="Google Shape;193;p44"/>
            <p:cNvSpPr txBox="1"/>
            <p:nvPr/>
          </p:nvSpPr>
          <p:spPr>
            <a:xfrm>
              <a:off x="1721825" y="1939125"/>
              <a:ext cx="1604700" cy="702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cxnSp>
          <p:nvCxnSpPr>
            <p:cNvPr id="19" name="Straight Arrow Connector 18"/>
            <p:cNvCxnSpPr/>
            <p:nvPr/>
          </p:nvCxnSpPr>
          <p:spPr>
            <a:xfrm flipV="1">
              <a:off x="378031" y="1847626"/>
              <a:ext cx="0" cy="1645920"/>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V="1">
              <a:off x="1514095" y="2348589"/>
              <a:ext cx="0" cy="2278691"/>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03044" y="1753503"/>
              <a:ext cx="359923" cy="223090"/>
            </a:xfrm>
            <a:prstGeom prst="rect">
              <a:avLst/>
            </a:prstGeom>
            <a:noFill/>
          </p:spPr>
          <p:txBody>
            <a:bodyPr wrap="square" rtlCol="0">
              <a:spAutoFit/>
            </a:bodyPr>
            <a:lstStyle/>
            <a:p>
              <a:r>
                <a:rPr lang="en-US" sz="1333" dirty="0"/>
                <a:t>x</a:t>
              </a:r>
              <a:r>
                <a:rPr lang="en-US" sz="1333" baseline="-25000" dirty="0"/>
                <a:t>2</a:t>
              </a:r>
              <a:endParaRPr lang="en-US" sz="1333" dirty="0"/>
            </a:p>
          </p:txBody>
        </p:sp>
        <p:sp>
          <p:nvSpPr>
            <p:cNvPr id="22" name="TextBox 21"/>
            <p:cNvSpPr txBox="1"/>
            <p:nvPr/>
          </p:nvSpPr>
          <p:spPr>
            <a:xfrm>
              <a:off x="2512966" y="3450544"/>
              <a:ext cx="359923" cy="223090"/>
            </a:xfrm>
            <a:prstGeom prst="rect">
              <a:avLst/>
            </a:prstGeom>
            <a:noFill/>
          </p:spPr>
          <p:txBody>
            <a:bodyPr wrap="square" rtlCol="0">
              <a:spAutoFit/>
            </a:bodyPr>
            <a:lstStyle/>
            <a:p>
              <a:r>
                <a:rPr lang="en-US" sz="1333" dirty="0"/>
                <a:t>x</a:t>
              </a:r>
              <a:r>
                <a:rPr lang="en-US" sz="1333" baseline="-25000" dirty="0"/>
                <a:t>1</a:t>
              </a:r>
              <a:endParaRPr lang="en-US" sz="1333" dirty="0"/>
            </a:p>
          </p:txBody>
        </p:sp>
        <p:sp>
          <p:nvSpPr>
            <p:cNvPr id="14" name="Flowchart: Connector 13"/>
            <p:cNvSpPr/>
            <p:nvPr/>
          </p:nvSpPr>
          <p:spPr>
            <a:xfrm>
              <a:off x="575352" y="2589088"/>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5" name="Flowchart: Connector 24"/>
            <p:cNvSpPr/>
            <p:nvPr/>
          </p:nvSpPr>
          <p:spPr>
            <a:xfrm>
              <a:off x="553092" y="2885327"/>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6" name="Flowchart: Connector 25"/>
            <p:cNvSpPr/>
            <p:nvPr/>
          </p:nvSpPr>
          <p:spPr>
            <a:xfrm>
              <a:off x="880153" y="2863066"/>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7" name="Flowchart: Connector 26"/>
            <p:cNvSpPr/>
            <p:nvPr/>
          </p:nvSpPr>
          <p:spPr>
            <a:xfrm>
              <a:off x="940086" y="3149030"/>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8" name="Flowchart: Connector 27"/>
            <p:cNvSpPr/>
            <p:nvPr/>
          </p:nvSpPr>
          <p:spPr>
            <a:xfrm>
              <a:off x="640423" y="3167866"/>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9" name="Flowchart: Connector 28"/>
            <p:cNvSpPr/>
            <p:nvPr/>
          </p:nvSpPr>
          <p:spPr>
            <a:xfrm>
              <a:off x="1080499" y="2539430"/>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30" name="Flowchart: Connector 29"/>
            <p:cNvSpPr/>
            <p:nvPr/>
          </p:nvSpPr>
          <p:spPr>
            <a:xfrm>
              <a:off x="811658" y="2496621"/>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31" name="Flowchart: Connector 30"/>
            <p:cNvSpPr/>
            <p:nvPr/>
          </p:nvSpPr>
          <p:spPr>
            <a:xfrm>
              <a:off x="1241460" y="2864778"/>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32" name="Flowchart: Connector 31"/>
            <p:cNvSpPr/>
            <p:nvPr/>
          </p:nvSpPr>
          <p:spPr>
            <a:xfrm>
              <a:off x="1270570" y="3140468"/>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33" name="Flowchart: Connector 32"/>
            <p:cNvSpPr/>
            <p:nvPr/>
          </p:nvSpPr>
          <p:spPr>
            <a:xfrm>
              <a:off x="583914" y="2217507"/>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 name="Oval 14"/>
            <p:cNvSpPr/>
            <p:nvPr/>
          </p:nvSpPr>
          <p:spPr>
            <a:xfrm>
              <a:off x="2219219" y="1787701"/>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5" name="Oval 34"/>
            <p:cNvSpPr/>
            <p:nvPr/>
          </p:nvSpPr>
          <p:spPr>
            <a:xfrm>
              <a:off x="1703798" y="1878457"/>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6" name="Oval 35"/>
            <p:cNvSpPr/>
            <p:nvPr/>
          </p:nvSpPr>
          <p:spPr>
            <a:xfrm>
              <a:off x="2051408" y="1948662"/>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7" name="Oval 36"/>
            <p:cNvSpPr/>
            <p:nvPr/>
          </p:nvSpPr>
          <p:spPr>
            <a:xfrm>
              <a:off x="1864761" y="2183257"/>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8" name="Oval 37"/>
            <p:cNvSpPr/>
            <p:nvPr/>
          </p:nvSpPr>
          <p:spPr>
            <a:xfrm>
              <a:off x="2049695" y="2491481"/>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9" name="Oval 38"/>
            <p:cNvSpPr/>
            <p:nvPr/>
          </p:nvSpPr>
          <p:spPr>
            <a:xfrm>
              <a:off x="2121614" y="2193531"/>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40" name="Oval 39"/>
            <p:cNvSpPr/>
            <p:nvPr/>
          </p:nvSpPr>
          <p:spPr>
            <a:xfrm>
              <a:off x="1534275" y="2109625"/>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41" name="Oval 40"/>
            <p:cNvSpPr/>
            <p:nvPr/>
          </p:nvSpPr>
          <p:spPr>
            <a:xfrm>
              <a:off x="2313398" y="2025719"/>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42" name="Oval 41"/>
            <p:cNvSpPr/>
            <p:nvPr/>
          </p:nvSpPr>
          <p:spPr>
            <a:xfrm>
              <a:off x="2342508" y="2414424"/>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43" name="Oval 42"/>
            <p:cNvSpPr/>
            <p:nvPr/>
          </p:nvSpPr>
          <p:spPr>
            <a:xfrm>
              <a:off x="1714072" y="2433260"/>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44" name="Oval 43"/>
            <p:cNvSpPr/>
            <p:nvPr/>
          </p:nvSpPr>
          <p:spPr>
            <a:xfrm>
              <a:off x="2309973" y="2751761"/>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 name="TextBox 15"/>
            <p:cNvSpPr txBox="1"/>
            <p:nvPr/>
          </p:nvSpPr>
          <p:spPr>
            <a:xfrm>
              <a:off x="400693" y="1869898"/>
              <a:ext cx="359596" cy="346249"/>
            </a:xfrm>
            <a:prstGeom prst="rect">
              <a:avLst/>
            </a:prstGeom>
            <a:noFill/>
          </p:spPr>
          <p:txBody>
            <a:bodyPr wrap="square" rtlCol="0">
              <a:spAutoFit/>
            </a:bodyPr>
            <a:lstStyle/>
            <a:p>
              <a:r>
                <a:rPr lang="en-US" sz="2400" b="1" dirty="0"/>
                <a:t>-1</a:t>
              </a:r>
            </a:p>
          </p:txBody>
        </p:sp>
        <p:sp>
          <p:nvSpPr>
            <p:cNvPr id="46" name="TextBox 45"/>
            <p:cNvSpPr txBox="1"/>
            <p:nvPr/>
          </p:nvSpPr>
          <p:spPr>
            <a:xfrm>
              <a:off x="2494907" y="2505183"/>
              <a:ext cx="464049" cy="346249"/>
            </a:xfrm>
            <a:prstGeom prst="rect">
              <a:avLst/>
            </a:prstGeom>
            <a:noFill/>
          </p:spPr>
          <p:txBody>
            <a:bodyPr wrap="square" rtlCol="0">
              <a:spAutoFit/>
            </a:bodyPr>
            <a:lstStyle/>
            <a:p>
              <a:r>
                <a:rPr lang="en-US" sz="2400" b="1" dirty="0"/>
                <a:t>+1</a:t>
              </a:r>
            </a:p>
          </p:txBody>
        </p:sp>
        <p:cxnSp>
          <p:nvCxnSpPr>
            <p:cNvPr id="45" name="Straight Arrow Connector 44"/>
            <p:cNvCxnSpPr/>
            <p:nvPr/>
          </p:nvCxnSpPr>
          <p:spPr>
            <a:xfrm flipV="1">
              <a:off x="3253084" y="1856189"/>
              <a:ext cx="0" cy="1645920"/>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rot="5400000" flipV="1">
              <a:off x="4389148" y="2357151"/>
              <a:ext cx="0" cy="2278691"/>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2978097" y="1762066"/>
              <a:ext cx="359923" cy="223090"/>
            </a:xfrm>
            <a:prstGeom prst="rect">
              <a:avLst/>
            </a:prstGeom>
            <a:noFill/>
          </p:spPr>
          <p:txBody>
            <a:bodyPr wrap="square" rtlCol="0">
              <a:spAutoFit/>
            </a:bodyPr>
            <a:lstStyle/>
            <a:p>
              <a:r>
                <a:rPr lang="en-US" sz="1333" dirty="0"/>
                <a:t>x</a:t>
              </a:r>
              <a:r>
                <a:rPr lang="en-US" sz="1333" baseline="-25000" dirty="0"/>
                <a:t>2</a:t>
              </a:r>
              <a:endParaRPr lang="en-US" sz="1333" dirty="0"/>
            </a:p>
          </p:txBody>
        </p:sp>
        <p:sp>
          <p:nvSpPr>
            <p:cNvPr id="49" name="TextBox 48"/>
            <p:cNvSpPr txBox="1"/>
            <p:nvPr/>
          </p:nvSpPr>
          <p:spPr>
            <a:xfrm>
              <a:off x="5388019" y="3459107"/>
              <a:ext cx="359923" cy="223090"/>
            </a:xfrm>
            <a:prstGeom prst="rect">
              <a:avLst/>
            </a:prstGeom>
            <a:noFill/>
          </p:spPr>
          <p:txBody>
            <a:bodyPr wrap="square" rtlCol="0">
              <a:spAutoFit/>
            </a:bodyPr>
            <a:lstStyle/>
            <a:p>
              <a:r>
                <a:rPr lang="en-US" sz="1333" dirty="0"/>
                <a:t>x</a:t>
              </a:r>
              <a:r>
                <a:rPr lang="en-US" sz="1333" baseline="-25000" dirty="0"/>
                <a:t>1</a:t>
              </a:r>
              <a:endParaRPr lang="en-US" sz="1333" dirty="0"/>
            </a:p>
          </p:txBody>
        </p:sp>
        <p:sp>
          <p:nvSpPr>
            <p:cNvPr id="50" name="Flowchart: Connector 49"/>
            <p:cNvSpPr/>
            <p:nvPr/>
          </p:nvSpPr>
          <p:spPr>
            <a:xfrm>
              <a:off x="3450405" y="2597651"/>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51" name="Flowchart: Connector 50"/>
            <p:cNvSpPr/>
            <p:nvPr/>
          </p:nvSpPr>
          <p:spPr>
            <a:xfrm>
              <a:off x="3428145" y="2893890"/>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52" name="Flowchart: Connector 51"/>
            <p:cNvSpPr/>
            <p:nvPr/>
          </p:nvSpPr>
          <p:spPr>
            <a:xfrm>
              <a:off x="3755206" y="2871629"/>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53" name="Flowchart: Connector 52"/>
            <p:cNvSpPr/>
            <p:nvPr/>
          </p:nvSpPr>
          <p:spPr>
            <a:xfrm>
              <a:off x="3815139" y="3157593"/>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54" name="Flowchart: Connector 53"/>
            <p:cNvSpPr/>
            <p:nvPr/>
          </p:nvSpPr>
          <p:spPr>
            <a:xfrm>
              <a:off x="3515476" y="3176429"/>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55" name="Flowchart: Connector 54"/>
            <p:cNvSpPr/>
            <p:nvPr/>
          </p:nvSpPr>
          <p:spPr>
            <a:xfrm>
              <a:off x="3955552" y="2547993"/>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56" name="Flowchart: Connector 55"/>
            <p:cNvSpPr/>
            <p:nvPr/>
          </p:nvSpPr>
          <p:spPr>
            <a:xfrm>
              <a:off x="3686711" y="2505184"/>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57" name="Flowchart: Connector 56"/>
            <p:cNvSpPr/>
            <p:nvPr/>
          </p:nvSpPr>
          <p:spPr>
            <a:xfrm>
              <a:off x="4116513" y="2873341"/>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58" name="Flowchart: Connector 57"/>
            <p:cNvSpPr/>
            <p:nvPr/>
          </p:nvSpPr>
          <p:spPr>
            <a:xfrm>
              <a:off x="4145623" y="3149031"/>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59" name="Flowchart: Connector 58"/>
            <p:cNvSpPr/>
            <p:nvPr/>
          </p:nvSpPr>
          <p:spPr>
            <a:xfrm>
              <a:off x="3458967" y="2226070"/>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0" name="Oval 59"/>
            <p:cNvSpPr/>
            <p:nvPr/>
          </p:nvSpPr>
          <p:spPr>
            <a:xfrm>
              <a:off x="5094272" y="1796264"/>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61" name="Oval 60"/>
            <p:cNvSpPr/>
            <p:nvPr/>
          </p:nvSpPr>
          <p:spPr>
            <a:xfrm>
              <a:off x="4578851" y="1887020"/>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62" name="Oval 61"/>
            <p:cNvSpPr/>
            <p:nvPr/>
          </p:nvSpPr>
          <p:spPr>
            <a:xfrm>
              <a:off x="4926461" y="1957225"/>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63" name="Oval 62"/>
            <p:cNvSpPr/>
            <p:nvPr/>
          </p:nvSpPr>
          <p:spPr>
            <a:xfrm>
              <a:off x="4739814" y="2191820"/>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64" name="Oval 63"/>
            <p:cNvSpPr/>
            <p:nvPr/>
          </p:nvSpPr>
          <p:spPr>
            <a:xfrm>
              <a:off x="4924748" y="2500044"/>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65" name="Oval 64"/>
            <p:cNvSpPr/>
            <p:nvPr/>
          </p:nvSpPr>
          <p:spPr>
            <a:xfrm>
              <a:off x="4996667" y="2202094"/>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66" name="Oval 65"/>
            <p:cNvSpPr/>
            <p:nvPr/>
          </p:nvSpPr>
          <p:spPr>
            <a:xfrm>
              <a:off x="4409328" y="2118188"/>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67" name="Oval 66"/>
            <p:cNvSpPr/>
            <p:nvPr/>
          </p:nvSpPr>
          <p:spPr>
            <a:xfrm>
              <a:off x="5188451" y="2034282"/>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68" name="Oval 67"/>
            <p:cNvSpPr/>
            <p:nvPr/>
          </p:nvSpPr>
          <p:spPr>
            <a:xfrm>
              <a:off x="5217561" y="2422987"/>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69" name="Oval 68"/>
            <p:cNvSpPr/>
            <p:nvPr/>
          </p:nvSpPr>
          <p:spPr>
            <a:xfrm>
              <a:off x="4589125" y="2441823"/>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70" name="Oval 69"/>
            <p:cNvSpPr/>
            <p:nvPr/>
          </p:nvSpPr>
          <p:spPr>
            <a:xfrm>
              <a:off x="5185026" y="2760324"/>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71" name="TextBox 70"/>
            <p:cNvSpPr txBox="1"/>
            <p:nvPr/>
          </p:nvSpPr>
          <p:spPr>
            <a:xfrm>
              <a:off x="3275746" y="1878461"/>
              <a:ext cx="359596" cy="346249"/>
            </a:xfrm>
            <a:prstGeom prst="rect">
              <a:avLst/>
            </a:prstGeom>
            <a:noFill/>
          </p:spPr>
          <p:txBody>
            <a:bodyPr wrap="square" rtlCol="0">
              <a:spAutoFit/>
            </a:bodyPr>
            <a:lstStyle/>
            <a:p>
              <a:r>
                <a:rPr lang="en-US" sz="2400" b="1" dirty="0"/>
                <a:t>-1</a:t>
              </a:r>
            </a:p>
          </p:txBody>
        </p:sp>
        <p:sp>
          <p:nvSpPr>
            <p:cNvPr id="72" name="TextBox 71"/>
            <p:cNvSpPr txBox="1"/>
            <p:nvPr/>
          </p:nvSpPr>
          <p:spPr>
            <a:xfrm>
              <a:off x="5369960" y="2513746"/>
              <a:ext cx="464049" cy="346249"/>
            </a:xfrm>
            <a:prstGeom prst="rect">
              <a:avLst/>
            </a:prstGeom>
            <a:noFill/>
          </p:spPr>
          <p:txBody>
            <a:bodyPr wrap="square" rtlCol="0">
              <a:spAutoFit/>
            </a:bodyPr>
            <a:lstStyle/>
            <a:p>
              <a:r>
                <a:rPr lang="en-US" sz="2400" b="1" dirty="0"/>
                <a:t>+1</a:t>
              </a:r>
            </a:p>
          </p:txBody>
        </p:sp>
        <p:cxnSp>
          <p:nvCxnSpPr>
            <p:cNvPr id="73" name="Straight Arrow Connector 72"/>
            <p:cNvCxnSpPr/>
            <p:nvPr/>
          </p:nvCxnSpPr>
          <p:spPr>
            <a:xfrm flipV="1">
              <a:off x="6292525" y="1854478"/>
              <a:ext cx="0" cy="1645920"/>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rot="5400000" flipV="1">
              <a:off x="7428589" y="2355440"/>
              <a:ext cx="0" cy="2278691"/>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017538" y="1760355"/>
              <a:ext cx="359923" cy="223090"/>
            </a:xfrm>
            <a:prstGeom prst="rect">
              <a:avLst/>
            </a:prstGeom>
            <a:noFill/>
          </p:spPr>
          <p:txBody>
            <a:bodyPr wrap="square" rtlCol="0">
              <a:spAutoFit/>
            </a:bodyPr>
            <a:lstStyle/>
            <a:p>
              <a:r>
                <a:rPr lang="en-US" sz="1333" dirty="0"/>
                <a:t>x</a:t>
              </a:r>
              <a:r>
                <a:rPr lang="en-US" sz="1333" baseline="-25000" dirty="0"/>
                <a:t>2</a:t>
              </a:r>
              <a:endParaRPr lang="en-US" sz="1333" dirty="0"/>
            </a:p>
          </p:txBody>
        </p:sp>
        <p:sp>
          <p:nvSpPr>
            <p:cNvPr id="76" name="TextBox 75"/>
            <p:cNvSpPr txBox="1"/>
            <p:nvPr/>
          </p:nvSpPr>
          <p:spPr>
            <a:xfrm>
              <a:off x="8427460" y="3457396"/>
              <a:ext cx="359923" cy="223090"/>
            </a:xfrm>
            <a:prstGeom prst="rect">
              <a:avLst/>
            </a:prstGeom>
            <a:noFill/>
          </p:spPr>
          <p:txBody>
            <a:bodyPr wrap="square" rtlCol="0">
              <a:spAutoFit/>
            </a:bodyPr>
            <a:lstStyle/>
            <a:p>
              <a:r>
                <a:rPr lang="en-US" sz="1333" dirty="0"/>
                <a:t>x</a:t>
              </a:r>
              <a:r>
                <a:rPr lang="en-US" sz="1333" baseline="-25000" dirty="0"/>
                <a:t>1</a:t>
              </a:r>
              <a:endParaRPr lang="en-US" sz="1333" dirty="0"/>
            </a:p>
          </p:txBody>
        </p:sp>
        <p:sp>
          <p:nvSpPr>
            <p:cNvPr id="77" name="Flowchart: Connector 76"/>
            <p:cNvSpPr/>
            <p:nvPr/>
          </p:nvSpPr>
          <p:spPr>
            <a:xfrm>
              <a:off x="6489846" y="2595940"/>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8" name="Flowchart: Connector 77"/>
            <p:cNvSpPr/>
            <p:nvPr/>
          </p:nvSpPr>
          <p:spPr>
            <a:xfrm>
              <a:off x="6467586" y="2892179"/>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9" name="Flowchart: Connector 78"/>
            <p:cNvSpPr/>
            <p:nvPr/>
          </p:nvSpPr>
          <p:spPr>
            <a:xfrm>
              <a:off x="6794647" y="2869918"/>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80" name="Flowchart: Connector 79"/>
            <p:cNvSpPr/>
            <p:nvPr/>
          </p:nvSpPr>
          <p:spPr>
            <a:xfrm>
              <a:off x="6854580" y="3155882"/>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81" name="Flowchart: Connector 80"/>
            <p:cNvSpPr/>
            <p:nvPr/>
          </p:nvSpPr>
          <p:spPr>
            <a:xfrm>
              <a:off x="6554917" y="3174718"/>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82" name="Flowchart: Connector 81"/>
            <p:cNvSpPr/>
            <p:nvPr/>
          </p:nvSpPr>
          <p:spPr>
            <a:xfrm>
              <a:off x="6994993" y="2546282"/>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83" name="Flowchart: Connector 82"/>
            <p:cNvSpPr/>
            <p:nvPr/>
          </p:nvSpPr>
          <p:spPr>
            <a:xfrm>
              <a:off x="6726152" y="2503473"/>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84" name="Flowchart: Connector 83"/>
            <p:cNvSpPr/>
            <p:nvPr/>
          </p:nvSpPr>
          <p:spPr>
            <a:xfrm>
              <a:off x="7155954" y="2871630"/>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85" name="Flowchart: Connector 84"/>
            <p:cNvSpPr/>
            <p:nvPr/>
          </p:nvSpPr>
          <p:spPr>
            <a:xfrm>
              <a:off x="7185064" y="3147320"/>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86" name="Flowchart: Connector 85"/>
            <p:cNvSpPr/>
            <p:nvPr/>
          </p:nvSpPr>
          <p:spPr>
            <a:xfrm>
              <a:off x="6498408" y="2224359"/>
              <a:ext cx="137160" cy="133563"/>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87" name="Oval 86"/>
            <p:cNvSpPr/>
            <p:nvPr/>
          </p:nvSpPr>
          <p:spPr>
            <a:xfrm>
              <a:off x="8133713" y="1794553"/>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8" name="Oval 87"/>
            <p:cNvSpPr/>
            <p:nvPr/>
          </p:nvSpPr>
          <p:spPr>
            <a:xfrm>
              <a:off x="7618292" y="1885309"/>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9" name="Oval 88"/>
            <p:cNvSpPr/>
            <p:nvPr/>
          </p:nvSpPr>
          <p:spPr>
            <a:xfrm>
              <a:off x="7965902" y="1955514"/>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0" name="Oval 89"/>
            <p:cNvSpPr/>
            <p:nvPr/>
          </p:nvSpPr>
          <p:spPr>
            <a:xfrm>
              <a:off x="7779255" y="2190109"/>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1" name="Oval 90"/>
            <p:cNvSpPr/>
            <p:nvPr/>
          </p:nvSpPr>
          <p:spPr>
            <a:xfrm>
              <a:off x="7964189" y="2498333"/>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2" name="Oval 91"/>
            <p:cNvSpPr/>
            <p:nvPr/>
          </p:nvSpPr>
          <p:spPr>
            <a:xfrm>
              <a:off x="8036108" y="2200383"/>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3" name="Oval 92"/>
            <p:cNvSpPr/>
            <p:nvPr/>
          </p:nvSpPr>
          <p:spPr>
            <a:xfrm>
              <a:off x="7448769" y="2116477"/>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4" name="Oval 93"/>
            <p:cNvSpPr/>
            <p:nvPr/>
          </p:nvSpPr>
          <p:spPr>
            <a:xfrm>
              <a:off x="8227892" y="2032571"/>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5" name="Oval 94"/>
            <p:cNvSpPr/>
            <p:nvPr/>
          </p:nvSpPr>
          <p:spPr>
            <a:xfrm>
              <a:off x="8257002" y="2421276"/>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6" name="Oval 95"/>
            <p:cNvSpPr/>
            <p:nvPr/>
          </p:nvSpPr>
          <p:spPr>
            <a:xfrm>
              <a:off x="7628566" y="2440112"/>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7" name="Oval 96"/>
            <p:cNvSpPr/>
            <p:nvPr/>
          </p:nvSpPr>
          <p:spPr>
            <a:xfrm>
              <a:off x="8224467" y="2758613"/>
              <a:ext cx="137160" cy="13716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8" name="TextBox 97"/>
            <p:cNvSpPr txBox="1"/>
            <p:nvPr/>
          </p:nvSpPr>
          <p:spPr>
            <a:xfrm>
              <a:off x="6315187" y="1876750"/>
              <a:ext cx="359596" cy="346249"/>
            </a:xfrm>
            <a:prstGeom prst="rect">
              <a:avLst/>
            </a:prstGeom>
            <a:noFill/>
          </p:spPr>
          <p:txBody>
            <a:bodyPr wrap="square" rtlCol="0">
              <a:spAutoFit/>
            </a:bodyPr>
            <a:lstStyle/>
            <a:p>
              <a:r>
                <a:rPr lang="en-US" sz="2400" b="1" dirty="0"/>
                <a:t>-1</a:t>
              </a:r>
            </a:p>
          </p:txBody>
        </p:sp>
        <p:sp>
          <p:nvSpPr>
            <p:cNvPr id="99" name="TextBox 98"/>
            <p:cNvSpPr txBox="1"/>
            <p:nvPr/>
          </p:nvSpPr>
          <p:spPr>
            <a:xfrm>
              <a:off x="8409401" y="2512035"/>
              <a:ext cx="464049" cy="346249"/>
            </a:xfrm>
            <a:prstGeom prst="rect">
              <a:avLst/>
            </a:prstGeom>
            <a:noFill/>
          </p:spPr>
          <p:txBody>
            <a:bodyPr wrap="square" rtlCol="0">
              <a:spAutoFit/>
            </a:bodyPr>
            <a:lstStyle/>
            <a:p>
              <a:r>
                <a:rPr lang="en-US" sz="2400" b="1" dirty="0"/>
                <a:t>+1</a:t>
              </a:r>
            </a:p>
          </p:txBody>
        </p:sp>
        <p:cxnSp>
          <p:nvCxnSpPr>
            <p:cNvPr id="3" name="Straight Connector 2"/>
            <p:cNvCxnSpPr/>
            <p:nvPr/>
          </p:nvCxnSpPr>
          <p:spPr>
            <a:xfrm>
              <a:off x="975353" y="1816592"/>
              <a:ext cx="688368" cy="1666467"/>
            </a:xfrm>
            <a:prstGeom prst="line">
              <a:avLst/>
            </a:prstGeom>
            <a:ln/>
          </p:spPr>
          <p:style>
            <a:lnRef idx="3">
              <a:schemeClr val="accent6"/>
            </a:lnRef>
            <a:fillRef idx="0">
              <a:schemeClr val="accent6"/>
            </a:fillRef>
            <a:effectRef idx="2">
              <a:schemeClr val="accent6"/>
            </a:effectRef>
            <a:fontRef idx="minor">
              <a:schemeClr val="tx1"/>
            </a:fontRef>
          </p:style>
        </p:cxnSp>
        <p:cxnSp>
          <p:nvCxnSpPr>
            <p:cNvPr id="5" name="Straight Connector 4"/>
            <p:cNvCxnSpPr/>
            <p:nvPr/>
          </p:nvCxnSpPr>
          <p:spPr>
            <a:xfrm>
              <a:off x="7243281" y="1633591"/>
              <a:ext cx="421240" cy="1828800"/>
            </a:xfrm>
            <a:prstGeom prst="line">
              <a:avLst/>
            </a:prstGeom>
            <a:ln/>
          </p:spPr>
          <p:style>
            <a:lnRef idx="3">
              <a:schemeClr val="accent6"/>
            </a:lnRef>
            <a:fillRef idx="0">
              <a:schemeClr val="accent6"/>
            </a:fillRef>
            <a:effectRef idx="2">
              <a:schemeClr val="accent6"/>
            </a:effectRef>
            <a:fontRef idx="minor">
              <a:schemeClr val="tx1"/>
            </a:fontRef>
          </p:style>
        </p:cxnSp>
        <p:cxnSp>
          <p:nvCxnSpPr>
            <p:cNvPr id="8" name="Straight Connector 7"/>
            <p:cNvCxnSpPr/>
            <p:nvPr/>
          </p:nvCxnSpPr>
          <p:spPr>
            <a:xfrm>
              <a:off x="3852809" y="1890444"/>
              <a:ext cx="1150705" cy="1554480"/>
            </a:xfrm>
            <a:prstGeom prst="line">
              <a:avLst/>
            </a:prstGeom>
            <a:ln/>
          </p:spPr>
          <p:style>
            <a:lnRef idx="3">
              <a:schemeClr val="accent6"/>
            </a:lnRef>
            <a:fillRef idx="0">
              <a:schemeClr val="accent6"/>
            </a:fillRef>
            <a:effectRef idx="2">
              <a:schemeClr val="accent6"/>
            </a:effectRef>
            <a:fontRef idx="minor">
              <a:schemeClr val="tx1"/>
            </a:fontRef>
          </p:style>
        </p:cxnSp>
        <p:cxnSp>
          <p:nvCxnSpPr>
            <p:cNvPr id="100" name="Straight Arrow Connector 99"/>
            <p:cNvCxnSpPr/>
            <p:nvPr/>
          </p:nvCxnSpPr>
          <p:spPr>
            <a:xfrm flipV="1">
              <a:off x="378031" y="1847627"/>
              <a:ext cx="0" cy="1645920"/>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rot="5400000" flipV="1">
              <a:off x="1514095" y="2348590"/>
              <a:ext cx="0" cy="2278691"/>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p:nvPr/>
          </p:nvCxnSpPr>
          <p:spPr>
            <a:xfrm flipV="1">
              <a:off x="3253084" y="1856189"/>
              <a:ext cx="0" cy="1645920"/>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rot="5400000" flipV="1">
              <a:off x="4389148" y="2357152"/>
              <a:ext cx="0" cy="2278691"/>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flipV="1">
              <a:off x="6292526" y="1854479"/>
              <a:ext cx="0" cy="1645920"/>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105" name="Straight Arrow Connector 104"/>
            <p:cNvCxnSpPr/>
            <p:nvPr/>
          </p:nvCxnSpPr>
          <p:spPr>
            <a:xfrm rot="5400000" flipV="1">
              <a:off x="7428590" y="2355441"/>
              <a:ext cx="0" cy="2278691"/>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106" name="Straight Arrow Connector 105"/>
            <p:cNvCxnSpPr/>
            <p:nvPr/>
          </p:nvCxnSpPr>
          <p:spPr>
            <a:xfrm flipV="1">
              <a:off x="378031" y="1847627"/>
              <a:ext cx="0" cy="1645920"/>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107" name="Straight Arrow Connector 106"/>
            <p:cNvCxnSpPr/>
            <p:nvPr/>
          </p:nvCxnSpPr>
          <p:spPr>
            <a:xfrm rot="5400000" flipV="1">
              <a:off x="1514095" y="2348591"/>
              <a:ext cx="0" cy="2278691"/>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108" name="Straight Arrow Connector 107"/>
            <p:cNvCxnSpPr/>
            <p:nvPr/>
          </p:nvCxnSpPr>
          <p:spPr>
            <a:xfrm flipV="1">
              <a:off x="3253084" y="1856189"/>
              <a:ext cx="0" cy="1645920"/>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109" name="Straight Arrow Connector 108"/>
            <p:cNvCxnSpPr/>
            <p:nvPr/>
          </p:nvCxnSpPr>
          <p:spPr>
            <a:xfrm rot="5400000" flipV="1">
              <a:off x="4389148" y="2357153"/>
              <a:ext cx="0" cy="2278691"/>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sp>
          <p:nvSpPr>
            <p:cNvPr id="110" name="TextBox 109"/>
            <p:cNvSpPr txBox="1"/>
            <p:nvPr/>
          </p:nvSpPr>
          <p:spPr>
            <a:xfrm>
              <a:off x="103045" y="1753504"/>
              <a:ext cx="359923" cy="223090"/>
            </a:xfrm>
            <a:prstGeom prst="rect">
              <a:avLst/>
            </a:prstGeom>
            <a:noFill/>
          </p:spPr>
          <p:txBody>
            <a:bodyPr wrap="square" rtlCol="0">
              <a:spAutoFit/>
            </a:bodyPr>
            <a:lstStyle/>
            <a:p>
              <a:r>
                <a:rPr lang="en-US" sz="1333" dirty="0"/>
                <a:t>x</a:t>
              </a:r>
              <a:r>
                <a:rPr lang="en-US" sz="1333" baseline="-25000" dirty="0"/>
                <a:t>2</a:t>
              </a:r>
              <a:endParaRPr lang="en-US" sz="1333" dirty="0"/>
            </a:p>
          </p:txBody>
        </p:sp>
        <p:sp>
          <p:nvSpPr>
            <p:cNvPr id="111" name="TextBox 110"/>
            <p:cNvSpPr txBox="1"/>
            <p:nvPr/>
          </p:nvSpPr>
          <p:spPr>
            <a:xfrm>
              <a:off x="2512966" y="3450545"/>
              <a:ext cx="359923" cy="223090"/>
            </a:xfrm>
            <a:prstGeom prst="rect">
              <a:avLst/>
            </a:prstGeom>
            <a:noFill/>
          </p:spPr>
          <p:txBody>
            <a:bodyPr wrap="square" rtlCol="0">
              <a:spAutoFit/>
            </a:bodyPr>
            <a:lstStyle/>
            <a:p>
              <a:r>
                <a:rPr lang="en-US" sz="1333" dirty="0"/>
                <a:t>x</a:t>
              </a:r>
              <a:r>
                <a:rPr lang="en-US" sz="1333" baseline="-25000" dirty="0"/>
                <a:t>1</a:t>
              </a:r>
              <a:endParaRPr lang="en-US" sz="1333" dirty="0"/>
            </a:p>
          </p:txBody>
        </p:sp>
        <p:sp>
          <p:nvSpPr>
            <p:cNvPr id="112" name="TextBox 111"/>
            <p:cNvSpPr txBox="1"/>
            <p:nvPr/>
          </p:nvSpPr>
          <p:spPr>
            <a:xfrm>
              <a:off x="2978098" y="1762067"/>
              <a:ext cx="359923" cy="223090"/>
            </a:xfrm>
            <a:prstGeom prst="rect">
              <a:avLst/>
            </a:prstGeom>
            <a:noFill/>
          </p:spPr>
          <p:txBody>
            <a:bodyPr wrap="square" rtlCol="0">
              <a:spAutoFit/>
            </a:bodyPr>
            <a:lstStyle/>
            <a:p>
              <a:r>
                <a:rPr lang="en-US" sz="1333" dirty="0"/>
                <a:t>x</a:t>
              </a:r>
              <a:r>
                <a:rPr lang="en-US" sz="1333" baseline="-25000" dirty="0"/>
                <a:t>2</a:t>
              </a:r>
              <a:endParaRPr lang="en-US" sz="1333" dirty="0"/>
            </a:p>
          </p:txBody>
        </p:sp>
        <p:sp>
          <p:nvSpPr>
            <p:cNvPr id="113" name="TextBox 112"/>
            <p:cNvSpPr txBox="1"/>
            <p:nvPr/>
          </p:nvSpPr>
          <p:spPr>
            <a:xfrm>
              <a:off x="6017539" y="1760356"/>
              <a:ext cx="359923" cy="223090"/>
            </a:xfrm>
            <a:prstGeom prst="rect">
              <a:avLst/>
            </a:prstGeom>
            <a:noFill/>
          </p:spPr>
          <p:txBody>
            <a:bodyPr wrap="square" rtlCol="0">
              <a:spAutoFit/>
            </a:bodyPr>
            <a:lstStyle/>
            <a:p>
              <a:r>
                <a:rPr lang="en-US" sz="1333" dirty="0"/>
                <a:t>x</a:t>
              </a:r>
              <a:r>
                <a:rPr lang="en-US" sz="1333" baseline="-25000" dirty="0"/>
                <a:t>2</a:t>
              </a:r>
              <a:endParaRPr lang="en-US" sz="1333" dirty="0"/>
            </a:p>
          </p:txBody>
        </p:sp>
        <p:cxnSp>
          <p:nvCxnSpPr>
            <p:cNvPr id="114" name="Straight Arrow Connector 113"/>
            <p:cNvCxnSpPr/>
            <p:nvPr/>
          </p:nvCxnSpPr>
          <p:spPr>
            <a:xfrm rot="5400000" flipV="1">
              <a:off x="7428591" y="2355442"/>
              <a:ext cx="0" cy="2278691"/>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3172800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4" name="Title 3"/>
          <p:cNvSpPr>
            <a:spLocks noGrp="1"/>
          </p:cNvSpPr>
          <p:nvPr>
            <p:ph type="title"/>
          </p:nvPr>
        </p:nvSpPr>
        <p:spPr/>
        <p:txBody>
          <a:bodyPr/>
          <a:lstStyle/>
          <a:p>
            <a:r>
              <a:rPr lang="en-US" b="1" dirty="0"/>
              <a:t>Maximal Margin Classifier</a:t>
            </a:r>
          </a:p>
        </p:txBody>
      </p:sp>
      <p:sp>
        <p:nvSpPr>
          <p:cNvPr id="3" name="Content Placeholder 2"/>
          <p:cNvSpPr>
            <a:spLocks noGrp="1"/>
          </p:cNvSpPr>
          <p:nvPr>
            <p:ph idx="1"/>
          </p:nvPr>
        </p:nvSpPr>
        <p:spPr/>
        <p:txBody>
          <a:bodyPr>
            <a:normAutofit/>
          </a:bodyPr>
          <a:lstStyle/>
          <a:p>
            <a:pPr marL="512230" indent="-342900">
              <a:lnSpc>
                <a:spcPct val="100000"/>
              </a:lnSpc>
              <a:spcBef>
                <a:spcPts val="1333"/>
              </a:spcBef>
              <a:buSzPct val="100000"/>
            </a:pPr>
            <a:r>
              <a:rPr lang="en-US" sz="2200" dirty="0">
                <a:ea typeface="Source Sans Pro"/>
                <a:cs typeface="Source Sans Pro"/>
                <a:sym typeface="Source Sans Pro"/>
              </a:rPr>
              <a:t>A natural choice is the </a:t>
            </a:r>
            <a:r>
              <a:rPr lang="en-US" sz="2200" b="1" dirty="0">
                <a:ea typeface="Source Sans Pro"/>
                <a:cs typeface="Source Sans Pro"/>
                <a:sym typeface="Source Sans Pro"/>
              </a:rPr>
              <a:t>maximal margin hyperplane </a:t>
            </a:r>
            <a:r>
              <a:rPr lang="en-US" sz="2200" dirty="0">
                <a:ea typeface="Source Sans Pro"/>
                <a:cs typeface="Source Sans Pro"/>
                <a:sym typeface="Source Sans Pro"/>
              </a:rPr>
              <a:t>(or optimal separating hyperplane).</a:t>
            </a:r>
          </a:p>
          <a:p>
            <a:pPr marL="512230" lvl="1" indent="-342900">
              <a:lnSpc>
                <a:spcPct val="100000"/>
              </a:lnSpc>
              <a:spcBef>
                <a:spcPts val="1333"/>
              </a:spcBef>
              <a:buSzPct val="100000"/>
            </a:pPr>
            <a:r>
              <a:rPr lang="en-US" sz="2200" dirty="0"/>
              <a:t>Margin is the distance between the hyperplane and the closest sample from either class </a:t>
            </a:r>
            <a:r>
              <a:rPr lang="en-GB" sz="2200" dirty="0"/>
              <a:t>(extend the hyperplane until it touches the first training data point).</a:t>
            </a:r>
          </a:p>
          <a:p>
            <a:pPr marL="550320" lvl="1" indent="-380990">
              <a:lnSpc>
                <a:spcPct val="100000"/>
              </a:lnSpc>
              <a:spcBef>
                <a:spcPts val="1333"/>
              </a:spcBef>
              <a:buClr>
                <a:srgbClr val="003B4C"/>
              </a:buClr>
              <a:buSzPct val="100000"/>
            </a:pPr>
            <a:endParaRPr lang="en-GB" sz="2400" dirty="0"/>
          </a:p>
        </p:txBody>
      </p:sp>
      <p:sp>
        <p:nvSpPr>
          <p:cNvPr id="2" name="TextBox 1"/>
          <p:cNvSpPr txBox="1"/>
          <p:nvPr/>
        </p:nvSpPr>
        <p:spPr>
          <a:xfrm>
            <a:off x="2866065" y="6458240"/>
            <a:ext cx="8739107" cy="297454"/>
          </a:xfrm>
          <a:prstGeom prst="rect">
            <a:avLst/>
          </a:prstGeom>
          <a:noFill/>
        </p:spPr>
        <p:txBody>
          <a:bodyPr wrap="square" rtlCol="0">
            <a:spAutoFit/>
          </a:bodyPr>
          <a:lstStyle/>
          <a:p>
            <a:r>
              <a:rPr lang="en-US" sz="1333" i="1" dirty="0">
                <a:latin typeface="Source Sans Pro" panose="020B0604020202020204" charset="0"/>
              </a:rPr>
              <a:t>Note: some textbooks might define the margin as the distance between the two dashed lines.</a:t>
            </a:r>
          </a:p>
        </p:txBody>
      </p:sp>
      <p:grpSp>
        <p:nvGrpSpPr>
          <p:cNvPr id="113" name="Group 112"/>
          <p:cNvGrpSpPr/>
          <p:nvPr/>
        </p:nvGrpSpPr>
        <p:grpSpPr>
          <a:xfrm>
            <a:off x="1170623" y="3805061"/>
            <a:ext cx="9850753" cy="2506839"/>
            <a:chOff x="1035091" y="2230735"/>
            <a:chExt cx="7388067" cy="1880130"/>
          </a:xfrm>
        </p:grpSpPr>
        <p:grpSp>
          <p:nvGrpSpPr>
            <p:cNvPr id="100" name="Group 99"/>
            <p:cNvGrpSpPr/>
            <p:nvPr/>
          </p:nvGrpSpPr>
          <p:grpSpPr>
            <a:xfrm>
              <a:off x="1035091" y="2371172"/>
              <a:ext cx="7388067" cy="1739693"/>
              <a:chOff x="1108663" y="2570868"/>
              <a:chExt cx="7388065" cy="1739693"/>
            </a:xfrm>
          </p:grpSpPr>
          <p:sp>
            <p:nvSpPr>
              <p:cNvPr id="8" name="Google Shape;193;p44"/>
              <p:cNvSpPr txBox="1"/>
              <p:nvPr/>
            </p:nvSpPr>
            <p:spPr>
              <a:xfrm>
                <a:off x="2506582" y="2831315"/>
                <a:ext cx="1344084" cy="580153"/>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cxnSp>
            <p:nvCxnSpPr>
              <p:cNvPr id="9" name="Straight Arrow Connector 8"/>
              <p:cNvCxnSpPr/>
              <p:nvPr/>
            </p:nvCxnSpPr>
            <p:spPr>
              <a:xfrm flipV="1">
                <a:off x="1381031" y="2755698"/>
                <a:ext cx="0" cy="1360235"/>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flipV="1">
                <a:off x="2332589" y="3156987"/>
                <a:ext cx="0" cy="1908614"/>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108663" y="2677912"/>
                <a:ext cx="301469" cy="223090"/>
              </a:xfrm>
              <a:prstGeom prst="rect">
                <a:avLst/>
              </a:prstGeom>
              <a:noFill/>
            </p:spPr>
            <p:txBody>
              <a:bodyPr wrap="square" rtlCol="0">
                <a:spAutoFit/>
              </a:bodyPr>
              <a:lstStyle/>
              <a:p>
                <a:r>
                  <a:rPr lang="en-US" sz="1333" dirty="0"/>
                  <a:t>x</a:t>
                </a:r>
                <a:r>
                  <a:rPr lang="en-US" sz="1333" baseline="-25000" dirty="0"/>
                  <a:t>2</a:t>
                </a:r>
                <a:endParaRPr lang="en-US" sz="1333" dirty="0"/>
              </a:p>
            </p:txBody>
          </p:sp>
          <p:sp>
            <p:nvSpPr>
              <p:cNvPr id="12" name="TextBox 11"/>
              <p:cNvSpPr txBox="1"/>
              <p:nvPr/>
            </p:nvSpPr>
            <p:spPr>
              <a:xfrm>
                <a:off x="3169236" y="4080394"/>
                <a:ext cx="301469" cy="223090"/>
              </a:xfrm>
              <a:prstGeom prst="rect">
                <a:avLst/>
              </a:prstGeom>
              <a:noFill/>
            </p:spPr>
            <p:txBody>
              <a:bodyPr wrap="square" rtlCol="0">
                <a:spAutoFit/>
              </a:bodyPr>
              <a:lstStyle/>
              <a:p>
                <a:r>
                  <a:rPr lang="en-US" sz="1333" dirty="0"/>
                  <a:t>x</a:t>
                </a:r>
                <a:r>
                  <a:rPr lang="en-US" sz="1333" baseline="-25000" dirty="0"/>
                  <a:t>1</a:t>
                </a:r>
                <a:endParaRPr lang="en-US" sz="1333" dirty="0"/>
              </a:p>
            </p:txBody>
          </p:sp>
          <p:sp>
            <p:nvSpPr>
              <p:cNvPr id="13" name="Flowchart: Connector 12"/>
              <p:cNvSpPr/>
              <p:nvPr/>
            </p:nvSpPr>
            <p:spPr>
              <a:xfrm>
                <a:off x="1546306" y="3368463"/>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 name="Flowchart: Connector 13"/>
              <p:cNvSpPr/>
              <p:nvPr/>
            </p:nvSpPr>
            <p:spPr>
              <a:xfrm>
                <a:off x="1527661" y="3613283"/>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 name="Flowchart: Connector 14"/>
              <p:cNvSpPr/>
              <p:nvPr/>
            </p:nvSpPr>
            <p:spPr>
              <a:xfrm>
                <a:off x="1801604" y="3594886"/>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6" name="Flowchart: Connector 15"/>
              <p:cNvSpPr/>
              <p:nvPr/>
            </p:nvSpPr>
            <p:spPr>
              <a:xfrm>
                <a:off x="1851804" y="3831215"/>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7" name="Flowchart: Connector 16"/>
              <p:cNvSpPr/>
              <p:nvPr/>
            </p:nvSpPr>
            <p:spPr>
              <a:xfrm>
                <a:off x="1600808" y="3846781"/>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8" name="Flowchart: Connector 17"/>
              <p:cNvSpPr/>
              <p:nvPr/>
            </p:nvSpPr>
            <p:spPr>
              <a:xfrm>
                <a:off x="1969413" y="3327424"/>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9" name="Flowchart: Connector 18"/>
              <p:cNvSpPr/>
              <p:nvPr/>
            </p:nvSpPr>
            <p:spPr>
              <a:xfrm>
                <a:off x="1744234" y="3292045"/>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0" name="Flowchart: Connector 19"/>
              <p:cNvSpPr/>
              <p:nvPr/>
            </p:nvSpPr>
            <p:spPr>
              <a:xfrm>
                <a:off x="2104232" y="3596301"/>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1" name="Flowchart: Connector 20"/>
              <p:cNvSpPr/>
              <p:nvPr/>
            </p:nvSpPr>
            <p:spPr>
              <a:xfrm>
                <a:off x="2128615" y="3824139"/>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2" name="Flowchart: Connector 21"/>
              <p:cNvSpPr/>
              <p:nvPr/>
            </p:nvSpPr>
            <p:spPr>
              <a:xfrm>
                <a:off x="1553477" y="3061378"/>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3" name="Oval 22"/>
              <p:cNvSpPr/>
              <p:nvPr/>
            </p:nvSpPr>
            <p:spPr>
              <a:xfrm>
                <a:off x="2923196" y="2706174"/>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24" name="Oval 23"/>
              <p:cNvSpPr/>
              <p:nvPr/>
            </p:nvSpPr>
            <p:spPr>
              <a:xfrm>
                <a:off x="2491483" y="2781177"/>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25" name="Oval 24"/>
              <p:cNvSpPr/>
              <p:nvPr/>
            </p:nvSpPr>
            <p:spPr>
              <a:xfrm>
                <a:off x="2782639" y="2839197"/>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26" name="Oval 25"/>
              <p:cNvSpPr/>
              <p:nvPr/>
            </p:nvSpPr>
            <p:spPr>
              <a:xfrm>
                <a:off x="2626304" y="3033073"/>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27" name="Oval 26"/>
              <p:cNvSpPr/>
              <p:nvPr/>
            </p:nvSpPr>
            <p:spPr>
              <a:xfrm>
                <a:off x="2781204" y="3287798"/>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28" name="Oval 27"/>
              <p:cNvSpPr/>
              <p:nvPr/>
            </p:nvSpPr>
            <p:spPr>
              <a:xfrm>
                <a:off x="2841443" y="3041563"/>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29" name="Oval 28"/>
              <p:cNvSpPr/>
              <p:nvPr/>
            </p:nvSpPr>
            <p:spPr>
              <a:xfrm>
                <a:off x="2349492" y="2972221"/>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0" name="Oval 29"/>
              <p:cNvSpPr/>
              <p:nvPr/>
            </p:nvSpPr>
            <p:spPr>
              <a:xfrm>
                <a:off x="3002079" y="2902879"/>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1" name="Oval 30"/>
              <p:cNvSpPr/>
              <p:nvPr/>
            </p:nvSpPr>
            <p:spPr>
              <a:xfrm>
                <a:off x="3026462" y="3224115"/>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2" name="Oval 31"/>
              <p:cNvSpPr/>
              <p:nvPr/>
            </p:nvSpPr>
            <p:spPr>
              <a:xfrm>
                <a:off x="2500089" y="3239682"/>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3" name="Oval 32"/>
              <p:cNvSpPr/>
              <p:nvPr/>
            </p:nvSpPr>
            <p:spPr>
              <a:xfrm>
                <a:off x="2999211" y="3502900"/>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4" name="TextBox 33"/>
              <p:cNvSpPr txBox="1"/>
              <p:nvPr/>
            </p:nvSpPr>
            <p:spPr>
              <a:xfrm>
                <a:off x="1400012" y="2774103"/>
                <a:ext cx="367143" cy="253915"/>
              </a:xfrm>
              <a:prstGeom prst="rect">
                <a:avLst/>
              </a:prstGeom>
              <a:noFill/>
            </p:spPr>
            <p:txBody>
              <a:bodyPr wrap="square" rtlCol="0">
                <a:spAutoFit/>
              </a:bodyPr>
              <a:lstStyle/>
              <a:p>
                <a:r>
                  <a:rPr lang="en-US" sz="1600" b="1" dirty="0"/>
                  <a:t>-1</a:t>
                </a:r>
              </a:p>
            </p:txBody>
          </p:sp>
          <p:sp>
            <p:nvSpPr>
              <p:cNvPr id="35" name="TextBox 34"/>
              <p:cNvSpPr txBox="1"/>
              <p:nvPr/>
            </p:nvSpPr>
            <p:spPr>
              <a:xfrm>
                <a:off x="3154110" y="3299121"/>
                <a:ext cx="388684" cy="253915"/>
              </a:xfrm>
              <a:prstGeom prst="rect">
                <a:avLst/>
              </a:prstGeom>
              <a:noFill/>
            </p:spPr>
            <p:txBody>
              <a:bodyPr wrap="square" rtlCol="0">
                <a:spAutoFit/>
              </a:bodyPr>
              <a:lstStyle/>
              <a:p>
                <a:r>
                  <a:rPr lang="en-US" sz="1600" b="1" dirty="0"/>
                  <a:t>+1</a:t>
                </a:r>
              </a:p>
            </p:txBody>
          </p:sp>
          <p:cxnSp>
            <p:nvCxnSpPr>
              <p:cNvPr id="36" name="Straight Arrow Connector 35"/>
              <p:cNvCxnSpPr/>
              <p:nvPr/>
            </p:nvCxnSpPr>
            <p:spPr>
              <a:xfrm flipV="1">
                <a:off x="3789153" y="2762774"/>
                <a:ext cx="0" cy="1360235"/>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rot="5400000" flipV="1">
                <a:off x="4740711" y="3164064"/>
                <a:ext cx="0" cy="1908614"/>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3495764" y="2684988"/>
                <a:ext cx="301469" cy="223090"/>
              </a:xfrm>
              <a:prstGeom prst="rect">
                <a:avLst/>
              </a:prstGeom>
              <a:noFill/>
            </p:spPr>
            <p:txBody>
              <a:bodyPr wrap="square" rtlCol="0">
                <a:spAutoFit/>
              </a:bodyPr>
              <a:lstStyle/>
              <a:p>
                <a:r>
                  <a:rPr lang="en-US" sz="1333" dirty="0"/>
                  <a:t>x</a:t>
                </a:r>
                <a:r>
                  <a:rPr lang="en-US" sz="1333" baseline="-25000" dirty="0"/>
                  <a:t>2</a:t>
                </a:r>
                <a:endParaRPr lang="en-US" sz="1333" dirty="0"/>
              </a:p>
            </p:txBody>
          </p:sp>
          <p:sp>
            <p:nvSpPr>
              <p:cNvPr id="39" name="TextBox 38"/>
              <p:cNvSpPr txBox="1"/>
              <p:nvPr/>
            </p:nvSpPr>
            <p:spPr>
              <a:xfrm>
                <a:off x="5577358" y="4087471"/>
                <a:ext cx="301469" cy="223090"/>
              </a:xfrm>
              <a:prstGeom prst="rect">
                <a:avLst/>
              </a:prstGeom>
              <a:noFill/>
            </p:spPr>
            <p:txBody>
              <a:bodyPr wrap="square" rtlCol="0">
                <a:spAutoFit/>
              </a:bodyPr>
              <a:lstStyle/>
              <a:p>
                <a:r>
                  <a:rPr lang="en-US" sz="1333" dirty="0"/>
                  <a:t>x</a:t>
                </a:r>
                <a:r>
                  <a:rPr lang="en-US" sz="1333" baseline="-25000" dirty="0"/>
                  <a:t>1</a:t>
                </a:r>
                <a:endParaRPr lang="en-US" sz="1333" dirty="0"/>
              </a:p>
            </p:txBody>
          </p:sp>
          <p:sp>
            <p:nvSpPr>
              <p:cNvPr id="40" name="Flowchart: Connector 39"/>
              <p:cNvSpPr/>
              <p:nvPr/>
            </p:nvSpPr>
            <p:spPr>
              <a:xfrm>
                <a:off x="3954428" y="3375539"/>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41" name="Flowchart: Connector 40"/>
              <p:cNvSpPr/>
              <p:nvPr/>
            </p:nvSpPr>
            <p:spPr>
              <a:xfrm>
                <a:off x="3935783" y="3620360"/>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42" name="Flowchart: Connector 41"/>
              <p:cNvSpPr/>
              <p:nvPr/>
            </p:nvSpPr>
            <p:spPr>
              <a:xfrm>
                <a:off x="4209727" y="3601963"/>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43" name="Flowchart: Connector 42"/>
              <p:cNvSpPr/>
              <p:nvPr/>
            </p:nvSpPr>
            <p:spPr>
              <a:xfrm>
                <a:off x="4259926" y="3838291"/>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44" name="Flowchart: Connector 43"/>
              <p:cNvSpPr/>
              <p:nvPr/>
            </p:nvSpPr>
            <p:spPr>
              <a:xfrm>
                <a:off x="4008931" y="3853858"/>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45" name="Flowchart: Connector 44"/>
              <p:cNvSpPr/>
              <p:nvPr/>
            </p:nvSpPr>
            <p:spPr>
              <a:xfrm>
                <a:off x="4377535" y="3334501"/>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46" name="Flowchart: Connector 45"/>
              <p:cNvSpPr/>
              <p:nvPr/>
            </p:nvSpPr>
            <p:spPr>
              <a:xfrm>
                <a:off x="4152356" y="3299122"/>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47" name="Flowchart: Connector 46"/>
              <p:cNvSpPr/>
              <p:nvPr/>
            </p:nvSpPr>
            <p:spPr>
              <a:xfrm>
                <a:off x="4512354" y="3603377"/>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48" name="Flowchart: Connector 47"/>
              <p:cNvSpPr/>
              <p:nvPr/>
            </p:nvSpPr>
            <p:spPr>
              <a:xfrm>
                <a:off x="4536737" y="3831215"/>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49" name="Flowchart: Connector 48"/>
              <p:cNvSpPr/>
              <p:nvPr/>
            </p:nvSpPr>
            <p:spPr>
              <a:xfrm>
                <a:off x="3961599" y="3068454"/>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50" name="Oval 49"/>
              <p:cNvSpPr/>
              <p:nvPr/>
            </p:nvSpPr>
            <p:spPr>
              <a:xfrm>
                <a:off x="5331318" y="2713251"/>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1" name="Oval 50"/>
              <p:cNvSpPr/>
              <p:nvPr/>
            </p:nvSpPr>
            <p:spPr>
              <a:xfrm>
                <a:off x="4899605" y="2788254"/>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2" name="Oval 51"/>
              <p:cNvSpPr/>
              <p:nvPr/>
            </p:nvSpPr>
            <p:spPr>
              <a:xfrm>
                <a:off x="5190761" y="2846273"/>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3" name="Oval 52"/>
              <p:cNvSpPr/>
              <p:nvPr/>
            </p:nvSpPr>
            <p:spPr>
              <a:xfrm>
                <a:off x="5034427" y="3040149"/>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4" name="Oval 53"/>
              <p:cNvSpPr/>
              <p:nvPr/>
            </p:nvSpPr>
            <p:spPr>
              <a:xfrm>
                <a:off x="5189326" y="3294874"/>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5" name="Oval 54"/>
              <p:cNvSpPr/>
              <p:nvPr/>
            </p:nvSpPr>
            <p:spPr>
              <a:xfrm>
                <a:off x="5249565" y="3048640"/>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6" name="Oval 55"/>
              <p:cNvSpPr/>
              <p:nvPr/>
            </p:nvSpPr>
            <p:spPr>
              <a:xfrm>
                <a:off x="4757614" y="2979298"/>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7" name="Oval 56"/>
              <p:cNvSpPr/>
              <p:nvPr/>
            </p:nvSpPr>
            <p:spPr>
              <a:xfrm>
                <a:off x="5410201" y="2909955"/>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8" name="Oval 57"/>
              <p:cNvSpPr/>
              <p:nvPr/>
            </p:nvSpPr>
            <p:spPr>
              <a:xfrm>
                <a:off x="5434584" y="3231192"/>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9" name="Oval 58"/>
              <p:cNvSpPr/>
              <p:nvPr/>
            </p:nvSpPr>
            <p:spPr>
              <a:xfrm>
                <a:off x="4908211" y="3246759"/>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60" name="Oval 59"/>
              <p:cNvSpPr/>
              <p:nvPr/>
            </p:nvSpPr>
            <p:spPr>
              <a:xfrm>
                <a:off x="5407333" y="3509977"/>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61" name="TextBox 60"/>
              <p:cNvSpPr txBox="1"/>
              <p:nvPr/>
            </p:nvSpPr>
            <p:spPr>
              <a:xfrm>
                <a:off x="3808135" y="2781180"/>
                <a:ext cx="363173" cy="253915"/>
              </a:xfrm>
              <a:prstGeom prst="rect">
                <a:avLst/>
              </a:prstGeom>
              <a:noFill/>
            </p:spPr>
            <p:txBody>
              <a:bodyPr wrap="square" rtlCol="0">
                <a:spAutoFit/>
              </a:bodyPr>
              <a:lstStyle/>
              <a:p>
                <a:r>
                  <a:rPr lang="en-US" sz="1600" b="1" dirty="0"/>
                  <a:t>-1</a:t>
                </a:r>
              </a:p>
            </p:txBody>
          </p:sp>
          <p:sp>
            <p:nvSpPr>
              <p:cNvPr id="62" name="TextBox 61"/>
              <p:cNvSpPr txBox="1"/>
              <p:nvPr/>
            </p:nvSpPr>
            <p:spPr>
              <a:xfrm>
                <a:off x="5562232" y="3306198"/>
                <a:ext cx="388684" cy="253915"/>
              </a:xfrm>
              <a:prstGeom prst="rect">
                <a:avLst/>
              </a:prstGeom>
              <a:noFill/>
            </p:spPr>
            <p:txBody>
              <a:bodyPr wrap="square" rtlCol="0">
                <a:spAutoFit/>
              </a:bodyPr>
              <a:lstStyle/>
              <a:p>
                <a:r>
                  <a:rPr lang="en-US" sz="1600" b="1" dirty="0"/>
                  <a:t>+1</a:t>
                </a:r>
              </a:p>
            </p:txBody>
          </p:sp>
          <p:cxnSp>
            <p:nvCxnSpPr>
              <p:cNvPr id="63" name="Straight Arrow Connector 62"/>
              <p:cNvCxnSpPr/>
              <p:nvPr/>
            </p:nvCxnSpPr>
            <p:spPr>
              <a:xfrm flipV="1">
                <a:off x="6334965" y="2761360"/>
                <a:ext cx="0" cy="1360235"/>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rot="5400000" flipV="1">
                <a:off x="7286524" y="3162650"/>
                <a:ext cx="0" cy="1908614"/>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6052086" y="2683574"/>
                <a:ext cx="301469" cy="223090"/>
              </a:xfrm>
              <a:prstGeom prst="rect">
                <a:avLst/>
              </a:prstGeom>
              <a:noFill/>
            </p:spPr>
            <p:txBody>
              <a:bodyPr wrap="square" rtlCol="0">
                <a:spAutoFit/>
              </a:bodyPr>
              <a:lstStyle/>
              <a:p>
                <a:r>
                  <a:rPr lang="en-US" sz="1333" dirty="0"/>
                  <a:t>x</a:t>
                </a:r>
                <a:r>
                  <a:rPr lang="en-US" sz="1333" baseline="-25000" dirty="0"/>
                  <a:t>2</a:t>
                </a:r>
                <a:endParaRPr lang="en-US" sz="1333" dirty="0"/>
              </a:p>
            </p:txBody>
          </p:sp>
          <p:sp>
            <p:nvSpPr>
              <p:cNvPr id="66" name="TextBox 65"/>
              <p:cNvSpPr txBox="1"/>
              <p:nvPr/>
            </p:nvSpPr>
            <p:spPr>
              <a:xfrm>
                <a:off x="8123170" y="4086057"/>
                <a:ext cx="301469" cy="223090"/>
              </a:xfrm>
              <a:prstGeom prst="rect">
                <a:avLst/>
              </a:prstGeom>
              <a:noFill/>
            </p:spPr>
            <p:txBody>
              <a:bodyPr wrap="square" rtlCol="0">
                <a:spAutoFit/>
              </a:bodyPr>
              <a:lstStyle/>
              <a:p>
                <a:r>
                  <a:rPr lang="en-US" sz="1333" dirty="0"/>
                  <a:t>x</a:t>
                </a:r>
                <a:r>
                  <a:rPr lang="en-US" sz="1333" baseline="-25000" dirty="0"/>
                  <a:t>1</a:t>
                </a:r>
                <a:endParaRPr lang="en-US" sz="1333" dirty="0"/>
              </a:p>
            </p:txBody>
          </p:sp>
          <p:sp>
            <p:nvSpPr>
              <p:cNvPr id="67" name="Flowchart: Connector 66"/>
              <p:cNvSpPr/>
              <p:nvPr/>
            </p:nvSpPr>
            <p:spPr>
              <a:xfrm>
                <a:off x="6500240" y="3374125"/>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8" name="Flowchart: Connector 67"/>
              <p:cNvSpPr/>
              <p:nvPr/>
            </p:nvSpPr>
            <p:spPr>
              <a:xfrm>
                <a:off x="6481595" y="3618946"/>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9" name="Flowchart: Connector 68"/>
              <p:cNvSpPr/>
              <p:nvPr/>
            </p:nvSpPr>
            <p:spPr>
              <a:xfrm>
                <a:off x="6755539" y="3600549"/>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0" name="Flowchart: Connector 69"/>
              <p:cNvSpPr/>
              <p:nvPr/>
            </p:nvSpPr>
            <p:spPr>
              <a:xfrm>
                <a:off x="6805738" y="3836877"/>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1" name="Flowchart: Connector 70"/>
              <p:cNvSpPr/>
              <p:nvPr/>
            </p:nvSpPr>
            <p:spPr>
              <a:xfrm>
                <a:off x="6554743" y="3852444"/>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2" name="Flowchart: Connector 71"/>
              <p:cNvSpPr/>
              <p:nvPr/>
            </p:nvSpPr>
            <p:spPr>
              <a:xfrm>
                <a:off x="6923347" y="3333087"/>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3" name="Flowchart: Connector 72"/>
              <p:cNvSpPr/>
              <p:nvPr/>
            </p:nvSpPr>
            <p:spPr>
              <a:xfrm>
                <a:off x="6698168" y="3297708"/>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4" name="Flowchart: Connector 73"/>
              <p:cNvSpPr/>
              <p:nvPr/>
            </p:nvSpPr>
            <p:spPr>
              <a:xfrm>
                <a:off x="7058167" y="3601963"/>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5" name="Flowchart: Connector 74"/>
              <p:cNvSpPr/>
              <p:nvPr/>
            </p:nvSpPr>
            <p:spPr>
              <a:xfrm>
                <a:off x="7082549" y="3829801"/>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6" name="Flowchart: Connector 75"/>
              <p:cNvSpPr/>
              <p:nvPr/>
            </p:nvSpPr>
            <p:spPr>
              <a:xfrm>
                <a:off x="6507411" y="3067040"/>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7" name="Oval 76"/>
              <p:cNvSpPr/>
              <p:nvPr/>
            </p:nvSpPr>
            <p:spPr>
              <a:xfrm>
                <a:off x="7877130" y="2711837"/>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78" name="Oval 77"/>
              <p:cNvSpPr/>
              <p:nvPr/>
            </p:nvSpPr>
            <p:spPr>
              <a:xfrm>
                <a:off x="7445417" y="2786840"/>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79" name="Oval 78"/>
              <p:cNvSpPr/>
              <p:nvPr/>
            </p:nvSpPr>
            <p:spPr>
              <a:xfrm>
                <a:off x="7736573" y="2844859"/>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0" name="Oval 79"/>
              <p:cNvSpPr/>
              <p:nvPr/>
            </p:nvSpPr>
            <p:spPr>
              <a:xfrm>
                <a:off x="7580239" y="3038735"/>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1" name="Oval 80"/>
              <p:cNvSpPr/>
              <p:nvPr/>
            </p:nvSpPr>
            <p:spPr>
              <a:xfrm>
                <a:off x="7735138" y="3293460"/>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2" name="Oval 81"/>
              <p:cNvSpPr/>
              <p:nvPr/>
            </p:nvSpPr>
            <p:spPr>
              <a:xfrm>
                <a:off x="7795377" y="3047226"/>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3" name="Oval 82"/>
              <p:cNvSpPr/>
              <p:nvPr/>
            </p:nvSpPr>
            <p:spPr>
              <a:xfrm>
                <a:off x="7303426" y="2977884"/>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4" name="Oval 83"/>
              <p:cNvSpPr/>
              <p:nvPr/>
            </p:nvSpPr>
            <p:spPr>
              <a:xfrm>
                <a:off x="7956014" y="2908541"/>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5" name="Oval 84"/>
              <p:cNvSpPr/>
              <p:nvPr/>
            </p:nvSpPr>
            <p:spPr>
              <a:xfrm>
                <a:off x="7980396" y="3229778"/>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6" name="Oval 85"/>
              <p:cNvSpPr/>
              <p:nvPr/>
            </p:nvSpPr>
            <p:spPr>
              <a:xfrm>
                <a:off x="7454023" y="3245345"/>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7" name="Oval 86"/>
              <p:cNvSpPr/>
              <p:nvPr/>
            </p:nvSpPr>
            <p:spPr>
              <a:xfrm>
                <a:off x="7953145" y="3508563"/>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8" name="TextBox 87"/>
              <p:cNvSpPr txBox="1"/>
              <p:nvPr/>
            </p:nvSpPr>
            <p:spPr>
              <a:xfrm>
                <a:off x="6353947" y="2779766"/>
                <a:ext cx="406449" cy="253915"/>
              </a:xfrm>
              <a:prstGeom prst="rect">
                <a:avLst/>
              </a:prstGeom>
              <a:noFill/>
            </p:spPr>
            <p:txBody>
              <a:bodyPr wrap="square" rtlCol="0">
                <a:spAutoFit/>
              </a:bodyPr>
              <a:lstStyle/>
              <a:p>
                <a:r>
                  <a:rPr lang="en-US" sz="1600" b="1" dirty="0"/>
                  <a:t>-1</a:t>
                </a:r>
              </a:p>
            </p:txBody>
          </p:sp>
          <p:sp>
            <p:nvSpPr>
              <p:cNvPr id="89" name="TextBox 88"/>
              <p:cNvSpPr txBox="1"/>
              <p:nvPr/>
            </p:nvSpPr>
            <p:spPr>
              <a:xfrm>
                <a:off x="8108044" y="3304784"/>
                <a:ext cx="388684" cy="253915"/>
              </a:xfrm>
              <a:prstGeom prst="rect">
                <a:avLst/>
              </a:prstGeom>
              <a:noFill/>
            </p:spPr>
            <p:txBody>
              <a:bodyPr wrap="square" rtlCol="0">
                <a:spAutoFit/>
              </a:bodyPr>
              <a:lstStyle/>
              <a:p>
                <a:r>
                  <a:rPr lang="en-US" sz="1600" b="1" dirty="0"/>
                  <a:t>+1</a:t>
                </a:r>
              </a:p>
            </p:txBody>
          </p:sp>
          <p:cxnSp>
            <p:nvCxnSpPr>
              <p:cNvPr id="90" name="Straight Connector 89"/>
              <p:cNvCxnSpPr/>
              <p:nvPr/>
            </p:nvCxnSpPr>
            <p:spPr>
              <a:xfrm>
                <a:off x="1881923" y="2731649"/>
                <a:ext cx="576572" cy="1377215"/>
              </a:xfrm>
              <a:prstGeom prst="line">
                <a:avLst/>
              </a:prstGeom>
              <a:ln/>
            </p:spPr>
            <p:style>
              <a:lnRef idx="3">
                <a:schemeClr val="accent6"/>
              </a:lnRef>
              <a:fillRef idx="0">
                <a:schemeClr val="accent6"/>
              </a:fillRef>
              <a:effectRef idx="2">
                <a:schemeClr val="accent6"/>
              </a:effectRef>
              <a:fontRef idx="minor">
                <a:schemeClr val="tx1"/>
              </a:fontRef>
            </p:style>
          </p:cxnSp>
          <p:cxnSp>
            <p:nvCxnSpPr>
              <p:cNvPr id="91" name="Straight Connector 90"/>
              <p:cNvCxnSpPr/>
              <p:nvPr/>
            </p:nvCxnSpPr>
            <p:spPr>
              <a:xfrm>
                <a:off x="7131311" y="2578813"/>
                <a:ext cx="352827" cy="1511372"/>
              </a:xfrm>
              <a:prstGeom prst="line">
                <a:avLst/>
              </a:prstGeom>
              <a:ln/>
            </p:spPr>
            <p:style>
              <a:lnRef idx="3">
                <a:schemeClr val="accent6"/>
              </a:lnRef>
              <a:fillRef idx="0">
                <a:schemeClr val="accent6"/>
              </a:fillRef>
              <a:effectRef idx="2">
                <a:schemeClr val="accent6"/>
              </a:effectRef>
              <a:fontRef idx="minor">
                <a:schemeClr val="tx1"/>
              </a:fontRef>
            </p:style>
          </p:cxnSp>
          <p:cxnSp>
            <p:nvCxnSpPr>
              <p:cNvPr id="92" name="Straight Connector 91"/>
              <p:cNvCxnSpPr/>
              <p:nvPr/>
            </p:nvCxnSpPr>
            <p:spPr>
              <a:xfrm>
                <a:off x="4291478" y="2812972"/>
                <a:ext cx="963822" cy="1284666"/>
              </a:xfrm>
              <a:prstGeom prst="line">
                <a:avLst/>
              </a:prstGeom>
              <a:ln/>
            </p:spPr>
            <p:style>
              <a:lnRef idx="3">
                <a:schemeClr val="accent6"/>
              </a:lnRef>
              <a:fillRef idx="0">
                <a:schemeClr val="accent6"/>
              </a:fillRef>
              <a:effectRef idx="2">
                <a:schemeClr val="accent6"/>
              </a:effectRef>
              <a:fontRef idx="minor">
                <a:schemeClr val="tx1"/>
              </a:fontRef>
            </p:style>
          </p:cxnSp>
          <p:cxnSp>
            <p:nvCxnSpPr>
              <p:cNvPr id="93" name="Straight Connector 92"/>
              <p:cNvCxnSpPr/>
              <p:nvPr/>
            </p:nvCxnSpPr>
            <p:spPr>
              <a:xfrm>
                <a:off x="1845789" y="2740211"/>
                <a:ext cx="576572" cy="1377215"/>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1918093" y="2725751"/>
                <a:ext cx="576572" cy="1377215"/>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4421282" y="2693718"/>
                <a:ext cx="963822" cy="1284666"/>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4143314" y="2875751"/>
                <a:ext cx="963822" cy="1284666"/>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7188371" y="2570868"/>
                <a:ext cx="352827" cy="1511372"/>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7072086" y="2593259"/>
                <a:ext cx="352827" cy="1511372"/>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flipV="1">
                <a:off x="1381032" y="2755699"/>
                <a:ext cx="0" cy="1360235"/>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p:nvPr/>
            </p:nvCxnSpPr>
            <p:spPr>
              <a:xfrm rot="5400000" flipV="1">
                <a:off x="2332590" y="3156987"/>
                <a:ext cx="0" cy="1908614"/>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p:nvPr/>
            </p:nvCxnSpPr>
            <p:spPr>
              <a:xfrm flipV="1">
                <a:off x="3789154" y="2762775"/>
                <a:ext cx="0" cy="1360235"/>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p:nvPr/>
            </p:nvCxnSpPr>
            <p:spPr>
              <a:xfrm rot="5400000" flipV="1">
                <a:off x="4740712" y="3164064"/>
                <a:ext cx="0" cy="1908614"/>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p:nvPr/>
            </p:nvCxnSpPr>
            <p:spPr>
              <a:xfrm flipV="1">
                <a:off x="6334965" y="2761360"/>
                <a:ext cx="0" cy="1360235"/>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114" name="Straight Arrow Connector 113"/>
              <p:cNvCxnSpPr/>
              <p:nvPr/>
            </p:nvCxnSpPr>
            <p:spPr>
              <a:xfrm rot="5400000" flipV="1">
                <a:off x="7286525" y="3162651"/>
                <a:ext cx="0" cy="1908614"/>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115" name="Straight Arrow Connector 114"/>
              <p:cNvCxnSpPr/>
              <p:nvPr/>
            </p:nvCxnSpPr>
            <p:spPr>
              <a:xfrm flipV="1">
                <a:off x="1381033" y="2755699"/>
                <a:ext cx="0" cy="1360235"/>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116" name="Straight Arrow Connector 115"/>
              <p:cNvCxnSpPr/>
              <p:nvPr/>
            </p:nvCxnSpPr>
            <p:spPr>
              <a:xfrm rot="5400000" flipV="1">
                <a:off x="2332591" y="3156987"/>
                <a:ext cx="0" cy="1908614"/>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117" name="Straight Arrow Connector 116"/>
              <p:cNvCxnSpPr/>
              <p:nvPr/>
            </p:nvCxnSpPr>
            <p:spPr>
              <a:xfrm flipV="1">
                <a:off x="3789155" y="2762776"/>
                <a:ext cx="0" cy="1360235"/>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118" name="Straight Arrow Connector 117"/>
              <p:cNvCxnSpPr/>
              <p:nvPr/>
            </p:nvCxnSpPr>
            <p:spPr>
              <a:xfrm rot="5400000" flipV="1">
                <a:off x="4740713" y="3164064"/>
                <a:ext cx="0" cy="1908614"/>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grpSp>
        <p:cxnSp>
          <p:nvCxnSpPr>
            <p:cNvPr id="102" name="Straight Arrow Connector 101"/>
            <p:cNvCxnSpPr/>
            <p:nvPr/>
          </p:nvCxnSpPr>
          <p:spPr>
            <a:xfrm flipV="1">
              <a:off x="4194974" y="2465849"/>
              <a:ext cx="134343" cy="95342"/>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2" name="TextBox 111"/>
            <p:cNvSpPr txBox="1"/>
            <p:nvPr/>
          </p:nvSpPr>
          <p:spPr>
            <a:xfrm>
              <a:off x="4119824" y="2230735"/>
              <a:ext cx="783772" cy="223090"/>
            </a:xfrm>
            <a:prstGeom prst="rect">
              <a:avLst/>
            </a:prstGeom>
            <a:noFill/>
          </p:spPr>
          <p:txBody>
            <a:bodyPr wrap="square" rtlCol="0">
              <a:spAutoFit/>
            </a:bodyPr>
            <a:lstStyle/>
            <a:p>
              <a:r>
                <a:rPr lang="en-US" sz="1333" dirty="0">
                  <a:latin typeface="Source Sans Pro" panose="020B0604020202020204" charset="0"/>
                </a:rPr>
                <a:t>margin</a:t>
              </a:r>
            </a:p>
          </p:txBody>
        </p:sp>
      </p:grpSp>
    </p:spTree>
    <p:extLst>
      <p:ext uri="{BB962C8B-B14F-4D97-AF65-F5344CB8AC3E}">
        <p14:creationId xmlns:p14="http://schemas.microsoft.com/office/powerpoint/2010/main" val="3933391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endParaRPr lang="en-US" dirty="0"/>
          </a:p>
          <a:p>
            <a:endParaRPr lang="en-US" dirty="0"/>
          </a:p>
          <a:p>
            <a:endParaRPr lang="en-US" dirty="0"/>
          </a:p>
          <a:p>
            <a:endParaRPr lang="en-US" dirty="0"/>
          </a:p>
          <a:p>
            <a:endParaRPr lang="en-US" dirty="0"/>
          </a:p>
          <a:p>
            <a:pPr marL="0" indent="0">
              <a:lnSpc>
                <a:spcPct val="140000"/>
              </a:lnSpc>
              <a:spcBef>
                <a:spcPts val="1333"/>
              </a:spcBef>
              <a:buClr>
                <a:srgbClr val="003B4C"/>
              </a:buClr>
              <a:buSzPct val="100000"/>
              <a:buNone/>
            </a:pPr>
            <a:endParaRPr lang="en-US" dirty="0">
              <a:solidFill>
                <a:srgbClr val="003B4C"/>
              </a:solidFill>
              <a:latin typeface="Source Sans Pro" panose="020B0604020202020204" charset="0"/>
              <a:ea typeface="Source Sans Pro"/>
              <a:cs typeface="Source Sans Pro"/>
              <a:sym typeface="Source Sans Pro"/>
            </a:endParaRPr>
          </a:p>
          <a:p>
            <a:pPr marL="626530" indent="-457200">
              <a:lnSpc>
                <a:spcPct val="140000"/>
              </a:lnSpc>
              <a:spcBef>
                <a:spcPts val="1333"/>
              </a:spcBef>
              <a:buSzPct val="100000"/>
            </a:pPr>
            <a:r>
              <a:rPr lang="en-US" dirty="0">
                <a:ea typeface="Source Sans Pro"/>
                <a:cs typeface="Source Sans Pro"/>
                <a:sym typeface="Source Sans Pro"/>
              </a:rPr>
              <a:t>The maximal margin hyperplane is the hyperplane for which the </a:t>
            </a:r>
            <a:r>
              <a:rPr lang="en-US" b="1" dirty="0">
                <a:ea typeface="Source Sans Pro"/>
                <a:cs typeface="Source Sans Pro"/>
                <a:sym typeface="Source Sans Pro"/>
              </a:rPr>
              <a:t>margin is the largest</a:t>
            </a:r>
            <a:r>
              <a:rPr lang="en-US" dirty="0">
                <a:ea typeface="Source Sans Pro"/>
                <a:cs typeface="Source Sans Pro"/>
                <a:sym typeface="Source Sans Pro"/>
              </a:rPr>
              <a:t>: </a:t>
            </a:r>
            <a:r>
              <a:rPr lang="en-US" dirty="0"/>
              <a:t>it lies at the maximum distance from data points of both classes.</a:t>
            </a:r>
          </a:p>
          <a:p>
            <a:pPr marL="626530" indent="-457200">
              <a:lnSpc>
                <a:spcPct val="140000"/>
              </a:lnSpc>
              <a:spcBef>
                <a:spcPts val="1333"/>
              </a:spcBef>
              <a:buSzPct val="100000"/>
            </a:pPr>
            <a:r>
              <a:rPr lang="en-US" dirty="0"/>
              <a:t>It is the </a:t>
            </a:r>
            <a:r>
              <a:rPr lang="en-US" b="1" dirty="0"/>
              <a:t>thickest separator </a:t>
            </a:r>
            <a:r>
              <a:rPr lang="en-US" dirty="0"/>
              <a:t>that has better </a:t>
            </a:r>
            <a:r>
              <a:rPr lang="en-US" b="1" dirty="0"/>
              <a:t>tolerance to noise</a:t>
            </a:r>
            <a:r>
              <a:rPr lang="en-US" dirty="0"/>
              <a:t>. </a:t>
            </a:r>
            <a:endParaRPr lang="en-US" dirty="0">
              <a:ea typeface="Source Sans Pro"/>
              <a:cs typeface="Source Sans Pro"/>
              <a:sym typeface="Source Sans Pro"/>
            </a:endParaRPr>
          </a:p>
        </p:txBody>
      </p:sp>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sp>
        <p:nvSpPr>
          <p:cNvPr id="3" name="Title 2"/>
          <p:cNvSpPr>
            <a:spLocks noGrp="1"/>
          </p:cNvSpPr>
          <p:nvPr>
            <p:ph type="title"/>
          </p:nvPr>
        </p:nvSpPr>
        <p:spPr/>
        <p:txBody>
          <a:bodyPr/>
          <a:lstStyle/>
          <a:p>
            <a:r>
              <a:rPr lang="en-US" b="1" dirty="0"/>
              <a:t>Maximal Margin Classifier</a:t>
            </a:r>
          </a:p>
        </p:txBody>
      </p:sp>
      <p:grpSp>
        <p:nvGrpSpPr>
          <p:cNvPr id="106" name="Group 105"/>
          <p:cNvGrpSpPr/>
          <p:nvPr/>
        </p:nvGrpSpPr>
        <p:grpSpPr>
          <a:xfrm>
            <a:off x="1011134" y="1690688"/>
            <a:ext cx="9850753" cy="2506839"/>
            <a:chOff x="1035091" y="2230735"/>
            <a:chExt cx="7388067" cy="1880130"/>
          </a:xfrm>
        </p:grpSpPr>
        <p:grpSp>
          <p:nvGrpSpPr>
            <p:cNvPr id="107" name="Group 106"/>
            <p:cNvGrpSpPr/>
            <p:nvPr/>
          </p:nvGrpSpPr>
          <p:grpSpPr>
            <a:xfrm>
              <a:off x="1035091" y="2371172"/>
              <a:ext cx="7388067" cy="1739693"/>
              <a:chOff x="1108663" y="2570868"/>
              <a:chExt cx="7388065" cy="1739693"/>
            </a:xfrm>
          </p:grpSpPr>
          <p:sp>
            <p:nvSpPr>
              <p:cNvPr id="111" name="Google Shape;193;p44"/>
              <p:cNvSpPr txBox="1"/>
              <p:nvPr/>
            </p:nvSpPr>
            <p:spPr>
              <a:xfrm>
                <a:off x="2506582" y="2831315"/>
                <a:ext cx="1344084" cy="580153"/>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cxnSp>
            <p:nvCxnSpPr>
              <p:cNvPr id="114" name="Straight Arrow Connector 113"/>
              <p:cNvCxnSpPr/>
              <p:nvPr/>
            </p:nvCxnSpPr>
            <p:spPr>
              <a:xfrm flipV="1">
                <a:off x="1381031" y="2755698"/>
                <a:ext cx="0" cy="1360235"/>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p:nvPr/>
            </p:nvCxnSpPr>
            <p:spPr>
              <a:xfrm rot="5400000" flipV="1">
                <a:off x="2332589" y="3156987"/>
                <a:ext cx="0" cy="1908614"/>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1108663" y="2677912"/>
                <a:ext cx="301469" cy="223090"/>
              </a:xfrm>
              <a:prstGeom prst="rect">
                <a:avLst/>
              </a:prstGeom>
              <a:noFill/>
            </p:spPr>
            <p:txBody>
              <a:bodyPr wrap="square" rtlCol="0">
                <a:spAutoFit/>
              </a:bodyPr>
              <a:lstStyle/>
              <a:p>
                <a:r>
                  <a:rPr lang="en-US" sz="1333" dirty="0"/>
                  <a:t>x</a:t>
                </a:r>
                <a:r>
                  <a:rPr lang="en-US" sz="1333" baseline="-25000" dirty="0"/>
                  <a:t>2</a:t>
                </a:r>
                <a:endParaRPr lang="en-US" sz="1333" dirty="0"/>
              </a:p>
            </p:txBody>
          </p:sp>
          <p:sp>
            <p:nvSpPr>
              <p:cNvPr id="117" name="TextBox 116"/>
              <p:cNvSpPr txBox="1"/>
              <p:nvPr/>
            </p:nvSpPr>
            <p:spPr>
              <a:xfrm>
                <a:off x="3169236" y="4080394"/>
                <a:ext cx="301469" cy="223090"/>
              </a:xfrm>
              <a:prstGeom prst="rect">
                <a:avLst/>
              </a:prstGeom>
              <a:noFill/>
            </p:spPr>
            <p:txBody>
              <a:bodyPr wrap="square" rtlCol="0">
                <a:spAutoFit/>
              </a:bodyPr>
              <a:lstStyle/>
              <a:p>
                <a:r>
                  <a:rPr lang="en-US" sz="1333" dirty="0"/>
                  <a:t>x</a:t>
                </a:r>
                <a:r>
                  <a:rPr lang="en-US" sz="1333" baseline="-25000" dirty="0"/>
                  <a:t>1</a:t>
                </a:r>
                <a:endParaRPr lang="en-US" sz="1333" dirty="0"/>
              </a:p>
            </p:txBody>
          </p:sp>
          <p:sp>
            <p:nvSpPr>
              <p:cNvPr id="118" name="Flowchart: Connector 117"/>
              <p:cNvSpPr/>
              <p:nvPr/>
            </p:nvSpPr>
            <p:spPr>
              <a:xfrm>
                <a:off x="1546306" y="3368463"/>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9" name="Flowchart: Connector 118"/>
              <p:cNvSpPr/>
              <p:nvPr/>
            </p:nvSpPr>
            <p:spPr>
              <a:xfrm>
                <a:off x="1527661" y="3613283"/>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0" name="Flowchart: Connector 119"/>
              <p:cNvSpPr/>
              <p:nvPr/>
            </p:nvSpPr>
            <p:spPr>
              <a:xfrm>
                <a:off x="1801604" y="3594886"/>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1" name="Flowchart: Connector 120"/>
              <p:cNvSpPr/>
              <p:nvPr/>
            </p:nvSpPr>
            <p:spPr>
              <a:xfrm>
                <a:off x="1851804" y="3831215"/>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2" name="Flowchart: Connector 121"/>
              <p:cNvSpPr/>
              <p:nvPr/>
            </p:nvSpPr>
            <p:spPr>
              <a:xfrm>
                <a:off x="1600808" y="3846781"/>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3" name="Flowchart: Connector 122"/>
              <p:cNvSpPr/>
              <p:nvPr/>
            </p:nvSpPr>
            <p:spPr>
              <a:xfrm>
                <a:off x="1969413" y="3327424"/>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4" name="Flowchart: Connector 123"/>
              <p:cNvSpPr/>
              <p:nvPr/>
            </p:nvSpPr>
            <p:spPr>
              <a:xfrm>
                <a:off x="1744234" y="3292045"/>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5" name="Flowchart: Connector 124"/>
              <p:cNvSpPr/>
              <p:nvPr/>
            </p:nvSpPr>
            <p:spPr>
              <a:xfrm>
                <a:off x="2104232" y="3596301"/>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6" name="Flowchart: Connector 125"/>
              <p:cNvSpPr/>
              <p:nvPr/>
            </p:nvSpPr>
            <p:spPr>
              <a:xfrm>
                <a:off x="2128615" y="3824139"/>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7" name="Flowchart: Connector 126"/>
              <p:cNvSpPr/>
              <p:nvPr/>
            </p:nvSpPr>
            <p:spPr>
              <a:xfrm>
                <a:off x="1553477" y="3061378"/>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8" name="Oval 127"/>
              <p:cNvSpPr/>
              <p:nvPr/>
            </p:nvSpPr>
            <p:spPr>
              <a:xfrm>
                <a:off x="2923196" y="2706174"/>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9" name="Oval 128"/>
              <p:cNvSpPr/>
              <p:nvPr/>
            </p:nvSpPr>
            <p:spPr>
              <a:xfrm>
                <a:off x="2491483" y="2781177"/>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0" name="Oval 129"/>
              <p:cNvSpPr/>
              <p:nvPr/>
            </p:nvSpPr>
            <p:spPr>
              <a:xfrm>
                <a:off x="2782639" y="2839197"/>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1" name="Oval 130"/>
              <p:cNvSpPr/>
              <p:nvPr/>
            </p:nvSpPr>
            <p:spPr>
              <a:xfrm>
                <a:off x="2626304" y="3033073"/>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2" name="Oval 131"/>
              <p:cNvSpPr/>
              <p:nvPr/>
            </p:nvSpPr>
            <p:spPr>
              <a:xfrm>
                <a:off x="2781204" y="3287798"/>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3" name="Oval 132"/>
              <p:cNvSpPr/>
              <p:nvPr/>
            </p:nvSpPr>
            <p:spPr>
              <a:xfrm>
                <a:off x="2841443" y="3041563"/>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4" name="Oval 133"/>
              <p:cNvSpPr/>
              <p:nvPr/>
            </p:nvSpPr>
            <p:spPr>
              <a:xfrm>
                <a:off x="2349492" y="2972221"/>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5" name="Oval 134"/>
              <p:cNvSpPr/>
              <p:nvPr/>
            </p:nvSpPr>
            <p:spPr>
              <a:xfrm>
                <a:off x="3002079" y="2902879"/>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6" name="Oval 135"/>
              <p:cNvSpPr/>
              <p:nvPr/>
            </p:nvSpPr>
            <p:spPr>
              <a:xfrm>
                <a:off x="3026462" y="3224115"/>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7" name="Oval 136"/>
              <p:cNvSpPr/>
              <p:nvPr/>
            </p:nvSpPr>
            <p:spPr>
              <a:xfrm>
                <a:off x="2500089" y="3239682"/>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8" name="Oval 137"/>
              <p:cNvSpPr/>
              <p:nvPr/>
            </p:nvSpPr>
            <p:spPr>
              <a:xfrm>
                <a:off x="2999211" y="3502900"/>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9" name="TextBox 138"/>
              <p:cNvSpPr txBox="1"/>
              <p:nvPr/>
            </p:nvSpPr>
            <p:spPr>
              <a:xfrm>
                <a:off x="1400012" y="2774103"/>
                <a:ext cx="367143" cy="253915"/>
              </a:xfrm>
              <a:prstGeom prst="rect">
                <a:avLst/>
              </a:prstGeom>
              <a:noFill/>
            </p:spPr>
            <p:txBody>
              <a:bodyPr wrap="square" rtlCol="0">
                <a:spAutoFit/>
              </a:bodyPr>
              <a:lstStyle/>
              <a:p>
                <a:r>
                  <a:rPr lang="en-US" sz="1600" b="1" dirty="0"/>
                  <a:t>-1</a:t>
                </a:r>
              </a:p>
            </p:txBody>
          </p:sp>
          <p:sp>
            <p:nvSpPr>
              <p:cNvPr id="140" name="TextBox 139"/>
              <p:cNvSpPr txBox="1"/>
              <p:nvPr/>
            </p:nvSpPr>
            <p:spPr>
              <a:xfrm>
                <a:off x="3154110" y="3299121"/>
                <a:ext cx="388684" cy="253915"/>
              </a:xfrm>
              <a:prstGeom prst="rect">
                <a:avLst/>
              </a:prstGeom>
              <a:noFill/>
            </p:spPr>
            <p:txBody>
              <a:bodyPr wrap="square" rtlCol="0">
                <a:spAutoFit/>
              </a:bodyPr>
              <a:lstStyle/>
              <a:p>
                <a:r>
                  <a:rPr lang="en-US" sz="1600" b="1" dirty="0"/>
                  <a:t>+1</a:t>
                </a:r>
              </a:p>
            </p:txBody>
          </p:sp>
          <p:cxnSp>
            <p:nvCxnSpPr>
              <p:cNvPr id="141" name="Straight Arrow Connector 140"/>
              <p:cNvCxnSpPr/>
              <p:nvPr/>
            </p:nvCxnSpPr>
            <p:spPr>
              <a:xfrm flipV="1">
                <a:off x="3789153" y="2762774"/>
                <a:ext cx="0" cy="1360235"/>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42" name="Straight Arrow Connector 141"/>
              <p:cNvCxnSpPr/>
              <p:nvPr/>
            </p:nvCxnSpPr>
            <p:spPr>
              <a:xfrm rot="5400000" flipV="1">
                <a:off x="4740711" y="3164064"/>
                <a:ext cx="0" cy="1908614"/>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sp>
            <p:nvSpPr>
              <p:cNvPr id="143" name="TextBox 142"/>
              <p:cNvSpPr txBox="1"/>
              <p:nvPr/>
            </p:nvSpPr>
            <p:spPr>
              <a:xfrm>
                <a:off x="3495764" y="2684988"/>
                <a:ext cx="301469" cy="223090"/>
              </a:xfrm>
              <a:prstGeom prst="rect">
                <a:avLst/>
              </a:prstGeom>
              <a:noFill/>
            </p:spPr>
            <p:txBody>
              <a:bodyPr wrap="square" rtlCol="0">
                <a:spAutoFit/>
              </a:bodyPr>
              <a:lstStyle/>
              <a:p>
                <a:r>
                  <a:rPr lang="en-US" sz="1333" dirty="0"/>
                  <a:t>x</a:t>
                </a:r>
                <a:r>
                  <a:rPr lang="en-US" sz="1333" baseline="-25000" dirty="0"/>
                  <a:t>2</a:t>
                </a:r>
                <a:endParaRPr lang="en-US" sz="1333" dirty="0"/>
              </a:p>
            </p:txBody>
          </p:sp>
          <p:sp>
            <p:nvSpPr>
              <p:cNvPr id="144" name="TextBox 143"/>
              <p:cNvSpPr txBox="1"/>
              <p:nvPr/>
            </p:nvSpPr>
            <p:spPr>
              <a:xfrm>
                <a:off x="5577358" y="4087471"/>
                <a:ext cx="301469" cy="223090"/>
              </a:xfrm>
              <a:prstGeom prst="rect">
                <a:avLst/>
              </a:prstGeom>
              <a:noFill/>
            </p:spPr>
            <p:txBody>
              <a:bodyPr wrap="square" rtlCol="0">
                <a:spAutoFit/>
              </a:bodyPr>
              <a:lstStyle/>
              <a:p>
                <a:r>
                  <a:rPr lang="en-US" sz="1333" dirty="0"/>
                  <a:t>x</a:t>
                </a:r>
                <a:r>
                  <a:rPr lang="en-US" sz="1333" baseline="-25000" dirty="0"/>
                  <a:t>1</a:t>
                </a:r>
                <a:endParaRPr lang="en-US" sz="1333" dirty="0"/>
              </a:p>
            </p:txBody>
          </p:sp>
          <p:sp>
            <p:nvSpPr>
              <p:cNvPr id="145" name="Flowchart: Connector 144"/>
              <p:cNvSpPr/>
              <p:nvPr/>
            </p:nvSpPr>
            <p:spPr>
              <a:xfrm>
                <a:off x="3954428" y="3375539"/>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6" name="Flowchart: Connector 145"/>
              <p:cNvSpPr/>
              <p:nvPr/>
            </p:nvSpPr>
            <p:spPr>
              <a:xfrm>
                <a:off x="3935783" y="3620360"/>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7" name="Flowchart: Connector 146"/>
              <p:cNvSpPr/>
              <p:nvPr/>
            </p:nvSpPr>
            <p:spPr>
              <a:xfrm>
                <a:off x="4209727" y="3601963"/>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8" name="Flowchart: Connector 147"/>
              <p:cNvSpPr/>
              <p:nvPr/>
            </p:nvSpPr>
            <p:spPr>
              <a:xfrm>
                <a:off x="4259926" y="3838291"/>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9" name="Flowchart: Connector 148"/>
              <p:cNvSpPr/>
              <p:nvPr/>
            </p:nvSpPr>
            <p:spPr>
              <a:xfrm>
                <a:off x="4008931" y="3853858"/>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0" name="Flowchart: Connector 149"/>
              <p:cNvSpPr/>
              <p:nvPr/>
            </p:nvSpPr>
            <p:spPr>
              <a:xfrm>
                <a:off x="4377535" y="3334501"/>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1" name="Flowchart: Connector 150"/>
              <p:cNvSpPr/>
              <p:nvPr/>
            </p:nvSpPr>
            <p:spPr>
              <a:xfrm>
                <a:off x="4152356" y="3299122"/>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2" name="Flowchart: Connector 151"/>
              <p:cNvSpPr/>
              <p:nvPr/>
            </p:nvSpPr>
            <p:spPr>
              <a:xfrm>
                <a:off x="4512354" y="3603377"/>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3" name="Flowchart: Connector 152"/>
              <p:cNvSpPr/>
              <p:nvPr/>
            </p:nvSpPr>
            <p:spPr>
              <a:xfrm>
                <a:off x="4536737" y="3831215"/>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4" name="Flowchart: Connector 153"/>
              <p:cNvSpPr/>
              <p:nvPr/>
            </p:nvSpPr>
            <p:spPr>
              <a:xfrm>
                <a:off x="3961599" y="3068454"/>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5" name="Oval 154"/>
              <p:cNvSpPr/>
              <p:nvPr/>
            </p:nvSpPr>
            <p:spPr>
              <a:xfrm>
                <a:off x="5331318" y="2713251"/>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6" name="Oval 155"/>
              <p:cNvSpPr/>
              <p:nvPr/>
            </p:nvSpPr>
            <p:spPr>
              <a:xfrm>
                <a:off x="4899605" y="2788254"/>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7" name="Oval 156"/>
              <p:cNvSpPr/>
              <p:nvPr/>
            </p:nvSpPr>
            <p:spPr>
              <a:xfrm>
                <a:off x="5190761" y="2846273"/>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8" name="Oval 157"/>
              <p:cNvSpPr/>
              <p:nvPr/>
            </p:nvSpPr>
            <p:spPr>
              <a:xfrm>
                <a:off x="5034427" y="3040149"/>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9" name="Oval 158"/>
              <p:cNvSpPr/>
              <p:nvPr/>
            </p:nvSpPr>
            <p:spPr>
              <a:xfrm>
                <a:off x="5189326" y="3294874"/>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0" name="Oval 159"/>
              <p:cNvSpPr/>
              <p:nvPr/>
            </p:nvSpPr>
            <p:spPr>
              <a:xfrm>
                <a:off x="5249565" y="3048640"/>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1" name="Oval 160"/>
              <p:cNvSpPr/>
              <p:nvPr/>
            </p:nvSpPr>
            <p:spPr>
              <a:xfrm>
                <a:off x="4757614" y="2979298"/>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2" name="Oval 161"/>
              <p:cNvSpPr/>
              <p:nvPr/>
            </p:nvSpPr>
            <p:spPr>
              <a:xfrm>
                <a:off x="5410201" y="2909955"/>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3" name="Oval 162"/>
              <p:cNvSpPr/>
              <p:nvPr/>
            </p:nvSpPr>
            <p:spPr>
              <a:xfrm>
                <a:off x="5434584" y="3231192"/>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4" name="Oval 163"/>
              <p:cNvSpPr/>
              <p:nvPr/>
            </p:nvSpPr>
            <p:spPr>
              <a:xfrm>
                <a:off x="4908211" y="3246759"/>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5" name="Oval 164"/>
              <p:cNvSpPr/>
              <p:nvPr/>
            </p:nvSpPr>
            <p:spPr>
              <a:xfrm>
                <a:off x="5407333" y="3509977"/>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6" name="TextBox 165"/>
              <p:cNvSpPr txBox="1"/>
              <p:nvPr/>
            </p:nvSpPr>
            <p:spPr>
              <a:xfrm>
                <a:off x="3808135" y="2781180"/>
                <a:ext cx="363173" cy="253915"/>
              </a:xfrm>
              <a:prstGeom prst="rect">
                <a:avLst/>
              </a:prstGeom>
              <a:noFill/>
            </p:spPr>
            <p:txBody>
              <a:bodyPr wrap="square" rtlCol="0">
                <a:spAutoFit/>
              </a:bodyPr>
              <a:lstStyle/>
              <a:p>
                <a:r>
                  <a:rPr lang="en-US" sz="1600" b="1" dirty="0"/>
                  <a:t>-1</a:t>
                </a:r>
              </a:p>
            </p:txBody>
          </p:sp>
          <p:sp>
            <p:nvSpPr>
              <p:cNvPr id="167" name="TextBox 166"/>
              <p:cNvSpPr txBox="1"/>
              <p:nvPr/>
            </p:nvSpPr>
            <p:spPr>
              <a:xfrm>
                <a:off x="5562232" y="3306198"/>
                <a:ext cx="388684" cy="253915"/>
              </a:xfrm>
              <a:prstGeom prst="rect">
                <a:avLst/>
              </a:prstGeom>
              <a:noFill/>
            </p:spPr>
            <p:txBody>
              <a:bodyPr wrap="square" rtlCol="0">
                <a:spAutoFit/>
              </a:bodyPr>
              <a:lstStyle/>
              <a:p>
                <a:r>
                  <a:rPr lang="en-US" sz="1600" b="1" dirty="0"/>
                  <a:t>+1</a:t>
                </a:r>
              </a:p>
            </p:txBody>
          </p:sp>
          <p:cxnSp>
            <p:nvCxnSpPr>
              <p:cNvPr id="168" name="Straight Arrow Connector 167"/>
              <p:cNvCxnSpPr/>
              <p:nvPr/>
            </p:nvCxnSpPr>
            <p:spPr>
              <a:xfrm flipV="1">
                <a:off x="6334965" y="2761360"/>
                <a:ext cx="0" cy="1360235"/>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p:nvPr/>
            </p:nvCxnSpPr>
            <p:spPr>
              <a:xfrm rot="5400000" flipV="1">
                <a:off x="7286524" y="3162650"/>
                <a:ext cx="0" cy="1908614"/>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sp>
            <p:nvSpPr>
              <p:cNvPr id="170" name="TextBox 169"/>
              <p:cNvSpPr txBox="1"/>
              <p:nvPr/>
            </p:nvSpPr>
            <p:spPr>
              <a:xfrm>
                <a:off x="6052086" y="2683574"/>
                <a:ext cx="301469" cy="223090"/>
              </a:xfrm>
              <a:prstGeom prst="rect">
                <a:avLst/>
              </a:prstGeom>
              <a:noFill/>
            </p:spPr>
            <p:txBody>
              <a:bodyPr wrap="square" rtlCol="0">
                <a:spAutoFit/>
              </a:bodyPr>
              <a:lstStyle/>
              <a:p>
                <a:r>
                  <a:rPr lang="en-US" sz="1333" dirty="0"/>
                  <a:t>x</a:t>
                </a:r>
                <a:r>
                  <a:rPr lang="en-US" sz="1333" baseline="-25000" dirty="0"/>
                  <a:t>2</a:t>
                </a:r>
                <a:endParaRPr lang="en-US" sz="1333" dirty="0"/>
              </a:p>
            </p:txBody>
          </p:sp>
          <p:sp>
            <p:nvSpPr>
              <p:cNvPr id="171" name="TextBox 170"/>
              <p:cNvSpPr txBox="1"/>
              <p:nvPr/>
            </p:nvSpPr>
            <p:spPr>
              <a:xfrm>
                <a:off x="8123170" y="4086057"/>
                <a:ext cx="301469" cy="223090"/>
              </a:xfrm>
              <a:prstGeom prst="rect">
                <a:avLst/>
              </a:prstGeom>
              <a:noFill/>
            </p:spPr>
            <p:txBody>
              <a:bodyPr wrap="square" rtlCol="0">
                <a:spAutoFit/>
              </a:bodyPr>
              <a:lstStyle/>
              <a:p>
                <a:r>
                  <a:rPr lang="en-US" sz="1333" dirty="0"/>
                  <a:t>x</a:t>
                </a:r>
                <a:r>
                  <a:rPr lang="en-US" sz="1333" baseline="-25000" dirty="0"/>
                  <a:t>1</a:t>
                </a:r>
                <a:endParaRPr lang="en-US" sz="1333" dirty="0"/>
              </a:p>
            </p:txBody>
          </p:sp>
          <p:sp>
            <p:nvSpPr>
              <p:cNvPr id="172" name="Flowchart: Connector 171"/>
              <p:cNvSpPr/>
              <p:nvPr/>
            </p:nvSpPr>
            <p:spPr>
              <a:xfrm>
                <a:off x="6500240" y="3374125"/>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73" name="Flowchart: Connector 172"/>
              <p:cNvSpPr/>
              <p:nvPr/>
            </p:nvSpPr>
            <p:spPr>
              <a:xfrm>
                <a:off x="6481595" y="3618946"/>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74" name="Flowchart: Connector 173"/>
              <p:cNvSpPr/>
              <p:nvPr/>
            </p:nvSpPr>
            <p:spPr>
              <a:xfrm>
                <a:off x="6755539" y="3600549"/>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75" name="Flowchart: Connector 174"/>
              <p:cNvSpPr/>
              <p:nvPr/>
            </p:nvSpPr>
            <p:spPr>
              <a:xfrm>
                <a:off x="6805738" y="3836877"/>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76" name="Flowchart: Connector 175"/>
              <p:cNvSpPr/>
              <p:nvPr/>
            </p:nvSpPr>
            <p:spPr>
              <a:xfrm>
                <a:off x="6554743" y="3852444"/>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77" name="Flowchart: Connector 176"/>
              <p:cNvSpPr/>
              <p:nvPr/>
            </p:nvSpPr>
            <p:spPr>
              <a:xfrm>
                <a:off x="6923347" y="3333087"/>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78" name="Flowchart: Connector 177"/>
              <p:cNvSpPr/>
              <p:nvPr/>
            </p:nvSpPr>
            <p:spPr>
              <a:xfrm>
                <a:off x="6698168" y="3297708"/>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79" name="Flowchart: Connector 178"/>
              <p:cNvSpPr/>
              <p:nvPr/>
            </p:nvSpPr>
            <p:spPr>
              <a:xfrm>
                <a:off x="7058167" y="3601963"/>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80" name="Flowchart: Connector 179"/>
              <p:cNvSpPr/>
              <p:nvPr/>
            </p:nvSpPr>
            <p:spPr>
              <a:xfrm>
                <a:off x="7082549" y="3829801"/>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81" name="Flowchart: Connector 180"/>
              <p:cNvSpPr/>
              <p:nvPr/>
            </p:nvSpPr>
            <p:spPr>
              <a:xfrm>
                <a:off x="6507411" y="3067040"/>
                <a:ext cx="114884" cy="11038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82" name="Oval 181"/>
              <p:cNvSpPr/>
              <p:nvPr/>
            </p:nvSpPr>
            <p:spPr>
              <a:xfrm>
                <a:off x="7877130" y="2711837"/>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83" name="Oval 182"/>
              <p:cNvSpPr/>
              <p:nvPr/>
            </p:nvSpPr>
            <p:spPr>
              <a:xfrm>
                <a:off x="7445417" y="2786840"/>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84" name="Oval 183"/>
              <p:cNvSpPr/>
              <p:nvPr/>
            </p:nvSpPr>
            <p:spPr>
              <a:xfrm>
                <a:off x="7736573" y="2844859"/>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85" name="Oval 184"/>
              <p:cNvSpPr/>
              <p:nvPr/>
            </p:nvSpPr>
            <p:spPr>
              <a:xfrm>
                <a:off x="7580239" y="3038735"/>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86" name="Oval 185"/>
              <p:cNvSpPr/>
              <p:nvPr/>
            </p:nvSpPr>
            <p:spPr>
              <a:xfrm>
                <a:off x="7735138" y="3293460"/>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87" name="Oval 186"/>
              <p:cNvSpPr/>
              <p:nvPr/>
            </p:nvSpPr>
            <p:spPr>
              <a:xfrm>
                <a:off x="7795377" y="3047226"/>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88" name="Oval 187"/>
              <p:cNvSpPr/>
              <p:nvPr/>
            </p:nvSpPr>
            <p:spPr>
              <a:xfrm>
                <a:off x="7303426" y="2977884"/>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89" name="Oval 188"/>
              <p:cNvSpPr/>
              <p:nvPr/>
            </p:nvSpPr>
            <p:spPr>
              <a:xfrm>
                <a:off x="7956014" y="2908541"/>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90" name="Oval 189"/>
              <p:cNvSpPr/>
              <p:nvPr/>
            </p:nvSpPr>
            <p:spPr>
              <a:xfrm>
                <a:off x="7980396" y="3229778"/>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91" name="Oval 190"/>
              <p:cNvSpPr/>
              <p:nvPr/>
            </p:nvSpPr>
            <p:spPr>
              <a:xfrm>
                <a:off x="7454023" y="3245345"/>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97" name="Oval 196"/>
              <p:cNvSpPr/>
              <p:nvPr/>
            </p:nvSpPr>
            <p:spPr>
              <a:xfrm>
                <a:off x="7953145" y="3508563"/>
                <a:ext cx="114884" cy="11335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98" name="TextBox 197"/>
              <p:cNvSpPr txBox="1"/>
              <p:nvPr/>
            </p:nvSpPr>
            <p:spPr>
              <a:xfrm>
                <a:off x="6353947" y="2779766"/>
                <a:ext cx="406449" cy="253915"/>
              </a:xfrm>
              <a:prstGeom prst="rect">
                <a:avLst/>
              </a:prstGeom>
              <a:noFill/>
            </p:spPr>
            <p:txBody>
              <a:bodyPr wrap="square" rtlCol="0">
                <a:spAutoFit/>
              </a:bodyPr>
              <a:lstStyle/>
              <a:p>
                <a:r>
                  <a:rPr lang="en-US" sz="1600" b="1" dirty="0"/>
                  <a:t>-1</a:t>
                </a:r>
              </a:p>
            </p:txBody>
          </p:sp>
          <p:sp>
            <p:nvSpPr>
              <p:cNvPr id="199" name="TextBox 198"/>
              <p:cNvSpPr txBox="1"/>
              <p:nvPr/>
            </p:nvSpPr>
            <p:spPr>
              <a:xfrm>
                <a:off x="8108044" y="3304784"/>
                <a:ext cx="388684" cy="253915"/>
              </a:xfrm>
              <a:prstGeom prst="rect">
                <a:avLst/>
              </a:prstGeom>
              <a:noFill/>
            </p:spPr>
            <p:txBody>
              <a:bodyPr wrap="square" rtlCol="0">
                <a:spAutoFit/>
              </a:bodyPr>
              <a:lstStyle/>
              <a:p>
                <a:r>
                  <a:rPr lang="en-US" sz="1600" b="1" dirty="0"/>
                  <a:t>+1</a:t>
                </a:r>
              </a:p>
            </p:txBody>
          </p:sp>
          <p:cxnSp>
            <p:nvCxnSpPr>
              <p:cNvPr id="200" name="Straight Connector 199"/>
              <p:cNvCxnSpPr/>
              <p:nvPr/>
            </p:nvCxnSpPr>
            <p:spPr>
              <a:xfrm>
                <a:off x="1881923" y="2731649"/>
                <a:ext cx="576572" cy="1377215"/>
              </a:xfrm>
              <a:prstGeom prst="line">
                <a:avLst/>
              </a:prstGeom>
              <a:ln/>
            </p:spPr>
            <p:style>
              <a:lnRef idx="3">
                <a:schemeClr val="accent6"/>
              </a:lnRef>
              <a:fillRef idx="0">
                <a:schemeClr val="accent6"/>
              </a:fillRef>
              <a:effectRef idx="2">
                <a:schemeClr val="accent6"/>
              </a:effectRef>
              <a:fontRef idx="minor">
                <a:schemeClr val="tx1"/>
              </a:fontRef>
            </p:style>
          </p:cxnSp>
          <p:cxnSp>
            <p:nvCxnSpPr>
              <p:cNvPr id="201" name="Straight Connector 200"/>
              <p:cNvCxnSpPr/>
              <p:nvPr/>
            </p:nvCxnSpPr>
            <p:spPr>
              <a:xfrm>
                <a:off x="7131311" y="2578813"/>
                <a:ext cx="352827" cy="1511372"/>
              </a:xfrm>
              <a:prstGeom prst="line">
                <a:avLst/>
              </a:prstGeom>
              <a:ln/>
            </p:spPr>
            <p:style>
              <a:lnRef idx="3">
                <a:schemeClr val="accent6"/>
              </a:lnRef>
              <a:fillRef idx="0">
                <a:schemeClr val="accent6"/>
              </a:fillRef>
              <a:effectRef idx="2">
                <a:schemeClr val="accent6"/>
              </a:effectRef>
              <a:fontRef idx="minor">
                <a:schemeClr val="tx1"/>
              </a:fontRef>
            </p:style>
          </p:cxnSp>
          <p:cxnSp>
            <p:nvCxnSpPr>
              <p:cNvPr id="202" name="Straight Connector 201"/>
              <p:cNvCxnSpPr/>
              <p:nvPr/>
            </p:nvCxnSpPr>
            <p:spPr>
              <a:xfrm>
                <a:off x="4291478" y="2791084"/>
                <a:ext cx="963822" cy="1284666"/>
              </a:xfrm>
              <a:prstGeom prst="line">
                <a:avLst/>
              </a:prstGeom>
              <a:ln/>
            </p:spPr>
            <p:style>
              <a:lnRef idx="3">
                <a:schemeClr val="accent6"/>
              </a:lnRef>
              <a:fillRef idx="0">
                <a:schemeClr val="accent6"/>
              </a:fillRef>
              <a:effectRef idx="2">
                <a:schemeClr val="accent6"/>
              </a:effectRef>
              <a:fontRef idx="minor">
                <a:schemeClr val="tx1"/>
              </a:fontRef>
            </p:style>
          </p:cxnSp>
          <p:cxnSp>
            <p:nvCxnSpPr>
              <p:cNvPr id="203" name="Straight Connector 202"/>
              <p:cNvCxnSpPr/>
              <p:nvPr/>
            </p:nvCxnSpPr>
            <p:spPr>
              <a:xfrm>
                <a:off x="1845789" y="2740211"/>
                <a:ext cx="576572" cy="1377215"/>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a:off x="1918093" y="2725751"/>
                <a:ext cx="576572" cy="1377215"/>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a:off x="4421282" y="2693718"/>
                <a:ext cx="963822" cy="1284666"/>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a:off x="4143314" y="2875751"/>
                <a:ext cx="963822" cy="1284666"/>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a:off x="7188371" y="2570868"/>
                <a:ext cx="352827" cy="1511372"/>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a:off x="7072086" y="2593259"/>
                <a:ext cx="352827" cy="1511372"/>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9" name="Straight Arrow Connector 208"/>
              <p:cNvCxnSpPr/>
              <p:nvPr/>
            </p:nvCxnSpPr>
            <p:spPr>
              <a:xfrm flipV="1">
                <a:off x="1381032" y="2755699"/>
                <a:ext cx="0" cy="1360235"/>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10" name="Straight Arrow Connector 209"/>
              <p:cNvCxnSpPr/>
              <p:nvPr/>
            </p:nvCxnSpPr>
            <p:spPr>
              <a:xfrm rot="5400000" flipV="1">
                <a:off x="2332590" y="3156987"/>
                <a:ext cx="0" cy="1908614"/>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11" name="Straight Arrow Connector 210"/>
              <p:cNvCxnSpPr/>
              <p:nvPr/>
            </p:nvCxnSpPr>
            <p:spPr>
              <a:xfrm flipV="1">
                <a:off x="3789154" y="2762775"/>
                <a:ext cx="0" cy="1360235"/>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p:nvPr/>
            </p:nvCxnSpPr>
            <p:spPr>
              <a:xfrm rot="5400000" flipV="1">
                <a:off x="4740712" y="3164064"/>
                <a:ext cx="0" cy="1908614"/>
              </a:xfrm>
              <a:prstGeom prst="straightConnector1">
                <a:avLst/>
              </a:prstGeom>
              <a:ln w="15875">
                <a:solidFill>
                  <a:schemeClr val="accent2"/>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flipV="1">
                <a:off x="6334965" y="2761360"/>
                <a:ext cx="0" cy="1360235"/>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214" name="Straight Arrow Connector 213"/>
              <p:cNvCxnSpPr/>
              <p:nvPr/>
            </p:nvCxnSpPr>
            <p:spPr>
              <a:xfrm rot="5400000" flipV="1">
                <a:off x="7286525" y="3162651"/>
                <a:ext cx="0" cy="1908614"/>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215" name="Straight Arrow Connector 214"/>
              <p:cNvCxnSpPr/>
              <p:nvPr/>
            </p:nvCxnSpPr>
            <p:spPr>
              <a:xfrm flipV="1">
                <a:off x="1381033" y="2755699"/>
                <a:ext cx="0" cy="1360235"/>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216" name="Straight Arrow Connector 215"/>
              <p:cNvCxnSpPr/>
              <p:nvPr/>
            </p:nvCxnSpPr>
            <p:spPr>
              <a:xfrm rot="5400000" flipV="1">
                <a:off x="2332591" y="3156987"/>
                <a:ext cx="0" cy="1908614"/>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217" name="Straight Arrow Connector 216"/>
              <p:cNvCxnSpPr/>
              <p:nvPr/>
            </p:nvCxnSpPr>
            <p:spPr>
              <a:xfrm flipV="1">
                <a:off x="3789155" y="2762776"/>
                <a:ext cx="0" cy="1360235"/>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218" name="Straight Arrow Connector 217"/>
              <p:cNvCxnSpPr/>
              <p:nvPr/>
            </p:nvCxnSpPr>
            <p:spPr>
              <a:xfrm rot="5400000" flipV="1">
                <a:off x="4740713" y="3164064"/>
                <a:ext cx="0" cy="1908614"/>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grpSp>
        <p:cxnSp>
          <p:nvCxnSpPr>
            <p:cNvPr id="108" name="Straight Arrow Connector 107"/>
            <p:cNvCxnSpPr/>
            <p:nvPr/>
          </p:nvCxnSpPr>
          <p:spPr>
            <a:xfrm flipV="1">
              <a:off x="4194974" y="2465849"/>
              <a:ext cx="134343" cy="95342"/>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4119824" y="2230735"/>
              <a:ext cx="783772" cy="223090"/>
            </a:xfrm>
            <a:prstGeom prst="rect">
              <a:avLst/>
            </a:prstGeom>
            <a:noFill/>
          </p:spPr>
          <p:txBody>
            <a:bodyPr wrap="square" rtlCol="0">
              <a:spAutoFit/>
            </a:bodyPr>
            <a:lstStyle/>
            <a:p>
              <a:r>
                <a:rPr lang="en-US" sz="1333" dirty="0">
                  <a:latin typeface="Source Sans Pro" panose="020B0604020202020204" charset="0"/>
                </a:rPr>
                <a:t>margin</a:t>
              </a:r>
            </a:p>
          </p:txBody>
        </p:sp>
      </p:grpSp>
    </p:spTree>
    <p:extLst>
      <p:ext uri="{BB962C8B-B14F-4D97-AF65-F5344CB8AC3E}">
        <p14:creationId xmlns:p14="http://schemas.microsoft.com/office/powerpoint/2010/main" val="2713598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Maximal Margin Classifier</a:t>
            </a:r>
          </a:p>
        </p:txBody>
      </p:sp>
      <p:sp>
        <p:nvSpPr>
          <p:cNvPr id="3" name="Content Placeholder 2"/>
          <p:cNvSpPr>
            <a:spLocks noGrp="1"/>
          </p:cNvSpPr>
          <p:nvPr>
            <p:ph idx="1"/>
          </p:nvPr>
        </p:nvSpPr>
        <p:spPr/>
        <p:txBody>
          <a:bodyPr/>
          <a:lstStyle/>
          <a:p>
            <a:r>
              <a:rPr lang="en-US" dirty="0"/>
              <a:t>How is it constructed?  By solving an optimization problem that finds w and b such that the margin in maximized.</a:t>
            </a:r>
          </a:p>
          <a:p>
            <a:endParaRPr lang="en-US" dirty="0"/>
          </a:p>
          <a:p>
            <a:r>
              <a:rPr lang="en-US" dirty="0"/>
              <a:t>It turns out that the solution depends only on the support vectors and not on the entire training datasets.</a:t>
            </a:r>
          </a:p>
          <a:p>
            <a:pPr marL="0" indent="0">
              <a:buNone/>
            </a:pPr>
            <a:r>
              <a:rPr lang="en-US" dirty="0"/>
              <a:t>   </a:t>
            </a:r>
          </a:p>
        </p:txBody>
      </p:sp>
    </p:spTree>
    <p:extLst>
      <p:ext uri="{BB962C8B-B14F-4D97-AF65-F5344CB8AC3E}">
        <p14:creationId xmlns:p14="http://schemas.microsoft.com/office/powerpoint/2010/main" val="1883274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4" name="Title 3"/>
          <p:cNvSpPr>
            <a:spLocks noGrp="1"/>
          </p:cNvSpPr>
          <p:nvPr>
            <p:ph type="title"/>
          </p:nvPr>
        </p:nvSpPr>
        <p:spPr/>
        <p:txBody>
          <a:bodyPr/>
          <a:lstStyle/>
          <a:p>
            <a:r>
              <a:rPr lang="es" b="1" dirty="0">
                <a:ea typeface="Source Sans Pro"/>
                <a:cs typeface="Source Sans Pro"/>
                <a:sym typeface="Source Sans Pro"/>
              </a:rPr>
              <a:t>Support Vectors for Maximal Margin Classifier</a:t>
            </a:r>
            <a:endParaRPr lang="en-US" dirty="0"/>
          </a:p>
        </p:txBody>
      </p:sp>
      <p:sp>
        <p:nvSpPr>
          <p:cNvPr id="3" name="Content Placeholder 2"/>
          <p:cNvSpPr>
            <a:spLocks noGrp="1"/>
          </p:cNvSpPr>
          <p:nvPr>
            <p:ph idx="1"/>
          </p:nvPr>
        </p:nvSpPr>
        <p:spPr>
          <a:xfrm>
            <a:off x="838200" y="1825625"/>
            <a:ext cx="5902081" cy="4351338"/>
          </a:xfrm>
        </p:spPr>
        <p:txBody>
          <a:bodyPr>
            <a:normAutofit fontScale="92500"/>
          </a:bodyPr>
          <a:lstStyle/>
          <a:p>
            <a:pPr marL="512230" indent="-342900">
              <a:lnSpc>
                <a:spcPct val="110000"/>
              </a:lnSpc>
              <a:spcBef>
                <a:spcPts val="1333"/>
              </a:spcBef>
              <a:buSzPct val="100000"/>
            </a:pPr>
            <a:r>
              <a:rPr lang="en-US" sz="2400" dirty="0">
                <a:ea typeface="Source Sans Pro"/>
                <a:cs typeface="Source Sans Pro"/>
                <a:sym typeface="Source Sans Pro"/>
              </a:rPr>
              <a:t>Support vectors are the training observations that lie on the dashed lines (or the margin boundaries).</a:t>
            </a:r>
          </a:p>
          <a:p>
            <a:pPr marL="512230" indent="-342900">
              <a:lnSpc>
                <a:spcPct val="110000"/>
              </a:lnSpc>
              <a:spcBef>
                <a:spcPts val="1333"/>
              </a:spcBef>
              <a:buSzPct val="100000"/>
            </a:pPr>
            <a:r>
              <a:rPr lang="en-US" sz="2400" dirty="0">
                <a:ea typeface="Source Sans Pro"/>
                <a:cs typeface="Source Sans Pro"/>
                <a:sym typeface="Source Sans Pro"/>
              </a:rPr>
              <a:t>They support (fully determine) the maximal margin hyperplane.</a:t>
            </a:r>
          </a:p>
          <a:p>
            <a:pPr marL="512230" indent="-342900">
              <a:lnSpc>
                <a:spcPct val="110000"/>
              </a:lnSpc>
              <a:spcBef>
                <a:spcPts val="1333"/>
              </a:spcBef>
              <a:buSzPct val="100000"/>
            </a:pPr>
            <a:r>
              <a:rPr lang="en-US" sz="2400" dirty="0">
                <a:ea typeface="Source Sans Pro"/>
                <a:cs typeface="Source Sans Pro"/>
                <a:sym typeface="Source Sans Pro"/>
              </a:rPr>
              <a:t>Adding more training examples beyond the margin boundaries would not affect the separating hyperplane.</a:t>
            </a:r>
          </a:p>
          <a:p>
            <a:pPr marL="512230" indent="-342900">
              <a:lnSpc>
                <a:spcPct val="110000"/>
              </a:lnSpc>
              <a:spcBef>
                <a:spcPts val="1333"/>
              </a:spcBef>
              <a:buSzPct val="100000"/>
            </a:pPr>
            <a:r>
              <a:rPr lang="en-US" sz="2400" dirty="0">
                <a:ea typeface="Source Sans Pro"/>
                <a:cs typeface="Source Sans Pro"/>
                <a:sym typeface="Source Sans Pro"/>
              </a:rPr>
              <a:t>If the support vectors were moved, then the separating hyperplane would move as well.</a:t>
            </a:r>
            <a:endParaRPr lang="en-US" dirty="0">
              <a:latin typeface="Source Sans Pro"/>
              <a:ea typeface="Source Sans Pro"/>
              <a:cs typeface="Source Sans Pro"/>
              <a:sym typeface="Source Sans Pro"/>
            </a:endParaRPr>
          </a:p>
          <a:p>
            <a:pPr marL="169329">
              <a:lnSpc>
                <a:spcPct val="140000"/>
              </a:lnSpc>
              <a:spcBef>
                <a:spcPts val="1333"/>
              </a:spcBef>
              <a:buClr>
                <a:srgbClr val="003B4C"/>
              </a:buClr>
              <a:buSzPct val="100000"/>
            </a:pPr>
            <a:endParaRPr lang="en-US" dirty="0">
              <a:latin typeface="Source Sans Pro"/>
              <a:ea typeface="Source Sans Pro"/>
              <a:cs typeface="Source Sans Pro"/>
              <a:sym typeface="Source Sans Pro"/>
            </a:endParaRPr>
          </a:p>
        </p:txBody>
      </p:sp>
      <p:sp>
        <p:nvSpPr>
          <p:cNvPr id="112" name="Google Shape;193;p44 2"/>
          <p:cNvSpPr txBox="1"/>
          <p:nvPr/>
        </p:nvSpPr>
        <p:spPr>
          <a:xfrm>
            <a:off x="2848657" y="3799821"/>
            <a:ext cx="1792112" cy="773537"/>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grpSp>
        <p:nvGrpSpPr>
          <p:cNvPr id="2" name="Group 1"/>
          <p:cNvGrpSpPr/>
          <p:nvPr/>
        </p:nvGrpSpPr>
        <p:grpSpPr>
          <a:xfrm>
            <a:off x="6803889" y="2130168"/>
            <a:ext cx="4549911" cy="3153371"/>
            <a:chOff x="4931467" y="885480"/>
            <a:chExt cx="3412433" cy="2365028"/>
          </a:xfrm>
        </p:grpSpPr>
        <p:cxnSp>
          <p:nvCxnSpPr>
            <p:cNvPr id="204" name="Straight Connector 203"/>
            <p:cNvCxnSpPr/>
            <p:nvPr/>
          </p:nvCxnSpPr>
          <p:spPr>
            <a:xfrm>
              <a:off x="6016711" y="885480"/>
              <a:ext cx="1466361" cy="2038104"/>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44" name="Flowchart: Connector 143"/>
            <p:cNvSpPr/>
            <p:nvPr/>
          </p:nvSpPr>
          <p:spPr>
            <a:xfrm>
              <a:off x="5849363" y="188145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5" name="Flowchart: Connector 144"/>
            <p:cNvSpPr/>
            <p:nvPr/>
          </p:nvSpPr>
          <p:spPr>
            <a:xfrm>
              <a:off x="5278071" y="235558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6" name="Flowchart: Connector 145"/>
            <p:cNvSpPr/>
            <p:nvPr/>
          </p:nvSpPr>
          <p:spPr>
            <a:xfrm>
              <a:off x="5694850" y="232639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7" name="Flowchart: Connector 146"/>
            <p:cNvSpPr/>
            <p:nvPr/>
          </p:nvSpPr>
          <p:spPr>
            <a:xfrm>
              <a:off x="5771223" y="270132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8" name="Flowchart: Connector 147"/>
            <p:cNvSpPr/>
            <p:nvPr/>
          </p:nvSpPr>
          <p:spPr>
            <a:xfrm>
              <a:off x="5389359" y="272602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9" name="Flowchart: Connector 148"/>
            <p:cNvSpPr/>
            <p:nvPr/>
          </p:nvSpPr>
          <p:spPr>
            <a:xfrm>
              <a:off x="5683454" y="168299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0" name="Flowchart: Connector 149"/>
            <p:cNvSpPr/>
            <p:nvPr/>
          </p:nvSpPr>
          <p:spPr>
            <a:xfrm>
              <a:off x="5607566" y="1845945"/>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1" name="Flowchart: Connector 150"/>
            <p:cNvSpPr/>
            <p:nvPr/>
          </p:nvSpPr>
          <p:spPr>
            <a:xfrm>
              <a:off x="6155268" y="2328641"/>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2" name="Flowchart: Connector 151"/>
            <p:cNvSpPr/>
            <p:nvPr/>
          </p:nvSpPr>
          <p:spPr>
            <a:xfrm>
              <a:off x="6192364" y="269010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3" name="Flowchart: Connector 152"/>
            <p:cNvSpPr/>
            <p:nvPr/>
          </p:nvSpPr>
          <p:spPr>
            <a:xfrm>
              <a:off x="5317348" y="147999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4" name="Oval 153"/>
            <p:cNvSpPr/>
            <p:nvPr/>
          </p:nvSpPr>
          <p:spPr>
            <a:xfrm>
              <a:off x="7401242" y="91646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5" name="Oval 154"/>
            <p:cNvSpPr/>
            <p:nvPr/>
          </p:nvSpPr>
          <p:spPr>
            <a:xfrm>
              <a:off x="6744433" y="1035460"/>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6" name="Oval 155"/>
            <p:cNvSpPr/>
            <p:nvPr/>
          </p:nvSpPr>
          <p:spPr>
            <a:xfrm>
              <a:off x="7187398" y="112750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7" name="Oval 156"/>
            <p:cNvSpPr/>
            <p:nvPr/>
          </p:nvSpPr>
          <p:spPr>
            <a:xfrm>
              <a:off x="6949551" y="1435088"/>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8" name="Oval 157"/>
            <p:cNvSpPr/>
            <p:nvPr/>
          </p:nvSpPr>
          <p:spPr>
            <a:xfrm>
              <a:off x="7185215" y="183920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9" name="Oval 158"/>
            <p:cNvSpPr/>
            <p:nvPr/>
          </p:nvSpPr>
          <p:spPr>
            <a:xfrm>
              <a:off x="7276863" y="144855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1" name="Oval 160"/>
            <p:cNvSpPr/>
            <p:nvPr/>
          </p:nvSpPr>
          <p:spPr>
            <a:xfrm>
              <a:off x="7521255" y="122853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2" name="Oval 161"/>
            <p:cNvSpPr/>
            <p:nvPr/>
          </p:nvSpPr>
          <p:spPr>
            <a:xfrm>
              <a:off x="7558351" y="173817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3" name="Oval 162"/>
            <p:cNvSpPr/>
            <p:nvPr/>
          </p:nvSpPr>
          <p:spPr>
            <a:xfrm>
              <a:off x="6843251" y="1743822"/>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4" name="Oval 163"/>
            <p:cNvSpPr/>
            <p:nvPr/>
          </p:nvSpPr>
          <p:spPr>
            <a:xfrm>
              <a:off x="7516891" y="2180463"/>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5" name="TextBox 164"/>
            <p:cNvSpPr txBox="1"/>
            <p:nvPr/>
          </p:nvSpPr>
          <p:spPr>
            <a:xfrm>
              <a:off x="4931467" y="2062462"/>
              <a:ext cx="552532" cy="253915"/>
            </a:xfrm>
            <a:prstGeom prst="rect">
              <a:avLst/>
            </a:prstGeom>
            <a:noFill/>
          </p:spPr>
          <p:txBody>
            <a:bodyPr wrap="square" rtlCol="0">
              <a:spAutoFit/>
            </a:bodyPr>
            <a:lstStyle/>
            <a:p>
              <a:r>
                <a:rPr lang="en-US" sz="1600" b="1" dirty="0"/>
                <a:t>-1</a:t>
              </a:r>
            </a:p>
          </p:txBody>
        </p:sp>
        <p:sp>
          <p:nvSpPr>
            <p:cNvPr id="166" name="TextBox 165"/>
            <p:cNvSpPr txBox="1"/>
            <p:nvPr/>
          </p:nvSpPr>
          <p:spPr>
            <a:xfrm>
              <a:off x="7752555" y="1857171"/>
              <a:ext cx="591345" cy="253915"/>
            </a:xfrm>
            <a:prstGeom prst="rect">
              <a:avLst/>
            </a:prstGeom>
            <a:noFill/>
          </p:spPr>
          <p:txBody>
            <a:bodyPr wrap="square" rtlCol="0">
              <a:spAutoFit/>
            </a:bodyPr>
            <a:lstStyle/>
            <a:p>
              <a:r>
                <a:rPr lang="en-US" sz="1600" b="1" dirty="0"/>
                <a:t>+1</a:t>
              </a:r>
            </a:p>
          </p:txBody>
        </p:sp>
        <p:cxnSp>
          <p:nvCxnSpPr>
            <p:cNvPr id="201" name="Straight Connector 200"/>
            <p:cNvCxnSpPr/>
            <p:nvPr/>
          </p:nvCxnSpPr>
          <p:spPr>
            <a:xfrm>
              <a:off x="5819226" y="1039950"/>
              <a:ext cx="1466361" cy="2038104"/>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a:off x="5593809" y="1174273"/>
              <a:ext cx="1466361" cy="2038104"/>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223" name="Picture 222"/>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7281975" y="3111500"/>
              <a:ext cx="814844" cy="139008"/>
            </a:xfrm>
            <a:prstGeom prst="rect">
              <a:avLst/>
            </a:prstGeom>
          </p:spPr>
        </p:pic>
        <p:sp>
          <p:nvSpPr>
            <p:cNvPr id="48" name="Flowchart: Connector 47"/>
            <p:cNvSpPr/>
            <p:nvPr/>
          </p:nvSpPr>
          <p:spPr>
            <a:xfrm>
              <a:off x="5849464" y="224242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49" name="Flowchart: Connector 48"/>
            <p:cNvSpPr/>
            <p:nvPr/>
          </p:nvSpPr>
          <p:spPr>
            <a:xfrm>
              <a:off x="5561500" y="205969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51" name="Oval 50"/>
            <p:cNvSpPr/>
            <p:nvPr/>
          </p:nvSpPr>
          <p:spPr>
            <a:xfrm>
              <a:off x="7601267" y="108791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2" name="Oval 51"/>
            <p:cNvSpPr/>
            <p:nvPr/>
          </p:nvSpPr>
          <p:spPr>
            <a:xfrm>
              <a:off x="6830158" y="1264060"/>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3" name="Oval 52"/>
            <p:cNvSpPr/>
            <p:nvPr/>
          </p:nvSpPr>
          <p:spPr>
            <a:xfrm>
              <a:off x="7139773" y="127990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4" name="Oval 53"/>
            <p:cNvSpPr/>
            <p:nvPr/>
          </p:nvSpPr>
          <p:spPr>
            <a:xfrm>
              <a:off x="7035276" y="1663688"/>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5" name="Oval 54"/>
            <p:cNvSpPr/>
            <p:nvPr/>
          </p:nvSpPr>
          <p:spPr>
            <a:xfrm>
              <a:off x="7270940" y="206780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6" name="Oval 55"/>
            <p:cNvSpPr/>
            <p:nvPr/>
          </p:nvSpPr>
          <p:spPr>
            <a:xfrm>
              <a:off x="7362588" y="167715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7" name="Oval 56"/>
            <p:cNvSpPr/>
            <p:nvPr/>
          </p:nvSpPr>
          <p:spPr>
            <a:xfrm>
              <a:off x="6766532" y="1519524"/>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8" name="Oval 57"/>
            <p:cNvSpPr/>
            <p:nvPr/>
          </p:nvSpPr>
          <p:spPr>
            <a:xfrm>
              <a:off x="7606980" y="145713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9" name="Oval 58"/>
            <p:cNvSpPr/>
            <p:nvPr/>
          </p:nvSpPr>
          <p:spPr>
            <a:xfrm>
              <a:off x="7644076" y="196677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61" name="Oval 60"/>
            <p:cNvSpPr/>
            <p:nvPr/>
          </p:nvSpPr>
          <p:spPr>
            <a:xfrm>
              <a:off x="7602616" y="2409063"/>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62" name="Flowchart: Connector 61"/>
            <p:cNvSpPr/>
            <p:nvPr/>
          </p:nvSpPr>
          <p:spPr>
            <a:xfrm>
              <a:off x="5382638" y="178620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3" name="Flowchart: Connector 62"/>
            <p:cNvSpPr/>
            <p:nvPr/>
          </p:nvSpPr>
          <p:spPr>
            <a:xfrm>
              <a:off x="5571025" y="26597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4" name="Flowchart: Connector 63"/>
            <p:cNvSpPr/>
            <p:nvPr/>
          </p:nvSpPr>
          <p:spPr>
            <a:xfrm>
              <a:off x="6295098" y="251082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5" name="Flowchart: Connector 64"/>
            <p:cNvSpPr/>
            <p:nvPr/>
          </p:nvSpPr>
          <p:spPr>
            <a:xfrm>
              <a:off x="5970384" y="242122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6" name="Flowchart: Connector 65"/>
            <p:cNvSpPr/>
            <p:nvPr/>
          </p:nvSpPr>
          <p:spPr>
            <a:xfrm>
              <a:off x="5835854" y="207352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7" name="Flowchart: Connector 66"/>
            <p:cNvSpPr/>
            <p:nvPr/>
          </p:nvSpPr>
          <p:spPr>
            <a:xfrm>
              <a:off x="5483741" y="21793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8" name="Flowchart: Connector 67"/>
            <p:cNvSpPr/>
            <p:nvPr/>
          </p:nvSpPr>
          <p:spPr>
            <a:xfrm>
              <a:off x="6031443" y="266201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9" name="Flowchart: Connector 68"/>
            <p:cNvSpPr/>
            <p:nvPr/>
          </p:nvSpPr>
          <p:spPr>
            <a:xfrm>
              <a:off x="5287489" y="255675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0" name="Flowchart: Connector 69"/>
            <p:cNvSpPr/>
            <p:nvPr/>
          </p:nvSpPr>
          <p:spPr>
            <a:xfrm>
              <a:off x="5193523" y="181336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1" name="Flowchart: Connector 70"/>
            <p:cNvSpPr/>
            <p:nvPr/>
          </p:nvSpPr>
          <p:spPr>
            <a:xfrm>
              <a:off x="5725639" y="257580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2" name="Flowchart: Connector 71"/>
            <p:cNvSpPr/>
            <p:nvPr/>
          </p:nvSpPr>
          <p:spPr>
            <a:xfrm>
              <a:off x="5437675" y="23930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3" name="Flowchart: Connector 72"/>
            <p:cNvSpPr/>
            <p:nvPr/>
          </p:nvSpPr>
          <p:spPr>
            <a:xfrm>
              <a:off x="5540891" y="1541145"/>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cxnSp>
          <p:nvCxnSpPr>
            <p:cNvPr id="74" name="Straight Arrow Connector 73"/>
            <p:cNvCxnSpPr/>
            <p:nvPr/>
          </p:nvCxnSpPr>
          <p:spPr>
            <a:xfrm flipV="1">
              <a:off x="5879585" y="1440855"/>
              <a:ext cx="204390" cy="151259"/>
            </a:xfrm>
            <a:prstGeom prst="straightConnector1">
              <a:avLst/>
            </a:prstGeom>
            <a:ln w="31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V="1">
              <a:off x="6241535" y="1459905"/>
              <a:ext cx="204390" cy="151259"/>
            </a:xfrm>
            <a:prstGeom prst="straightConnector1">
              <a:avLst/>
            </a:prstGeom>
            <a:ln w="31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V="1">
              <a:off x="6670160" y="2050455"/>
              <a:ext cx="204390" cy="151259"/>
            </a:xfrm>
            <a:prstGeom prst="straightConnector1">
              <a:avLst/>
            </a:prstGeom>
            <a:ln w="31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0" name="Flowchart: Connector 49"/>
            <p:cNvSpPr/>
            <p:nvPr/>
          </p:nvSpPr>
          <p:spPr>
            <a:xfrm>
              <a:off x="5826641" y="1541145"/>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60" name="Oval 159"/>
            <p:cNvSpPr/>
            <p:nvPr/>
          </p:nvSpPr>
          <p:spPr>
            <a:xfrm>
              <a:off x="6404582" y="1405224"/>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60" name="Oval 59"/>
            <p:cNvSpPr/>
            <p:nvPr/>
          </p:nvSpPr>
          <p:spPr>
            <a:xfrm>
              <a:off x="6833726" y="200099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grpSp>
    </p:spTree>
    <p:extLst>
      <p:ext uri="{BB962C8B-B14F-4D97-AF65-F5344CB8AC3E}">
        <p14:creationId xmlns:p14="http://schemas.microsoft.com/office/powerpoint/2010/main" val="3049443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SVM Derivation</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634587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Title 2"/>
          <p:cNvSpPr>
            <a:spLocks noGrp="1"/>
          </p:cNvSpPr>
          <p:nvPr>
            <p:ph type="title"/>
          </p:nvPr>
        </p:nvSpPr>
        <p:spPr/>
        <p:txBody>
          <a:bodyPr/>
          <a:lstStyle/>
          <a:p>
            <a:r>
              <a:rPr lang="en-US" b="1" dirty="0">
                <a:ea typeface="Source Sans Pro"/>
                <a:cs typeface="Source Sans Pro"/>
                <a:sym typeface="Source Sans Pro"/>
              </a:rPr>
              <a:t>Maximal Margin Classifier – Mathematical Formulation</a:t>
            </a:r>
            <a:endParaRPr lang="en-US" dirty="0"/>
          </a:p>
        </p:txBody>
      </p:sp>
      <p:sp>
        <p:nvSpPr>
          <p:cNvPr id="2" name="Content Placeholder 1"/>
          <p:cNvSpPr>
            <a:spLocks noGrp="1"/>
          </p:cNvSpPr>
          <p:nvPr>
            <p:ph idx="1"/>
          </p:nvPr>
        </p:nvSpPr>
        <p:spPr/>
        <p:txBody>
          <a:bodyPr>
            <a:normAutofit/>
          </a:bodyPr>
          <a:lstStyle/>
          <a:p>
            <a:pPr marL="169329">
              <a:lnSpc>
                <a:spcPct val="100000"/>
              </a:lnSpc>
              <a:spcBef>
                <a:spcPts val="1333"/>
              </a:spcBef>
              <a:buSzPct val="100000"/>
            </a:pPr>
            <a:r>
              <a:rPr lang="en-US" sz="2400" dirty="0">
                <a:ea typeface="Source Sans Pro"/>
                <a:cs typeface="Source Sans Pro"/>
                <a:sym typeface="Source Sans Pro"/>
              </a:rPr>
              <a:t>To construct the maximal margin classifier, we need to:</a:t>
            </a:r>
          </a:p>
          <a:p>
            <a:pPr marL="683679" indent="-514350">
              <a:lnSpc>
                <a:spcPct val="100000"/>
              </a:lnSpc>
              <a:spcBef>
                <a:spcPts val="1333"/>
              </a:spcBef>
              <a:buSzPct val="100000"/>
              <a:buFont typeface="+mj-lt"/>
              <a:buAutoNum type="arabicPeriod"/>
            </a:pPr>
            <a:r>
              <a:rPr lang="en-US" sz="2400" dirty="0">
                <a:ea typeface="Source Sans Pro"/>
                <a:cs typeface="Source Sans Pro"/>
                <a:sym typeface="Source Sans Pro"/>
              </a:rPr>
              <a:t>Express the distance from each training observation to a given hyperplane in terms of w and b.</a:t>
            </a:r>
          </a:p>
          <a:p>
            <a:pPr marL="683679" indent="-514350">
              <a:lnSpc>
                <a:spcPct val="100000"/>
              </a:lnSpc>
              <a:spcBef>
                <a:spcPts val="1333"/>
              </a:spcBef>
              <a:buSzPct val="100000"/>
              <a:buFont typeface="+mj-lt"/>
              <a:buAutoNum type="arabicPeriod"/>
            </a:pPr>
            <a:r>
              <a:rPr lang="en-US" sz="2400" dirty="0">
                <a:ea typeface="Source Sans Pro"/>
                <a:cs typeface="Source Sans Pro"/>
                <a:sym typeface="Source Sans Pro"/>
              </a:rPr>
              <a:t>Solve for w and b by maximizing the margin.</a:t>
            </a:r>
          </a:p>
          <a:p>
            <a:pPr marL="0" indent="0">
              <a:lnSpc>
                <a:spcPct val="100000"/>
              </a:lnSpc>
              <a:buNone/>
            </a:pPr>
            <a:endParaRPr lang="en-US" sz="2400" dirty="0"/>
          </a:p>
        </p:txBody>
      </p:sp>
    </p:spTree>
    <p:extLst>
      <p:ext uri="{BB962C8B-B14F-4D97-AF65-F5344CB8AC3E}">
        <p14:creationId xmlns:p14="http://schemas.microsoft.com/office/powerpoint/2010/main" val="4164420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Title 2"/>
          <p:cNvSpPr>
            <a:spLocks noGrp="1"/>
          </p:cNvSpPr>
          <p:nvPr>
            <p:ph type="title"/>
          </p:nvPr>
        </p:nvSpPr>
        <p:spPr/>
        <p:txBody>
          <a:bodyPr/>
          <a:lstStyle/>
          <a:p>
            <a:r>
              <a:rPr lang="en-US" b="1" dirty="0">
                <a:ea typeface="Source Sans Pro"/>
                <a:cs typeface="Source Sans Pro"/>
                <a:sym typeface="Source Sans Pro"/>
              </a:rPr>
              <a:t>Maximal Margin Classifier – Mathematical Formulation</a:t>
            </a:r>
            <a:endParaRPr lang="en-US" dirty="0"/>
          </a:p>
        </p:txBody>
      </p:sp>
      <p:sp>
        <p:nvSpPr>
          <p:cNvPr id="2" name="Content Placeholder 1"/>
          <p:cNvSpPr>
            <a:spLocks noGrp="1"/>
          </p:cNvSpPr>
          <p:nvPr>
            <p:ph idx="1"/>
          </p:nvPr>
        </p:nvSpPr>
        <p:spPr/>
        <p:txBody>
          <a:bodyPr>
            <a:normAutofit/>
          </a:bodyPr>
          <a:lstStyle/>
          <a:p>
            <a:pPr marL="169329">
              <a:lnSpc>
                <a:spcPct val="100000"/>
              </a:lnSpc>
              <a:spcBef>
                <a:spcPts val="1333"/>
              </a:spcBef>
              <a:buSzPct val="100000"/>
            </a:pPr>
            <a:r>
              <a:rPr lang="en-US" sz="2400" dirty="0">
                <a:ea typeface="Source Sans Pro"/>
                <a:cs typeface="Source Sans Pro"/>
                <a:sym typeface="Source Sans Pro"/>
              </a:rPr>
              <a:t>To construct the maximal margin classifier, we need to:</a:t>
            </a:r>
          </a:p>
          <a:p>
            <a:pPr marL="683679" indent="-514350">
              <a:lnSpc>
                <a:spcPct val="100000"/>
              </a:lnSpc>
              <a:spcBef>
                <a:spcPts val="1333"/>
              </a:spcBef>
              <a:buSzPct val="100000"/>
              <a:buFont typeface="+mj-lt"/>
              <a:buAutoNum type="arabicPeriod"/>
            </a:pPr>
            <a:r>
              <a:rPr lang="en-US" sz="2400" dirty="0">
                <a:ea typeface="Source Sans Pro"/>
                <a:cs typeface="Source Sans Pro"/>
                <a:sym typeface="Source Sans Pro"/>
              </a:rPr>
              <a:t>Express the distance from each training observation to a given hyperplane in terms of w and b.</a:t>
            </a:r>
          </a:p>
          <a:p>
            <a:pPr marL="683679" indent="-514350">
              <a:lnSpc>
                <a:spcPct val="100000"/>
              </a:lnSpc>
              <a:spcBef>
                <a:spcPts val="1333"/>
              </a:spcBef>
              <a:buSzPct val="100000"/>
              <a:buFont typeface="+mj-lt"/>
              <a:buAutoNum type="arabicPeriod"/>
            </a:pPr>
            <a:r>
              <a:rPr lang="en-US" sz="2400" dirty="0">
                <a:ea typeface="Source Sans Pro"/>
                <a:cs typeface="Source Sans Pro"/>
                <a:sym typeface="Source Sans Pro"/>
              </a:rPr>
              <a:t>Solve for w and b by maximizing the margin.</a:t>
            </a:r>
          </a:p>
          <a:p>
            <a:pPr marL="0" indent="0">
              <a:lnSpc>
                <a:spcPct val="100000"/>
              </a:lnSpc>
              <a:buNone/>
            </a:pPr>
            <a:endParaRPr lang="en-US" sz="2400" dirty="0"/>
          </a:p>
        </p:txBody>
      </p:sp>
      <p:sp>
        <p:nvSpPr>
          <p:cNvPr id="45" name="Content Placeholder 1"/>
          <p:cNvSpPr txBox="1">
            <a:spLocks/>
          </p:cNvSpPr>
          <p:nvPr/>
        </p:nvSpPr>
        <p:spPr>
          <a:xfrm>
            <a:off x="278363" y="4001294"/>
            <a:ext cx="7056183" cy="23106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69329" indent="0">
              <a:lnSpc>
                <a:spcPct val="100000"/>
              </a:lnSpc>
              <a:spcBef>
                <a:spcPts val="1333"/>
              </a:spcBef>
              <a:buSzPct val="100000"/>
              <a:buNone/>
            </a:pPr>
            <a:r>
              <a:rPr lang="en-US" sz="2400" dirty="0">
                <a:ea typeface="Source Sans Pro"/>
                <a:cs typeface="Source Sans Pro"/>
                <a:sym typeface="Source Sans Pro"/>
              </a:rPr>
              <a:t>The distance from  a training observation to a given hyperplane can be shown to be equal to:</a:t>
            </a:r>
          </a:p>
        </p:txBody>
      </p:sp>
      <p:sp>
        <p:nvSpPr>
          <p:cNvPr id="46" name="Google Shape;193;p44 1"/>
          <p:cNvSpPr txBox="1"/>
          <p:nvPr/>
        </p:nvSpPr>
        <p:spPr>
          <a:xfrm>
            <a:off x="1735931" y="4824154"/>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sp>
        <p:nvSpPr>
          <p:cNvPr id="47" name="Google Shape;193;p44 2"/>
          <p:cNvSpPr txBox="1"/>
          <p:nvPr/>
        </p:nvSpPr>
        <p:spPr>
          <a:xfrm>
            <a:off x="1763328" y="5002239"/>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cxnSp>
        <p:nvCxnSpPr>
          <p:cNvPr id="48" name="Straight Arrow Connector 47"/>
          <p:cNvCxnSpPr/>
          <p:nvPr/>
        </p:nvCxnSpPr>
        <p:spPr>
          <a:xfrm flipV="1">
            <a:off x="7607367" y="3818676"/>
            <a:ext cx="0" cy="2194560"/>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49" name="Straight Arrow Connector 48"/>
          <p:cNvCxnSpPr/>
          <p:nvPr/>
        </p:nvCxnSpPr>
        <p:spPr>
          <a:xfrm rot="5400000" flipV="1">
            <a:off x="9122119" y="4486626"/>
            <a:ext cx="0" cy="3038255"/>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sp>
        <p:nvSpPr>
          <p:cNvPr id="50" name="TextBox 49"/>
          <p:cNvSpPr txBox="1"/>
          <p:nvPr/>
        </p:nvSpPr>
        <p:spPr>
          <a:xfrm>
            <a:off x="7240718" y="3693179"/>
            <a:ext cx="479897" cy="297454"/>
          </a:xfrm>
          <a:prstGeom prst="rect">
            <a:avLst/>
          </a:prstGeom>
          <a:noFill/>
        </p:spPr>
        <p:txBody>
          <a:bodyPr wrap="square" rtlCol="0">
            <a:spAutoFit/>
          </a:bodyPr>
          <a:lstStyle/>
          <a:p>
            <a:r>
              <a:rPr lang="en-US" sz="1333" dirty="0"/>
              <a:t>x</a:t>
            </a:r>
            <a:r>
              <a:rPr lang="en-US" sz="1333" baseline="-25000" dirty="0"/>
              <a:t>2</a:t>
            </a:r>
            <a:endParaRPr lang="en-US" sz="1333" dirty="0"/>
          </a:p>
        </p:txBody>
      </p:sp>
      <p:sp>
        <p:nvSpPr>
          <p:cNvPr id="51" name="TextBox 50"/>
          <p:cNvSpPr txBox="1"/>
          <p:nvPr/>
        </p:nvSpPr>
        <p:spPr>
          <a:xfrm>
            <a:off x="10453948" y="5955900"/>
            <a:ext cx="479897" cy="297454"/>
          </a:xfrm>
          <a:prstGeom prst="rect">
            <a:avLst/>
          </a:prstGeom>
          <a:noFill/>
        </p:spPr>
        <p:txBody>
          <a:bodyPr wrap="square" rtlCol="0">
            <a:spAutoFit/>
          </a:bodyPr>
          <a:lstStyle/>
          <a:p>
            <a:r>
              <a:rPr lang="en-US" sz="1333" dirty="0"/>
              <a:t>x</a:t>
            </a:r>
            <a:r>
              <a:rPr lang="en-US" sz="1333" baseline="-25000" dirty="0"/>
              <a:t>1</a:t>
            </a:r>
            <a:endParaRPr lang="en-US" sz="1333" dirty="0"/>
          </a:p>
        </p:txBody>
      </p:sp>
      <p:cxnSp>
        <p:nvCxnSpPr>
          <p:cNvPr id="52" name="Straight Connector 51"/>
          <p:cNvCxnSpPr/>
          <p:nvPr/>
        </p:nvCxnSpPr>
        <p:spPr>
          <a:xfrm>
            <a:off x="8314236" y="3877603"/>
            <a:ext cx="1534273" cy="256032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53" name="Picture 52"/>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10007479" y="6249910"/>
            <a:ext cx="1267536" cy="216235"/>
          </a:xfrm>
          <a:prstGeom prst="rect">
            <a:avLst/>
          </a:prstGeom>
        </p:spPr>
      </p:pic>
      <p:pic>
        <p:nvPicPr>
          <p:cNvPr id="54" name="Picture 53"/>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9794421" y="4161911"/>
            <a:ext cx="955987" cy="268871"/>
          </a:xfrm>
          <a:prstGeom prst="rect">
            <a:avLst/>
          </a:prstGeom>
        </p:spPr>
      </p:pic>
      <p:cxnSp>
        <p:nvCxnSpPr>
          <p:cNvPr id="55" name="Straight Connector 54"/>
          <p:cNvCxnSpPr/>
          <p:nvPr/>
        </p:nvCxnSpPr>
        <p:spPr>
          <a:xfrm flipH="1">
            <a:off x="8849338" y="4396031"/>
            <a:ext cx="671545" cy="402372"/>
          </a:xfrm>
          <a:prstGeom prst="line">
            <a:avLst/>
          </a:prstGeom>
          <a:ln w="1905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9506309" y="4271395"/>
            <a:ext cx="182880" cy="18288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7" name="TextBox 56"/>
          <p:cNvSpPr txBox="1"/>
          <p:nvPr/>
        </p:nvSpPr>
        <p:spPr>
          <a:xfrm>
            <a:off x="9296543" y="4706924"/>
            <a:ext cx="2325701" cy="338554"/>
          </a:xfrm>
          <a:prstGeom prst="rect">
            <a:avLst/>
          </a:prstGeom>
          <a:noFill/>
        </p:spPr>
        <p:txBody>
          <a:bodyPr wrap="square" rtlCol="0">
            <a:spAutoFit/>
          </a:bodyPr>
          <a:lstStyle/>
          <a:p>
            <a:r>
              <a:rPr lang="en-US" sz="1600" dirty="0"/>
              <a:t>distance</a:t>
            </a:r>
          </a:p>
        </p:txBody>
      </p:sp>
      <p:cxnSp>
        <p:nvCxnSpPr>
          <p:cNvPr id="58" name="Elbow Connector 57"/>
          <p:cNvCxnSpPr/>
          <p:nvPr/>
        </p:nvCxnSpPr>
        <p:spPr>
          <a:xfrm rot="16200000" flipH="1">
            <a:off x="9153933" y="4703450"/>
            <a:ext cx="245889" cy="174172"/>
          </a:xfrm>
          <a:prstGeom prst="bentConnector3">
            <a:avLst>
              <a:gd name="adj1" fmla="val 95833"/>
            </a:avLst>
          </a:prstGeom>
          <a:ln>
            <a:tailEnd type="triangle"/>
          </a:ln>
        </p:spPr>
        <p:style>
          <a:lnRef idx="1">
            <a:schemeClr val="accent2"/>
          </a:lnRef>
          <a:fillRef idx="0">
            <a:schemeClr val="accent2"/>
          </a:fillRef>
          <a:effectRef idx="0">
            <a:schemeClr val="accent2"/>
          </a:effectRef>
          <a:fontRef idx="minor">
            <a:schemeClr val="tx1"/>
          </a:fontRef>
        </p:style>
      </p:cxnSp>
      <p:pic>
        <p:nvPicPr>
          <p:cNvPr id="61" name="Picture 60"/>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2314281" y="5258817"/>
            <a:ext cx="1610381" cy="590379"/>
          </a:xfrm>
          <a:prstGeom prst="rect">
            <a:avLst/>
          </a:prstGeom>
        </p:spPr>
      </p:pic>
    </p:spTree>
    <p:extLst>
      <p:ext uri="{BB962C8B-B14F-4D97-AF65-F5344CB8AC3E}">
        <p14:creationId xmlns:p14="http://schemas.microsoft.com/office/powerpoint/2010/main" val="2580918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626518" indent="-457189">
              <a:lnSpc>
                <a:spcPct val="140000"/>
              </a:lnSpc>
              <a:spcBef>
                <a:spcPts val="1333"/>
              </a:spcBef>
              <a:buSzPct val="100000"/>
              <a:buFont typeface="+mj-lt"/>
              <a:buAutoNum type="arabicPeriod" startAt="2"/>
            </a:pPr>
            <a:endParaRPr lang="en-US" sz="2400" dirty="0">
              <a:ea typeface="Source Sans Pro"/>
              <a:cs typeface="Source Sans Pro"/>
              <a:sym typeface="Source Sans Pro"/>
            </a:endParaRPr>
          </a:p>
          <a:p>
            <a:pPr marL="626518" indent="-457189">
              <a:lnSpc>
                <a:spcPct val="140000"/>
              </a:lnSpc>
              <a:spcBef>
                <a:spcPts val="1333"/>
              </a:spcBef>
              <a:buSzPct val="100000"/>
              <a:buFont typeface="+mj-lt"/>
              <a:buAutoNum type="arabicPeriod" startAt="2"/>
            </a:pPr>
            <a:endParaRPr lang="en-US" sz="2400" dirty="0">
              <a:ea typeface="Source Sans Pro"/>
              <a:cs typeface="Source Sans Pro"/>
              <a:sym typeface="Source Sans Pro"/>
            </a:endParaRPr>
          </a:p>
          <a:p>
            <a:pPr marL="169329" indent="0">
              <a:lnSpc>
                <a:spcPct val="140000"/>
              </a:lnSpc>
              <a:spcBef>
                <a:spcPts val="1333"/>
              </a:spcBef>
              <a:buSzPct val="100000"/>
              <a:buNone/>
            </a:pPr>
            <a:endParaRPr lang="en-US" sz="2400" dirty="0">
              <a:ea typeface="Source Sans Pro"/>
              <a:cs typeface="Source Sans Pro"/>
              <a:sym typeface="Source Sans Pro"/>
            </a:endParaRPr>
          </a:p>
          <a:p>
            <a:pPr marL="626518" indent="-457189">
              <a:lnSpc>
                <a:spcPct val="140000"/>
              </a:lnSpc>
              <a:spcBef>
                <a:spcPts val="1333"/>
              </a:spcBef>
              <a:buSzPct val="100000"/>
              <a:buFont typeface="+mj-lt"/>
              <a:buAutoNum type="arabicPeriod" startAt="2"/>
            </a:pPr>
            <a:r>
              <a:rPr lang="en-US" sz="2400" dirty="0">
                <a:ea typeface="Source Sans Pro"/>
                <a:cs typeface="Source Sans Pro"/>
                <a:sym typeface="Source Sans Pro"/>
              </a:rPr>
              <a:t>Solve for w and b by maximizing the margin:.</a:t>
            </a:r>
          </a:p>
          <a:p>
            <a:pPr marL="626518" indent="-457189">
              <a:lnSpc>
                <a:spcPct val="140000"/>
              </a:lnSpc>
              <a:spcBef>
                <a:spcPts val="1333"/>
              </a:spcBef>
              <a:buClr>
                <a:srgbClr val="003B4C"/>
              </a:buClr>
              <a:buSzPct val="100000"/>
              <a:buFont typeface="+mj-lt"/>
              <a:buAutoNum type="arabicPeriod" startAt="2"/>
            </a:pPr>
            <a:endParaRPr lang="en-US" sz="2400" dirty="0">
              <a:ea typeface="Source Sans Pro"/>
              <a:cs typeface="Source Sans Pro"/>
              <a:sym typeface="Source Sans Pro"/>
            </a:endParaRPr>
          </a:p>
          <a:p>
            <a:pPr marL="0" indent="0">
              <a:lnSpc>
                <a:spcPct val="140000"/>
              </a:lnSpc>
              <a:spcBef>
                <a:spcPts val="1333"/>
              </a:spcBef>
              <a:buClr>
                <a:srgbClr val="003B4C"/>
              </a:buClr>
              <a:buSzPct val="100000"/>
              <a:buNone/>
            </a:pPr>
            <a:endParaRPr lang="en-US" sz="2400" dirty="0">
              <a:ea typeface="Source Sans Pro"/>
              <a:cs typeface="Source Sans Pro"/>
              <a:sym typeface="Source Sans Pro"/>
            </a:endParaRPr>
          </a:p>
          <a:p>
            <a:pPr marL="169329">
              <a:lnSpc>
                <a:spcPct val="140000"/>
              </a:lnSpc>
              <a:spcBef>
                <a:spcPts val="1333"/>
              </a:spcBef>
              <a:buSzPct val="100000"/>
            </a:pPr>
            <a:endParaRPr lang="en-US" sz="2400" dirty="0">
              <a:ea typeface="Source Sans Pro"/>
              <a:cs typeface="Source Sans Pro"/>
              <a:sym typeface="Source Sans Pro"/>
            </a:endParaRPr>
          </a:p>
          <a:p>
            <a:pPr marL="0" indent="0">
              <a:lnSpc>
                <a:spcPct val="140000"/>
              </a:lnSpc>
              <a:spcBef>
                <a:spcPts val="1333"/>
              </a:spcBef>
              <a:buClr>
                <a:srgbClr val="003B4C"/>
              </a:buClr>
              <a:buSzPct val="100000"/>
              <a:buNone/>
            </a:pPr>
            <a:endParaRPr lang="en-US" sz="2400" dirty="0">
              <a:ea typeface="Source Sans Pro"/>
              <a:cs typeface="Source Sans Pro"/>
              <a:sym typeface="Source Sans Pro"/>
            </a:endParaRPr>
          </a:p>
          <a:p>
            <a:pPr marL="0" indent="0">
              <a:buNone/>
            </a:pPr>
            <a:endParaRPr lang="en-US" sz="2400" dirty="0"/>
          </a:p>
        </p:txBody>
      </p:sp>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pic>
        <p:nvPicPr>
          <p:cNvPr id="15" name="Picture 14"/>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1632173" y="4648298"/>
            <a:ext cx="3001683" cy="1419753"/>
          </a:xfrm>
          <a:prstGeom prst="rect">
            <a:avLst/>
          </a:prstGeom>
        </p:spPr>
      </p:pic>
      <p:pic>
        <p:nvPicPr>
          <p:cNvPr id="19" name="Picture 18"/>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6226894" y="4922858"/>
            <a:ext cx="4447040" cy="1055568"/>
          </a:xfrm>
          <a:prstGeom prst="rect">
            <a:avLst/>
          </a:prstGeom>
        </p:spPr>
      </p:pic>
      <p:pic>
        <p:nvPicPr>
          <p:cNvPr id="20" name="Picture 19"/>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5284613" y="5358174"/>
            <a:ext cx="508071" cy="184937"/>
          </a:xfrm>
          <a:prstGeom prst="rect">
            <a:avLst/>
          </a:prstGeom>
        </p:spPr>
      </p:pic>
      <p:sp>
        <p:nvSpPr>
          <p:cNvPr id="11" name="Content Placeholder 1"/>
          <p:cNvSpPr txBox="1">
            <a:spLocks/>
          </p:cNvSpPr>
          <p:nvPr/>
        </p:nvSpPr>
        <p:spPr>
          <a:xfrm>
            <a:off x="764000" y="1723474"/>
            <a:ext cx="7056183" cy="23106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26529" indent="-457200">
              <a:lnSpc>
                <a:spcPct val="100000"/>
              </a:lnSpc>
              <a:spcBef>
                <a:spcPts val="1333"/>
              </a:spcBef>
              <a:buSzPct val="100000"/>
              <a:buFont typeface="+mj-lt"/>
              <a:buAutoNum type="arabicPeriod"/>
            </a:pPr>
            <a:r>
              <a:rPr lang="en-US" sz="2400" dirty="0">
                <a:ea typeface="Source Sans Pro"/>
                <a:cs typeface="Source Sans Pro"/>
                <a:sym typeface="Source Sans Pro"/>
              </a:rPr>
              <a:t>The distance from  a training observation to a given hyperplane can be shown to be equal to:</a:t>
            </a:r>
          </a:p>
        </p:txBody>
      </p:sp>
      <p:sp>
        <p:nvSpPr>
          <p:cNvPr id="12" name="Google Shape;193;p44 1"/>
          <p:cNvSpPr txBox="1"/>
          <p:nvPr/>
        </p:nvSpPr>
        <p:spPr>
          <a:xfrm>
            <a:off x="1803664" y="2592961"/>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sp>
        <p:nvSpPr>
          <p:cNvPr id="13" name="Google Shape;193;p44 2"/>
          <p:cNvSpPr txBox="1"/>
          <p:nvPr/>
        </p:nvSpPr>
        <p:spPr>
          <a:xfrm>
            <a:off x="1458726" y="2814285"/>
            <a:ext cx="2139600" cy="936000"/>
          </a:xfrm>
          <a:prstGeom prst="rect">
            <a:avLst/>
          </a:prstGeom>
          <a:noFill/>
          <a:ln>
            <a:noFill/>
          </a:ln>
        </p:spPr>
        <p:txBody>
          <a:bodyPr spcFirstLastPara="1" wrap="square" lIns="121900" tIns="121900" rIns="121900" bIns="121900" anchor="t" anchorCtr="0">
            <a:noAutofit/>
          </a:bodyPr>
          <a:lstStyle/>
          <a:p>
            <a:r>
              <a:rPr lang="en-US" sz="2400" dirty="0">
                <a:ea typeface="Montserrat"/>
                <a:cs typeface="Montserrat"/>
                <a:sym typeface="Montserrat"/>
              </a:rPr>
              <a:t>distance:</a:t>
            </a:r>
            <a:endParaRPr sz="2400" dirty="0">
              <a:ea typeface="Montserrat"/>
              <a:cs typeface="Montserrat"/>
              <a:sym typeface="Montserrat"/>
            </a:endParaRPr>
          </a:p>
        </p:txBody>
      </p:sp>
      <p:cxnSp>
        <p:nvCxnSpPr>
          <p:cNvPr id="14" name="Straight Arrow Connector 13"/>
          <p:cNvCxnSpPr/>
          <p:nvPr/>
        </p:nvCxnSpPr>
        <p:spPr>
          <a:xfrm flipV="1">
            <a:off x="7675100" y="1587483"/>
            <a:ext cx="0" cy="2194560"/>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cxnSp>
        <p:nvCxnSpPr>
          <p:cNvPr id="16" name="Straight Arrow Connector 15"/>
          <p:cNvCxnSpPr/>
          <p:nvPr/>
        </p:nvCxnSpPr>
        <p:spPr>
          <a:xfrm rot="5400000" flipV="1">
            <a:off x="9189852" y="2255433"/>
            <a:ext cx="0" cy="3038255"/>
          </a:xfrm>
          <a:prstGeom prst="straightConnector1">
            <a:avLst/>
          </a:prstGeom>
          <a:ln>
            <a:tailEnd type="stealth" w="med" len="lg"/>
          </a:ln>
        </p:spPr>
        <p:style>
          <a:lnRef idx="3">
            <a:schemeClr val="dk1"/>
          </a:lnRef>
          <a:fillRef idx="0">
            <a:schemeClr val="dk1"/>
          </a:fillRef>
          <a:effectRef idx="2">
            <a:schemeClr val="dk1"/>
          </a:effectRef>
          <a:fontRef idx="minor">
            <a:schemeClr val="tx1"/>
          </a:fontRef>
        </p:style>
      </p:cxnSp>
      <p:sp>
        <p:nvSpPr>
          <p:cNvPr id="17" name="TextBox 16"/>
          <p:cNvSpPr txBox="1"/>
          <p:nvPr/>
        </p:nvSpPr>
        <p:spPr>
          <a:xfrm>
            <a:off x="7308451" y="1461986"/>
            <a:ext cx="479897" cy="297454"/>
          </a:xfrm>
          <a:prstGeom prst="rect">
            <a:avLst/>
          </a:prstGeom>
          <a:noFill/>
        </p:spPr>
        <p:txBody>
          <a:bodyPr wrap="square" rtlCol="0">
            <a:spAutoFit/>
          </a:bodyPr>
          <a:lstStyle/>
          <a:p>
            <a:r>
              <a:rPr lang="en-US" sz="1333" dirty="0"/>
              <a:t>x</a:t>
            </a:r>
            <a:r>
              <a:rPr lang="en-US" sz="1333" baseline="-25000" dirty="0"/>
              <a:t>2</a:t>
            </a:r>
            <a:endParaRPr lang="en-US" sz="1333" dirty="0"/>
          </a:p>
        </p:txBody>
      </p:sp>
      <p:sp>
        <p:nvSpPr>
          <p:cNvPr id="18" name="TextBox 17"/>
          <p:cNvSpPr txBox="1"/>
          <p:nvPr/>
        </p:nvSpPr>
        <p:spPr>
          <a:xfrm>
            <a:off x="10521681" y="3724707"/>
            <a:ext cx="479897" cy="297454"/>
          </a:xfrm>
          <a:prstGeom prst="rect">
            <a:avLst/>
          </a:prstGeom>
          <a:noFill/>
        </p:spPr>
        <p:txBody>
          <a:bodyPr wrap="square" rtlCol="0">
            <a:spAutoFit/>
          </a:bodyPr>
          <a:lstStyle/>
          <a:p>
            <a:r>
              <a:rPr lang="en-US" sz="1333" dirty="0"/>
              <a:t>x</a:t>
            </a:r>
            <a:r>
              <a:rPr lang="en-US" sz="1333" baseline="-25000" dirty="0"/>
              <a:t>1</a:t>
            </a:r>
            <a:endParaRPr lang="en-US" sz="1333" dirty="0"/>
          </a:p>
        </p:txBody>
      </p:sp>
      <p:cxnSp>
        <p:nvCxnSpPr>
          <p:cNvPr id="21" name="Straight Connector 20"/>
          <p:cNvCxnSpPr/>
          <p:nvPr/>
        </p:nvCxnSpPr>
        <p:spPr>
          <a:xfrm>
            <a:off x="8381969" y="1646410"/>
            <a:ext cx="1534273" cy="256032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22" name="Picture 21"/>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10075212" y="4018717"/>
            <a:ext cx="1267536" cy="216235"/>
          </a:xfrm>
          <a:prstGeom prst="rect">
            <a:avLst/>
          </a:prstGeom>
        </p:spPr>
      </p:pic>
      <p:pic>
        <p:nvPicPr>
          <p:cNvPr id="23" name="Picture 22"/>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9862154" y="1930718"/>
            <a:ext cx="955987" cy="268871"/>
          </a:xfrm>
          <a:prstGeom prst="rect">
            <a:avLst/>
          </a:prstGeom>
        </p:spPr>
      </p:pic>
      <p:cxnSp>
        <p:nvCxnSpPr>
          <p:cNvPr id="24" name="Straight Connector 23"/>
          <p:cNvCxnSpPr/>
          <p:nvPr/>
        </p:nvCxnSpPr>
        <p:spPr>
          <a:xfrm flipH="1">
            <a:off x="8917071" y="2164838"/>
            <a:ext cx="671545" cy="402372"/>
          </a:xfrm>
          <a:prstGeom prst="line">
            <a:avLst/>
          </a:prstGeom>
          <a:ln w="1905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9574042" y="2040202"/>
            <a:ext cx="182880" cy="18288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26" name="TextBox 25"/>
          <p:cNvSpPr txBox="1"/>
          <p:nvPr/>
        </p:nvSpPr>
        <p:spPr>
          <a:xfrm>
            <a:off x="9364276" y="2475731"/>
            <a:ext cx="2325701" cy="338554"/>
          </a:xfrm>
          <a:prstGeom prst="rect">
            <a:avLst/>
          </a:prstGeom>
          <a:noFill/>
        </p:spPr>
        <p:txBody>
          <a:bodyPr wrap="square" rtlCol="0">
            <a:spAutoFit/>
          </a:bodyPr>
          <a:lstStyle/>
          <a:p>
            <a:r>
              <a:rPr lang="en-US" sz="1600" dirty="0"/>
              <a:t>distance</a:t>
            </a:r>
          </a:p>
        </p:txBody>
      </p:sp>
      <p:cxnSp>
        <p:nvCxnSpPr>
          <p:cNvPr id="27" name="Elbow Connector 26"/>
          <p:cNvCxnSpPr/>
          <p:nvPr/>
        </p:nvCxnSpPr>
        <p:spPr>
          <a:xfrm rot="16200000" flipH="1">
            <a:off x="9221666" y="2472257"/>
            <a:ext cx="245889" cy="174172"/>
          </a:xfrm>
          <a:prstGeom prst="bentConnector3">
            <a:avLst>
              <a:gd name="adj1" fmla="val 95833"/>
            </a:avLst>
          </a:prstGeom>
          <a:ln>
            <a:tailEnd type="triangle"/>
          </a:ln>
        </p:spPr>
        <p:style>
          <a:lnRef idx="1">
            <a:schemeClr val="accent2"/>
          </a:lnRef>
          <a:fillRef idx="0">
            <a:schemeClr val="accent2"/>
          </a:fillRef>
          <a:effectRef idx="0">
            <a:schemeClr val="accent2"/>
          </a:effectRef>
          <a:fontRef idx="minor">
            <a:schemeClr val="tx1"/>
          </a:fontRef>
        </p:style>
      </p:cxnSp>
      <p:pic>
        <p:nvPicPr>
          <p:cNvPr id="28" name="Picture 27"/>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3127705" y="2875934"/>
            <a:ext cx="1610381" cy="590379"/>
          </a:xfrm>
          <a:prstGeom prst="rect">
            <a:avLst/>
          </a:prstGeom>
        </p:spPr>
      </p:pic>
      <p:sp>
        <p:nvSpPr>
          <p:cNvPr id="3" name="Title 2"/>
          <p:cNvSpPr>
            <a:spLocks noGrp="1"/>
          </p:cNvSpPr>
          <p:nvPr>
            <p:ph type="title"/>
          </p:nvPr>
        </p:nvSpPr>
        <p:spPr/>
        <p:txBody>
          <a:bodyPr/>
          <a:lstStyle/>
          <a:p>
            <a:r>
              <a:rPr lang="en-US" b="1" dirty="0">
                <a:ea typeface="Source Sans Pro"/>
                <a:cs typeface="Source Sans Pro"/>
                <a:sym typeface="Source Sans Pro"/>
              </a:rPr>
              <a:t>Maximal Margin Classifier – Mathematical Formulation</a:t>
            </a:r>
            <a:endParaRPr lang="en-US" dirty="0"/>
          </a:p>
        </p:txBody>
      </p:sp>
    </p:spTree>
    <p:extLst>
      <p:ext uri="{BB962C8B-B14F-4D97-AF65-F5344CB8AC3E}">
        <p14:creationId xmlns:p14="http://schemas.microsoft.com/office/powerpoint/2010/main" val="2433722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12" name="Google Shape;193;p44 2"/>
          <p:cNvSpPr txBox="1"/>
          <p:nvPr/>
        </p:nvSpPr>
        <p:spPr>
          <a:xfrm>
            <a:off x="2848657" y="3799821"/>
            <a:ext cx="1792112" cy="773537"/>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sp>
        <p:nvSpPr>
          <p:cNvPr id="144" name="Flowchart: Connector 143"/>
          <p:cNvSpPr/>
          <p:nvPr/>
        </p:nvSpPr>
        <p:spPr>
          <a:xfrm>
            <a:off x="8085046" y="3266386"/>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5" name="Flowchart: Connector 144"/>
          <p:cNvSpPr/>
          <p:nvPr/>
        </p:nvSpPr>
        <p:spPr>
          <a:xfrm>
            <a:off x="8047224" y="3784260"/>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6" name="Flowchart: Connector 145"/>
          <p:cNvSpPr/>
          <p:nvPr/>
        </p:nvSpPr>
        <p:spPr>
          <a:xfrm>
            <a:off x="8602929" y="3745345"/>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7" name="Flowchart: Connector 146"/>
          <p:cNvSpPr/>
          <p:nvPr/>
        </p:nvSpPr>
        <p:spPr>
          <a:xfrm>
            <a:off x="8704760" y="4245253"/>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8" name="Flowchart: Connector 147"/>
          <p:cNvSpPr/>
          <p:nvPr/>
        </p:nvSpPr>
        <p:spPr>
          <a:xfrm>
            <a:off x="8195608" y="4278182"/>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9" name="Flowchart: Connector 148"/>
          <p:cNvSpPr/>
          <p:nvPr/>
        </p:nvSpPr>
        <p:spPr>
          <a:xfrm>
            <a:off x="8943334" y="3179578"/>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0" name="Flowchart: Connector 149"/>
          <p:cNvSpPr/>
          <p:nvPr/>
        </p:nvSpPr>
        <p:spPr>
          <a:xfrm>
            <a:off x="8486550" y="3104741"/>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1" name="Flowchart: Connector 150"/>
          <p:cNvSpPr/>
          <p:nvPr/>
        </p:nvSpPr>
        <p:spPr>
          <a:xfrm>
            <a:off x="9216820" y="3748336"/>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2" name="Flowchart: Connector 151"/>
          <p:cNvSpPr/>
          <p:nvPr/>
        </p:nvSpPr>
        <p:spPr>
          <a:xfrm>
            <a:off x="9266281" y="4230285"/>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3" name="Flowchart: Connector 152"/>
          <p:cNvSpPr/>
          <p:nvPr/>
        </p:nvSpPr>
        <p:spPr>
          <a:xfrm>
            <a:off x="8099593" y="2616805"/>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4" name="Oval 153"/>
          <p:cNvSpPr/>
          <p:nvPr/>
        </p:nvSpPr>
        <p:spPr>
          <a:xfrm>
            <a:off x="10878118" y="1865440"/>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5" name="Oval 154"/>
          <p:cNvSpPr/>
          <p:nvPr/>
        </p:nvSpPr>
        <p:spPr>
          <a:xfrm>
            <a:off x="10002373" y="2024094"/>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6" name="Oval 155"/>
          <p:cNvSpPr/>
          <p:nvPr/>
        </p:nvSpPr>
        <p:spPr>
          <a:xfrm>
            <a:off x="10592993" y="2146822"/>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7" name="Oval 156"/>
          <p:cNvSpPr/>
          <p:nvPr/>
        </p:nvSpPr>
        <p:spPr>
          <a:xfrm>
            <a:off x="10275864" y="2556932"/>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8" name="Oval 157"/>
          <p:cNvSpPr/>
          <p:nvPr/>
        </p:nvSpPr>
        <p:spPr>
          <a:xfrm>
            <a:off x="10590082" y="3095756"/>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9" name="Oval 158"/>
          <p:cNvSpPr/>
          <p:nvPr/>
        </p:nvSpPr>
        <p:spPr>
          <a:xfrm>
            <a:off x="10712280" y="2574893"/>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0" name="Oval 159"/>
          <p:cNvSpPr/>
          <p:nvPr/>
        </p:nvSpPr>
        <p:spPr>
          <a:xfrm>
            <a:off x="9714338" y="2428213"/>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1" name="Oval 160"/>
          <p:cNvSpPr/>
          <p:nvPr/>
        </p:nvSpPr>
        <p:spPr>
          <a:xfrm>
            <a:off x="11038136" y="2281530"/>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2" name="Oval 161"/>
          <p:cNvSpPr/>
          <p:nvPr/>
        </p:nvSpPr>
        <p:spPr>
          <a:xfrm>
            <a:off x="11087597" y="2961048"/>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3" name="Oval 162"/>
          <p:cNvSpPr/>
          <p:nvPr/>
        </p:nvSpPr>
        <p:spPr>
          <a:xfrm>
            <a:off x="10019830" y="2993977"/>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4" name="Oval 163"/>
          <p:cNvSpPr/>
          <p:nvPr/>
        </p:nvSpPr>
        <p:spPr>
          <a:xfrm>
            <a:off x="11032317" y="3550765"/>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5" name="TextBox 164"/>
          <p:cNvSpPr txBox="1"/>
          <p:nvPr/>
        </p:nvSpPr>
        <p:spPr>
          <a:xfrm>
            <a:off x="7585085" y="3393430"/>
            <a:ext cx="736709" cy="338555"/>
          </a:xfrm>
          <a:prstGeom prst="rect">
            <a:avLst/>
          </a:prstGeom>
          <a:noFill/>
        </p:spPr>
        <p:txBody>
          <a:bodyPr wrap="square" rtlCol="0">
            <a:spAutoFit/>
          </a:bodyPr>
          <a:lstStyle/>
          <a:p>
            <a:r>
              <a:rPr lang="en-US" sz="1600" b="1" dirty="0"/>
              <a:t>-1</a:t>
            </a:r>
          </a:p>
        </p:txBody>
      </p:sp>
      <p:sp>
        <p:nvSpPr>
          <p:cNvPr id="166" name="TextBox 165"/>
          <p:cNvSpPr txBox="1"/>
          <p:nvPr/>
        </p:nvSpPr>
        <p:spPr>
          <a:xfrm>
            <a:off x="11346536" y="3119709"/>
            <a:ext cx="788460" cy="338555"/>
          </a:xfrm>
          <a:prstGeom prst="rect">
            <a:avLst/>
          </a:prstGeom>
          <a:noFill/>
        </p:spPr>
        <p:txBody>
          <a:bodyPr wrap="square" rtlCol="0">
            <a:spAutoFit/>
          </a:bodyPr>
          <a:lstStyle/>
          <a:p>
            <a:r>
              <a:rPr lang="en-US" sz="1600" b="1" dirty="0"/>
              <a:t>+1</a:t>
            </a:r>
          </a:p>
        </p:txBody>
      </p:sp>
      <p:cxnSp>
        <p:nvCxnSpPr>
          <p:cNvPr id="201" name="Straight Connector 200"/>
          <p:cNvCxnSpPr/>
          <p:nvPr/>
        </p:nvCxnSpPr>
        <p:spPr>
          <a:xfrm>
            <a:off x="8768764" y="2030081"/>
            <a:ext cx="1955148" cy="2717472"/>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a:off x="9032077" y="1824121"/>
            <a:ext cx="1955148" cy="2717472"/>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a:off x="8468208" y="2209178"/>
            <a:ext cx="1955148" cy="2717472"/>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p:nvPr/>
        </p:nvCxnSpPr>
        <p:spPr>
          <a:xfrm flipV="1">
            <a:off x="9357242" y="2628121"/>
            <a:ext cx="272520" cy="20167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9230204" y="2410188"/>
            <a:ext cx="1589911" cy="338555"/>
          </a:xfrm>
          <a:prstGeom prst="rect">
            <a:avLst/>
          </a:prstGeom>
          <a:noFill/>
        </p:spPr>
        <p:txBody>
          <a:bodyPr wrap="square" rtlCol="0">
            <a:spAutoFit/>
          </a:bodyPr>
          <a:lstStyle/>
          <a:p>
            <a:r>
              <a:rPr lang="en-US" sz="1600" dirty="0">
                <a:latin typeface="Source Sans Pro" panose="020B0604020202020204" charset="0"/>
              </a:rPr>
              <a:t>M</a:t>
            </a:r>
          </a:p>
        </p:txBody>
      </p:sp>
      <p:sp>
        <p:nvSpPr>
          <p:cNvPr id="43" name="Content Placeholder 1">
            <a:extLst>
              <a:ext uri="{FF2B5EF4-FFF2-40B4-BE49-F238E27FC236}">
                <a16:creationId xmlns:a16="http://schemas.microsoft.com/office/drawing/2014/main" id="{4A6E0A7F-1E60-4E9F-80F7-AC0D279FC08B}"/>
              </a:ext>
            </a:extLst>
          </p:cNvPr>
          <p:cNvSpPr>
            <a:spLocks noGrp="1"/>
          </p:cNvSpPr>
          <p:nvPr>
            <p:ph idx="1"/>
          </p:nvPr>
        </p:nvSpPr>
        <p:spPr>
          <a:xfrm>
            <a:off x="990600" y="1978025"/>
            <a:ext cx="10515600" cy="4351338"/>
          </a:xfrm>
        </p:spPr>
        <p:txBody>
          <a:bodyPr>
            <a:normAutofit/>
          </a:bodyPr>
          <a:lstStyle/>
          <a:p>
            <a:pPr marL="169329" indent="0">
              <a:lnSpc>
                <a:spcPct val="140000"/>
              </a:lnSpc>
              <a:spcBef>
                <a:spcPts val="1333"/>
              </a:spcBef>
              <a:buSzPct val="100000"/>
              <a:buNone/>
            </a:pPr>
            <a:r>
              <a:rPr lang="en-US" sz="2400" dirty="0">
                <a:ea typeface="Source Sans Pro"/>
                <a:cs typeface="Source Sans Pro"/>
                <a:sym typeface="Source Sans Pro"/>
              </a:rPr>
              <a:t>2. Solve for w and b by maximizing the margin M:</a:t>
            </a:r>
          </a:p>
          <a:p>
            <a:pPr marL="626518" indent="-457189">
              <a:lnSpc>
                <a:spcPct val="140000"/>
              </a:lnSpc>
              <a:spcBef>
                <a:spcPts val="1333"/>
              </a:spcBef>
              <a:buClr>
                <a:srgbClr val="003B4C"/>
              </a:buClr>
              <a:buSzPct val="100000"/>
              <a:buFont typeface="+mj-lt"/>
              <a:buAutoNum type="arabicPeriod" startAt="2"/>
            </a:pPr>
            <a:endParaRPr lang="en-US" sz="2400" dirty="0">
              <a:ea typeface="Source Sans Pro"/>
              <a:cs typeface="Source Sans Pro"/>
              <a:sym typeface="Source Sans Pro"/>
            </a:endParaRPr>
          </a:p>
          <a:p>
            <a:pPr marL="0" indent="0">
              <a:lnSpc>
                <a:spcPct val="140000"/>
              </a:lnSpc>
              <a:spcBef>
                <a:spcPts val="1333"/>
              </a:spcBef>
              <a:buClr>
                <a:srgbClr val="003B4C"/>
              </a:buClr>
              <a:buSzPct val="100000"/>
              <a:buNone/>
            </a:pPr>
            <a:endParaRPr lang="en-US" sz="2400" dirty="0">
              <a:ea typeface="Source Sans Pro"/>
              <a:cs typeface="Source Sans Pro"/>
              <a:sym typeface="Source Sans Pro"/>
            </a:endParaRPr>
          </a:p>
          <a:p>
            <a:pPr marL="169329">
              <a:lnSpc>
                <a:spcPct val="140000"/>
              </a:lnSpc>
              <a:spcBef>
                <a:spcPts val="1333"/>
              </a:spcBef>
              <a:buSzPct val="100000"/>
            </a:pPr>
            <a:endParaRPr lang="en-US" sz="2400" dirty="0">
              <a:ea typeface="Source Sans Pro"/>
              <a:cs typeface="Source Sans Pro"/>
              <a:sym typeface="Source Sans Pro"/>
            </a:endParaRPr>
          </a:p>
          <a:p>
            <a:pPr marL="0" indent="0">
              <a:lnSpc>
                <a:spcPct val="140000"/>
              </a:lnSpc>
              <a:spcBef>
                <a:spcPts val="1333"/>
              </a:spcBef>
              <a:buClr>
                <a:srgbClr val="003B4C"/>
              </a:buClr>
              <a:buSzPct val="100000"/>
              <a:buNone/>
            </a:pPr>
            <a:endParaRPr lang="en-US" sz="2400" dirty="0">
              <a:ea typeface="Source Sans Pro"/>
              <a:cs typeface="Source Sans Pro"/>
              <a:sym typeface="Source Sans Pro"/>
            </a:endParaRPr>
          </a:p>
          <a:p>
            <a:pPr marL="0" indent="0">
              <a:buNone/>
            </a:pPr>
            <a:endParaRPr lang="en-US" sz="2400" dirty="0"/>
          </a:p>
        </p:txBody>
      </p:sp>
      <p:sp>
        <p:nvSpPr>
          <p:cNvPr id="44" name="Google Shape;193;p44">
            <a:extLst>
              <a:ext uri="{FF2B5EF4-FFF2-40B4-BE49-F238E27FC236}">
                <a16:creationId xmlns:a16="http://schemas.microsoft.com/office/drawing/2014/main" id="{A868B5EB-6F75-42F0-8140-3039B962BA79}"/>
              </a:ext>
            </a:extLst>
          </p:cNvPr>
          <p:cNvSpPr txBox="1"/>
          <p:nvPr/>
        </p:nvSpPr>
        <p:spPr>
          <a:xfrm>
            <a:off x="2448167" y="2737900"/>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pic>
        <p:nvPicPr>
          <p:cNvPr id="45" name="Picture 44">
            <a:extLst>
              <a:ext uri="{FF2B5EF4-FFF2-40B4-BE49-F238E27FC236}">
                <a16:creationId xmlns:a16="http://schemas.microsoft.com/office/drawing/2014/main" id="{C6B4A93F-ECE0-49E5-A00F-184394420FD4}"/>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604479" y="2850293"/>
            <a:ext cx="3001683" cy="1419753"/>
          </a:xfrm>
          <a:prstGeom prst="rect">
            <a:avLst/>
          </a:prstGeom>
        </p:spPr>
      </p:pic>
      <p:pic>
        <p:nvPicPr>
          <p:cNvPr id="46" name="Picture 45">
            <a:extLst>
              <a:ext uri="{FF2B5EF4-FFF2-40B4-BE49-F238E27FC236}">
                <a16:creationId xmlns:a16="http://schemas.microsoft.com/office/drawing/2014/main" id="{4B50E175-935B-403D-A2F5-ABFE465807DE}"/>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3105320" y="4967912"/>
            <a:ext cx="4447040" cy="1055568"/>
          </a:xfrm>
          <a:prstGeom prst="rect">
            <a:avLst/>
          </a:prstGeom>
        </p:spPr>
      </p:pic>
      <p:pic>
        <p:nvPicPr>
          <p:cNvPr id="47" name="Picture 46">
            <a:extLst>
              <a:ext uri="{FF2B5EF4-FFF2-40B4-BE49-F238E27FC236}">
                <a16:creationId xmlns:a16="http://schemas.microsoft.com/office/drawing/2014/main" id="{E58F7C37-74D1-4346-B04A-A7090954359F}"/>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940096" y="5125606"/>
            <a:ext cx="508071" cy="184937"/>
          </a:xfrm>
          <a:prstGeom prst="rect">
            <a:avLst/>
          </a:prstGeom>
        </p:spPr>
      </p:pic>
      <p:pic>
        <p:nvPicPr>
          <p:cNvPr id="56" name="Picture 55">
            <a:extLst>
              <a:ext uri="{FF2B5EF4-FFF2-40B4-BE49-F238E27FC236}">
                <a16:creationId xmlns:a16="http://schemas.microsoft.com/office/drawing/2014/main" id="{C9918B0D-772C-4E42-8403-B84172F41294}"/>
              </a:ext>
            </a:extLst>
          </p:cNvPr>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10780086" y="4802730"/>
            <a:ext cx="1267536" cy="216235"/>
          </a:xfrm>
          <a:prstGeom prst="rect">
            <a:avLst/>
          </a:prstGeom>
        </p:spPr>
      </p:pic>
      <p:sp>
        <p:nvSpPr>
          <p:cNvPr id="59" name="Oval 58">
            <a:extLst>
              <a:ext uri="{FF2B5EF4-FFF2-40B4-BE49-F238E27FC236}">
                <a16:creationId xmlns:a16="http://schemas.microsoft.com/office/drawing/2014/main" id="{3C4FAA14-D85D-4407-B097-684EFE088480}"/>
              </a:ext>
            </a:extLst>
          </p:cNvPr>
          <p:cNvSpPr/>
          <p:nvPr/>
        </p:nvSpPr>
        <p:spPr>
          <a:xfrm>
            <a:off x="10727020" y="1511333"/>
            <a:ext cx="182880" cy="18288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0" name="Title 9">
            <a:extLst>
              <a:ext uri="{FF2B5EF4-FFF2-40B4-BE49-F238E27FC236}">
                <a16:creationId xmlns:a16="http://schemas.microsoft.com/office/drawing/2014/main" id="{7E479323-EAB9-40CE-A87F-4F00F28179C4}"/>
              </a:ext>
            </a:extLst>
          </p:cNvPr>
          <p:cNvSpPr>
            <a:spLocks noGrp="1"/>
          </p:cNvSpPr>
          <p:nvPr>
            <p:ph type="title"/>
          </p:nvPr>
        </p:nvSpPr>
        <p:spPr/>
        <p:txBody>
          <a:bodyPr>
            <a:normAutofit/>
          </a:bodyPr>
          <a:lstStyle/>
          <a:p>
            <a:r>
              <a:rPr lang="en-US" b="1" dirty="0">
                <a:ea typeface="Source Sans Pro"/>
                <a:cs typeface="Source Sans Pro"/>
                <a:sym typeface="Source Sans Pro"/>
              </a:rPr>
              <a:t>Maximal Margin Classifier – Mathematical Formulation</a:t>
            </a:r>
            <a:endParaRPr lang="en-US" dirty="0"/>
          </a:p>
        </p:txBody>
      </p:sp>
    </p:spTree>
    <p:extLst>
      <p:ext uri="{BB962C8B-B14F-4D97-AF65-F5344CB8AC3E}">
        <p14:creationId xmlns:p14="http://schemas.microsoft.com/office/powerpoint/2010/main" val="3041805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3" name="Picture 2"/>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1373907" y="2101792"/>
            <a:ext cx="2896409" cy="1394147"/>
          </a:xfrm>
          <a:prstGeom prst="rect">
            <a:avLst/>
          </a:prstGeom>
        </p:spPr>
      </p:pic>
      <p:sp>
        <p:nvSpPr>
          <p:cNvPr id="112" name="Google Shape;193;p44 2"/>
          <p:cNvSpPr txBox="1"/>
          <p:nvPr/>
        </p:nvSpPr>
        <p:spPr>
          <a:xfrm>
            <a:off x="2848657" y="3799821"/>
            <a:ext cx="1792112" cy="773537"/>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grpSp>
        <p:nvGrpSpPr>
          <p:cNvPr id="40" name="Group 39"/>
          <p:cNvGrpSpPr/>
          <p:nvPr/>
        </p:nvGrpSpPr>
        <p:grpSpPr>
          <a:xfrm>
            <a:off x="5693059" y="1989234"/>
            <a:ext cx="6238100" cy="3875528"/>
            <a:chOff x="4308039" y="1182193"/>
            <a:chExt cx="4678575" cy="2906646"/>
          </a:xfrm>
        </p:grpSpPr>
        <p:sp>
          <p:nvSpPr>
            <p:cNvPr id="144" name="Flowchart: Connector 143"/>
            <p:cNvSpPr/>
            <p:nvPr/>
          </p:nvSpPr>
          <p:spPr>
            <a:xfrm>
              <a:off x="5351596" y="2651009"/>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5" name="Flowchart: Connector 144"/>
            <p:cNvSpPr/>
            <p:nvPr/>
          </p:nvSpPr>
          <p:spPr>
            <a:xfrm>
              <a:off x="5323229" y="3039414"/>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6" name="Flowchart: Connector 145"/>
            <p:cNvSpPr/>
            <p:nvPr/>
          </p:nvSpPr>
          <p:spPr>
            <a:xfrm>
              <a:off x="5740008" y="3010228"/>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7" name="Flowchart: Connector 146"/>
            <p:cNvSpPr/>
            <p:nvPr/>
          </p:nvSpPr>
          <p:spPr>
            <a:xfrm>
              <a:off x="5816381" y="3385159"/>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8" name="Flowchart: Connector 147"/>
            <p:cNvSpPr/>
            <p:nvPr/>
          </p:nvSpPr>
          <p:spPr>
            <a:xfrm>
              <a:off x="5434517" y="3409856"/>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9" name="Flowchart: Connector 148"/>
            <p:cNvSpPr/>
            <p:nvPr/>
          </p:nvSpPr>
          <p:spPr>
            <a:xfrm>
              <a:off x="5995312" y="2585903"/>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0" name="Flowchart: Connector 149"/>
            <p:cNvSpPr/>
            <p:nvPr/>
          </p:nvSpPr>
          <p:spPr>
            <a:xfrm>
              <a:off x="5652724" y="2529775"/>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1" name="Flowchart: Connector 150"/>
            <p:cNvSpPr/>
            <p:nvPr/>
          </p:nvSpPr>
          <p:spPr>
            <a:xfrm>
              <a:off x="6200426" y="3012471"/>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2" name="Flowchart: Connector 151"/>
            <p:cNvSpPr/>
            <p:nvPr/>
          </p:nvSpPr>
          <p:spPr>
            <a:xfrm>
              <a:off x="6237522" y="3373933"/>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3" name="Flowchart: Connector 152"/>
            <p:cNvSpPr/>
            <p:nvPr/>
          </p:nvSpPr>
          <p:spPr>
            <a:xfrm>
              <a:off x="5362506" y="2163823"/>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4" name="Oval 153"/>
            <p:cNvSpPr/>
            <p:nvPr/>
          </p:nvSpPr>
          <p:spPr>
            <a:xfrm>
              <a:off x="7446400" y="1600299"/>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5" name="Oval 154"/>
            <p:cNvSpPr/>
            <p:nvPr/>
          </p:nvSpPr>
          <p:spPr>
            <a:xfrm>
              <a:off x="6789591" y="1719290"/>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6" name="Oval 155"/>
            <p:cNvSpPr/>
            <p:nvPr/>
          </p:nvSpPr>
          <p:spPr>
            <a:xfrm>
              <a:off x="7232556" y="1811336"/>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7" name="Oval 156"/>
            <p:cNvSpPr/>
            <p:nvPr/>
          </p:nvSpPr>
          <p:spPr>
            <a:xfrm>
              <a:off x="6994709" y="2118918"/>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8" name="Oval 157"/>
            <p:cNvSpPr/>
            <p:nvPr/>
          </p:nvSpPr>
          <p:spPr>
            <a:xfrm>
              <a:off x="7230373" y="2523036"/>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59" name="Oval 158"/>
            <p:cNvSpPr/>
            <p:nvPr/>
          </p:nvSpPr>
          <p:spPr>
            <a:xfrm>
              <a:off x="7322021" y="2132389"/>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0" name="Oval 159"/>
            <p:cNvSpPr/>
            <p:nvPr/>
          </p:nvSpPr>
          <p:spPr>
            <a:xfrm>
              <a:off x="6573565" y="2022379"/>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1" name="Oval 160"/>
            <p:cNvSpPr/>
            <p:nvPr/>
          </p:nvSpPr>
          <p:spPr>
            <a:xfrm>
              <a:off x="7566413" y="1912367"/>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2" name="Oval 161"/>
            <p:cNvSpPr/>
            <p:nvPr/>
          </p:nvSpPr>
          <p:spPr>
            <a:xfrm>
              <a:off x="7603509" y="2422005"/>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3" name="Oval 162"/>
            <p:cNvSpPr/>
            <p:nvPr/>
          </p:nvSpPr>
          <p:spPr>
            <a:xfrm>
              <a:off x="6802684" y="2446702"/>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4" name="Oval 163"/>
            <p:cNvSpPr/>
            <p:nvPr/>
          </p:nvSpPr>
          <p:spPr>
            <a:xfrm>
              <a:off x="7562049" y="2864293"/>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65" name="TextBox 164"/>
            <p:cNvSpPr txBox="1"/>
            <p:nvPr/>
          </p:nvSpPr>
          <p:spPr>
            <a:xfrm>
              <a:off x="4976625" y="2746292"/>
              <a:ext cx="552532" cy="253916"/>
            </a:xfrm>
            <a:prstGeom prst="rect">
              <a:avLst/>
            </a:prstGeom>
            <a:noFill/>
          </p:spPr>
          <p:txBody>
            <a:bodyPr wrap="square" rtlCol="0">
              <a:spAutoFit/>
            </a:bodyPr>
            <a:lstStyle/>
            <a:p>
              <a:r>
                <a:rPr lang="en-US" sz="1600" b="1" dirty="0"/>
                <a:t>-1</a:t>
              </a:r>
            </a:p>
          </p:txBody>
        </p:sp>
        <p:sp>
          <p:nvSpPr>
            <p:cNvPr id="166" name="TextBox 165"/>
            <p:cNvSpPr txBox="1"/>
            <p:nvPr/>
          </p:nvSpPr>
          <p:spPr>
            <a:xfrm>
              <a:off x="7797713" y="2541001"/>
              <a:ext cx="591345" cy="253916"/>
            </a:xfrm>
            <a:prstGeom prst="rect">
              <a:avLst/>
            </a:prstGeom>
            <a:noFill/>
          </p:spPr>
          <p:txBody>
            <a:bodyPr wrap="square" rtlCol="0">
              <a:spAutoFit/>
            </a:bodyPr>
            <a:lstStyle/>
            <a:p>
              <a:r>
                <a:rPr lang="en-US" sz="1600" b="1" dirty="0"/>
                <a:t>+1</a:t>
              </a:r>
            </a:p>
          </p:txBody>
        </p:sp>
        <p:cxnSp>
          <p:nvCxnSpPr>
            <p:cNvPr id="201" name="Straight Connector 200"/>
            <p:cNvCxnSpPr/>
            <p:nvPr/>
          </p:nvCxnSpPr>
          <p:spPr>
            <a:xfrm>
              <a:off x="5864384" y="1723780"/>
              <a:ext cx="1466361" cy="2038104"/>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a:off x="6061869" y="1569310"/>
              <a:ext cx="1466361" cy="2038104"/>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a:off x="5638967" y="1858103"/>
              <a:ext cx="1466361" cy="2038104"/>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p:nvPr/>
          </p:nvCxnSpPr>
          <p:spPr>
            <a:xfrm flipV="1">
              <a:off x="6305743" y="2172310"/>
              <a:ext cx="204390" cy="15125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6210464" y="2008860"/>
              <a:ext cx="1192433" cy="253916"/>
            </a:xfrm>
            <a:prstGeom prst="rect">
              <a:avLst/>
            </a:prstGeom>
            <a:noFill/>
          </p:spPr>
          <p:txBody>
            <a:bodyPr wrap="square" rtlCol="0">
              <a:spAutoFit/>
            </a:bodyPr>
            <a:lstStyle/>
            <a:p>
              <a:r>
                <a:rPr lang="en-US" sz="1600" dirty="0">
                  <a:latin typeface="Source Sans Pro" panose="020B0604020202020204" charset="0"/>
                </a:rPr>
                <a:t>M</a:t>
              </a:r>
            </a:p>
          </p:txBody>
        </p:sp>
        <p:pic>
          <p:nvPicPr>
            <p:cNvPr id="11" name="Picture 10"/>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7473986" y="3748635"/>
              <a:ext cx="1512628" cy="340204"/>
            </a:xfrm>
            <a:prstGeom prst="rect">
              <a:avLst/>
            </a:prstGeom>
          </p:spPr>
        </p:pic>
        <p:pic>
          <p:nvPicPr>
            <p:cNvPr id="33" name="Picture 32"/>
            <p:cNvPicPr>
              <a:picLocks noChangeAspect="1"/>
            </p:cNvPicPr>
            <p:nvPr>
              <p:custDataLst>
                <p:tags r:id="rId5"/>
              </p:custDataLst>
            </p:nvPr>
          </p:nvPicPr>
          <p:blipFill>
            <a:blip r:embed="rId11" cstate="print">
              <a:extLst>
                <a:ext uri="{28A0092B-C50C-407E-A947-70E740481C1C}">
                  <a14:useLocalDpi xmlns:a14="http://schemas.microsoft.com/office/drawing/2010/main" val="0"/>
                </a:ext>
              </a:extLst>
            </a:blip>
            <a:stretch>
              <a:fillRect/>
            </a:stretch>
          </p:blipFill>
          <p:spPr>
            <a:xfrm>
              <a:off x="6404198" y="1182193"/>
              <a:ext cx="1172423" cy="385930"/>
            </a:xfrm>
            <a:prstGeom prst="rect">
              <a:avLst/>
            </a:prstGeom>
          </p:spPr>
        </p:pic>
        <p:pic>
          <p:nvPicPr>
            <p:cNvPr id="39" name="Picture 38"/>
            <p:cNvPicPr>
              <a:picLocks noChangeAspect="1"/>
            </p:cNvPicPr>
            <p:nvPr>
              <p:custDataLst>
                <p:tags r:id="rId6"/>
              </p:custDataLst>
            </p:nvPr>
          </p:nvPicPr>
          <p:blipFill>
            <a:blip r:embed="rId12" cstate="print">
              <a:extLst>
                <a:ext uri="{28A0092B-C50C-407E-A947-70E740481C1C}">
                  <a14:useLocalDpi xmlns:a14="http://schemas.microsoft.com/office/drawing/2010/main" val="0"/>
                </a:ext>
              </a:extLst>
            </a:blip>
            <a:stretch>
              <a:fillRect/>
            </a:stretch>
          </p:blipFill>
          <p:spPr>
            <a:xfrm>
              <a:off x="4308039" y="1649244"/>
              <a:ext cx="1172424" cy="385930"/>
            </a:xfrm>
            <a:prstGeom prst="rect">
              <a:avLst/>
            </a:prstGeom>
          </p:spPr>
        </p:pic>
        <p:cxnSp>
          <p:nvCxnSpPr>
            <p:cNvPr id="225" name="Straight Arrow Connector 224"/>
            <p:cNvCxnSpPr/>
            <p:nvPr/>
          </p:nvCxnSpPr>
          <p:spPr>
            <a:xfrm flipV="1">
              <a:off x="6149208" y="1531555"/>
              <a:ext cx="161925" cy="6667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27" name="Straight Arrow Connector 226"/>
            <p:cNvCxnSpPr/>
            <p:nvPr/>
          </p:nvCxnSpPr>
          <p:spPr>
            <a:xfrm flipH="1" flipV="1">
              <a:off x="5387208" y="1893505"/>
              <a:ext cx="228600" cy="2857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29" name="Straight Arrow Connector 228"/>
            <p:cNvCxnSpPr/>
            <p:nvPr/>
          </p:nvCxnSpPr>
          <p:spPr>
            <a:xfrm>
              <a:off x="7368408" y="3788980"/>
              <a:ext cx="283122" cy="9984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grpSp>
      <p:sp>
        <p:nvSpPr>
          <p:cNvPr id="232" name="TextBox 231"/>
          <p:cNvSpPr txBox="1"/>
          <p:nvPr/>
        </p:nvSpPr>
        <p:spPr>
          <a:xfrm>
            <a:off x="753945" y="3701922"/>
            <a:ext cx="5041900" cy="1323439"/>
          </a:xfrm>
          <a:prstGeom prst="rect">
            <a:avLst/>
          </a:prstGeom>
          <a:noFill/>
        </p:spPr>
        <p:txBody>
          <a:bodyPr wrap="square" rtlCol="0">
            <a:spAutoFit/>
          </a:bodyPr>
          <a:lstStyle/>
          <a:p>
            <a:r>
              <a:rPr lang="en-US" sz="2000" dirty="0"/>
              <a:t>This means that we’re not only requiring that	to be greater or less than 0 to classify the points, but we’re adding extra layer of cushion so that: </a:t>
            </a:r>
          </a:p>
        </p:txBody>
      </p:sp>
      <p:pic>
        <p:nvPicPr>
          <p:cNvPr id="235" name="Picture 234"/>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tretch>
            <a:fillRect/>
          </a:stretch>
        </p:blipFill>
        <p:spPr>
          <a:xfrm>
            <a:off x="778690" y="4107199"/>
            <a:ext cx="839333" cy="216235"/>
          </a:xfrm>
          <a:prstGeom prst="rect">
            <a:avLst/>
          </a:prstGeom>
        </p:spPr>
      </p:pic>
      <p:pic>
        <p:nvPicPr>
          <p:cNvPr id="7" name="Picture 6" descr="\documentclass{article}&#10;\usepackage{amsmath}&#10;\newcommand{\norm}[1]{\left\lVert#1\right\rVert}&#10;&#10;\pagestyle{empty}&#10;\begin{document}&#10;&#10;&#10;\begin{align*}&#10;\;\; &amp;\frac{w^Tx^{(i)}+b}{\norm w} \geq  M  \;\;\; \text{if } y^{(i)}=+1\\&#10;\;\; &amp;\frac{w^Tx^{(i)}+b}{\norm w} \leq -  M  \; \;\; \text{if } y^{(i)}=-1&#10;\end{align*}&#10;&#10;\end{document}" title="IguanaTex Bitmap Display"/>
          <p:cNvPicPr>
            <a:picLocks noChangeAspect="1"/>
          </p:cNvPicPr>
          <p:nvPr>
            <p:custDataLst>
              <p:tags r:id="rId3"/>
            </p:custDataLst>
          </p:nvPr>
        </p:nvPicPr>
        <p:blipFill>
          <a:blip r:embed="rId14" cstate="print">
            <a:extLst>
              <a:ext uri="{28A0092B-C50C-407E-A947-70E740481C1C}">
                <a14:useLocalDpi xmlns:a14="http://schemas.microsoft.com/office/drawing/2010/main" val="0"/>
              </a:ext>
            </a:extLst>
          </a:blip>
          <a:stretch>
            <a:fillRect/>
          </a:stretch>
        </p:blipFill>
        <p:spPr>
          <a:xfrm>
            <a:off x="1421430" y="5227439"/>
            <a:ext cx="3219339" cy="1274646"/>
          </a:xfrm>
          <a:prstGeom prst="rect">
            <a:avLst/>
          </a:prstGeom>
        </p:spPr>
      </p:pic>
      <p:sp>
        <p:nvSpPr>
          <p:cNvPr id="5" name="Title 4"/>
          <p:cNvSpPr>
            <a:spLocks noGrp="1"/>
          </p:cNvSpPr>
          <p:nvPr>
            <p:ph type="title"/>
          </p:nvPr>
        </p:nvSpPr>
        <p:spPr/>
        <p:txBody>
          <a:bodyPr/>
          <a:lstStyle/>
          <a:p>
            <a:r>
              <a:rPr lang="es" b="1" dirty="0">
                <a:ea typeface="Source Sans Pro"/>
                <a:cs typeface="Source Sans Pro"/>
                <a:sym typeface="Source Sans Pro"/>
              </a:rPr>
              <a:t>Maximal Margin Classifier – Mathematical Formulation</a:t>
            </a:r>
            <a:endParaRPr lang="en-US" b="1" dirty="0"/>
          </a:p>
        </p:txBody>
      </p:sp>
    </p:spTree>
    <p:extLst>
      <p:ext uri="{BB962C8B-B14F-4D97-AF65-F5344CB8AC3E}">
        <p14:creationId xmlns:p14="http://schemas.microsoft.com/office/powerpoint/2010/main" val="951279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52" name="Rounded Rectangle 51"/>
          <p:cNvSpPr/>
          <p:nvPr/>
        </p:nvSpPr>
        <p:spPr>
          <a:xfrm>
            <a:off x="7236482" y="1574225"/>
            <a:ext cx="3073400" cy="138725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2400">
              <a:solidFill>
                <a:srgbClr val="000000"/>
              </a:solidFill>
            </a:endParaRPr>
          </a:p>
        </p:txBody>
      </p:sp>
      <p:sp>
        <p:nvSpPr>
          <p:cNvPr id="231" name="Rounded Rectangle 230"/>
          <p:cNvSpPr/>
          <p:nvPr/>
        </p:nvSpPr>
        <p:spPr>
          <a:xfrm>
            <a:off x="1002629" y="1575476"/>
            <a:ext cx="3055055" cy="144228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2400">
              <a:solidFill>
                <a:srgbClr val="000000"/>
              </a:solidFill>
            </a:endParaRPr>
          </a:p>
        </p:txBody>
      </p:sp>
      <p:pic>
        <p:nvPicPr>
          <p:cNvPr id="3" name="Picture 2"/>
          <p:cNvPicPr>
            <a:picLocks noChangeAspect="1"/>
          </p:cNvPicPr>
          <p:nvPr>
            <p:custDataLst>
              <p:tags r:id="rId1"/>
            </p:custDataLst>
          </p:nvPr>
        </p:nvPicPr>
        <p:blipFill>
          <a:blip r:embed="rId13" cstate="print">
            <a:extLst>
              <a:ext uri="{28A0092B-C50C-407E-A947-70E740481C1C}">
                <a14:useLocalDpi xmlns:a14="http://schemas.microsoft.com/office/drawing/2010/main" val="0"/>
              </a:ext>
            </a:extLst>
          </a:blip>
          <a:stretch>
            <a:fillRect/>
          </a:stretch>
        </p:blipFill>
        <p:spPr>
          <a:xfrm>
            <a:off x="1301709" y="1680428"/>
            <a:ext cx="2560320" cy="1232376"/>
          </a:xfrm>
          <a:prstGeom prst="rect">
            <a:avLst/>
          </a:prstGeom>
        </p:spPr>
      </p:pic>
      <p:pic>
        <p:nvPicPr>
          <p:cNvPr id="6" name="Picture 5"/>
          <p:cNvPicPr>
            <a:picLocks noChangeAspect="1"/>
          </p:cNvPicPr>
          <p:nvPr>
            <p:custDataLst>
              <p:tags r:id="rId2"/>
            </p:custDataLst>
          </p:nvPr>
        </p:nvPicPr>
        <p:blipFill>
          <a:blip r:embed="rId14" cstate="print">
            <a:extLst>
              <a:ext uri="{28A0092B-C50C-407E-A947-70E740481C1C}">
                <a14:useLocalDpi xmlns:a14="http://schemas.microsoft.com/office/drawing/2010/main" val="0"/>
              </a:ext>
            </a:extLst>
          </a:blip>
          <a:stretch>
            <a:fillRect/>
          </a:stretch>
        </p:blipFill>
        <p:spPr>
          <a:xfrm>
            <a:off x="5479651" y="2209228"/>
            <a:ext cx="298745" cy="174776"/>
          </a:xfrm>
          <a:prstGeom prst="rect">
            <a:avLst/>
          </a:prstGeom>
        </p:spPr>
      </p:pic>
      <p:pic>
        <p:nvPicPr>
          <p:cNvPr id="7" name="Picture 6"/>
          <p:cNvPicPr>
            <a:picLocks noChangeAspect="1"/>
          </p:cNvPicPr>
          <p:nvPr>
            <p:custDataLst>
              <p:tags r:id="rId3"/>
            </p:custDataLst>
          </p:nvPr>
        </p:nvPicPr>
        <p:blipFill>
          <a:blip r:embed="rId15" cstate="print">
            <a:extLst>
              <a:ext uri="{28A0092B-C50C-407E-A947-70E740481C1C}">
                <a14:useLocalDpi xmlns:a14="http://schemas.microsoft.com/office/drawing/2010/main" val="0"/>
              </a:ext>
            </a:extLst>
          </a:blip>
          <a:stretch>
            <a:fillRect/>
          </a:stretch>
        </p:blipFill>
        <p:spPr>
          <a:xfrm>
            <a:off x="7501714" y="1660260"/>
            <a:ext cx="2560320" cy="1201697"/>
          </a:xfrm>
          <a:prstGeom prst="rect">
            <a:avLst/>
          </a:prstGeom>
        </p:spPr>
      </p:pic>
      <p:sp>
        <p:nvSpPr>
          <p:cNvPr id="8" name="TextBox 7"/>
          <p:cNvSpPr txBox="1"/>
          <p:nvPr/>
        </p:nvSpPr>
        <p:spPr>
          <a:xfrm>
            <a:off x="4505982" y="2124561"/>
            <a:ext cx="622300" cy="461665"/>
          </a:xfrm>
          <a:prstGeom prst="rect">
            <a:avLst/>
          </a:prstGeom>
          <a:noFill/>
        </p:spPr>
        <p:txBody>
          <a:bodyPr wrap="square" rtlCol="0">
            <a:spAutoFit/>
          </a:bodyPr>
          <a:lstStyle/>
          <a:p>
            <a:r>
              <a:rPr lang="en-US" sz="2400" dirty="0"/>
              <a:t>(1)</a:t>
            </a:r>
          </a:p>
        </p:txBody>
      </p:sp>
      <p:sp>
        <p:nvSpPr>
          <p:cNvPr id="60" name="TextBox 59"/>
          <p:cNvSpPr txBox="1"/>
          <p:nvPr/>
        </p:nvSpPr>
        <p:spPr>
          <a:xfrm>
            <a:off x="6226694" y="2094745"/>
            <a:ext cx="622300" cy="461665"/>
          </a:xfrm>
          <a:prstGeom prst="rect">
            <a:avLst/>
          </a:prstGeom>
          <a:noFill/>
        </p:spPr>
        <p:txBody>
          <a:bodyPr wrap="square" rtlCol="0">
            <a:spAutoFit/>
          </a:bodyPr>
          <a:lstStyle/>
          <a:p>
            <a:r>
              <a:rPr lang="en-US" sz="2400" dirty="0"/>
              <a:t>(2)</a:t>
            </a:r>
          </a:p>
        </p:txBody>
      </p:sp>
      <p:grpSp>
        <p:nvGrpSpPr>
          <p:cNvPr id="18" name="Group 17"/>
          <p:cNvGrpSpPr/>
          <p:nvPr/>
        </p:nvGrpSpPr>
        <p:grpSpPr>
          <a:xfrm>
            <a:off x="99833" y="3343199"/>
            <a:ext cx="4921474" cy="3449542"/>
            <a:chOff x="519885" y="2386782"/>
            <a:chExt cx="4921474" cy="3449542"/>
          </a:xfrm>
        </p:grpSpPr>
        <p:sp>
          <p:nvSpPr>
            <p:cNvPr id="21" name="Flowchart: Connector 20"/>
            <p:cNvSpPr/>
            <p:nvPr/>
          </p:nvSpPr>
          <p:spPr>
            <a:xfrm>
              <a:off x="1391409" y="4176060"/>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2" name="Flowchart: Connector 21"/>
            <p:cNvSpPr/>
            <p:nvPr/>
          </p:nvSpPr>
          <p:spPr>
            <a:xfrm>
              <a:off x="1353587" y="4693934"/>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3" name="Flowchart: Connector 22"/>
            <p:cNvSpPr/>
            <p:nvPr/>
          </p:nvSpPr>
          <p:spPr>
            <a:xfrm>
              <a:off x="1909292" y="4655019"/>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4" name="Flowchart: Connector 23"/>
            <p:cNvSpPr/>
            <p:nvPr/>
          </p:nvSpPr>
          <p:spPr>
            <a:xfrm>
              <a:off x="2011123" y="5154927"/>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5" name="Flowchart: Connector 24"/>
            <p:cNvSpPr/>
            <p:nvPr/>
          </p:nvSpPr>
          <p:spPr>
            <a:xfrm>
              <a:off x="1501971" y="5187856"/>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6" name="Flowchart: Connector 25"/>
            <p:cNvSpPr/>
            <p:nvPr/>
          </p:nvSpPr>
          <p:spPr>
            <a:xfrm>
              <a:off x="2249697" y="4089252"/>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7" name="Flowchart: Connector 26"/>
            <p:cNvSpPr/>
            <p:nvPr/>
          </p:nvSpPr>
          <p:spPr>
            <a:xfrm>
              <a:off x="1792913" y="4014415"/>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8" name="Flowchart: Connector 27"/>
            <p:cNvSpPr/>
            <p:nvPr/>
          </p:nvSpPr>
          <p:spPr>
            <a:xfrm>
              <a:off x="2523183" y="4658010"/>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9" name="Flowchart: Connector 28"/>
            <p:cNvSpPr/>
            <p:nvPr/>
          </p:nvSpPr>
          <p:spPr>
            <a:xfrm>
              <a:off x="2572644" y="5139959"/>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30" name="Flowchart: Connector 29"/>
            <p:cNvSpPr/>
            <p:nvPr/>
          </p:nvSpPr>
          <p:spPr>
            <a:xfrm>
              <a:off x="1405956" y="3526479"/>
              <a:ext cx="233047" cy="233488"/>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31" name="Oval 30"/>
            <p:cNvSpPr/>
            <p:nvPr/>
          </p:nvSpPr>
          <p:spPr>
            <a:xfrm>
              <a:off x="4184481" y="2775114"/>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2" name="Oval 31"/>
            <p:cNvSpPr/>
            <p:nvPr/>
          </p:nvSpPr>
          <p:spPr>
            <a:xfrm>
              <a:off x="3308736" y="2933768"/>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3" name="Oval 32"/>
            <p:cNvSpPr/>
            <p:nvPr/>
          </p:nvSpPr>
          <p:spPr>
            <a:xfrm>
              <a:off x="3899356" y="3056496"/>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4" name="Oval 33"/>
            <p:cNvSpPr/>
            <p:nvPr/>
          </p:nvSpPr>
          <p:spPr>
            <a:xfrm>
              <a:off x="3582227" y="3466606"/>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5" name="Oval 34"/>
            <p:cNvSpPr/>
            <p:nvPr/>
          </p:nvSpPr>
          <p:spPr>
            <a:xfrm>
              <a:off x="3896445" y="4005430"/>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6" name="Oval 35"/>
            <p:cNvSpPr/>
            <p:nvPr/>
          </p:nvSpPr>
          <p:spPr>
            <a:xfrm>
              <a:off x="4018643" y="3484567"/>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7" name="Oval 36"/>
            <p:cNvSpPr/>
            <p:nvPr/>
          </p:nvSpPr>
          <p:spPr>
            <a:xfrm>
              <a:off x="3020701" y="3337887"/>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8" name="Oval 37"/>
            <p:cNvSpPr/>
            <p:nvPr/>
          </p:nvSpPr>
          <p:spPr>
            <a:xfrm>
              <a:off x="4344499" y="3191204"/>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9" name="Oval 38"/>
            <p:cNvSpPr/>
            <p:nvPr/>
          </p:nvSpPr>
          <p:spPr>
            <a:xfrm>
              <a:off x="4393960" y="3870722"/>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40" name="Oval 39"/>
            <p:cNvSpPr/>
            <p:nvPr/>
          </p:nvSpPr>
          <p:spPr>
            <a:xfrm>
              <a:off x="3326193" y="3903651"/>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41" name="Oval 40"/>
            <p:cNvSpPr/>
            <p:nvPr/>
          </p:nvSpPr>
          <p:spPr>
            <a:xfrm>
              <a:off x="4338680" y="4460439"/>
              <a:ext cx="233047" cy="239777"/>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42" name="TextBox 41"/>
            <p:cNvSpPr txBox="1"/>
            <p:nvPr/>
          </p:nvSpPr>
          <p:spPr>
            <a:xfrm>
              <a:off x="891448" y="4303104"/>
              <a:ext cx="736709" cy="338555"/>
            </a:xfrm>
            <a:prstGeom prst="rect">
              <a:avLst/>
            </a:prstGeom>
            <a:noFill/>
          </p:spPr>
          <p:txBody>
            <a:bodyPr wrap="square" rtlCol="0">
              <a:spAutoFit/>
            </a:bodyPr>
            <a:lstStyle/>
            <a:p>
              <a:r>
                <a:rPr lang="en-US" sz="1600" b="1" dirty="0"/>
                <a:t>-1</a:t>
              </a:r>
            </a:p>
          </p:txBody>
        </p:sp>
        <p:sp>
          <p:nvSpPr>
            <p:cNvPr id="43" name="TextBox 42"/>
            <p:cNvSpPr txBox="1"/>
            <p:nvPr/>
          </p:nvSpPr>
          <p:spPr>
            <a:xfrm>
              <a:off x="4652899" y="4029383"/>
              <a:ext cx="788460" cy="338555"/>
            </a:xfrm>
            <a:prstGeom prst="rect">
              <a:avLst/>
            </a:prstGeom>
            <a:noFill/>
          </p:spPr>
          <p:txBody>
            <a:bodyPr wrap="square" rtlCol="0">
              <a:spAutoFit/>
            </a:bodyPr>
            <a:lstStyle/>
            <a:p>
              <a:r>
                <a:rPr lang="en-US" sz="1600" b="1" dirty="0"/>
                <a:t>+1</a:t>
              </a:r>
            </a:p>
          </p:txBody>
        </p:sp>
        <p:cxnSp>
          <p:nvCxnSpPr>
            <p:cNvPr id="44" name="Straight Connector 43"/>
            <p:cNvCxnSpPr/>
            <p:nvPr/>
          </p:nvCxnSpPr>
          <p:spPr>
            <a:xfrm>
              <a:off x="2075127" y="2939755"/>
              <a:ext cx="1955148" cy="2717472"/>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2338440" y="2733795"/>
              <a:ext cx="1955148" cy="2717472"/>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1774571" y="3118852"/>
              <a:ext cx="1955148" cy="2717472"/>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V="1">
              <a:off x="2663605" y="3537795"/>
              <a:ext cx="272520" cy="20167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2536567" y="3319862"/>
              <a:ext cx="1589911" cy="338555"/>
            </a:xfrm>
            <a:prstGeom prst="rect">
              <a:avLst/>
            </a:prstGeom>
            <a:noFill/>
          </p:spPr>
          <p:txBody>
            <a:bodyPr wrap="square" rtlCol="0">
              <a:spAutoFit/>
            </a:bodyPr>
            <a:lstStyle/>
            <a:p>
              <a:r>
                <a:rPr lang="en-US" sz="1600" dirty="0">
                  <a:latin typeface="Source Sans Pro" panose="020B0604020202020204" charset="0"/>
                </a:rPr>
                <a:t>M</a:t>
              </a:r>
            </a:p>
          </p:txBody>
        </p:sp>
        <p:pic>
          <p:nvPicPr>
            <p:cNvPr id="17" name="Picture 16" descr="\documentclass{article}&#10;\usepackage{amsmath}&#10;\pagestyle{empty}&#10;\begin{document}&#10;&#10;&#10;$w^Tx+b =0$\\&#10;&#10;&#10;\end{document}" title="IguanaTex Bitmap Display"/>
            <p:cNvPicPr>
              <a:picLocks noChangeAspect="1"/>
            </p:cNvPicPr>
            <p:nvPr>
              <p:custDataLst>
                <p:tags r:id="rId8"/>
              </p:custDataLst>
            </p:nvPr>
          </p:nvPicPr>
          <p:blipFill>
            <a:blip r:embed="rId16" cstate="print">
              <a:extLst>
                <a:ext uri="{28A0092B-C50C-407E-A947-70E740481C1C}">
                  <a14:useLocalDpi xmlns:a14="http://schemas.microsoft.com/office/drawing/2010/main" val="0"/>
                </a:ext>
              </a:extLst>
            </a:blip>
            <a:stretch>
              <a:fillRect/>
            </a:stretch>
          </p:blipFill>
          <p:spPr>
            <a:xfrm>
              <a:off x="4221263" y="5639562"/>
              <a:ext cx="1086458" cy="185344"/>
            </a:xfrm>
            <a:prstGeom prst="rect">
              <a:avLst/>
            </a:prstGeom>
          </p:spPr>
        </p:pic>
        <p:pic>
          <p:nvPicPr>
            <p:cNvPr id="14" name="Picture 13" descr="\documentclass{article}&#10;\usepackage{amsmath}&#10;\newcommand{\norm}[1]{\left\lVert#1\right\rVert}&#10;&#10;\pagestyle{empty}&#10;\begin{document}&#10;&#10;&#10;$\frac{w^Tx+b}{\norm w} =  M$&#10;&#10;&#10;\end{document}" title="IguanaTex Bitmap Display"/>
            <p:cNvPicPr>
              <a:picLocks noChangeAspect="1"/>
            </p:cNvPicPr>
            <p:nvPr>
              <p:custDataLst>
                <p:tags r:id="rId9"/>
              </p:custDataLst>
            </p:nvPr>
          </p:nvPicPr>
          <p:blipFill>
            <a:blip r:embed="rId17" cstate="print">
              <a:extLst>
                <a:ext uri="{28A0092B-C50C-407E-A947-70E740481C1C}">
                  <a14:useLocalDpi xmlns:a14="http://schemas.microsoft.com/office/drawing/2010/main" val="0"/>
                </a:ext>
              </a:extLst>
            </a:blip>
            <a:stretch>
              <a:fillRect/>
            </a:stretch>
          </p:blipFill>
          <p:spPr>
            <a:xfrm>
              <a:off x="2303064" y="2386782"/>
              <a:ext cx="1025489" cy="313377"/>
            </a:xfrm>
            <a:prstGeom prst="rect">
              <a:avLst/>
            </a:prstGeom>
          </p:spPr>
        </p:pic>
        <p:pic>
          <p:nvPicPr>
            <p:cNvPr id="11" name="Picture 10" descr="\documentclass{article}&#10;\usepackage{amsmath}&#10;\newcommand{\norm}[1]{\left\lVert#1\right\rVert}&#10;&#10;\pagestyle{empty}&#10;\begin{document}&#10;&#10;&#10;&#10;$\frac{w^Tx+b}{\norm w} = - M$&#10;&#10;\end{document}" title="IguanaTex Bitmap Display"/>
            <p:cNvPicPr>
              <a:picLocks noChangeAspect="1"/>
            </p:cNvPicPr>
            <p:nvPr>
              <p:custDataLst>
                <p:tags r:id="rId10"/>
              </p:custDataLst>
            </p:nvPr>
          </p:nvPicPr>
          <p:blipFill>
            <a:blip r:embed="rId18" cstate="print">
              <a:extLst>
                <a:ext uri="{28A0092B-C50C-407E-A947-70E740481C1C}">
                  <a14:useLocalDpi xmlns:a14="http://schemas.microsoft.com/office/drawing/2010/main" val="0"/>
                </a:ext>
              </a:extLst>
            </a:blip>
            <a:stretch>
              <a:fillRect/>
            </a:stretch>
          </p:blipFill>
          <p:spPr>
            <a:xfrm>
              <a:off x="519885" y="2896967"/>
              <a:ext cx="1182789" cy="313377"/>
            </a:xfrm>
            <a:prstGeom prst="rect">
              <a:avLst/>
            </a:prstGeom>
          </p:spPr>
        </p:pic>
      </p:grpSp>
      <p:grpSp>
        <p:nvGrpSpPr>
          <p:cNvPr id="58" name="Group 57"/>
          <p:cNvGrpSpPr/>
          <p:nvPr/>
        </p:nvGrpSpPr>
        <p:grpSpPr>
          <a:xfrm>
            <a:off x="7201275" y="3531287"/>
            <a:ext cx="4990725" cy="3262251"/>
            <a:chOff x="5138197" y="2096264"/>
            <a:chExt cx="3743044" cy="2446688"/>
          </a:xfrm>
        </p:grpSpPr>
        <p:grpSp>
          <p:nvGrpSpPr>
            <p:cNvPr id="59" name="Group 58"/>
            <p:cNvGrpSpPr/>
            <p:nvPr/>
          </p:nvGrpSpPr>
          <p:grpSpPr>
            <a:xfrm>
              <a:off x="5138197" y="2096264"/>
              <a:ext cx="3743044" cy="2446688"/>
              <a:chOff x="5400956" y="2127795"/>
              <a:chExt cx="3743044" cy="2446688"/>
            </a:xfrm>
          </p:grpSpPr>
          <p:sp>
            <p:nvSpPr>
              <p:cNvPr id="62" name="Flowchart: Connector 61"/>
              <p:cNvSpPr/>
              <p:nvPr/>
            </p:nvSpPr>
            <p:spPr>
              <a:xfrm>
                <a:off x="6106538" y="3329254"/>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3" name="Flowchart: Connector 62"/>
              <p:cNvSpPr/>
              <p:nvPr/>
            </p:nvSpPr>
            <p:spPr>
              <a:xfrm>
                <a:off x="6078171" y="3717659"/>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4" name="Flowchart: Connector 63"/>
              <p:cNvSpPr/>
              <p:nvPr/>
            </p:nvSpPr>
            <p:spPr>
              <a:xfrm>
                <a:off x="6494950" y="3688473"/>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5" name="Flowchart: Connector 64"/>
              <p:cNvSpPr/>
              <p:nvPr/>
            </p:nvSpPr>
            <p:spPr>
              <a:xfrm>
                <a:off x="6571323" y="4063404"/>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6" name="Flowchart: Connector 65"/>
              <p:cNvSpPr/>
              <p:nvPr/>
            </p:nvSpPr>
            <p:spPr>
              <a:xfrm>
                <a:off x="6189459" y="4088101"/>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7" name="Flowchart: Connector 66"/>
              <p:cNvSpPr/>
              <p:nvPr/>
            </p:nvSpPr>
            <p:spPr>
              <a:xfrm>
                <a:off x="6750254" y="3264148"/>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8" name="Flowchart: Connector 67"/>
              <p:cNvSpPr/>
              <p:nvPr/>
            </p:nvSpPr>
            <p:spPr>
              <a:xfrm>
                <a:off x="6407666" y="3208020"/>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9" name="Flowchart: Connector 68"/>
              <p:cNvSpPr/>
              <p:nvPr/>
            </p:nvSpPr>
            <p:spPr>
              <a:xfrm>
                <a:off x="6955368" y="3690716"/>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0" name="Flowchart: Connector 69"/>
              <p:cNvSpPr/>
              <p:nvPr/>
            </p:nvSpPr>
            <p:spPr>
              <a:xfrm>
                <a:off x="6992464" y="4052178"/>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1" name="Flowchart: Connector 70"/>
              <p:cNvSpPr/>
              <p:nvPr/>
            </p:nvSpPr>
            <p:spPr>
              <a:xfrm>
                <a:off x="6117448" y="2842068"/>
                <a:ext cx="174785" cy="175116"/>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2" name="Oval 71"/>
              <p:cNvSpPr/>
              <p:nvPr/>
            </p:nvSpPr>
            <p:spPr>
              <a:xfrm>
                <a:off x="8201342" y="2278544"/>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73" name="Oval 72"/>
              <p:cNvSpPr/>
              <p:nvPr/>
            </p:nvSpPr>
            <p:spPr>
              <a:xfrm>
                <a:off x="7544533" y="2397535"/>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74" name="Oval 73"/>
              <p:cNvSpPr/>
              <p:nvPr/>
            </p:nvSpPr>
            <p:spPr>
              <a:xfrm>
                <a:off x="7987498" y="2489581"/>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75" name="Oval 74"/>
              <p:cNvSpPr/>
              <p:nvPr/>
            </p:nvSpPr>
            <p:spPr>
              <a:xfrm>
                <a:off x="7749651" y="2797163"/>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76" name="Oval 75"/>
              <p:cNvSpPr/>
              <p:nvPr/>
            </p:nvSpPr>
            <p:spPr>
              <a:xfrm>
                <a:off x="7985315" y="3201281"/>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77" name="Oval 76"/>
              <p:cNvSpPr/>
              <p:nvPr/>
            </p:nvSpPr>
            <p:spPr>
              <a:xfrm>
                <a:off x="8076963" y="2810634"/>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78" name="Oval 77"/>
              <p:cNvSpPr/>
              <p:nvPr/>
            </p:nvSpPr>
            <p:spPr>
              <a:xfrm>
                <a:off x="7328507" y="2700624"/>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79" name="Oval 78"/>
              <p:cNvSpPr/>
              <p:nvPr/>
            </p:nvSpPr>
            <p:spPr>
              <a:xfrm>
                <a:off x="8321355" y="2590612"/>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0" name="Oval 79"/>
              <p:cNvSpPr/>
              <p:nvPr/>
            </p:nvSpPr>
            <p:spPr>
              <a:xfrm>
                <a:off x="8358451" y="3100250"/>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1" name="Oval 80"/>
              <p:cNvSpPr/>
              <p:nvPr/>
            </p:nvSpPr>
            <p:spPr>
              <a:xfrm>
                <a:off x="7557626" y="3124947"/>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2" name="Oval 81"/>
              <p:cNvSpPr/>
              <p:nvPr/>
            </p:nvSpPr>
            <p:spPr>
              <a:xfrm>
                <a:off x="8316991" y="3542538"/>
                <a:ext cx="174785" cy="179833"/>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3" name="TextBox 82"/>
              <p:cNvSpPr txBox="1"/>
              <p:nvPr/>
            </p:nvSpPr>
            <p:spPr>
              <a:xfrm>
                <a:off x="5731567" y="3424537"/>
                <a:ext cx="552532" cy="253915"/>
              </a:xfrm>
              <a:prstGeom prst="rect">
                <a:avLst/>
              </a:prstGeom>
              <a:noFill/>
            </p:spPr>
            <p:txBody>
              <a:bodyPr wrap="square" rtlCol="0">
                <a:spAutoFit/>
              </a:bodyPr>
              <a:lstStyle/>
              <a:p>
                <a:r>
                  <a:rPr lang="en-US" sz="1600" b="1" dirty="0"/>
                  <a:t>-1</a:t>
                </a:r>
              </a:p>
            </p:txBody>
          </p:sp>
          <p:sp>
            <p:nvSpPr>
              <p:cNvPr id="84" name="TextBox 83"/>
              <p:cNvSpPr txBox="1"/>
              <p:nvPr/>
            </p:nvSpPr>
            <p:spPr>
              <a:xfrm>
                <a:off x="8552655" y="3219246"/>
                <a:ext cx="591345" cy="253915"/>
              </a:xfrm>
              <a:prstGeom prst="rect">
                <a:avLst/>
              </a:prstGeom>
              <a:noFill/>
            </p:spPr>
            <p:txBody>
              <a:bodyPr wrap="square" rtlCol="0">
                <a:spAutoFit/>
              </a:bodyPr>
              <a:lstStyle/>
              <a:p>
                <a:r>
                  <a:rPr lang="en-US" sz="1600" b="1" dirty="0"/>
                  <a:t>+1</a:t>
                </a:r>
              </a:p>
            </p:txBody>
          </p:sp>
          <p:cxnSp>
            <p:nvCxnSpPr>
              <p:cNvPr id="85" name="Straight Connector 84"/>
              <p:cNvCxnSpPr/>
              <p:nvPr/>
            </p:nvCxnSpPr>
            <p:spPr>
              <a:xfrm>
                <a:off x="6619326" y="2402025"/>
                <a:ext cx="1466361" cy="2038104"/>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6816811" y="2247555"/>
                <a:ext cx="1466361" cy="2038104"/>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6393909" y="2536348"/>
                <a:ext cx="1466361" cy="2038104"/>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flipV="1">
                <a:off x="7060685" y="2850555"/>
                <a:ext cx="204390" cy="15125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pic>
            <p:nvPicPr>
              <p:cNvPr id="89" name="Picture 88"/>
              <p:cNvPicPr>
                <a:picLocks noChangeAspect="1"/>
              </p:cNvPicPr>
              <p:nvPr>
                <p:custDataLst>
                  <p:tags r:id="rId5"/>
                </p:custDataLst>
              </p:nvPr>
            </p:nvPicPr>
            <p:blipFill>
              <a:blip r:embed="rId19" cstate="print">
                <a:extLst>
                  <a:ext uri="{28A0092B-C50C-407E-A947-70E740481C1C}">
                    <a14:useLocalDpi xmlns:a14="http://schemas.microsoft.com/office/drawing/2010/main" val="0"/>
                  </a:ext>
                </a:extLst>
              </a:blip>
              <a:stretch>
                <a:fillRect/>
              </a:stretch>
            </p:blipFill>
            <p:spPr>
              <a:xfrm>
                <a:off x="8234475" y="4435475"/>
                <a:ext cx="814844" cy="139008"/>
              </a:xfrm>
              <a:prstGeom prst="rect">
                <a:avLst/>
              </a:prstGeom>
            </p:spPr>
          </p:pic>
          <p:pic>
            <p:nvPicPr>
              <p:cNvPr id="90" name="Picture 89"/>
              <p:cNvPicPr>
                <a:picLocks noChangeAspect="1"/>
              </p:cNvPicPr>
              <p:nvPr>
                <p:custDataLst>
                  <p:tags r:id="rId6"/>
                </p:custDataLst>
              </p:nvPr>
            </p:nvPicPr>
            <p:blipFill>
              <a:blip r:embed="rId20" cstate="print">
                <a:extLst>
                  <a:ext uri="{28A0092B-C50C-407E-A947-70E740481C1C}">
                    <a14:useLocalDpi xmlns:a14="http://schemas.microsoft.com/office/drawing/2010/main" val="0"/>
                  </a:ext>
                </a:extLst>
              </a:blip>
              <a:stretch>
                <a:fillRect/>
              </a:stretch>
            </p:blipFill>
            <p:spPr>
              <a:xfrm>
                <a:off x="6930867" y="2127795"/>
                <a:ext cx="808442" cy="146324"/>
              </a:xfrm>
              <a:prstGeom prst="rect">
                <a:avLst/>
              </a:prstGeom>
            </p:spPr>
          </p:pic>
          <p:pic>
            <p:nvPicPr>
              <p:cNvPr id="91" name="Picture 90"/>
              <p:cNvPicPr>
                <a:picLocks noChangeAspect="1"/>
              </p:cNvPicPr>
              <p:nvPr>
                <p:custDataLst>
                  <p:tags r:id="rId7"/>
                </p:custDataLst>
              </p:nvPr>
            </p:nvPicPr>
            <p:blipFill>
              <a:blip r:embed="rId21" cstate="print">
                <a:extLst>
                  <a:ext uri="{28A0092B-C50C-407E-A947-70E740481C1C}">
                    <a14:useLocalDpi xmlns:a14="http://schemas.microsoft.com/office/drawing/2010/main" val="0"/>
                  </a:ext>
                </a:extLst>
              </a:blip>
              <a:stretch>
                <a:fillRect/>
              </a:stretch>
            </p:blipFill>
            <p:spPr>
              <a:xfrm>
                <a:off x="5400956" y="2482190"/>
                <a:ext cx="926417" cy="146324"/>
              </a:xfrm>
              <a:prstGeom prst="rect">
                <a:avLst/>
              </a:prstGeom>
            </p:spPr>
          </p:pic>
        </p:grpSp>
        <p:pic>
          <p:nvPicPr>
            <p:cNvPr id="61" name="Picture 60"/>
            <p:cNvPicPr>
              <a:picLocks noChangeAspect="1"/>
            </p:cNvPicPr>
            <p:nvPr>
              <p:custDataLst>
                <p:tags r:id="rId4"/>
              </p:custDataLst>
            </p:nvPr>
          </p:nvPicPr>
          <p:blipFill>
            <a:blip r:embed="rId22" cstate="print">
              <a:extLst>
                <a:ext uri="{28A0092B-C50C-407E-A947-70E740481C1C}">
                  <a14:useLocalDpi xmlns:a14="http://schemas.microsoft.com/office/drawing/2010/main" val="0"/>
                </a:ext>
              </a:extLst>
            </a:blip>
            <a:stretch>
              <a:fillRect/>
            </a:stretch>
          </p:blipFill>
          <p:spPr>
            <a:xfrm>
              <a:off x="6751364" y="2654301"/>
              <a:ext cx="214914" cy="208512"/>
            </a:xfrm>
            <a:prstGeom prst="rect">
              <a:avLst/>
            </a:prstGeom>
          </p:spPr>
        </p:pic>
      </p:grpSp>
      <p:sp>
        <p:nvSpPr>
          <p:cNvPr id="92" name="TextBox 91"/>
          <p:cNvSpPr txBox="1"/>
          <p:nvPr/>
        </p:nvSpPr>
        <p:spPr>
          <a:xfrm>
            <a:off x="1052949" y="666785"/>
            <a:ext cx="9330239" cy="646331"/>
          </a:xfrm>
          <a:prstGeom prst="rect">
            <a:avLst/>
          </a:prstGeom>
          <a:noFill/>
        </p:spPr>
        <p:txBody>
          <a:bodyPr wrap="square" rtlCol="0">
            <a:spAutoFit/>
          </a:bodyPr>
          <a:lstStyle/>
          <a:p>
            <a:r>
              <a:rPr lang="en-US" dirty="0"/>
              <a:t>We can further show that (1) can be reformulated as (2) (by rescaling w and b); (2) has nicer properties than (1).</a:t>
            </a:r>
          </a:p>
        </p:txBody>
      </p:sp>
    </p:spTree>
    <p:extLst>
      <p:ext uri="{BB962C8B-B14F-4D97-AF65-F5344CB8AC3E}">
        <p14:creationId xmlns:p14="http://schemas.microsoft.com/office/powerpoint/2010/main" val="854286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Soft Margin Classifier - SVM</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974554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5" name="Content Placeholder 4"/>
          <p:cNvSpPr>
            <a:spLocks noGrp="1"/>
          </p:cNvSpPr>
          <p:nvPr>
            <p:ph idx="1"/>
          </p:nvPr>
        </p:nvSpPr>
        <p:spPr>
          <a:xfrm>
            <a:off x="838200" y="1825625"/>
            <a:ext cx="10515600" cy="4177691"/>
          </a:xfrm>
        </p:spPr>
        <p:txBody>
          <a:bodyPr/>
          <a:lstStyle/>
          <a:p>
            <a:pPr marL="550320" indent="-380990">
              <a:lnSpc>
                <a:spcPct val="100000"/>
              </a:lnSpc>
              <a:spcBef>
                <a:spcPts val="1333"/>
              </a:spcBef>
              <a:buSzPct val="100000"/>
            </a:pPr>
            <a:r>
              <a:rPr lang="en-US" sz="2400" dirty="0">
                <a:ea typeface="Source Sans Pro"/>
                <a:cs typeface="Source Sans Pro"/>
                <a:sym typeface="Source Sans Pro"/>
              </a:rPr>
              <a:t>We discussed so far </a:t>
            </a:r>
            <a:r>
              <a:rPr lang="en-US" sz="2400" b="1" dirty="0">
                <a:ea typeface="Source Sans Pro"/>
                <a:cs typeface="Source Sans Pro"/>
                <a:sym typeface="Source Sans Pro"/>
              </a:rPr>
              <a:t>maximal margin </a:t>
            </a:r>
            <a:r>
              <a:rPr lang="en-US" sz="2400" dirty="0">
                <a:ea typeface="Source Sans Pro"/>
                <a:cs typeface="Source Sans Pro"/>
                <a:sym typeface="Source Sans Pro"/>
              </a:rPr>
              <a:t>or </a:t>
            </a:r>
            <a:r>
              <a:rPr lang="en-US" sz="2400" b="1" dirty="0">
                <a:ea typeface="Source Sans Pro"/>
                <a:cs typeface="Source Sans Pro"/>
                <a:sym typeface="Source Sans Pro"/>
              </a:rPr>
              <a:t>optimal</a:t>
            </a:r>
            <a:r>
              <a:rPr lang="en-US" sz="2400" dirty="0">
                <a:ea typeface="Source Sans Pro"/>
                <a:cs typeface="Source Sans Pro"/>
                <a:sym typeface="Source Sans Pro"/>
              </a:rPr>
              <a:t> classifier, also known as, the </a:t>
            </a:r>
            <a:r>
              <a:rPr lang="en-US" sz="2400" b="1" dirty="0">
                <a:ea typeface="Source Sans Pro"/>
                <a:cs typeface="Source Sans Pro"/>
                <a:sym typeface="Source Sans Pro"/>
              </a:rPr>
              <a:t>hard margin </a:t>
            </a:r>
            <a:r>
              <a:rPr lang="en-US" sz="2400" dirty="0">
                <a:ea typeface="Source Sans Pro"/>
                <a:cs typeface="Source Sans Pro"/>
                <a:sym typeface="Source Sans Pro"/>
              </a:rPr>
              <a:t>classifier: no data point is allowed to violate the margin.</a:t>
            </a:r>
          </a:p>
          <a:p>
            <a:pPr marL="550320" indent="-380990">
              <a:lnSpc>
                <a:spcPct val="100000"/>
              </a:lnSpc>
              <a:spcBef>
                <a:spcPts val="1333"/>
              </a:spcBef>
              <a:buSzPct val="100000"/>
            </a:pPr>
            <a:r>
              <a:rPr lang="en-US" sz="2400" b="1" dirty="0">
                <a:ea typeface="Source Sans Pro"/>
                <a:cs typeface="Source Sans Pro"/>
                <a:sym typeface="Source Sans Pro"/>
              </a:rPr>
              <a:t>First issue</a:t>
            </a:r>
            <a:r>
              <a:rPr lang="en-US" sz="2400" dirty="0">
                <a:ea typeface="Source Sans Pro"/>
                <a:cs typeface="Source Sans Pro"/>
                <a:sym typeface="Source Sans Pro"/>
              </a:rPr>
              <a:t>: it might be impossible to find a hard margin classifier.</a:t>
            </a:r>
          </a:p>
          <a:p>
            <a:pPr marL="0" indent="0">
              <a:buNone/>
            </a:pPr>
            <a:endParaRPr lang="en-US" dirty="0"/>
          </a:p>
        </p:txBody>
      </p:sp>
      <p:grpSp>
        <p:nvGrpSpPr>
          <p:cNvPr id="6" name="Group 5"/>
          <p:cNvGrpSpPr/>
          <p:nvPr/>
        </p:nvGrpSpPr>
        <p:grpSpPr>
          <a:xfrm>
            <a:off x="4325973" y="3483953"/>
            <a:ext cx="2438400" cy="2654300"/>
            <a:chOff x="4980729" y="3445839"/>
            <a:chExt cx="2438400" cy="2654300"/>
          </a:xfrm>
        </p:grpSpPr>
        <p:sp>
          <p:nvSpPr>
            <p:cNvPr id="3" name="Rectangle 2"/>
            <p:cNvSpPr/>
            <p:nvPr/>
          </p:nvSpPr>
          <p:spPr>
            <a:xfrm>
              <a:off x="4980729" y="3445839"/>
              <a:ext cx="2438400" cy="2654300"/>
            </a:xfrm>
            <a:prstGeom prst="rect">
              <a:avLst/>
            </a:prstGeom>
            <a:ln>
              <a:solidFill>
                <a:srgbClr val="00206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2400">
                <a:solidFill>
                  <a:schemeClr val="tx1"/>
                </a:solidFill>
              </a:endParaRPr>
            </a:p>
          </p:txBody>
        </p:sp>
        <p:grpSp>
          <p:nvGrpSpPr>
            <p:cNvPr id="2" name="Group 1"/>
            <p:cNvGrpSpPr/>
            <p:nvPr/>
          </p:nvGrpSpPr>
          <p:grpSpPr>
            <a:xfrm>
              <a:off x="5095817" y="3552898"/>
              <a:ext cx="2208224" cy="2419279"/>
              <a:chOff x="3107548" y="2464210"/>
              <a:chExt cx="1656168" cy="1814459"/>
            </a:xfrm>
          </p:grpSpPr>
          <p:sp>
            <p:nvSpPr>
              <p:cNvPr id="9" name="Flowchart: Connector 8"/>
              <p:cNvSpPr/>
              <p:nvPr/>
            </p:nvSpPr>
            <p:spPr>
              <a:xfrm>
                <a:off x="4334888" y="3310204"/>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10" name="Flowchart: Connector 9"/>
              <p:cNvSpPr/>
              <p:nvPr/>
            </p:nvSpPr>
            <p:spPr>
              <a:xfrm>
                <a:off x="3287346" y="3527159"/>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11" name="Flowchart: Connector 10"/>
              <p:cNvSpPr/>
              <p:nvPr/>
            </p:nvSpPr>
            <p:spPr>
              <a:xfrm>
                <a:off x="3847000" y="3831348"/>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12" name="Flowchart: Connector 11"/>
              <p:cNvSpPr/>
              <p:nvPr/>
            </p:nvSpPr>
            <p:spPr>
              <a:xfrm>
                <a:off x="3685248" y="4187229"/>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13" name="Flowchart: Connector 12"/>
              <p:cNvSpPr/>
              <p:nvPr/>
            </p:nvSpPr>
            <p:spPr>
              <a:xfrm>
                <a:off x="3846309" y="4011901"/>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14" name="Flowchart: Connector 13"/>
              <p:cNvSpPr/>
              <p:nvPr/>
            </p:nvSpPr>
            <p:spPr>
              <a:xfrm>
                <a:off x="3597479" y="3168898"/>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15" name="Flowchart: Connector 14"/>
              <p:cNvSpPr/>
              <p:nvPr/>
            </p:nvSpPr>
            <p:spPr>
              <a:xfrm>
                <a:off x="3521591" y="3331845"/>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16" name="Flowchart: Connector 15"/>
              <p:cNvSpPr/>
              <p:nvPr/>
            </p:nvSpPr>
            <p:spPr>
              <a:xfrm>
                <a:off x="4069293" y="3814541"/>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17" name="Flowchart: Connector 16"/>
              <p:cNvSpPr/>
              <p:nvPr/>
            </p:nvSpPr>
            <p:spPr>
              <a:xfrm>
                <a:off x="4106389" y="4176003"/>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18" name="Flowchart: Connector 17"/>
              <p:cNvSpPr/>
              <p:nvPr/>
            </p:nvSpPr>
            <p:spPr>
              <a:xfrm>
                <a:off x="3231373" y="2965893"/>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19" name="Oval 18"/>
              <p:cNvSpPr/>
              <p:nvPr/>
            </p:nvSpPr>
            <p:spPr>
              <a:xfrm>
                <a:off x="3629342" y="2573819"/>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20" name="Oval 19"/>
              <p:cNvSpPr/>
              <p:nvPr/>
            </p:nvSpPr>
            <p:spPr>
              <a:xfrm>
                <a:off x="3915508" y="2464210"/>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21" name="Oval 20"/>
              <p:cNvSpPr/>
              <p:nvPr/>
            </p:nvSpPr>
            <p:spPr>
              <a:xfrm>
                <a:off x="4358473" y="2556256"/>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22" name="Oval 21"/>
              <p:cNvSpPr/>
              <p:nvPr/>
            </p:nvSpPr>
            <p:spPr>
              <a:xfrm>
                <a:off x="4120626" y="2863838"/>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23" name="Oval 22"/>
              <p:cNvSpPr/>
              <p:nvPr/>
            </p:nvSpPr>
            <p:spPr>
              <a:xfrm>
                <a:off x="4213415" y="3467981"/>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24" name="Oval 23"/>
              <p:cNvSpPr/>
              <p:nvPr/>
            </p:nvSpPr>
            <p:spPr>
              <a:xfrm>
                <a:off x="4447938" y="2877309"/>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25" name="Oval 24"/>
              <p:cNvSpPr/>
              <p:nvPr/>
            </p:nvSpPr>
            <p:spPr>
              <a:xfrm>
                <a:off x="3749355" y="2885887"/>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26" name="Oval 25"/>
              <p:cNvSpPr/>
              <p:nvPr/>
            </p:nvSpPr>
            <p:spPr>
              <a:xfrm>
                <a:off x="4586551" y="3366950"/>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27" name="Oval 26"/>
              <p:cNvSpPr/>
              <p:nvPr/>
            </p:nvSpPr>
            <p:spPr>
              <a:xfrm>
                <a:off x="4014326" y="3172572"/>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28" name="Oval 27"/>
              <p:cNvSpPr/>
              <p:nvPr/>
            </p:nvSpPr>
            <p:spPr>
              <a:xfrm>
                <a:off x="4545091" y="3809238"/>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34" name="Flowchart: Connector 33"/>
              <p:cNvSpPr/>
              <p:nvPr/>
            </p:nvSpPr>
            <p:spPr>
              <a:xfrm>
                <a:off x="3773014" y="3518778"/>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35" name="Flowchart: Connector 34"/>
              <p:cNvSpPr/>
              <p:nvPr/>
            </p:nvSpPr>
            <p:spPr>
              <a:xfrm>
                <a:off x="3475525" y="3545598"/>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36" name="Oval 35"/>
              <p:cNvSpPr/>
              <p:nvPr/>
            </p:nvSpPr>
            <p:spPr>
              <a:xfrm>
                <a:off x="3829367" y="2745269"/>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37" name="Oval 36"/>
              <p:cNvSpPr/>
              <p:nvPr/>
            </p:nvSpPr>
            <p:spPr>
              <a:xfrm>
                <a:off x="4001233" y="2692810"/>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38" name="Oval 37"/>
              <p:cNvSpPr/>
              <p:nvPr/>
            </p:nvSpPr>
            <p:spPr>
              <a:xfrm>
                <a:off x="4310848" y="2708656"/>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39" name="Oval 38"/>
              <p:cNvSpPr/>
              <p:nvPr/>
            </p:nvSpPr>
            <p:spPr>
              <a:xfrm>
                <a:off x="4206351" y="3092438"/>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40" name="Oval 39"/>
              <p:cNvSpPr/>
              <p:nvPr/>
            </p:nvSpPr>
            <p:spPr>
              <a:xfrm>
                <a:off x="4299140" y="3696581"/>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41" name="Oval 40"/>
              <p:cNvSpPr/>
              <p:nvPr/>
            </p:nvSpPr>
            <p:spPr>
              <a:xfrm>
                <a:off x="4533663" y="3105909"/>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42" name="Oval 41"/>
              <p:cNvSpPr/>
              <p:nvPr/>
            </p:nvSpPr>
            <p:spPr>
              <a:xfrm>
                <a:off x="3937607" y="2948274"/>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43" name="Oval 42"/>
              <p:cNvSpPr/>
              <p:nvPr/>
            </p:nvSpPr>
            <p:spPr>
              <a:xfrm>
                <a:off x="3835080" y="3114487"/>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44" name="Oval 43"/>
              <p:cNvSpPr/>
              <p:nvPr/>
            </p:nvSpPr>
            <p:spPr>
              <a:xfrm>
                <a:off x="4672276" y="3595550"/>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45" name="Oval 44"/>
              <p:cNvSpPr/>
              <p:nvPr/>
            </p:nvSpPr>
            <p:spPr>
              <a:xfrm>
                <a:off x="4449841" y="3580638"/>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46" name="Flowchart: Connector 45"/>
              <p:cNvSpPr/>
              <p:nvPr/>
            </p:nvSpPr>
            <p:spPr>
              <a:xfrm>
                <a:off x="3296663" y="3272104"/>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47" name="Flowchart: Connector 46"/>
              <p:cNvSpPr/>
              <p:nvPr/>
            </p:nvSpPr>
            <p:spPr>
              <a:xfrm>
                <a:off x="3485050" y="4145673"/>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48" name="Flowchart: Connector 47"/>
              <p:cNvSpPr/>
              <p:nvPr/>
            </p:nvSpPr>
            <p:spPr>
              <a:xfrm>
                <a:off x="4209123" y="3996729"/>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49" name="Flowchart: Connector 48"/>
              <p:cNvSpPr/>
              <p:nvPr/>
            </p:nvSpPr>
            <p:spPr>
              <a:xfrm>
                <a:off x="3998709" y="3640426"/>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50" name="Flowchart: Connector 49"/>
              <p:cNvSpPr/>
              <p:nvPr/>
            </p:nvSpPr>
            <p:spPr>
              <a:xfrm>
                <a:off x="3759404" y="3321298"/>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51" name="Flowchart: Connector 50"/>
              <p:cNvSpPr/>
              <p:nvPr/>
            </p:nvSpPr>
            <p:spPr>
              <a:xfrm>
                <a:off x="3693041" y="3693795"/>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52" name="Flowchart: Connector 51"/>
              <p:cNvSpPr/>
              <p:nvPr/>
            </p:nvSpPr>
            <p:spPr>
              <a:xfrm>
                <a:off x="3945468" y="4147916"/>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53" name="Flowchart: Connector 52"/>
              <p:cNvSpPr/>
              <p:nvPr/>
            </p:nvSpPr>
            <p:spPr>
              <a:xfrm>
                <a:off x="3363439" y="3833103"/>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54" name="Flowchart: Connector 53"/>
              <p:cNvSpPr/>
              <p:nvPr/>
            </p:nvSpPr>
            <p:spPr>
              <a:xfrm>
                <a:off x="3107548" y="3299268"/>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55" name="Flowchart: Connector 54"/>
              <p:cNvSpPr/>
              <p:nvPr/>
            </p:nvSpPr>
            <p:spPr>
              <a:xfrm>
                <a:off x="3639664" y="4061703"/>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56" name="Flowchart: Connector 55"/>
              <p:cNvSpPr/>
              <p:nvPr/>
            </p:nvSpPr>
            <p:spPr>
              <a:xfrm>
                <a:off x="3551725" y="3869448"/>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57" name="Flowchart: Connector 56"/>
              <p:cNvSpPr/>
              <p:nvPr/>
            </p:nvSpPr>
            <p:spPr>
              <a:xfrm>
                <a:off x="3454916" y="3027045"/>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61" name="Flowchart: Connector 60"/>
              <p:cNvSpPr/>
              <p:nvPr/>
            </p:nvSpPr>
            <p:spPr>
              <a:xfrm>
                <a:off x="3683516" y="3017520"/>
                <a:ext cx="91440" cy="91440"/>
              </a:xfrm>
              <a:prstGeom prst="flowChartConnector">
                <a:avLst/>
              </a:prstGeom>
              <a:gradFill>
                <a:gsLst>
                  <a:gs pos="0">
                    <a:srgbClr val="FF0000"/>
                  </a:gs>
                  <a:gs pos="100000">
                    <a:srgbClr val="FF7171"/>
                  </a:gs>
                </a:gsLst>
              </a:gradFill>
              <a:ln>
                <a:solidFill>
                  <a:srgbClr val="00206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chemeClr val="tx1"/>
                  </a:solidFill>
                </a:endParaRPr>
              </a:p>
            </p:txBody>
          </p:sp>
          <p:sp>
            <p:nvSpPr>
              <p:cNvPr id="62" name="Oval 61"/>
              <p:cNvSpPr/>
              <p:nvPr/>
            </p:nvSpPr>
            <p:spPr>
              <a:xfrm>
                <a:off x="3575657" y="2833974"/>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sp>
            <p:nvSpPr>
              <p:cNvPr id="63" name="Oval 62"/>
              <p:cNvSpPr/>
              <p:nvPr/>
            </p:nvSpPr>
            <p:spPr>
              <a:xfrm>
                <a:off x="4004801" y="3429747"/>
                <a:ext cx="91440" cy="91440"/>
              </a:xfrm>
              <a:prstGeom prst="ellipse">
                <a:avLst/>
              </a:prstGeom>
              <a:ln>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chemeClr val="tx1"/>
                  </a:solidFill>
                </a:endParaRPr>
              </a:p>
            </p:txBody>
          </p:sp>
        </p:grpSp>
      </p:grpSp>
      <p:sp>
        <p:nvSpPr>
          <p:cNvPr id="7" name="Title 6"/>
          <p:cNvSpPr>
            <a:spLocks noGrp="1"/>
          </p:cNvSpPr>
          <p:nvPr>
            <p:ph type="title"/>
          </p:nvPr>
        </p:nvSpPr>
        <p:spPr/>
        <p:txBody>
          <a:bodyPr/>
          <a:lstStyle/>
          <a:p>
            <a:r>
              <a:rPr lang="es" b="1" dirty="0">
                <a:ea typeface="Source Sans Pro"/>
                <a:cs typeface="Source Sans Pro"/>
                <a:sym typeface="Source Sans Pro"/>
              </a:rPr>
              <a:t>Issues with Maximal Margin Classifier </a:t>
            </a:r>
            <a:endParaRPr lang="en-US" dirty="0"/>
          </a:p>
        </p:txBody>
      </p:sp>
    </p:spTree>
    <p:extLst>
      <p:ext uri="{BB962C8B-B14F-4D97-AF65-F5344CB8AC3E}">
        <p14:creationId xmlns:p14="http://schemas.microsoft.com/office/powerpoint/2010/main" val="2680245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5" name="Content Placeholder 4"/>
          <p:cNvSpPr>
            <a:spLocks noGrp="1"/>
          </p:cNvSpPr>
          <p:nvPr>
            <p:ph idx="1"/>
          </p:nvPr>
        </p:nvSpPr>
        <p:spPr>
          <a:xfrm>
            <a:off x="838200" y="1825625"/>
            <a:ext cx="10515600" cy="4177691"/>
          </a:xfrm>
        </p:spPr>
        <p:txBody>
          <a:bodyPr/>
          <a:lstStyle/>
          <a:p>
            <a:pPr marL="550320" indent="-380990">
              <a:lnSpc>
                <a:spcPct val="100000"/>
              </a:lnSpc>
              <a:spcBef>
                <a:spcPts val="1333"/>
              </a:spcBef>
              <a:buSzPct val="100000"/>
            </a:pPr>
            <a:r>
              <a:rPr lang="en-US" sz="2400" dirty="0">
                <a:ea typeface="Source Sans Pro"/>
                <a:cs typeface="Source Sans Pro"/>
                <a:sym typeface="Source Sans Pro"/>
              </a:rPr>
              <a:t>We discussed so far </a:t>
            </a:r>
            <a:r>
              <a:rPr lang="en-US" sz="2400" b="1" dirty="0">
                <a:ea typeface="Source Sans Pro"/>
                <a:cs typeface="Source Sans Pro"/>
                <a:sym typeface="Source Sans Pro"/>
              </a:rPr>
              <a:t>maximal margin </a:t>
            </a:r>
            <a:r>
              <a:rPr lang="en-US" sz="2400" dirty="0">
                <a:ea typeface="Source Sans Pro"/>
                <a:cs typeface="Source Sans Pro"/>
                <a:sym typeface="Source Sans Pro"/>
              </a:rPr>
              <a:t>or </a:t>
            </a:r>
            <a:r>
              <a:rPr lang="en-US" sz="2400" b="1" dirty="0">
                <a:ea typeface="Source Sans Pro"/>
                <a:cs typeface="Source Sans Pro"/>
                <a:sym typeface="Source Sans Pro"/>
              </a:rPr>
              <a:t>optimal</a:t>
            </a:r>
            <a:r>
              <a:rPr lang="en-US" sz="2400" dirty="0">
                <a:ea typeface="Source Sans Pro"/>
                <a:cs typeface="Source Sans Pro"/>
                <a:sym typeface="Source Sans Pro"/>
              </a:rPr>
              <a:t> classifier, also known as, the </a:t>
            </a:r>
            <a:r>
              <a:rPr lang="en-US" sz="2400" b="1" dirty="0">
                <a:ea typeface="Source Sans Pro"/>
                <a:cs typeface="Source Sans Pro"/>
                <a:sym typeface="Source Sans Pro"/>
              </a:rPr>
              <a:t>hard margin </a:t>
            </a:r>
            <a:r>
              <a:rPr lang="en-US" sz="2400" dirty="0">
                <a:ea typeface="Source Sans Pro"/>
                <a:cs typeface="Source Sans Pro"/>
                <a:sym typeface="Source Sans Pro"/>
              </a:rPr>
              <a:t>classifier: no data point is allowed to violate the margin.</a:t>
            </a:r>
          </a:p>
          <a:p>
            <a:pPr marL="550320" indent="-380990">
              <a:lnSpc>
                <a:spcPct val="100000"/>
              </a:lnSpc>
              <a:spcBef>
                <a:spcPts val="1333"/>
              </a:spcBef>
              <a:buSzPct val="100000"/>
            </a:pPr>
            <a:r>
              <a:rPr lang="en-US" sz="2400" b="1" dirty="0">
                <a:ea typeface="Source Sans Pro"/>
                <a:cs typeface="Source Sans Pro"/>
                <a:sym typeface="Source Sans Pro"/>
              </a:rPr>
              <a:t>Second issue</a:t>
            </a:r>
            <a:r>
              <a:rPr lang="en-US" sz="2400" dirty="0">
                <a:ea typeface="Source Sans Pro"/>
                <a:cs typeface="Source Sans Pro"/>
                <a:sym typeface="Source Sans Pro"/>
              </a:rPr>
              <a:t>: it is sensitive to outliers.</a:t>
            </a:r>
            <a:endParaRPr lang="en-US" dirty="0"/>
          </a:p>
        </p:txBody>
      </p:sp>
      <p:sp>
        <p:nvSpPr>
          <p:cNvPr id="7" name="Title 6"/>
          <p:cNvSpPr>
            <a:spLocks noGrp="1"/>
          </p:cNvSpPr>
          <p:nvPr>
            <p:ph type="title"/>
          </p:nvPr>
        </p:nvSpPr>
        <p:spPr/>
        <p:txBody>
          <a:bodyPr/>
          <a:lstStyle/>
          <a:p>
            <a:r>
              <a:rPr lang="es" b="1" dirty="0">
                <a:ea typeface="Source Sans Pro"/>
                <a:cs typeface="Source Sans Pro"/>
                <a:sym typeface="Source Sans Pro"/>
              </a:rPr>
              <a:t>Issues with Maximal Margin Classifier </a:t>
            </a:r>
            <a:endParaRPr lang="en-US" dirty="0"/>
          </a:p>
        </p:txBody>
      </p:sp>
      <p:sp>
        <p:nvSpPr>
          <p:cNvPr id="59" name="Rectangle 58"/>
          <p:cNvSpPr/>
          <p:nvPr/>
        </p:nvSpPr>
        <p:spPr>
          <a:xfrm>
            <a:off x="1629834" y="3342923"/>
            <a:ext cx="3797300" cy="317500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2400">
              <a:solidFill>
                <a:schemeClr val="tx1"/>
              </a:solidFill>
            </a:endParaRPr>
          </a:p>
        </p:txBody>
      </p:sp>
      <p:grpSp>
        <p:nvGrpSpPr>
          <p:cNvPr id="60" name="Group 59"/>
          <p:cNvGrpSpPr/>
          <p:nvPr/>
        </p:nvGrpSpPr>
        <p:grpSpPr>
          <a:xfrm>
            <a:off x="1758462" y="3625082"/>
            <a:ext cx="3555993" cy="2496563"/>
            <a:chOff x="1010871" y="2573819"/>
            <a:chExt cx="2666995" cy="1872422"/>
          </a:xfrm>
        </p:grpSpPr>
        <p:sp>
          <p:nvSpPr>
            <p:cNvPr id="112" name="Flowchart: Connector 111"/>
            <p:cNvSpPr/>
            <p:nvPr/>
          </p:nvSpPr>
          <p:spPr>
            <a:xfrm>
              <a:off x="1582163" y="351022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3" name="Flowchart: Connector 112"/>
            <p:cNvSpPr/>
            <p:nvPr/>
          </p:nvSpPr>
          <p:spPr>
            <a:xfrm>
              <a:off x="1010871" y="398435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4" name="Flowchart: Connector 113"/>
            <p:cNvSpPr/>
            <p:nvPr/>
          </p:nvSpPr>
          <p:spPr>
            <a:xfrm>
              <a:off x="1427650" y="39551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5" name="Flowchart: Connector 114"/>
            <p:cNvSpPr/>
            <p:nvPr/>
          </p:nvSpPr>
          <p:spPr>
            <a:xfrm>
              <a:off x="1504023" y="433010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6" name="Flowchart: Connector 115"/>
            <p:cNvSpPr/>
            <p:nvPr/>
          </p:nvSpPr>
          <p:spPr>
            <a:xfrm>
              <a:off x="1122159" y="4354801"/>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7" name="Flowchart: Connector 116"/>
            <p:cNvSpPr/>
            <p:nvPr/>
          </p:nvSpPr>
          <p:spPr>
            <a:xfrm>
              <a:off x="1416254" y="33117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8" name="Flowchart: Connector 117"/>
            <p:cNvSpPr/>
            <p:nvPr/>
          </p:nvSpPr>
          <p:spPr>
            <a:xfrm>
              <a:off x="1340366" y="34747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9" name="Flowchart: Connector 118"/>
            <p:cNvSpPr/>
            <p:nvPr/>
          </p:nvSpPr>
          <p:spPr>
            <a:xfrm>
              <a:off x="1888068" y="397646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0" name="Flowchart: Connector 119"/>
            <p:cNvSpPr/>
            <p:nvPr/>
          </p:nvSpPr>
          <p:spPr>
            <a:xfrm>
              <a:off x="1925164" y="431887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1" name="Flowchart: Connector 120"/>
            <p:cNvSpPr/>
            <p:nvPr/>
          </p:nvSpPr>
          <p:spPr>
            <a:xfrm>
              <a:off x="1050148" y="310876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2" name="Oval 121"/>
            <p:cNvSpPr/>
            <p:nvPr/>
          </p:nvSpPr>
          <p:spPr>
            <a:xfrm>
              <a:off x="3343592" y="257381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3" name="Oval 122"/>
            <p:cNvSpPr/>
            <p:nvPr/>
          </p:nvSpPr>
          <p:spPr>
            <a:xfrm>
              <a:off x="3129748" y="27848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4" name="Oval 123"/>
            <p:cNvSpPr/>
            <p:nvPr/>
          </p:nvSpPr>
          <p:spPr>
            <a:xfrm>
              <a:off x="2891901" y="3092438"/>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5" name="Oval 124"/>
            <p:cNvSpPr/>
            <p:nvPr/>
          </p:nvSpPr>
          <p:spPr>
            <a:xfrm>
              <a:off x="3127565" y="34965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6" name="Oval 125"/>
            <p:cNvSpPr/>
            <p:nvPr/>
          </p:nvSpPr>
          <p:spPr>
            <a:xfrm>
              <a:off x="3219213" y="310590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7" name="Oval 126"/>
            <p:cNvSpPr/>
            <p:nvPr/>
          </p:nvSpPr>
          <p:spPr>
            <a:xfrm>
              <a:off x="3463605" y="288588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8" name="Oval 127"/>
            <p:cNvSpPr/>
            <p:nvPr/>
          </p:nvSpPr>
          <p:spPr>
            <a:xfrm>
              <a:off x="3500701" y="339552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9" name="Oval 128"/>
            <p:cNvSpPr/>
            <p:nvPr/>
          </p:nvSpPr>
          <p:spPr>
            <a:xfrm>
              <a:off x="2785601" y="3401172"/>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0" name="Oval 129"/>
            <p:cNvSpPr/>
            <p:nvPr/>
          </p:nvSpPr>
          <p:spPr>
            <a:xfrm>
              <a:off x="3459241" y="3837813"/>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1" name="Flowchart: Connector 130"/>
            <p:cNvSpPr/>
            <p:nvPr/>
          </p:nvSpPr>
          <p:spPr>
            <a:xfrm>
              <a:off x="1582264" y="387120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32" name="Flowchart: Connector 131"/>
            <p:cNvSpPr/>
            <p:nvPr/>
          </p:nvSpPr>
          <p:spPr>
            <a:xfrm>
              <a:off x="1294300" y="36884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33" name="Oval 132"/>
            <p:cNvSpPr/>
            <p:nvPr/>
          </p:nvSpPr>
          <p:spPr>
            <a:xfrm>
              <a:off x="3543617" y="274526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4" name="Oval 133"/>
            <p:cNvSpPr/>
            <p:nvPr/>
          </p:nvSpPr>
          <p:spPr>
            <a:xfrm>
              <a:off x="2772508" y="2921410"/>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5" name="Oval 134"/>
            <p:cNvSpPr/>
            <p:nvPr/>
          </p:nvSpPr>
          <p:spPr>
            <a:xfrm>
              <a:off x="3082123" y="29372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6" name="Oval 135"/>
            <p:cNvSpPr/>
            <p:nvPr/>
          </p:nvSpPr>
          <p:spPr>
            <a:xfrm>
              <a:off x="2977626" y="3321038"/>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7" name="Oval 136"/>
            <p:cNvSpPr/>
            <p:nvPr/>
          </p:nvSpPr>
          <p:spPr>
            <a:xfrm>
              <a:off x="3213290" y="37251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8" name="Oval 137"/>
            <p:cNvSpPr/>
            <p:nvPr/>
          </p:nvSpPr>
          <p:spPr>
            <a:xfrm>
              <a:off x="3304938" y="333450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9" name="Oval 138"/>
            <p:cNvSpPr/>
            <p:nvPr/>
          </p:nvSpPr>
          <p:spPr>
            <a:xfrm>
              <a:off x="2708882" y="3176874"/>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40" name="Oval 139"/>
            <p:cNvSpPr/>
            <p:nvPr/>
          </p:nvSpPr>
          <p:spPr>
            <a:xfrm>
              <a:off x="3549330" y="311448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41" name="Oval 140"/>
            <p:cNvSpPr/>
            <p:nvPr/>
          </p:nvSpPr>
          <p:spPr>
            <a:xfrm>
              <a:off x="3586426" y="362412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42" name="Flowchart: Connector 141"/>
            <p:cNvSpPr/>
            <p:nvPr/>
          </p:nvSpPr>
          <p:spPr>
            <a:xfrm>
              <a:off x="1115438" y="341497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3" name="Flowchart: Connector 142"/>
            <p:cNvSpPr/>
            <p:nvPr/>
          </p:nvSpPr>
          <p:spPr>
            <a:xfrm>
              <a:off x="1303825" y="428854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4" name="Flowchart: Connector 143"/>
            <p:cNvSpPr/>
            <p:nvPr/>
          </p:nvSpPr>
          <p:spPr>
            <a:xfrm>
              <a:off x="2027898" y="413960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5" name="Flowchart: Connector 144"/>
            <p:cNvSpPr/>
            <p:nvPr/>
          </p:nvSpPr>
          <p:spPr>
            <a:xfrm>
              <a:off x="1703184" y="4050001"/>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6" name="Flowchart: Connector 145"/>
            <p:cNvSpPr/>
            <p:nvPr/>
          </p:nvSpPr>
          <p:spPr>
            <a:xfrm>
              <a:off x="1568654" y="370229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7" name="Flowchart: Connector 146"/>
            <p:cNvSpPr/>
            <p:nvPr/>
          </p:nvSpPr>
          <p:spPr>
            <a:xfrm>
              <a:off x="1216541" y="3808095"/>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8" name="Flowchart: Connector 147"/>
            <p:cNvSpPr/>
            <p:nvPr/>
          </p:nvSpPr>
          <p:spPr>
            <a:xfrm>
              <a:off x="1764243" y="4290791"/>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9" name="Flowchart: Connector 148"/>
            <p:cNvSpPr/>
            <p:nvPr/>
          </p:nvSpPr>
          <p:spPr>
            <a:xfrm>
              <a:off x="1020289" y="418552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0" name="Flowchart: Connector 149"/>
            <p:cNvSpPr/>
            <p:nvPr/>
          </p:nvSpPr>
          <p:spPr>
            <a:xfrm>
              <a:off x="1458439" y="420457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1" name="Flowchart: Connector 150"/>
            <p:cNvSpPr/>
            <p:nvPr/>
          </p:nvSpPr>
          <p:spPr>
            <a:xfrm>
              <a:off x="1170475" y="402184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2" name="Flowchart: Connector 151"/>
            <p:cNvSpPr/>
            <p:nvPr/>
          </p:nvSpPr>
          <p:spPr>
            <a:xfrm>
              <a:off x="1273691" y="31699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3" name="Flowchart: Connector 152"/>
            <p:cNvSpPr/>
            <p:nvPr/>
          </p:nvSpPr>
          <p:spPr>
            <a:xfrm>
              <a:off x="1559441" y="31699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grpSp>
      <p:sp>
        <p:nvSpPr>
          <p:cNvPr id="64" name="Rectangle 63"/>
          <p:cNvSpPr/>
          <p:nvPr/>
        </p:nvSpPr>
        <p:spPr>
          <a:xfrm>
            <a:off x="6175300" y="3316158"/>
            <a:ext cx="3803904" cy="316992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2400">
              <a:solidFill>
                <a:schemeClr val="tx1"/>
              </a:solidFill>
            </a:endParaRPr>
          </a:p>
        </p:txBody>
      </p:sp>
      <p:grpSp>
        <p:nvGrpSpPr>
          <p:cNvPr id="65" name="Group 64"/>
          <p:cNvGrpSpPr/>
          <p:nvPr/>
        </p:nvGrpSpPr>
        <p:grpSpPr>
          <a:xfrm>
            <a:off x="6292362" y="3548882"/>
            <a:ext cx="3555993" cy="2496563"/>
            <a:chOff x="5249496" y="2411894"/>
            <a:chExt cx="2666995" cy="1872422"/>
          </a:xfrm>
        </p:grpSpPr>
        <p:grpSp>
          <p:nvGrpSpPr>
            <p:cNvPr id="68" name="Group 67"/>
            <p:cNvGrpSpPr/>
            <p:nvPr/>
          </p:nvGrpSpPr>
          <p:grpSpPr>
            <a:xfrm>
              <a:off x="5249496" y="2411894"/>
              <a:ext cx="2666995" cy="1872422"/>
              <a:chOff x="1010871" y="2573819"/>
              <a:chExt cx="2666995" cy="1872422"/>
            </a:xfrm>
          </p:grpSpPr>
          <p:sp>
            <p:nvSpPr>
              <p:cNvPr id="70" name="Flowchart: Connector 69"/>
              <p:cNvSpPr/>
              <p:nvPr/>
            </p:nvSpPr>
            <p:spPr>
              <a:xfrm>
                <a:off x="1582163" y="351022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1" name="Flowchart: Connector 70"/>
              <p:cNvSpPr/>
              <p:nvPr/>
            </p:nvSpPr>
            <p:spPr>
              <a:xfrm>
                <a:off x="1010871" y="398435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2" name="Flowchart: Connector 71"/>
              <p:cNvSpPr/>
              <p:nvPr/>
            </p:nvSpPr>
            <p:spPr>
              <a:xfrm>
                <a:off x="1427650" y="39551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3" name="Flowchart: Connector 72"/>
              <p:cNvSpPr/>
              <p:nvPr/>
            </p:nvSpPr>
            <p:spPr>
              <a:xfrm>
                <a:off x="1504023" y="433010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4" name="Flowchart: Connector 73"/>
              <p:cNvSpPr/>
              <p:nvPr/>
            </p:nvSpPr>
            <p:spPr>
              <a:xfrm>
                <a:off x="1122159" y="4354801"/>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5" name="Flowchart: Connector 74"/>
              <p:cNvSpPr/>
              <p:nvPr/>
            </p:nvSpPr>
            <p:spPr>
              <a:xfrm>
                <a:off x="1416254" y="33117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6" name="Flowchart: Connector 75"/>
              <p:cNvSpPr/>
              <p:nvPr/>
            </p:nvSpPr>
            <p:spPr>
              <a:xfrm>
                <a:off x="1340366" y="34747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7" name="Flowchart: Connector 76"/>
              <p:cNvSpPr/>
              <p:nvPr/>
            </p:nvSpPr>
            <p:spPr>
              <a:xfrm>
                <a:off x="1888068" y="395741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8" name="Flowchart: Connector 77"/>
              <p:cNvSpPr/>
              <p:nvPr/>
            </p:nvSpPr>
            <p:spPr>
              <a:xfrm>
                <a:off x="1925164" y="431887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9" name="Flowchart: Connector 78"/>
              <p:cNvSpPr/>
              <p:nvPr/>
            </p:nvSpPr>
            <p:spPr>
              <a:xfrm>
                <a:off x="1050148" y="310876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80" name="Oval 79"/>
              <p:cNvSpPr/>
              <p:nvPr/>
            </p:nvSpPr>
            <p:spPr>
              <a:xfrm>
                <a:off x="3343592" y="257381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1" name="Oval 80"/>
              <p:cNvSpPr/>
              <p:nvPr/>
            </p:nvSpPr>
            <p:spPr>
              <a:xfrm>
                <a:off x="3129748" y="27848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2" name="Oval 81"/>
              <p:cNvSpPr/>
              <p:nvPr/>
            </p:nvSpPr>
            <p:spPr>
              <a:xfrm>
                <a:off x="2891901" y="3092438"/>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3" name="Oval 82"/>
              <p:cNvSpPr/>
              <p:nvPr/>
            </p:nvSpPr>
            <p:spPr>
              <a:xfrm>
                <a:off x="3127565" y="34965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4" name="Oval 83"/>
              <p:cNvSpPr/>
              <p:nvPr/>
            </p:nvSpPr>
            <p:spPr>
              <a:xfrm>
                <a:off x="3219213" y="310590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5" name="Oval 84"/>
              <p:cNvSpPr/>
              <p:nvPr/>
            </p:nvSpPr>
            <p:spPr>
              <a:xfrm>
                <a:off x="3463605" y="288588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6" name="Oval 85"/>
              <p:cNvSpPr/>
              <p:nvPr/>
            </p:nvSpPr>
            <p:spPr>
              <a:xfrm>
                <a:off x="3500701" y="339552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7" name="Oval 86"/>
              <p:cNvSpPr/>
              <p:nvPr/>
            </p:nvSpPr>
            <p:spPr>
              <a:xfrm>
                <a:off x="2785601" y="3401172"/>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8" name="Oval 87"/>
              <p:cNvSpPr/>
              <p:nvPr/>
            </p:nvSpPr>
            <p:spPr>
              <a:xfrm>
                <a:off x="3459241" y="3837813"/>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9" name="Flowchart: Connector 88"/>
              <p:cNvSpPr/>
              <p:nvPr/>
            </p:nvSpPr>
            <p:spPr>
              <a:xfrm>
                <a:off x="1582264" y="387120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90" name="Flowchart: Connector 89"/>
              <p:cNvSpPr/>
              <p:nvPr/>
            </p:nvSpPr>
            <p:spPr>
              <a:xfrm>
                <a:off x="1294300" y="36884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91" name="Oval 90"/>
              <p:cNvSpPr/>
              <p:nvPr/>
            </p:nvSpPr>
            <p:spPr>
              <a:xfrm>
                <a:off x="3543617" y="274526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2" name="Oval 91"/>
              <p:cNvSpPr/>
              <p:nvPr/>
            </p:nvSpPr>
            <p:spPr>
              <a:xfrm>
                <a:off x="2772508" y="2921410"/>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3" name="Oval 92"/>
              <p:cNvSpPr/>
              <p:nvPr/>
            </p:nvSpPr>
            <p:spPr>
              <a:xfrm>
                <a:off x="3082123" y="29372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4" name="Oval 93"/>
              <p:cNvSpPr/>
              <p:nvPr/>
            </p:nvSpPr>
            <p:spPr>
              <a:xfrm>
                <a:off x="2977626" y="3321038"/>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5" name="Oval 94"/>
              <p:cNvSpPr/>
              <p:nvPr/>
            </p:nvSpPr>
            <p:spPr>
              <a:xfrm>
                <a:off x="3213290" y="37251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6" name="Oval 95"/>
              <p:cNvSpPr/>
              <p:nvPr/>
            </p:nvSpPr>
            <p:spPr>
              <a:xfrm>
                <a:off x="3304938" y="333450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7" name="Oval 96"/>
              <p:cNvSpPr/>
              <p:nvPr/>
            </p:nvSpPr>
            <p:spPr>
              <a:xfrm>
                <a:off x="2708882" y="3176874"/>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8" name="Oval 97"/>
              <p:cNvSpPr/>
              <p:nvPr/>
            </p:nvSpPr>
            <p:spPr>
              <a:xfrm>
                <a:off x="3549330" y="311448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9" name="Oval 98"/>
              <p:cNvSpPr/>
              <p:nvPr/>
            </p:nvSpPr>
            <p:spPr>
              <a:xfrm>
                <a:off x="3586426" y="362412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00" name="Flowchart: Connector 99"/>
              <p:cNvSpPr/>
              <p:nvPr/>
            </p:nvSpPr>
            <p:spPr>
              <a:xfrm>
                <a:off x="1115438" y="341497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1" name="Flowchart: Connector 100"/>
              <p:cNvSpPr/>
              <p:nvPr/>
            </p:nvSpPr>
            <p:spPr>
              <a:xfrm>
                <a:off x="1303825" y="428854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2" name="Flowchart: Connector 101"/>
              <p:cNvSpPr/>
              <p:nvPr/>
            </p:nvSpPr>
            <p:spPr>
              <a:xfrm>
                <a:off x="2027898" y="413960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3" name="Flowchart: Connector 102"/>
              <p:cNvSpPr/>
              <p:nvPr/>
            </p:nvSpPr>
            <p:spPr>
              <a:xfrm>
                <a:off x="1703184" y="4050001"/>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4" name="Flowchart: Connector 103"/>
              <p:cNvSpPr/>
              <p:nvPr/>
            </p:nvSpPr>
            <p:spPr>
              <a:xfrm>
                <a:off x="1568654" y="370229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5" name="Flowchart: Connector 104"/>
              <p:cNvSpPr/>
              <p:nvPr/>
            </p:nvSpPr>
            <p:spPr>
              <a:xfrm>
                <a:off x="1216541" y="3808095"/>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6" name="Flowchart: Connector 105"/>
              <p:cNvSpPr/>
              <p:nvPr/>
            </p:nvSpPr>
            <p:spPr>
              <a:xfrm>
                <a:off x="1764243" y="4290791"/>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7" name="Flowchart: Connector 106"/>
              <p:cNvSpPr/>
              <p:nvPr/>
            </p:nvSpPr>
            <p:spPr>
              <a:xfrm>
                <a:off x="1020289" y="418552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8" name="Flowchart: Connector 107"/>
              <p:cNvSpPr/>
              <p:nvPr/>
            </p:nvSpPr>
            <p:spPr>
              <a:xfrm>
                <a:off x="1458439" y="420457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9" name="Flowchart: Connector 108"/>
              <p:cNvSpPr/>
              <p:nvPr/>
            </p:nvSpPr>
            <p:spPr>
              <a:xfrm>
                <a:off x="1170475" y="402184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0" name="Flowchart: Connector 109"/>
              <p:cNvSpPr/>
              <p:nvPr/>
            </p:nvSpPr>
            <p:spPr>
              <a:xfrm>
                <a:off x="1273691" y="31699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1" name="Flowchart: Connector 110"/>
              <p:cNvSpPr/>
              <p:nvPr/>
            </p:nvSpPr>
            <p:spPr>
              <a:xfrm>
                <a:off x="1559441" y="31699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grpSp>
        <p:sp>
          <p:nvSpPr>
            <p:cNvPr id="69" name="Flowchart: Connector 68"/>
            <p:cNvSpPr/>
            <p:nvPr/>
          </p:nvSpPr>
          <p:spPr>
            <a:xfrm>
              <a:off x="6822018" y="2614391"/>
              <a:ext cx="91440" cy="91440"/>
            </a:xfrm>
            <a:prstGeom prst="flowChartConnector">
              <a:avLst/>
            </a:prstGeom>
            <a:gradFill>
              <a:gsLst>
                <a:gs pos="0">
                  <a:srgbClr val="FF0000"/>
                </a:gs>
                <a:gs pos="100000">
                  <a:srgbClr val="FF7171"/>
                </a:gs>
              </a:gsLst>
            </a:gradFill>
            <a:ln w="19050">
              <a:solidFill>
                <a:schemeClr val="accent2"/>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grpSp>
      <p:cxnSp>
        <p:nvCxnSpPr>
          <p:cNvPr id="67" name="Straight Connector 66"/>
          <p:cNvCxnSpPr/>
          <p:nvPr/>
        </p:nvCxnSpPr>
        <p:spPr>
          <a:xfrm>
            <a:off x="2607002" y="3535723"/>
            <a:ext cx="1955148" cy="2717472"/>
          </a:xfrm>
          <a:prstGeom prst="line">
            <a:avLst/>
          </a:prstGeom>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986857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5" name="Content Placeholder 4"/>
          <p:cNvSpPr>
            <a:spLocks noGrp="1"/>
          </p:cNvSpPr>
          <p:nvPr>
            <p:ph idx="1"/>
          </p:nvPr>
        </p:nvSpPr>
        <p:spPr>
          <a:xfrm>
            <a:off x="838200" y="1825625"/>
            <a:ext cx="10515600" cy="4177691"/>
          </a:xfrm>
        </p:spPr>
        <p:txBody>
          <a:bodyPr/>
          <a:lstStyle/>
          <a:p>
            <a:pPr marL="550320" indent="-380990">
              <a:lnSpc>
                <a:spcPct val="100000"/>
              </a:lnSpc>
              <a:spcBef>
                <a:spcPts val="1333"/>
              </a:spcBef>
              <a:buSzPct val="100000"/>
            </a:pPr>
            <a:r>
              <a:rPr lang="en-US" sz="2400" dirty="0">
                <a:ea typeface="Source Sans Pro"/>
                <a:cs typeface="Source Sans Pro"/>
                <a:sym typeface="Source Sans Pro"/>
              </a:rPr>
              <a:t>We discussed so far </a:t>
            </a:r>
            <a:r>
              <a:rPr lang="en-US" sz="2400" b="1" dirty="0">
                <a:ea typeface="Source Sans Pro"/>
                <a:cs typeface="Source Sans Pro"/>
                <a:sym typeface="Source Sans Pro"/>
              </a:rPr>
              <a:t>maximal margin </a:t>
            </a:r>
            <a:r>
              <a:rPr lang="en-US" sz="2400" dirty="0">
                <a:ea typeface="Source Sans Pro"/>
                <a:cs typeface="Source Sans Pro"/>
                <a:sym typeface="Source Sans Pro"/>
              </a:rPr>
              <a:t>or </a:t>
            </a:r>
            <a:r>
              <a:rPr lang="en-US" sz="2400" b="1" dirty="0">
                <a:ea typeface="Source Sans Pro"/>
                <a:cs typeface="Source Sans Pro"/>
                <a:sym typeface="Source Sans Pro"/>
              </a:rPr>
              <a:t>optimal</a:t>
            </a:r>
            <a:r>
              <a:rPr lang="en-US" sz="2400" dirty="0">
                <a:ea typeface="Source Sans Pro"/>
                <a:cs typeface="Source Sans Pro"/>
                <a:sym typeface="Source Sans Pro"/>
              </a:rPr>
              <a:t> classifier, also known as, the </a:t>
            </a:r>
            <a:r>
              <a:rPr lang="en-US" sz="2400" b="1" dirty="0">
                <a:ea typeface="Source Sans Pro"/>
                <a:cs typeface="Source Sans Pro"/>
                <a:sym typeface="Source Sans Pro"/>
              </a:rPr>
              <a:t>hard margin </a:t>
            </a:r>
            <a:r>
              <a:rPr lang="en-US" sz="2400" dirty="0">
                <a:ea typeface="Source Sans Pro"/>
                <a:cs typeface="Source Sans Pro"/>
                <a:sym typeface="Source Sans Pro"/>
              </a:rPr>
              <a:t>classifier: no data point is allowed to violate the margin.</a:t>
            </a:r>
          </a:p>
          <a:p>
            <a:pPr marL="550320" indent="-380990">
              <a:lnSpc>
                <a:spcPct val="100000"/>
              </a:lnSpc>
              <a:spcBef>
                <a:spcPts val="1333"/>
              </a:spcBef>
              <a:buSzPct val="100000"/>
            </a:pPr>
            <a:r>
              <a:rPr lang="en-US" sz="2400" b="1" dirty="0">
                <a:ea typeface="Source Sans Pro"/>
                <a:cs typeface="Source Sans Pro"/>
                <a:sym typeface="Source Sans Pro"/>
              </a:rPr>
              <a:t>Second issue</a:t>
            </a:r>
            <a:r>
              <a:rPr lang="en-US" sz="2400" dirty="0">
                <a:ea typeface="Source Sans Pro"/>
                <a:cs typeface="Source Sans Pro"/>
                <a:sym typeface="Source Sans Pro"/>
              </a:rPr>
              <a:t>: it is sensitive to outliers.</a:t>
            </a:r>
            <a:endParaRPr lang="en-US" dirty="0"/>
          </a:p>
        </p:txBody>
      </p:sp>
      <p:sp>
        <p:nvSpPr>
          <p:cNvPr id="7" name="Title 6"/>
          <p:cNvSpPr>
            <a:spLocks noGrp="1"/>
          </p:cNvSpPr>
          <p:nvPr>
            <p:ph type="title"/>
          </p:nvPr>
        </p:nvSpPr>
        <p:spPr/>
        <p:txBody>
          <a:bodyPr/>
          <a:lstStyle/>
          <a:p>
            <a:r>
              <a:rPr lang="es" b="1" dirty="0">
                <a:ea typeface="Source Sans Pro"/>
                <a:cs typeface="Source Sans Pro"/>
                <a:sym typeface="Source Sans Pro"/>
              </a:rPr>
              <a:t>Issues with Maximal Margin Classifier </a:t>
            </a:r>
            <a:endParaRPr lang="en-US" dirty="0"/>
          </a:p>
        </p:txBody>
      </p:sp>
      <p:sp>
        <p:nvSpPr>
          <p:cNvPr id="59" name="Rectangle 58"/>
          <p:cNvSpPr/>
          <p:nvPr/>
        </p:nvSpPr>
        <p:spPr>
          <a:xfrm>
            <a:off x="1629834" y="3342923"/>
            <a:ext cx="3797300" cy="317500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2400">
              <a:solidFill>
                <a:schemeClr val="tx1"/>
              </a:solidFill>
            </a:endParaRPr>
          </a:p>
        </p:txBody>
      </p:sp>
      <p:grpSp>
        <p:nvGrpSpPr>
          <p:cNvPr id="60" name="Group 59"/>
          <p:cNvGrpSpPr/>
          <p:nvPr/>
        </p:nvGrpSpPr>
        <p:grpSpPr>
          <a:xfrm>
            <a:off x="1758462" y="3625082"/>
            <a:ext cx="3555993" cy="2496563"/>
            <a:chOff x="1010871" y="2573819"/>
            <a:chExt cx="2666995" cy="1872422"/>
          </a:xfrm>
        </p:grpSpPr>
        <p:sp>
          <p:nvSpPr>
            <p:cNvPr id="112" name="Flowchart: Connector 111"/>
            <p:cNvSpPr/>
            <p:nvPr/>
          </p:nvSpPr>
          <p:spPr>
            <a:xfrm>
              <a:off x="1582163" y="351022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3" name="Flowchart: Connector 112"/>
            <p:cNvSpPr/>
            <p:nvPr/>
          </p:nvSpPr>
          <p:spPr>
            <a:xfrm>
              <a:off x="1010871" y="398435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4" name="Flowchart: Connector 113"/>
            <p:cNvSpPr/>
            <p:nvPr/>
          </p:nvSpPr>
          <p:spPr>
            <a:xfrm>
              <a:off x="1427650" y="39551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5" name="Flowchart: Connector 114"/>
            <p:cNvSpPr/>
            <p:nvPr/>
          </p:nvSpPr>
          <p:spPr>
            <a:xfrm>
              <a:off x="1504023" y="433010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6" name="Flowchart: Connector 115"/>
            <p:cNvSpPr/>
            <p:nvPr/>
          </p:nvSpPr>
          <p:spPr>
            <a:xfrm>
              <a:off x="1122159" y="4354801"/>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7" name="Flowchart: Connector 116"/>
            <p:cNvSpPr/>
            <p:nvPr/>
          </p:nvSpPr>
          <p:spPr>
            <a:xfrm>
              <a:off x="1416254" y="33117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8" name="Flowchart: Connector 117"/>
            <p:cNvSpPr/>
            <p:nvPr/>
          </p:nvSpPr>
          <p:spPr>
            <a:xfrm>
              <a:off x="1340366" y="34747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9" name="Flowchart: Connector 118"/>
            <p:cNvSpPr/>
            <p:nvPr/>
          </p:nvSpPr>
          <p:spPr>
            <a:xfrm>
              <a:off x="1888068" y="397646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0" name="Flowchart: Connector 119"/>
            <p:cNvSpPr/>
            <p:nvPr/>
          </p:nvSpPr>
          <p:spPr>
            <a:xfrm>
              <a:off x="1925164" y="431887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1" name="Flowchart: Connector 120"/>
            <p:cNvSpPr/>
            <p:nvPr/>
          </p:nvSpPr>
          <p:spPr>
            <a:xfrm>
              <a:off x="1050148" y="310876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2" name="Oval 121"/>
            <p:cNvSpPr/>
            <p:nvPr/>
          </p:nvSpPr>
          <p:spPr>
            <a:xfrm>
              <a:off x="3343592" y="257381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3" name="Oval 122"/>
            <p:cNvSpPr/>
            <p:nvPr/>
          </p:nvSpPr>
          <p:spPr>
            <a:xfrm>
              <a:off x="3129748" y="27848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4" name="Oval 123"/>
            <p:cNvSpPr/>
            <p:nvPr/>
          </p:nvSpPr>
          <p:spPr>
            <a:xfrm>
              <a:off x="2891901" y="3092438"/>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5" name="Oval 124"/>
            <p:cNvSpPr/>
            <p:nvPr/>
          </p:nvSpPr>
          <p:spPr>
            <a:xfrm>
              <a:off x="3127565" y="34965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6" name="Oval 125"/>
            <p:cNvSpPr/>
            <p:nvPr/>
          </p:nvSpPr>
          <p:spPr>
            <a:xfrm>
              <a:off x="3219213" y="310590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7" name="Oval 126"/>
            <p:cNvSpPr/>
            <p:nvPr/>
          </p:nvSpPr>
          <p:spPr>
            <a:xfrm>
              <a:off x="3463605" y="288588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8" name="Oval 127"/>
            <p:cNvSpPr/>
            <p:nvPr/>
          </p:nvSpPr>
          <p:spPr>
            <a:xfrm>
              <a:off x="3500701" y="339552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9" name="Oval 128"/>
            <p:cNvSpPr/>
            <p:nvPr/>
          </p:nvSpPr>
          <p:spPr>
            <a:xfrm>
              <a:off x="2785601" y="3401172"/>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0" name="Oval 129"/>
            <p:cNvSpPr/>
            <p:nvPr/>
          </p:nvSpPr>
          <p:spPr>
            <a:xfrm>
              <a:off x="3459241" y="3837813"/>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1" name="Flowchart: Connector 130"/>
            <p:cNvSpPr/>
            <p:nvPr/>
          </p:nvSpPr>
          <p:spPr>
            <a:xfrm>
              <a:off x="1582264" y="387120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32" name="Flowchart: Connector 131"/>
            <p:cNvSpPr/>
            <p:nvPr/>
          </p:nvSpPr>
          <p:spPr>
            <a:xfrm>
              <a:off x="1294300" y="36884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33" name="Oval 132"/>
            <p:cNvSpPr/>
            <p:nvPr/>
          </p:nvSpPr>
          <p:spPr>
            <a:xfrm>
              <a:off x="3543617" y="274526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4" name="Oval 133"/>
            <p:cNvSpPr/>
            <p:nvPr/>
          </p:nvSpPr>
          <p:spPr>
            <a:xfrm>
              <a:off x="2772508" y="2921410"/>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5" name="Oval 134"/>
            <p:cNvSpPr/>
            <p:nvPr/>
          </p:nvSpPr>
          <p:spPr>
            <a:xfrm>
              <a:off x="3082123" y="29372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6" name="Oval 135"/>
            <p:cNvSpPr/>
            <p:nvPr/>
          </p:nvSpPr>
          <p:spPr>
            <a:xfrm>
              <a:off x="2977626" y="3321038"/>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7" name="Oval 136"/>
            <p:cNvSpPr/>
            <p:nvPr/>
          </p:nvSpPr>
          <p:spPr>
            <a:xfrm>
              <a:off x="3213290" y="37251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8" name="Oval 137"/>
            <p:cNvSpPr/>
            <p:nvPr/>
          </p:nvSpPr>
          <p:spPr>
            <a:xfrm>
              <a:off x="3304938" y="333450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39" name="Oval 138"/>
            <p:cNvSpPr/>
            <p:nvPr/>
          </p:nvSpPr>
          <p:spPr>
            <a:xfrm>
              <a:off x="2708882" y="3176874"/>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40" name="Oval 139"/>
            <p:cNvSpPr/>
            <p:nvPr/>
          </p:nvSpPr>
          <p:spPr>
            <a:xfrm>
              <a:off x="3549330" y="311448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41" name="Oval 140"/>
            <p:cNvSpPr/>
            <p:nvPr/>
          </p:nvSpPr>
          <p:spPr>
            <a:xfrm>
              <a:off x="3586426" y="362412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42" name="Flowchart: Connector 141"/>
            <p:cNvSpPr/>
            <p:nvPr/>
          </p:nvSpPr>
          <p:spPr>
            <a:xfrm>
              <a:off x="1115438" y="341497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3" name="Flowchart: Connector 142"/>
            <p:cNvSpPr/>
            <p:nvPr/>
          </p:nvSpPr>
          <p:spPr>
            <a:xfrm>
              <a:off x="1303825" y="428854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4" name="Flowchart: Connector 143"/>
            <p:cNvSpPr/>
            <p:nvPr/>
          </p:nvSpPr>
          <p:spPr>
            <a:xfrm>
              <a:off x="2027898" y="413960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5" name="Flowchart: Connector 144"/>
            <p:cNvSpPr/>
            <p:nvPr/>
          </p:nvSpPr>
          <p:spPr>
            <a:xfrm>
              <a:off x="1703184" y="4050001"/>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6" name="Flowchart: Connector 145"/>
            <p:cNvSpPr/>
            <p:nvPr/>
          </p:nvSpPr>
          <p:spPr>
            <a:xfrm>
              <a:off x="1568654" y="370229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7" name="Flowchart: Connector 146"/>
            <p:cNvSpPr/>
            <p:nvPr/>
          </p:nvSpPr>
          <p:spPr>
            <a:xfrm>
              <a:off x="1216541" y="3808095"/>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8" name="Flowchart: Connector 147"/>
            <p:cNvSpPr/>
            <p:nvPr/>
          </p:nvSpPr>
          <p:spPr>
            <a:xfrm>
              <a:off x="1764243" y="4290791"/>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9" name="Flowchart: Connector 148"/>
            <p:cNvSpPr/>
            <p:nvPr/>
          </p:nvSpPr>
          <p:spPr>
            <a:xfrm>
              <a:off x="1020289" y="418552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0" name="Flowchart: Connector 149"/>
            <p:cNvSpPr/>
            <p:nvPr/>
          </p:nvSpPr>
          <p:spPr>
            <a:xfrm>
              <a:off x="1458439" y="420457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1" name="Flowchart: Connector 150"/>
            <p:cNvSpPr/>
            <p:nvPr/>
          </p:nvSpPr>
          <p:spPr>
            <a:xfrm>
              <a:off x="1170475" y="402184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2" name="Flowchart: Connector 151"/>
            <p:cNvSpPr/>
            <p:nvPr/>
          </p:nvSpPr>
          <p:spPr>
            <a:xfrm>
              <a:off x="1273691" y="31699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53" name="Flowchart: Connector 152"/>
            <p:cNvSpPr/>
            <p:nvPr/>
          </p:nvSpPr>
          <p:spPr>
            <a:xfrm>
              <a:off x="1559441" y="31699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grpSp>
      <p:sp>
        <p:nvSpPr>
          <p:cNvPr id="64" name="Rectangle 63"/>
          <p:cNvSpPr/>
          <p:nvPr/>
        </p:nvSpPr>
        <p:spPr>
          <a:xfrm>
            <a:off x="6175300" y="3316158"/>
            <a:ext cx="3803904" cy="316992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2400">
              <a:solidFill>
                <a:schemeClr val="tx1"/>
              </a:solidFill>
            </a:endParaRPr>
          </a:p>
        </p:txBody>
      </p:sp>
      <p:grpSp>
        <p:nvGrpSpPr>
          <p:cNvPr id="65" name="Group 64"/>
          <p:cNvGrpSpPr/>
          <p:nvPr/>
        </p:nvGrpSpPr>
        <p:grpSpPr>
          <a:xfrm>
            <a:off x="6292362" y="3548882"/>
            <a:ext cx="3555993" cy="2496563"/>
            <a:chOff x="5249496" y="2411894"/>
            <a:chExt cx="2666995" cy="1872422"/>
          </a:xfrm>
        </p:grpSpPr>
        <p:grpSp>
          <p:nvGrpSpPr>
            <p:cNvPr id="68" name="Group 67"/>
            <p:cNvGrpSpPr/>
            <p:nvPr/>
          </p:nvGrpSpPr>
          <p:grpSpPr>
            <a:xfrm>
              <a:off x="5249496" y="2411894"/>
              <a:ext cx="2666995" cy="1872422"/>
              <a:chOff x="1010871" y="2573819"/>
              <a:chExt cx="2666995" cy="1872422"/>
            </a:xfrm>
          </p:grpSpPr>
          <p:sp>
            <p:nvSpPr>
              <p:cNvPr id="70" name="Flowchart: Connector 69"/>
              <p:cNvSpPr/>
              <p:nvPr/>
            </p:nvSpPr>
            <p:spPr>
              <a:xfrm>
                <a:off x="1582163" y="351022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1" name="Flowchart: Connector 70"/>
              <p:cNvSpPr/>
              <p:nvPr/>
            </p:nvSpPr>
            <p:spPr>
              <a:xfrm>
                <a:off x="1010871" y="398435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2" name="Flowchart: Connector 71"/>
              <p:cNvSpPr/>
              <p:nvPr/>
            </p:nvSpPr>
            <p:spPr>
              <a:xfrm>
                <a:off x="1427650" y="39551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3" name="Flowchart: Connector 72"/>
              <p:cNvSpPr/>
              <p:nvPr/>
            </p:nvSpPr>
            <p:spPr>
              <a:xfrm>
                <a:off x="1504023" y="433010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4" name="Flowchart: Connector 73"/>
              <p:cNvSpPr/>
              <p:nvPr/>
            </p:nvSpPr>
            <p:spPr>
              <a:xfrm>
                <a:off x="1122159" y="4354801"/>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5" name="Flowchart: Connector 74"/>
              <p:cNvSpPr/>
              <p:nvPr/>
            </p:nvSpPr>
            <p:spPr>
              <a:xfrm>
                <a:off x="1416254" y="33117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6" name="Flowchart: Connector 75"/>
              <p:cNvSpPr/>
              <p:nvPr/>
            </p:nvSpPr>
            <p:spPr>
              <a:xfrm>
                <a:off x="1340366" y="34747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7" name="Flowchart: Connector 76"/>
              <p:cNvSpPr/>
              <p:nvPr/>
            </p:nvSpPr>
            <p:spPr>
              <a:xfrm>
                <a:off x="1888068" y="395741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8" name="Flowchart: Connector 77"/>
              <p:cNvSpPr/>
              <p:nvPr/>
            </p:nvSpPr>
            <p:spPr>
              <a:xfrm>
                <a:off x="1925164" y="431887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9" name="Flowchart: Connector 78"/>
              <p:cNvSpPr/>
              <p:nvPr/>
            </p:nvSpPr>
            <p:spPr>
              <a:xfrm>
                <a:off x="1050148" y="310876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80" name="Oval 79"/>
              <p:cNvSpPr/>
              <p:nvPr/>
            </p:nvSpPr>
            <p:spPr>
              <a:xfrm>
                <a:off x="3343592" y="257381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1" name="Oval 80"/>
              <p:cNvSpPr/>
              <p:nvPr/>
            </p:nvSpPr>
            <p:spPr>
              <a:xfrm>
                <a:off x="3129748" y="27848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2" name="Oval 81"/>
              <p:cNvSpPr/>
              <p:nvPr/>
            </p:nvSpPr>
            <p:spPr>
              <a:xfrm>
                <a:off x="2891901" y="3092438"/>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3" name="Oval 82"/>
              <p:cNvSpPr/>
              <p:nvPr/>
            </p:nvSpPr>
            <p:spPr>
              <a:xfrm>
                <a:off x="3127565" y="34965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4" name="Oval 83"/>
              <p:cNvSpPr/>
              <p:nvPr/>
            </p:nvSpPr>
            <p:spPr>
              <a:xfrm>
                <a:off x="3219213" y="310590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5" name="Oval 84"/>
              <p:cNvSpPr/>
              <p:nvPr/>
            </p:nvSpPr>
            <p:spPr>
              <a:xfrm>
                <a:off x="3463605" y="288588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6" name="Oval 85"/>
              <p:cNvSpPr/>
              <p:nvPr/>
            </p:nvSpPr>
            <p:spPr>
              <a:xfrm>
                <a:off x="3500701" y="339552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7" name="Oval 86"/>
              <p:cNvSpPr/>
              <p:nvPr/>
            </p:nvSpPr>
            <p:spPr>
              <a:xfrm>
                <a:off x="2785601" y="3401172"/>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8" name="Oval 87"/>
              <p:cNvSpPr/>
              <p:nvPr/>
            </p:nvSpPr>
            <p:spPr>
              <a:xfrm>
                <a:off x="3459241" y="3837813"/>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89" name="Flowchart: Connector 88"/>
              <p:cNvSpPr/>
              <p:nvPr/>
            </p:nvSpPr>
            <p:spPr>
              <a:xfrm>
                <a:off x="1582264" y="387120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90" name="Flowchart: Connector 89"/>
              <p:cNvSpPr/>
              <p:nvPr/>
            </p:nvSpPr>
            <p:spPr>
              <a:xfrm>
                <a:off x="1294300" y="36884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91" name="Oval 90"/>
              <p:cNvSpPr/>
              <p:nvPr/>
            </p:nvSpPr>
            <p:spPr>
              <a:xfrm>
                <a:off x="3543617" y="274526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2" name="Oval 91"/>
              <p:cNvSpPr/>
              <p:nvPr/>
            </p:nvSpPr>
            <p:spPr>
              <a:xfrm>
                <a:off x="2772508" y="2921410"/>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3" name="Oval 92"/>
              <p:cNvSpPr/>
              <p:nvPr/>
            </p:nvSpPr>
            <p:spPr>
              <a:xfrm>
                <a:off x="3082123" y="29372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4" name="Oval 93"/>
              <p:cNvSpPr/>
              <p:nvPr/>
            </p:nvSpPr>
            <p:spPr>
              <a:xfrm>
                <a:off x="2977626" y="3321038"/>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5" name="Oval 94"/>
              <p:cNvSpPr/>
              <p:nvPr/>
            </p:nvSpPr>
            <p:spPr>
              <a:xfrm>
                <a:off x="3213290" y="372515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6" name="Oval 95"/>
              <p:cNvSpPr/>
              <p:nvPr/>
            </p:nvSpPr>
            <p:spPr>
              <a:xfrm>
                <a:off x="3304938" y="333450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7" name="Oval 96"/>
              <p:cNvSpPr/>
              <p:nvPr/>
            </p:nvSpPr>
            <p:spPr>
              <a:xfrm>
                <a:off x="2708882" y="3176874"/>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8" name="Oval 97"/>
              <p:cNvSpPr/>
              <p:nvPr/>
            </p:nvSpPr>
            <p:spPr>
              <a:xfrm>
                <a:off x="3549330" y="311448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99" name="Oval 98"/>
              <p:cNvSpPr/>
              <p:nvPr/>
            </p:nvSpPr>
            <p:spPr>
              <a:xfrm>
                <a:off x="3586426" y="362412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00" name="Flowchart: Connector 99"/>
              <p:cNvSpPr/>
              <p:nvPr/>
            </p:nvSpPr>
            <p:spPr>
              <a:xfrm>
                <a:off x="1115438" y="341497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1" name="Flowchart: Connector 100"/>
              <p:cNvSpPr/>
              <p:nvPr/>
            </p:nvSpPr>
            <p:spPr>
              <a:xfrm>
                <a:off x="1303825" y="428854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2" name="Flowchart: Connector 101"/>
              <p:cNvSpPr/>
              <p:nvPr/>
            </p:nvSpPr>
            <p:spPr>
              <a:xfrm>
                <a:off x="2027898" y="413960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3" name="Flowchart: Connector 102"/>
              <p:cNvSpPr/>
              <p:nvPr/>
            </p:nvSpPr>
            <p:spPr>
              <a:xfrm>
                <a:off x="1703184" y="4050001"/>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4" name="Flowchart: Connector 103"/>
              <p:cNvSpPr/>
              <p:nvPr/>
            </p:nvSpPr>
            <p:spPr>
              <a:xfrm>
                <a:off x="1568654" y="370229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5" name="Flowchart: Connector 104"/>
              <p:cNvSpPr/>
              <p:nvPr/>
            </p:nvSpPr>
            <p:spPr>
              <a:xfrm>
                <a:off x="1216541" y="3808095"/>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6" name="Flowchart: Connector 105"/>
              <p:cNvSpPr/>
              <p:nvPr/>
            </p:nvSpPr>
            <p:spPr>
              <a:xfrm>
                <a:off x="1764243" y="4290791"/>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7" name="Flowchart: Connector 106"/>
              <p:cNvSpPr/>
              <p:nvPr/>
            </p:nvSpPr>
            <p:spPr>
              <a:xfrm>
                <a:off x="1020289" y="418552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8" name="Flowchart: Connector 107"/>
              <p:cNvSpPr/>
              <p:nvPr/>
            </p:nvSpPr>
            <p:spPr>
              <a:xfrm>
                <a:off x="1458439" y="420457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09" name="Flowchart: Connector 108"/>
              <p:cNvSpPr/>
              <p:nvPr/>
            </p:nvSpPr>
            <p:spPr>
              <a:xfrm>
                <a:off x="1170475" y="402184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0" name="Flowchart: Connector 109"/>
              <p:cNvSpPr/>
              <p:nvPr/>
            </p:nvSpPr>
            <p:spPr>
              <a:xfrm>
                <a:off x="1273691" y="31699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1" name="Flowchart: Connector 110"/>
              <p:cNvSpPr/>
              <p:nvPr/>
            </p:nvSpPr>
            <p:spPr>
              <a:xfrm>
                <a:off x="1559441" y="31699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grpSp>
        <p:sp>
          <p:nvSpPr>
            <p:cNvPr id="69" name="Flowchart: Connector 68"/>
            <p:cNvSpPr/>
            <p:nvPr/>
          </p:nvSpPr>
          <p:spPr>
            <a:xfrm>
              <a:off x="6822018" y="2614391"/>
              <a:ext cx="91440" cy="91440"/>
            </a:xfrm>
            <a:prstGeom prst="flowChartConnector">
              <a:avLst/>
            </a:prstGeom>
            <a:gradFill>
              <a:gsLst>
                <a:gs pos="0">
                  <a:srgbClr val="FF0000"/>
                </a:gs>
                <a:gs pos="100000">
                  <a:srgbClr val="FF7171"/>
                </a:gs>
              </a:gsLst>
            </a:gradFill>
            <a:ln w="19050">
              <a:solidFill>
                <a:schemeClr val="accent2"/>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grpSp>
      <p:cxnSp>
        <p:nvCxnSpPr>
          <p:cNvPr id="66" name="Straight Connector 65"/>
          <p:cNvCxnSpPr/>
          <p:nvPr/>
        </p:nvCxnSpPr>
        <p:spPr>
          <a:xfrm flipH="1">
            <a:off x="7649634" y="3444524"/>
            <a:ext cx="1155700" cy="2933700"/>
          </a:xfrm>
          <a:prstGeom prst="line">
            <a:avLst/>
          </a:prstGeom>
          <a:ln/>
        </p:spPr>
        <p:style>
          <a:lnRef idx="3">
            <a:schemeClr val="accent6"/>
          </a:lnRef>
          <a:fillRef idx="0">
            <a:schemeClr val="accent6"/>
          </a:fillRef>
          <a:effectRef idx="2">
            <a:schemeClr val="accent6"/>
          </a:effectRef>
          <a:fontRef idx="minor">
            <a:schemeClr val="tx1"/>
          </a:fontRef>
        </p:style>
      </p:cxnSp>
      <p:cxnSp>
        <p:nvCxnSpPr>
          <p:cNvPr id="67" name="Straight Connector 66"/>
          <p:cNvCxnSpPr/>
          <p:nvPr/>
        </p:nvCxnSpPr>
        <p:spPr>
          <a:xfrm>
            <a:off x="2607002" y="3535723"/>
            <a:ext cx="1955148" cy="2717472"/>
          </a:xfrm>
          <a:prstGeom prst="line">
            <a:avLst/>
          </a:prstGeom>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8592909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4" name="Title 3"/>
          <p:cNvSpPr>
            <a:spLocks noGrp="1"/>
          </p:cNvSpPr>
          <p:nvPr>
            <p:ph type="title"/>
          </p:nvPr>
        </p:nvSpPr>
        <p:spPr/>
        <p:txBody>
          <a:bodyPr/>
          <a:lstStyle/>
          <a:p>
            <a:r>
              <a:rPr lang="es" b="1" dirty="0">
                <a:ea typeface="Source Sans Pro"/>
                <a:cs typeface="Source Sans Pro"/>
                <a:sym typeface="Source Sans Pro"/>
              </a:rPr>
              <a:t>Soft Margin Classifier</a:t>
            </a:r>
            <a:endParaRPr lang="en-US" b="1" dirty="0"/>
          </a:p>
        </p:txBody>
      </p:sp>
      <p:sp>
        <p:nvSpPr>
          <p:cNvPr id="2" name="Content Placeholder 1"/>
          <p:cNvSpPr>
            <a:spLocks noGrp="1"/>
          </p:cNvSpPr>
          <p:nvPr>
            <p:ph idx="1"/>
          </p:nvPr>
        </p:nvSpPr>
        <p:spPr/>
        <p:txBody>
          <a:bodyPr>
            <a:normAutofit/>
          </a:bodyPr>
          <a:lstStyle/>
          <a:p>
            <a:pPr marL="626530" indent="-457200">
              <a:lnSpc>
                <a:spcPct val="140000"/>
              </a:lnSpc>
              <a:spcBef>
                <a:spcPts val="1333"/>
              </a:spcBef>
              <a:buSzPct val="100000"/>
            </a:pPr>
            <a:r>
              <a:rPr lang="en-US" sz="2200" dirty="0">
                <a:ea typeface="Source Sans Pro"/>
                <a:cs typeface="Source Sans Pro"/>
                <a:sym typeface="Source Sans Pro"/>
              </a:rPr>
              <a:t>A soft margin classifier (also called support vector classifier) allows some observations to violate the margin or to be on the wrong side of the separating hyperplane.</a:t>
            </a:r>
          </a:p>
          <a:p>
            <a:pPr marL="626530" indent="-457200">
              <a:lnSpc>
                <a:spcPct val="140000"/>
              </a:lnSpc>
              <a:spcBef>
                <a:spcPts val="1333"/>
              </a:spcBef>
              <a:buSzPct val="100000"/>
            </a:pPr>
            <a:r>
              <a:rPr lang="en-US" sz="2200" dirty="0">
                <a:ea typeface="Source Sans Pro"/>
                <a:cs typeface="Source Sans Pro"/>
                <a:sym typeface="Source Sans Pro"/>
              </a:rPr>
              <a:t>This is done by introducing slack variables           for each data point and solving for them as well.</a:t>
            </a:r>
          </a:p>
          <a:p>
            <a:pPr marL="169330" indent="0">
              <a:lnSpc>
                <a:spcPct val="140000"/>
              </a:lnSpc>
              <a:spcBef>
                <a:spcPts val="1333"/>
              </a:spcBef>
              <a:buSzPct val="100000"/>
              <a:buNone/>
            </a:pPr>
            <a:r>
              <a:rPr lang="en-US" sz="2200" b="1" dirty="0">
                <a:solidFill>
                  <a:srgbClr val="003B4C"/>
                </a:solidFill>
                <a:ea typeface="Source Sans Pro"/>
                <a:cs typeface="Source Sans Pro"/>
                <a:sym typeface="Source Sans Pro"/>
              </a:rPr>
              <a:t>         Hard margin requires</a:t>
            </a:r>
            <a:r>
              <a:rPr lang="en-US" sz="2200" dirty="0">
                <a:solidFill>
                  <a:srgbClr val="003B4C"/>
                </a:solidFill>
                <a:ea typeface="Source Sans Pro"/>
                <a:cs typeface="Source Sans Pro"/>
                <a:sym typeface="Source Sans Pro"/>
              </a:rPr>
              <a:t>:                                    </a:t>
            </a:r>
            <a:r>
              <a:rPr lang="en-US" sz="2200" b="1" dirty="0">
                <a:solidFill>
                  <a:srgbClr val="003B4C"/>
                </a:solidFill>
                <a:ea typeface="Source Sans Pro"/>
                <a:cs typeface="Source Sans Pro"/>
                <a:sym typeface="Source Sans Pro"/>
              </a:rPr>
              <a:t>Soft margin relaxes this condition</a:t>
            </a:r>
            <a:r>
              <a:rPr lang="en-US" sz="2200" dirty="0">
                <a:solidFill>
                  <a:srgbClr val="003B4C"/>
                </a:solidFill>
                <a:ea typeface="Source Sans Pro"/>
                <a:cs typeface="Source Sans Pro"/>
                <a:sym typeface="Source Sans Pro"/>
              </a:rPr>
              <a:t>: </a:t>
            </a:r>
            <a:endParaRPr lang="en-US" sz="2200" dirty="0">
              <a:ea typeface="Source Sans Pro"/>
              <a:cs typeface="Source Sans Pro"/>
              <a:sym typeface="Source Sans Pro"/>
            </a:endParaRPr>
          </a:p>
          <a:p>
            <a:pPr marL="169330" indent="0">
              <a:lnSpc>
                <a:spcPct val="140000"/>
              </a:lnSpc>
              <a:spcBef>
                <a:spcPts val="1333"/>
              </a:spcBef>
              <a:buSzPct val="100000"/>
              <a:buNone/>
            </a:pPr>
            <a:endParaRPr lang="en-US" dirty="0">
              <a:ea typeface="Source Sans Pro"/>
              <a:cs typeface="Source Sans Pro"/>
              <a:sym typeface="Source Sans Pro"/>
            </a:endParaRPr>
          </a:p>
          <a:p>
            <a:pPr marL="626530" indent="-457200">
              <a:lnSpc>
                <a:spcPct val="140000"/>
              </a:lnSpc>
              <a:spcBef>
                <a:spcPts val="1333"/>
              </a:spcBef>
              <a:buSzPct val="100000"/>
            </a:pPr>
            <a:endParaRPr lang="en-US" dirty="0">
              <a:ea typeface="Source Sans Pro"/>
              <a:cs typeface="Source Sans Pro"/>
              <a:sym typeface="Source Sans Pro"/>
            </a:endParaRPr>
          </a:p>
          <a:p>
            <a:pPr marL="626530" indent="-457200">
              <a:lnSpc>
                <a:spcPct val="140000"/>
              </a:lnSpc>
              <a:spcBef>
                <a:spcPts val="1333"/>
              </a:spcBef>
              <a:buSzPct val="100000"/>
            </a:pPr>
            <a:endParaRPr lang="en-US" dirty="0">
              <a:ea typeface="Source Sans Pro"/>
              <a:cs typeface="Source Sans Pro"/>
              <a:sym typeface="Source Sans Pro"/>
            </a:endParaRPr>
          </a:p>
          <a:p>
            <a:pPr marL="169330" indent="0">
              <a:lnSpc>
                <a:spcPct val="140000"/>
              </a:lnSpc>
              <a:spcBef>
                <a:spcPts val="1333"/>
              </a:spcBef>
              <a:buSzPct val="100000"/>
              <a:buNone/>
            </a:pPr>
            <a:endParaRPr lang="en-US" dirty="0">
              <a:ea typeface="Source Sans Pro"/>
              <a:cs typeface="Source Sans Pro"/>
              <a:sym typeface="Source Sans Pro"/>
            </a:endParaRPr>
          </a:p>
          <a:p>
            <a:pPr>
              <a:lnSpc>
                <a:spcPct val="140000"/>
              </a:lnSpc>
              <a:spcBef>
                <a:spcPts val="1333"/>
              </a:spcBef>
              <a:buSzPct val="100000"/>
            </a:pPr>
            <a:endParaRPr lang="en-US" dirty="0">
              <a:ea typeface="Source Sans Pro"/>
              <a:cs typeface="Source Sans Pro"/>
              <a:sym typeface="Source Sans Pro"/>
            </a:endParaRPr>
          </a:p>
          <a:p>
            <a:pPr>
              <a:lnSpc>
                <a:spcPct val="140000"/>
              </a:lnSpc>
              <a:spcBef>
                <a:spcPts val="1333"/>
              </a:spcBef>
              <a:buSzPct val="100000"/>
            </a:pPr>
            <a:endParaRPr lang="en-US" dirty="0">
              <a:ea typeface="Source Sans Pro"/>
              <a:cs typeface="Source Sans Pro"/>
              <a:sym typeface="Source Sans Pro"/>
            </a:endParaRPr>
          </a:p>
        </p:txBody>
      </p:sp>
      <p:pic>
        <p:nvPicPr>
          <p:cNvPr id="3" name="Picture 2"/>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6558128" y="3551032"/>
            <a:ext cx="217453" cy="302809"/>
          </a:xfrm>
          <a:prstGeom prst="rect">
            <a:avLst/>
          </a:prstGeom>
        </p:spPr>
      </p:pic>
      <p:pic>
        <p:nvPicPr>
          <p:cNvPr id="14" name="Picture 13"/>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1755909" y="5202970"/>
            <a:ext cx="2194560" cy="674775"/>
          </a:xfrm>
          <a:prstGeom prst="rect">
            <a:avLst/>
          </a:prstGeom>
        </p:spPr>
      </p:pic>
      <p:pic>
        <p:nvPicPr>
          <p:cNvPr id="15" name="Picture 14"/>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7120242" y="5145717"/>
            <a:ext cx="2560320" cy="1000466"/>
          </a:xfrm>
          <a:prstGeom prst="rect">
            <a:avLst/>
          </a:prstGeom>
        </p:spPr>
      </p:pic>
    </p:spTree>
    <p:extLst>
      <p:ext uri="{BB962C8B-B14F-4D97-AF65-F5344CB8AC3E}">
        <p14:creationId xmlns:p14="http://schemas.microsoft.com/office/powerpoint/2010/main" val="7431085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5" name="Content Placeholder 4"/>
          <p:cNvSpPr>
            <a:spLocks noGrp="1"/>
          </p:cNvSpPr>
          <p:nvPr>
            <p:ph idx="1"/>
          </p:nvPr>
        </p:nvSpPr>
        <p:spPr>
          <a:xfrm>
            <a:off x="146755" y="1699555"/>
            <a:ext cx="7463734" cy="4351338"/>
          </a:xfrm>
        </p:spPr>
        <p:txBody>
          <a:bodyPr>
            <a:normAutofit/>
          </a:bodyPr>
          <a:lstStyle/>
          <a:p>
            <a:pPr marL="0" indent="0">
              <a:lnSpc>
                <a:spcPct val="140000"/>
              </a:lnSpc>
              <a:spcBef>
                <a:spcPts val="1333"/>
              </a:spcBef>
              <a:buSzPct val="100000"/>
              <a:buNone/>
            </a:pPr>
            <a:endParaRPr lang="en-US" sz="2000" dirty="0">
              <a:ea typeface="Source Sans Pro"/>
              <a:cs typeface="Source Sans Pro"/>
              <a:sym typeface="Source Sans Pro"/>
            </a:endParaRPr>
          </a:p>
          <a:p>
            <a:pPr marL="0" indent="0">
              <a:lnSpc>
                <a:spcPct val="140000"/>
              </a:lnSpc>
              <a:spcBef>
                <a:spcPts val="1333"/>
              </a:spcBef>
              <a:buSzPct val="100000"/>
              <a:buNone/>
            </a:pPr>
            <a:r>
              <a:rPr lang="en-US" sz="2200" dirty="0">
                <a:ea typeface="Source Sans Pro"/>
                <a:cs typeface="Source Sans Pro"/>
                <a:sym typeface="Source Sans Pro"/>
              </a:rPr>
              <a:t>The slack variable indicates the extent of margin violation or misclassification:</a:t>
            </a:r>
          </a:p>
          <a:p>
            <a:pPr marL="169329">
              <a:spcBef>
                <a:spcPts val="267"/>
              </a:spcBef>
              <a:buSzPct val="100000"/>
            </a:pPr>
            <a:endParaRPr lang="en-US" sz="2200" dirty="0">
              <a:ea typeface="Source Sans Pro"/>
              <a:cs typeface="Source Sans Pro"/>
              <a:sym typeface="Source Sans Pro"/>
            </a:endParaRPr>
          </a:p>
          <a:p>
            <a:pPr marL="169329">
              <a:spcBef>
                <a:spcPts val="267"/>
              </a:spcBef>
              <a:buSzPct val="100000"/>
            </a:pPr>
            <a:r>
              <a:rPr lang="en-US" sz="2200" dirty="0">
                <a:ea typeface="Source Sans Pro"/>
                <a:cs typeface="Source Sans Pro"/>
                <a:sym typeface="Source Sans Pro"/>
              </a:rPr>
              <a:t>                   :  data point </a:t>
            </a:r>
            <a:r>
              <a:rPr lang="en-US" sz="2200" dirty="0" err="1">
                <a:ea typeface="Source Sans Pro"/>
                <a:cs typeface="Source Sans Pro"/>
                <a:sym typeface="Source Sans Pro"/>
              </a:rPr>
              <a:t>i</a:t>
            </a:r>
            <a:r>
              <a:rPr lang="en-US" sz="2200" dirty="0">
                <a:ea typeface="Source Sans Pro"/>
                <a:cs typeface="Source Sans Pro"/>
                <a:sym typeface="Source Sans Pro"/>
              </a:rPr>
              <a:t> does not violate the margin</a:t>
            </a:r>
          </a:p>
          <a:p>
            <a:pPr marL="169329">
              <a:spcBef>
                <a:spcPts val="267"/>
              </a:spcBef>
              <a:buSzPct val="100000"/>
            </a:pPr>
            <a:r>
              <a:rPr lang="en-US" sz="2200" dirty="0">
                <a:ea typeface="Source Sans Pro"/>
                <a:cs typeface="Source Sans Pro"/>
                <a:sym typeface="Source Sans Pro"/>
              </a:rPr>
              <a:t>                   :  data point </a:t>
            </a:r>
            <a:r>
              <a:rPr lang="en-US" sz="2200" dirty="0" err="1">
                <a:ea typeface="Source Sans Pro"/>
                <a:cs typeface="Source Sans Pro"/>
                <a:sym typeface="Source Sans Pro"/>
              </a:rPr>
              <a:t>i</a:t>
            </a:r>
            <a:r>
              <a:rPr lang="en-US" sz="2200" dirty="0">
                <a:ea typeface="Source Sans Pro"/>
                <a:cs typeface="Source Sans Pro"/>
                <a:sym typeface="Source Sans Pro"/>
              </a:rPr>
              <a:t> violates the margin</a:t>
            </a:r>
          </a:p>
          <a:p>
            <a:pPr marL="169329">
              <a:spcBef>
                <a:spcPts val="267"/>
              </a:spcBef>
              <a:buSzPct val="100000"/>
            </a:pPr>
            <a:r>
              <a:rPr lang="en-US" sz="2200" dirty="0">
                <a:ea typeface="Source Sans Pro"/>
                <a:cs typeface="Source Sans Pro"/>
                <a:sym typeface="Source Sans Pro"/>
              </a:rPr>
              <a:t>                   :  data point </a:t>
            </a:r>
            <a:r>
              <a:rPr lang="en-US" sz="2200" dirty="0" err="1">
                <a:ea typeface="Source Sans Pro"/>
                <a:cs typeface="Source Sans Pro"/>
                <a:sym typeface="Source Sans Pro"/>
              </a:rPr>
              <a:t>i</a:t>
            </a:r>
            <a:r>
              <a:rPr lang="en-US" sz="2200" dirty="0">
                <a:ea typeface="Source Sans Pro"/>
                <a:cs typeface="Source Sans Pro"/>
                <a:sym typeface="Source Sans Pro"/>
              </a:rPr>
              <a:t> in the wrong side of the hyperplane</a:t>
            </a:r>
          </a:p>
        </p:txBody>
      </p:sp>
      <p:pic>
        <p:nvPicPr>
          <p:cNvPr id="3" name="Picture 2"/>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622230" y="3692386"/>
            <a:ext cx="596069" cy="211967"/>
          </a:xfrm>
          <a:prstGeom prst="rect">
            <a:avLst/>
          </a:prstGeom>
        </p:spPr>
      </p:pic>
      <p:pic>
        <p:nvPicPr>
          <p:cNvPr id="4" name="Picture 3"/>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tretch>
            <a:fillRect/>
          </a:stretch>
        </p:blipFill>
        <p:spPr>
          <a:xfrm>
            <a:off x="596042" y="4010964"/>
            <a:ext cx="586111" cy="211967"/>
          </a:xfrm>
          <a:prstGeom prst="rect">
            <a:avLst/>
          </a:prstGeom>
        </p:spPr>
      </p:pic>
      <p:pic>
        <p:nvPicPr>
          <p:cNvPr id="10" name="Picture 9"/>
          <p:cNvPicPr>
            <a:picLocks noChangeAspect="1"/>
          </p:cNvPicPr>
          <p:nvPr>
            <p:custDataLst>
              <p:tags r:id="rId3"/>
            </p:custDataLst>
          </p:nvPr>
        </p:nvPicPr>
        <p:blipFill>
          <a:blip r:embed="rId14" cstate="print">
            <a:extLst>
              <a:ext uri="{28A0092B-C50C-407E-A947-70E740481C1C}">
                <a14:useLocalDpi xmlns:a14="http://schemas.microsoft.com/office/drawing/2010/main" val="0"/>
              </a:ext>
            </a:extLst>
          </a:blip>
          <a:stretch>
            <a:fillRect/>
          </a:stretch>
        </p:blipFill>
        <p:spPr>
          <a:xfrm>
            <a:off x="596042" y="4339530"/>
            <a:ext cx="586111" cy="211967"/>
          </a:xfrm>
          <a:prstGeom prst="rect">
            <a:avLst/>
          </a:prstGeom>
        </p:spPr>
      </p:pic>
      <p:grpSp>
        <p:nvGrpSpPr>
          <p:cNvPr id="86" name="Group 85"/>
          <p:cNvGrpSpPr/>
          <p:nvPr/>
        </p:nvGrpSpPr>
        <p:grpSpPr>
          <a:xfrm>
            <a:off x="7241549" y="1690688"/>
            <a:ext cx="4950452" cy="3915133"/>
            <a:chOff x="4448541" y="1249338"/>
            <a:chExt cx="3712839" cy="2936350"/>
          </a:xfrm>
        </p:grpSpPr>
        <p:pic>
          <p:nvPicPr>
            <p:cNvPr id="83" name="Picture 82"/>
            <p:cNvPicPr>
              <a:picLocks noChangeAspect="1"/>
            </p:cNvPicPr>
            <p:nvPr>
              <p:custDataLst>
                <p:tags r:id="rId4"/>
              </p:custDataLst>
            </p:nvPr>
          </p:nvPicPr>
          <p:blipFill>
            <a:blip r:embed="rId15" cstate="print">
              <a:extLst>
                <a:ext uri="{28A0092B-C50C-407E-A947-70E740481C1C}">
                  <a14:useLocalDpi xmlns:a14="http://schemas.microsoft.com/office/drawing/2010/main" val="0"/>
                </a:ext>
              </a:extLst>
            </a:blip>
            <a:stretch>
              <a:fillRect/>
            </a:stretch>
          </p:blipFill>
          <p:spPr>
            <a:xfrm>
              <a:off x="5693570" y="2461715"/>
              <a:ext cx="325419" cy="124985"/>
            </a:xfrm>
            <a:prstGeom prst="rect">
              <a:avLst/>
            </a:prstGeom>
          </p:spPr>
        </p:pic>
        <p:pic>
          <p:nvPicPr>
            <p:cNvPr id="78" name="Picture 77"/>
            <p:cNvPicPr>
              <a:picLocks noChangeAspect="1"/>
            </p:cNvPicPr>
            <p:nvPr>
              <p:custDataLst>
                <p:tags r:id="rId5"/>
              </p:custDataLst>
            </p:nvPr>
          </p:nvPicPr>
          <p:blipFill>
            <a:blip r:embed="rId16" cstate="print">
              <a:extLst>
                <a:ext uri="{28A0092B-C50C-407E-A947-70E740481C1C}">
                  <a14:useLocalDpi xmlns:a14="http://schemas.microsoft.com/office/drawing/2010/main" val="0"/>
                </a:ext>
              </a:extLst>
            </a:blip>
            <a:stretch>
              <a:fillRect/>
            </a:stretch>
          </p:blipFill>
          <p:spPr>
            <a:xfrm>
              <a:off x="5728827" y="1780462"/>
              <a:ext cx="334565" cy="113554"/>
            </a:xfrm>
            <a:prstGeom prst="rect">
              <a:avLst/>
            </a:prstGeom>
          </p:spPr>
        </p:pic>
        <p:pic>
          <p:nvPicPr>
            <p:cNvPr id="8" name="Picture 7"/>
            <p:cNvPicPr>
              <a:picLocks noChangeAspect="1"/>
            </p:cNvPicPr>
            <p:nvPr>
              <p:custDataLst>
                <p:tags r:id="rId6"/>
              </p:custDataLst>
            </p:nvPr>
          </p:nvPicPr>
          <p:blipFill>
            <a:blip r:embed="rId17" cstate="print">
              <a:extLst>
                <a:ext uri="{28A0092B-C50C-407E-A947-70E740481C1C}">
                  <a14:useLocalDpi xmlns:a14="http://schemas.microsoft.com/office/drawing/2010/main" val="0"/>
                </a:ext>
              </a:extLst>
            </a:blip>
            <a:stretch>
              <a:fillRect/>
            </a:stretch>
          </p:blipFill>
          <p:spPr>
            <a:xfrm>
              <a:off x="7251083" y="3538019"/>
              <a:ext cx="808442" cy="139008"/>
            </a:xfrm>
            <a:prstGeom prst="rect">
              <a:avLst/>
            </a:prstGeom>
          </p:spPr>
        </p:pic>
        <p:pic>
          <p:nvPicPr>
            <p:cNvPr id="9" name="Picture 8"/>
            <p:cNvPicPr>
              <a:picLocks noChangeAspect="1"/>
            </p:cNvPicPr>
            <p:nvPr>
              <p:custDataLst>
                <p:tags r:id="rId7"/>
              </p:custDataLst>
            </p:nvPr>
          </p:nvPicPr>
          <p:blipFill>
            <a:blip r:embed="rId18" cstate="print">
              <a:extLst>
                <a:ext uri="{28A0092B-C50C-407E-A947-70E740481C1C}">
                  <a14:useLocalDpi xmlns:a14="http://schemas.microsoft.com/office/drawing/2010/main" val="0"/>
                </a:ext>
              </a:extLst>
            </a:blip>
            <a:stretch>
              <a:fillRect/>
            </a:stretch>
          </p:blipFill>
          <p:spPr>
            <a:xfrm>
              <a:off x="6318304" y="4046680"/>
              <a:ext cx="926416" cy="139008"/>
            </a:xfrm>
            <a:prstGeom prst="rect">
              <a:avLst/>
            </a:prstGeom>
          </p:spPr>
        </p:pic>
        <p:grpSp>
          <p:nvGrpSpPr>
            <p:cNvPr id="16" name="Group 15"/>
            <p:cNvGrpSpPr/>
            <p:nvPr/>
          </p:nvGrpSpPr>
          <p:grpSpPr>
            <a:xfrm>
              <a:off x="4448541" y="1259670"/>
              <a:ext cx="3712839" cy="2674557"/>
              <a:chOff x="4999177" y="1262181"/>
              <a:chExt cx="3273412" cy="2342982"/>
            </a:xfrm>
          </p:grpSpPr>
          <p:grpSp>
            <p:nvGrpSpPr>
              <p:cNvPr id="17" name="Group 16"/>
              <p:cNvGrpSpPr/>
              <p:nvPr/>
            </p:nvGrpSpPr>
            <p:grpSpPr>
              <a:xfrm>
                <a:off x="4999177" y="1262181"/>
                <a:ext cx="3273412" cy="2342982"/>
                <a:chOff x="5070488" y="885480"/>
                <a:chExt cx="3273412" cy="2342982"/>
              </a:xfrm>
            </p:grpSpPr>
            <p:cxnSp>
              <p:nvCxnSpPr>
                <p:cNvPr id="18" name="Straight Connector 17"/>
                <p:cNvCxnSpPr/>
                <p:nvPr/>
              </p:nvCxnSpPr>
              <p:spPr>
                <a:xfrm>
                  <a:off x="6016711" y="885480"/>
                  <a:ext cx="1466361" cy="2038104"/>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9" name="Flowchart: Connector 18"/>
                <p:cNvSpPr/>
                <p:nvPr/>
              </p:nvSpPr>
              <p:spPr>
                <a:xfrm>
                  <a:off x="5849363" y="188145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0" name="Flowchart: Connector 19"/>
                <p:cNvSpPr/>
                <p:nvPr/>
              </p:nvSpPr>
              <p:spPr>
                <a:xfrm>
                  <a:off x="5278071" y="235558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1" name="Flowchart: Connector 20"/>
                <p:cNvSpPr/>
                <p:nvPr/>
              </p:nvSpPr>
              <p:spPr>
                <a:xfrm>
                  <a:off x="5694850" y="232639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2" name="Flowchart: Connector 21"/>
                <p:cNvSpPr/>
                <p:nvPr/>
              </p:nvSpPr>
              <p:spPr>
                <a:xfrm>
                  <a:off x="5771223" y="270132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3" name="Flowchart: Connector 22"/>
                <p:cNvSpPr/>
                <p:nvPr/>
              </p:nvSpPr>
              <p:spPr>
                <a:xfrm>
                  <a:off x="5389359" y="272602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4" name="Flowchart: Connector 23"/>
                <p:cNvSpPr/>
                <p:nvPr/>
              </p:nvSpPr>
              <p:spPr>
                <a:xfrm>
                  <a:off x="5683454" y="168299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5" name="Flowchart: Connector 24"/>
                <p:cNvSpPr/>
                <p:nvPr/>
              </p:nvSpPr>
              <p:spPr>
                <a:xfrm>
                  <a:off x="5607566" y="1845945"/>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6" name="Flowchart: Connector 25"/>
                <p:cNvSpPr/>
                <p:nvPr/>
              </p:nvSpPr>
              <p:spPr>
                <a:xfrm>
                  <a:off x="6975665" y="986951"/>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7" name="Flowchart: Connector 26"/>
                <p:cNvSpPr/>
                <p:nvPr/>
              </p:nvSpPr>
              <p:spPr>
                <a:xfrm>
                  <a:off x="6192364" y="269010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8" name="Flowchart: Connector 27"/>
                <p:cNvSpPr/>
                <p:nvPr/>
              </p:nvSpPr>
              <p:spPr>
                <a:xfrm>
                  <a:off x="5317348" y="147999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29" name="Oval 28"/>
                <p:cNvSpPr/>
                <p:nvPr/>
              </p:nvSpPr>
              <p:spPr>
                <a:xfrm>
                  <a:off x="7401242" y="91646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0" name="Oval 29"/>
                <p:cNvSpPr/>
                <p:nvPr/>
              </p:nvSpPr>
              <p:spPr>
                <a:xfrm>
                  <a:off x="6180410" y="181312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1" name="Oval 30"/>
                <p:cNvSpPr/>
                <p:nvPr/>
              </p:nvSpPr>
              <p:spPr>
                <a:xfrm>
                  <a:off x="7187398" y="112750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2" name="Oval 31"/>
                <p:cNvSpPr/>
                <p:nvPr/>
              </p:nvSpPr>
              <p:spPr>
                <a:xfrm>
                  <a:off x="6949551" y="1435088"/>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3" name="Oval 32"/>
                <p:cNvSpPr/>
                <p:nvPr/>
              </p:nvSpPr>
              <p:spPr>
                <a:xfrm>
                  <a:off x="7185215" y="183920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4" name="Oval 33"/>
                <p:cNvSpPr/>
                <p:nvPr/>
              </p:nvSpPr>
              <p:spPr>
                <a:xfrm>
                  <a:off x="7276863" y="144855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5" name="Oval 34"/>
                <p:cNvSpPr/>
                <p:nvPr/>
              </p:nvSpPr>
              <p:spPr>
                <a:xfrm>
                  <a:off x="7521255" y="122853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6" name="Oval 35"/>
                <p:cNvSpPr/>
                <p:nvPr/>
              </p:nvSpPr>
              <p:spPr>
                <a:xfrm>
                  <a:off x="7558351" y="173817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7" name="Oval 36"/>
                <p:cNvSpPr/>
                <p:nvPr/>
              </p:nvSpPr>
              <p:spPr>
                <a:xfrm>
                  <a:off x="6843251" y="1743822"/>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8" name="Oval 37"/>
                <p:cNvSpPr/>
                <p:nvPr/>
              </p:nvSpPr>
              <p:spPr>
                <a:xfrm>
                  <a:off x="7516891" y="2180463"/>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39" name="TextBox 38"/>
                <p:cNvSpPr txBox="1"/>
                <p:nvPr/>
              </p:nvSpPr>
              <p:spPr>
                <a:xfrm>
                  <a:off x="5070488" y="2030000"/>
                  <a:ext cx="552532" cy="222437"/>
                </a:xfrm>
                <a:prstGeom prst="rect">
                  <a:avLst/>
                </a:prstGeom>
                <a:noFill/>
              </p:spPr>
              <p:txBody>
                <a:bodyPr wrap="square" rtlCol="0">
                  <a:spAutoFit/>
                </a:bodyPr>
                <a:lstStyle/>
                <a:p>
                  <a:r>
                    <a:rPr lang="en-US" sz="1600" b="1" dirty="0"/>
                    <a:t>-1</a:t>
                  </a:r>
                </a:p>
              </p:txBody>
            </p:sp>
            <p:sp>
              <p:nvSpPr>
                <p:cNvPr id="40" name="TextBox 39"/>
                <p:cNvSpPr txBox="1"/>
                <p:nvPr/>
              </p:nvSpPr>
              <p:spPr>
                <a:xfrm>
                  <a:off x="7752555" y="1857171"/>
                  <a:ext cx="591345" cy="222437"/>
                </a:xfrm>
                <a:prstGeom prst="rect">
                  <a:avLst/>
                </a:prstGeom>
                <a:noFill/>
              </p:spPr>
              <p:txBody>
                <a:bodyPr wrap="square" rtlCol="0">
                  <a:spAutoFit/>
                </a:bodyPr>
                <a:lstStyle/>
                <a:p>
                  <a:r>
                    <a:rPr lang="en-US" sz="1600" b="1" dirty="0"/>
                    <a:t>+1</a:t>
                  </a:r>
                </a:p>
              </p:txBody>
            </p:sp>
            <p:cxnSp>
              <p:nvCxnSpPr>
                <p:cNvPr id="41" name="Straight Connector 40"/>
                <p:cNvCxnSpPr/>
                <p:nvPr/>
              </p:nvCxnSpPr>
              <p:spPr>
                <a:xfrm>
                  <a:off x="5819226" y="1039950"/>
                  <a:ext cx="1466361" cy="2038104"/>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5593809" y="1174273"/>
                  <a:ext cx="1466361" cy="2038104"/>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43" name="Picture 42"/>
                <p:cNvPicPr>
                  <a:picLocks noChangeAspect="1"/>
                </p:cNvPicPr>
                <p:nvPr>
                  <p:custDataLst>
                    <p:tags r:id="rId9"/>
                  </p:custDataLst>
                </p:nvPr>
              </p:nvPicPr>
              <p:blipFill>
                <a:blip r:embed="rId19" cstate="print">
                  <a:extLst>
                    <a:ext uri="{28A0092B-C50C-407E-A947-70E740481C1C}">
                      <a14:useLocalDpi xmlns:a14="http://schemas.microsoft.com/office/drawing/2010/main" val="0"/>
                    </a:ext>
                  </a:extLst>
                </a:blip>
                <a:stretch>
                  <a:fillRect/>
                </a:stretch>
              </p:blipFill>
              <p:spPr>
                <a:xfrm>
                  <a:off x="7212016" y="3089454"/>
                  <a:ext cx="814844" cy="139008"/>
                </a:xfrm>
                <a:prstGeom prst="rect">
                  <a:avLst/>
                </a:prstGeom>
              </p:spPr>
            </p:pic>
            <p:sp>
              <p:nvSpPr>
                <p:cNvPr id="44" name="Flowchart: Connector 43"/>
                <p:cNvSpPr/>
                <p:nvPr/>
              </p:nvSpPr>
              <p:spPr>
                <a:xfrm>
                  <a:off x="5849464" y="224242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45" name="Flowchart: Connector 44"/>
                <p:cNvSpPr/>
                <p:nvPr/>
              </p:nvSpPr>
              <p:spPr>
                <a:xfrm>
                  <a:off x="5561500" y="205969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46" name="Oval 45"/>
                <p:cNvSpPr/>
                <p:nvPr/>
              </p:nvSpPr>
              <p:spPr>
                <a:xfrm>
                  <a:off x="7601267" y="108791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47" name="Oval 46"/>
                <p:cNvSpPr/>
                <p:nvPr/>
              </p:nvSpPr>
              <p:spPr>
                <a:xfrm>
                  <a:off x="6830158" y="1264060"/>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48" name="Oval 47"/>
                <p:cNvSpPr/>
                <p:nvPr/>
              </p:nvSpPr>
              <p:spPr>
                <a:xfrm>
                  <a:off x="7139773" y="127990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49" name="Oval 48"/>
                <p:cNvSpPr/>
                <p:nvPr/>
              </p:nvSpPr>
              <p:spPr>
                <a:xfrm>
                  <a:off x="7035276" y="1663688"/>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0" name="Oval 49"/>
                <p:cNvSpPr/>
                <p:nvPr/>
              </p:nvSpPr>
              <p:spPr>
                <a:xfrm>
                  <a:off x="7270940" y="206780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1" name="Oval 50"/>
                <p:cNvSpPr/>
                <p:nvPr/>
              </p:nvSpPr>
              <p:spPr>
                <a:xfrm>
                  <a:off x="7362588" y="167715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2" name="Oval 51"/>
                <p:cNvSpPr/>
                <p:nvPr/>
              </p:nvSpPr>
              <p:spPr>
                <a:xfrm>
                  <a:off x="6766532" y="1519524"/>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3" name="Oval 52"/>
                <p:cNvSpPr/>
                <p:nvPr/>
              </p:nvSpPr>
              <p:spPr>
                <a:xfrm>
                  <a:off x="7606980" y="145713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4" name="Oval 53"/>
                <p:cNvSpPr/>
                <p:nvPr/>
              </p:nvSpPr>
              <p:spPr>
                <a:xfrm>
                  <a:off x="7644076" y="196677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5" name="Oval 54"/>
                <p:cNvSpPr/>
                <p:nvPr/>
              </p:nvSpPr>
              <p:spPr>
                <a:xfrm>
                  <a:off x="7602616" y="2409063"/>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56" name="Flowchart: Connector 55"/>
                <p:cNvSpPr/>
                <p:nvPr/>
              </p:nvSpPr>
              <p:spPr>
                <a:xfrm>
                  <a:off x="5382638" y="178620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57" name="Flowchart: Connector 56"/>
                <p:cNvSpPr/>
                <p:nvPr/>
              </p:nvSpPr>
              <p:spPr>
                <a:xfrm>
                  <a:off x="5571025" y="26597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58" name="Flowchart: Connector 57"/>
                <p:cNvSpPr/>
                <p:nvPr/>
              </p:nvSpPr>
              <p:spPr>
                <a:xfrm>
                  <a:off x="6295098" y="251082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59" name="Flowchart: Connector 58"/>
                <p:cNvSpPr/>
                <p:nvPr/>
              </p:nvSpPr>
              <p:spPr>
                <a:xfrm>
                  <a:off x="5970384" y="242122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0" name="Flowchart: Connector 59"/>
                <p:cNvSpPr/>
                <p:nvPr/>
              </p:nvSpPr>
              <p:spPr>
                <a:xfrm>
                  <a:off x="6015316" y="210770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1" name="Flowchart: Connector 60"/>
                <p:cNvSpPr/>
                <p:nvPr/>
              </p:nvSpPr>
              <p:spPr>
                <a:xfrm>
                  <a:off x="5483741" y="21793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2" name="Flowchart: Connector 61"/>
                <p:cNvSpPr/>
                <p:nvPr/>
              </p:nvSpPr>
              <p:spPr>
                <a:xfrm>
                  <a:off x="6031443" y="266201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3" name="Flowchart: Connector 62"/>
                <p:cNvSpPr/>
                <p:nvPr/>
              </p:nvSpPr>
              <p:spPr>
                <a:xfrm>
                  <a:off x="5287489" y="255675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4" name="Flowchart: Connector 63"/>
                <p:cNvSpPr/>
                <p:nvPr/>
              </p:nvSpPr>
              <p:spPr>
                <a:xfrm>
                  <a:off x="5193523" y="181336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5" name="Flowchart: Connector 64"/>
                <p:cNvSpPr/>
                <p:nvPr/>
              </p:nvSpPr>
              <p:spPr>
                <a:xfrm>
                  <a:off x="5725639" y="257580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6" name="Flowchart: Connector 65"/>
                <p:cNvSpPr/>
                <p:nvPr/>
              </p:nvSpPr>
              <p:spPr>
                <a:xfrm>
                  <a:off x="5437675" y="23930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67" name="Flowchart: Connector 66"/>
                <p:cNvSpPr/>
                <p:nvPr/>
              </p:nvSpPr>
              <p:spPr>
                <a:xfrm>
                  <a:off x="5540891" y="1541145"/>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1" name="Flowchart: Connector 70"/>
                <p:cNvSpPr/>
                <p:nvPr/>
              </p:nvSpPr>
              <p:spPr>
                <a:xfrm>
                  <a:off x="5826641" y="1541145"/>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72" name="Oval 71"/>
                <p:cNvSpPr/>
                <p:nvPr/>
              </p:nvSpPr>
              <p:spPr>
                <a:xfrm>
                  <a:off x="6284941" y="146504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73" name="Oval 72"/>
                <p:cNvSpPr/>
                <p:nvPr/>
              </p:nvSpPr>
              <p:spPr>
                <a:xfrm>
                  <a:off x="6833726" y="200099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grpSp>
          <p:sp>
            <p:nvSpPr>
              <p:cNvPr id="12" name="TextBox 11"/>
              <p:cNvSpPr txBox="1"/>
              <p:nvPr/>
            </p:nvSpPr>
            <p:spPr>
              <a:xfrm>
                <a:off x="6069550" y="2137995"/>
                <a:ext cx="168031" cy="168555"/>
              </a:xfrm>
              <a:prstGeom prst="rect">
                <a:avLst/>
              </a:prstGeom>
              <a:noFill/>
            </p:spPr>
            <p:txBody>
              <a:bodyPr wrap="square" rtlCol="0">
                <a:spAutoFit/>
              </a:bodyPr>
              <a:lstStyle/>
              <a:p>
                <a:r>
                  <a:rPr lang="en-US" sz="1067" dirty="0"/>
                  <a:t>j</a:t>
                </a:r>
              </a:p>
            </p:txBody>
          </p:sp>
          <p:sp>
            <p:nvSpPr>
              <p:cNvPr id="80" name="TextBox 79"/>
              <p:cNvSpPr txBox="1"/>
              <p:nvPr/>
            </p:nvSpPr>
            <p:spPr>
              <a:xfrm>
                <a:off x="6171501" y="1794974"/>
                <a:ext cx="136473" cy="168555"/>
              </a:xfrm>
              <a:prstGeom prst="rect">
                <a:avLst/>
              </a:prstGeom>
              <a:noFill/>
            </p:spPr>
            <p:txBody>
              <a:bodyPr wrap="square" rtlCol="0">
                <a:spAutoFit/>
              </a:bodyPr>
              <a:lstStyle/>
              <a:p>
                <a:r>
                  <a:rPr lang="en-US" sz="1067" dirty="0"/>
                  <a:t>k</a:t>
                </a:r>
              </a:p>
            </p:txBody>
          </p:sp>
          <p:sp>
            <p:nvSpPr>
              <p:cNvPr id="81" name="TextBox 80"/>
              <p:cNvSpPr txBox="1"/>
              <p:nvPr/>
            </p:nvSpPr>
            <p:spPr>
              <a:xfrm>
                <a:off x="6858908" y="1314119"/>
                <a:ext cx="168031" cy="168555"/>
              </a:xfrm>
              <a:prstGeom prst="rect">
                <a:avLst/>
              </a:prstGeom>
              <a:noFill/>
            </p:spPr>
            <p:txBody>
              <a:bodyPr wrap="square" rtlCol="0">
                <a:spAutoFit/>
              </a:bodyPr>
              <a:lstStyle/>
              <a:p>
                <a:r>
                  <a:rPr lang="en-US" sz="1067" dirty="0">
                    <a:latin typeface="Source Sans Pro" panose="020B0604020202020204" charset="0"/>
                  </a:rPr>
                  <a:t>l</a:t>
                </a:r>
              </a:p>
            </p:txBody>
          </p:sp>
        </p:grpSp>
        <p:pic>
          <p:nvPicPr>
            <p:cNvPr id="85" name="Picture 84"/>
            <p:cNvPicPr>
              <a:picLocks noChangeAspect="1"/>
            </p:cNvPicPr>
            <p:nvPr>
              <p:custDataLst>
                <p:tags r:id="rId8"/>
              </p:custDataLst>
            </p:nvPr>
          </p:nvPicPr>
          <p:blipFill>
            <a:blip r:embed="rId20" cstate="print">
              <a:extLst>
                <a:ext uri="{28A0092B-C50C-407E-A947-70E740481C1C}">
                  <a14:useLocalDpi xmlns:a14="http://schemas.microsoft.com/office/drawing/2010/main" val="0"/>
                </a:ext>
              </a:extLst>
            </a:blip>
            <a:stretch>
              <a:fillRect/>
            </a:stretch>
          </p:blipFill>
          <p:spPr>
            <a:xfrm>
              <a:off x="6511299" y="1249338"/>
              <a:ext cx="310939" cy="113553"/>
            </a:xfrm>
            <a:prstGeom prst="rect">
              <a:avLst/>
            </a:prstGeom>
          </p:spPr>
        </p:pic>
      </p:grpSp>
      <p:sp>
        <p:nvSpPr>
          <p:cNvPr id="6" name="Title 5"/>
          <p:cNvSpPr>
            <a:spLocks noGrp="1"/>
          </p:cNvSpPr>
          <p:nvPr>
            <p:ph type="title"/>
          </p:nvPr>
        </p:nvSpPr>
        <p:spPr/>
        <p:txBody>
          <a:bodyPr/>
          <a:lstStyle/>
          <a:p>
            <a:r>
              <a:rPr lang="es" b="1" dirty="0">
                <a:ea typeface="Source Sans Pro"/>
                <a:cs typeface="Source Sans Pro"/>
                <a:sym typeface="Source Sans Pro"/>
              </a:rPr>
              <a:t>Soft Margin Classifier</a:t>
            </a:r>
            <a:endParaRPr lang="en-US" b="1" dirty="0"/>
          </a:p>
        </p:txBody>
      </p:sp>
    </p:spTree>
    <p:extLst>
      <p:ext uri="{BB962C8B-B14F-4D97-AF65-F5344CB8AC3E}">
        <p14:creationId xmlns:p14="http://schemas.microsoft.com/office/powerpoint/2010/main" val="4256886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Rounded Rectangle 2"/>
          <p:cNvSpPr/>
          <p:nvPr/>
        </p:nvSpPr>
        <p:spPr>
          <a:xfrm>
            <a:off x="6634513" y="3317817"/>
            <a:ext cx="3609315" cy="187104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2400"/>
          </a:p>
        </p:txBody>
      </p:sp>
      <p:sp>
        <p:nvSpPr>
          <p:cNvPr id="2" name="Rounded Rectangle 1"/>
          <p:cNvSpPr/>
          <p:nvPr/>
        </p:nvSpPr>
        <p:spPr>
          <a:xfrm>
            <a:off x="1407646" y="3269531"/>
            <a:ext cx="3235104" cy="1979692"/>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2400"/>
          </a:p>
        </p:txBody>
      </p:sp>
      <p:sp>
        <p:nvSpPr>
          <p:cNvPr id="7" name="Title 6"/>
          <p:cNvSpPr>
            <a:spLocks noGrp="1"/>
          </p:cNvSpPr>
          <p:nvPr>
            <p:ph type="title"/>
          </p:nvPr>
        </p:nvSpPr>
        <p:spPr/>
        <p:txBody>
          <a:bodyPr/>
          <a:lstStyle/>
          <a:p>
            <a:r>
              <a:rPr lang="en-US" b="1" dirty="0">
                <a:ea typeface="Source Sans Pro"/>
                <a:cs typeface="Source Sans Pro"/>
                <a:sym typeface="Source Sans Pro"/>
              </a:rPr>
              <a:t>Soft Margin Classifier – Mathematical Formulation</a:t>
            </a:r>
            <a:endParaRPr lang="en-US" dirty="0"/>
          </a:p>
        </p:txBody>
      </p:sp>
      <p:sp>
        <p:nvSpPr>
          <p:cNvPr id="6" name="Content Placeholder 5"/>
          <p:cNvSpPr>
            <a:spLocks noGrp="1"/>
          </p:cNvSpPr>
          <p:nvPr>
            <p:ph idx="1"/>
          </p:nvPr>
        </p:nvSpPr>
        <p:spPr/>
        <p:txBody>
          <a:bodyPr>
            <a:normAutofit/>
          </a:bodyPr>
          <a:lstStyle/>
          <a:p>
            <a:r>
              <a:rPr lang="en-US" sz="2400" dirty="0">
                <a:ea typeface="Source Sans Pro"/>
                <a:cs typeface="Source Sans Pro"/>
                <a:sym typeface="Source Sans Pro"/>
              </a:rPr>
              <a:t>The problem still needs to </a:t>
            </a:r>
            <a:r>
              <a:rPr lang="en-US" sz="2400" dirty="0"/>
              <a:t>maximize the margin but it also needs to minimize the number of margin violations. This is why a penalty term is added to the objective function.</a:t>
            </a:r>
          </a:p>
          <a:p>
            <a:endParaRPr lang="en-US" sz="2400" dirty="0"/>
          </a:p>
          <a:p>
            <a:endParaRPr lang="en-US" sz="2400" dirty="0"/>
          </a:p>
          <a:p>
            <a:endParaRPr lang="en-US" sz="2400" dirty="0"/>
          </a:p>
          <a:p>
            <a:endParaRPr lang="en-US" sz="2400" dirty="0"/>
          </a:p>
          <a:p>
            <a:endParaRPr lang="en-US" sz="2400" dirty="0"/>
          </a:p>
          <a:p>
            <a:pPr marL="0" indent="0">
              <a:buNone/>
            </a:pPr>
            <a:r>
              <a:rPr lang="en-US" sz="2400" dirty="0"/>
              <a:t>               Hard Margin                                                                Soft Margin</a:t>
            </a:r>
          </a:p>
          <a:p>
            <a:endParaRPr lang="en-US" sz="2400" dirty="0"/>
          </a:p>
          <a:p>
            <a:endParaRPr lang="en-US" sz="2400" dirty="0"/>
          </a:p>
          <a:p>
            <a:endParaRPr lang="en-US" sz="2400" dirty="0"/>
          </a:p>
          <a:p>
            <a:endParaRPr lang="en-US" sz="2400" dirty="0"/>
          </a:p>
        </p:txBody>
      </p:sp>
      <p:pic>
        <p:nvPicPr>
          <p:cNvPr id="8" name="Picture 7"/>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6741311" y="3334705"/>
            <a:ext cx="3449293" cy="1864112"/>
          </a:xfrm>
          <a:prstGeom prst="rect">
            <a:avLst/>
          </a:prstGeom>
        </p:spPr>
      </p:pic>
      <p:pic>
        <p:nvPicPr>
          <p:cNvPr id="9" name="Picture 8"/>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1647232" y="3479561"/>
            <a:ext cx="2835036" cy="1330637"/>
          </a:xfrm>
          <a:prstGeom prst="rect">
            <a:avLst/>
          </a:prstGeom>
        </p:spPr>
      </p:pic>
      <p:cxnSp>
        <p:nvCxnSpPr>
          <p:cNvPr id="5" name="Straight Arrow Connector 4"/>
          <p:cNvCxnSpPr/>
          <p:nvPr/>
        </p:nvCxnSpPr>
        <p:spPr>
          <a:xfrm flipV="1">
            <a:off x="5137674" y="4126592"/>
            <a:ext cx="10260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305450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Content Placeholder 1"/>
          <p:cNvSpPr>
            <a:spLocks noGrp="1"/>
          </p:cNvSpPr>
          <p:nvPr>
            <p:ph idx="1"/>
          </p:nvPr>
        </p:nvSpPr>
        <p:spPr>
          <a:xfrm>
            <a:off x="838200" y="1837687"/>
            <a:ext cx="10515600" cy="4351338"/>
          </a:xfrm>
        </p:spPr>
        <p:txBody>
          <a:bodyPr>
            <a:normAutofit fontScale="77500" lnSpcReduction="20000"/>
          </a:bodyPr>
          <a:lstStyle/>
          <a:p>
            <a:pPr marL="380990" indent="-380990">
              <a:lnSpc>
                <a:spcPct val="120000"/>
              </a:lnSpc>
            </a:pPr>
            <a:r>
              <a:rPr lang="en-US" dirty="0">
                <a:ea typeface="Source Sans Pro"/>
                <a:cs typeface="Source Sans Pro"/>
                <a:sym typeface="Source Sans Pro"/>
              </a:rPr>
              <a:t>The objective now is to find a good balance between </a:t>
            </a:r>
            <a:r>
              <a:rPr lang="en-GB" dirty="0"/>
              <a:t>maximizing the margin and minimizing the number of margin violations:</a:t>
            </a:r>
          </a:p>
          <a:p>
            <a:pPr marL="380990" indent="-380990">
              <a:lnSpc>
                <a:spcPct val="120000"/>
              </a:lnSpc>
            </a:pPr>
            <a:endParaRPr lang="en-GB" dirty="0"/>
          </a:p>
          <a:p>
            <a:pPr marL="380990" indent="-380990">
              <a:lnSpc>
                <a:spcPct val="120000"/>
              </a:lnSpc>
            </a:pPr>
            <a:endParaRPr lang="en-GB" dirty="0"/>
          </a:p>
          <a:p>
            <a:pPr marL="380990" indent="-380990">
              <a:lnSpc>
                <a:spcPct val="120000"/>
              </a:lnSpc>
            </a:pPr>
            <a:endParaRPr lang="en-GB" dirty="0"/>
          </a:p>
          <a:p>
            <a:pPr marL="380990" indent="-380990">
              <a:lnSpc>
                <a:spcPct val="120000"/>
              </a:lnSpc>
            </a:pPr>
            <a:endParaRPr lang="en-GB" dirty="0"/>
          </a:p>
          <a:p>
            <a:pPr marL="380990" indent="-380990">
              <a:lnSpc>
                <a:spcPct val="120000"/>
              </a:lnSpc>
            </a:pPr>
            <a:endParaRPr lang="en-GB" dirty="0"/>
          </a:p>
          <a:p>
            <a:pPr marL="0" indent="0">
              <a:lnSpc>
                <a:spcPct val="120000"/>
              </a:lnSpc>
              <a:buNone/>
            </a:pPr>
            <a:endParaRPr lang="en-GB" dirty="0"/>
          </a:p>
          <a:p>
            <a:pPr marL="380990" indent="-380990">
              <a:lnSpc>
                <a:spcPct val="120000"/>
              </a:lnSpc>
            </a:pPr>
            <a:r>
              <a:rPr lang="en-GB" b="1" dirty="0"/>
              <a:t>C</a:t>
            </a:r>
            <a:r>
              <a:rPr lang="en-GB" dirty="0"/>
              <a:t>  is a non-negative hyper-parameter that controls the strength of the penalty term: it determines the severity of margin violations that we can tolerate.</a:t>
            </a:r>
          </a:p>
          <a:p>
            <a:pPr marL="0" indent="0">
              <a:buNone/>
            </a:pPr>
            <a:endParaRPr lang="en-US" dirty="0"/>
          </a:p>
        </p:txBody>
      </p:sp>
      <p:sp>
        <p:nvSpPr>
          <p:cNvPr id="10" name="Rectangle 9"/>
          <p:cNvSpPr/>
          <p:nvPr/>
        </p:nvSpPr>
        <p:spPr>
          <a:xfrm>
            <a:off x="4902399" y="3099253"/>
            <a:ext cx="796705" cy="82084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2400"/>
          </a:p>
        </p:txBody>
      </p:sp>
      <p:sp>
        <p:nvSpPr>
          <p:cNvPr id="16" name="Rectangle 15"/>
          <p:cNvSpPr/>
          <p:nvPr/>
        </p:nvSpPr>
        <p:spPr>
          <a:xfrm>
            <a:off x="6242311" y="3109313"/>
            <a:ext cx="675995" cy="82084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2400"/>
          </a:p>
        </p:txBody>
      </p:sp>
      <p:pic>
        <p:nvPicPr>
          <p:cNvPr id="8" name="Picture 7"/>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176281" y="3212713"/>
            <a:ext cx="3449293" cy="1864112"/>
          </a:xfrm>
          <a:prstGeom prst="rect">
            <a:avLst/>
          </a:prstGeom>
        </p:spPr>
      </p:pic>
      <p:sp>
        <p:nvSpPr>
          <p:cNvPr id="4" name="Title 3"/>
          <p:cNvSpPr>
            <a:spLocks noGrp="1"/>
          </p:cNvSpPr>
          <p:nvPr>
            <p:ph type="title"/>
          </p:nvPr>
        </p:nvSpPr>
        <p:spPr/>
        <p:txBody>
          <a:bodyPr/>
          <a:lstStyle/>
          <a:p>
            <a:r>
              <a:rPr lang="en-US" b="1" dirty="0">
                <a:ea typeface="Source Sans Pro"/>
                <a:cs typeface="Source Sans Pro"/>
                <a:sym typeface="Source Sans Pro"/>
              </a:rPr>
              <a:t>Soft Margin Classifier – Mathematical Formulation</a:t>
            </a:r>
            <a:endParaRPr lang="en-US" dirty="0"/>
          </a:p>
        </p:txBody>
      </p:sp>
      <p:sp>
        <p:nvSpPr>
          <p:cNvPr id="193" name="Google Shape;193;p44"/>
          <p:cNvSpPr txBox="1"/>
          <p:nvPr/>
        </p:nvSpPr>
        <p:spPr>
          <a:xfrm>
            <a:off x="2261009" y="3077356"/>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sp>
        <p:nvSpPr>
          <p:cNvPr id="12" name="TextBox 11"/>
          <p:cNvSpPr txBox="1"/>
          <p:nvPr/>
        </p:nvSpPr>
        <p:spPr>
          <a:xfrm>
            <a:off x="1582796" y="3292394"/>
            <a:ext cx="2221117" cy="584775"/>
          </a:xfrm>
          <a:prstGeom prst="rect">
            <a:avLst/>
          </a:prstGeom>
          <a:noFill/>
        </p:spPr>
        <p:txBody>
          <a:bodyPr wrap="square" rtlCol="0">
            <a:spAutoFit/>
          </a:bodyPr>
          <a:lstStyle/>
          <a:p>
            <a:pPr algn="ctr"/>
            <a:r>
              <a:rPr lang="en-US" sz="1600" dirty="0">
                <a:solidFill>
                  <a:srgbClr val="003B4C"/>
                </a:solidFill>
                <a:latin typeface="Source Sans Pro" panose="020B0604020202020204" charset="0"/>
              </a:rPr>
              <a:t>Term inversely</a:t>
            </a:r>
          </a:p>
          <a:p>
            <a:r>
              <a:rPr lang="en-US" sz="1600" dirty="0">
                <a:solidFill>
                  <a:srgbClr val="003B4C"/>
                </a:solidFill>
                <a:latin typeface="Source Sans Pro" panose="020B0604020202020204" charset="0"/>
              </a:rPr>
              <a:t> related to the margin </a:t>
            </a:r>
          </a:p>
        </p:txBody>
      </p:sp>
      <p:cxnSp>
        <p:nvCxnSpPr>
          <p:cNvPr id="3" name="Straight Arrow Connector 2"/>
          <p:cNvCxnSpPr/>
          <p:nvPr/>
        </p:nvCxnSpPr>
        <p:spPr>
          <a:xfrm flipH="1">
            <a:off x="3526273" y="3195825"/>
            <a:ext cx="1291629" cy="156927"/>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17" name="TextBox 16"/>
          <p:cNvSpPr txBox="1"/>
          <p:nvPr/>
        </p:nvSpPr>
        <p:spPr>
          <a:xfrm>
            <a:off x="8038924" y="3193813"/>
            <a:ext cx="2221117" cy="584775"/>
          </a:xfrm>
          <a:prstGeom prst="rect">
            <a:avLst/>
          </a:prstGeom>
          <a:noFill/>
        </p:spPr>
        <p:txBody>
          <a:bodyPr wrap="square" rtlCol="0">
            <a:spAutoFit/>
          </a:bodyPr>
          <a:lstStyle/>
          <a:p>
            <a:pPr algn="ctr"/>
            <a:r>
              <a:rPr lang="en-US" sz="1600" dirty="0">
                <a:solidFill>
                  <a:schemeClr val="accent1"/>
                </a:solidFill>
                <a:latin typeface="Source Sans Pro" panose="020B0604020202020204" charset="0"/>
              </a:rPr>
              <a:t>Penalty term due to margin violation</a:t>
            </a:r>
          </a:p>
        </p:txBody>
      </p:sp>
      <p:cxnSp>
        <p:nvCxnSpPr>
          <p:cNvPr id="18" name="Straight Arrow Connector 17"/>
          <p:cNvCxnSpPr/>
          <p:nvPr/>
        </p:nvCxnSpPr>
        <p:spPr>
          <a:xfrm>
            <a:off x="7002803" y="3195826"/>
            <a:ext cx="1120617" cy="179057"/>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7871585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5" name="Title 4"/>
          <p:cNvSpPr>
            <a:spLocks noGrp="1"/>
          </p:cNvSpPr>
          <p:nvPr>
            <p:ph type="title"/>
          </p:nvPr>
        </p:nvSpPr>
        <p:spPr/>
        <p:txBody>
          <a:bodyPr/>
          <a:lstStyle/>
          <a:p>
            <a:r>
              <a:rPr lang="es" b="1" dirty="0">
                <a:ea typeface="Source Sans Pro"/>
                <a:cs typeface="Source Sans Pro"/>
                <a:sym typeface="Source Sans Pro"/>
              </a:rPr>
              <a:t>Tuning </a:t>
            </a:r>
            <a:r>
              <a:rPr lang="en-US" b="1" dirty="0">
                <a:ea typeface="Source Sans Pro"/>
                <a:cs typeface="Source Sans Pro"/>
                <a:sym typeface="Source Sans Pro"/>
              </a:rPr>
              <a:t>Parameter</a:t>
            </a:r>
            <a:r>
              <a:rPr lang="es" b="1" dirty="0">
                <a:ea typeface="Source Sans Pro"/>
                <a:cs typeface="Source Sans Pro"/>
                <a:sym typeface="Source Sans Pro"/>
              </a:rPr>
              <a:t>  C</a:t>
            </a:r>
            <a:br>
              <a:rPr lang="es" b="1" dirty="0">
                <a:ea typeface="Source Sans Pro"/>
                <a:cs typeface="Source Sans Pro"/>
                <a:sym typeface="Source Sans Pro"/>
              </a:rPr>
            </a:br>
            <a:endParaRPr lang="en-US" dirty="0"/>
          </a:p>
        </p:txBody>
      </p:sp>
      <p:sp>
        <p:nvSpPr>
          <p:cNvPr id="4" name="Content Placeholder 3"/>
          <p:cNvSpPr>
            <a:spLocks noGrp="1"/>
          </p:cNvSpPr>
          <p:nvPr>
            <p:ph idx="1"/>
          </p:nvPr>
        </p:nvSpPr>
        <p:spPr/>
        <p:txBody>
          <a:bodyPr>
            <a:normAutofit/>
          </a:bodyPr>
          <a:lstStyle/>
          <a:p>
            <a:pPr marL="626530" indent="-457200">
              <a:lnSpc>
                <a:spcPct val="140000"/>
              </a:lnSpc>
              <a:spcBef>
                <a:spcPts val="1333"/>
              </a:spcBef>
              <a:buSzPct val="100000"/>
            </a:pPr>
            <a:endParaRPr lang="en-US" dirty="0">
              <a:ea typeface="Source Sans Pro"/>
              <a:cs typeface="Source Sans Pro"/>
              <a:sym typeface="Source Sans Pro"/>
            </a:endParaRPr>
          </a:p>
          <a:p>
            <a:pPr marL="169329">
              <a:lnSpc>
                <a:spcPct val="140000"/>
              </a:lnSpc>
              <a:spcBef>
                <a:spcPts val="267"/>
              </a:spcBef>
              <a:buClr>
                <a:srgbClr val="003B4C"/>
              </a:buClr>
              <a:buSzPct val="100000"/>
            </a:pPr>
            <a:endParaRPr lang="en-US" dirty="0">
              <a:solidFill>
                <a:srgbClr val="003B4C"/>
              </a:solidFill>
              <a:ea typeface="Source Sans Pro"/>
              <a:cs typeface="Source Sans Pro"/>
              <a:sym typeface="Source Sans Pro"/>
            </a:endParaRPr>
          </a:p>
          <a:p>
            <a:pPr marL="169329">
              <a:lnSpc>
                <a:spcPct val="140000"/>
              </a:lnSpc>
              <a:spcBef>
                <a:spcPts val="1333"/>
              </a:spcBef>
              <a:buClr>
                <a:srgbClr val="003B4C"/>
              </a:buClr>
              <a:buSzPct val="100000"/>
            </a:pPr>
            <a:endParaRPr lang="en-US" dirty="0">
              <a:solidFill>
                <a:srgbClr val="003B4C"/>
              </a:solidFill>
              <a:ea typeface="Source Sans Pro"/>
              <a:cs typeface="Source Sans Pro"/>
              <a:sym typeface="Source Sans Pro"/>
            </a:endParaRPr>
          </a:p>
          <a:p>
            <a:pPr marL="0" indent="0">
              <a:buNone/>
            </a:pPr>
            <a:endParaRPr lang="en-US" dirty="0"/>
          </a:p>
        </p:txBody>
      </p:sp>
      <p:pic>
        <p:nvPicPr>
          <p:cNvPr id="2" name="Picture 1"/>
          <p:cNvPicPr>
            <a:picLocks noChangeAspect="1"/>
          </p:cNvPicPr>
          <p:nvPr/>
        </p:nvPicPr>
        <p:blipFill rotWithShape="1">
          <a:blip r:embed="rId4">
            <a:extLst>
              <a:ext uri="{28A0092B-C50C-407E-A947-70E740481C1C}">
                <a14:useLocalDpi xmlns:a14="http://schemas.microsoft.com/office/drawing/2010/main" val="0"/>
              </a:ext>
            </a:extLst>
          </a:blip>
          <a:srcRect l="50629"/>
          <a:stretch/>
        </p:blipFill>
        <p:spPr>
          <a:xfrm>
            <a:off x="7861300" y="3367890"/>
            <a:ext cx="3540760" cy="3085007"/>
          </a:xfrm>
          <a:prstGeom prst="rect">
            <a:avLst/>
          </a:prstGeom>
        </p:spPr>
      </p:pic>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r="49424"/>
          <a:stretch/>
        </p:blipFill>
        <p:spPr>
          <a:xfrm>
            <a:off x="7706107" y="591494"/>
            <a:ext cx="3618551" cy="2776375"/>
          </a:xfrm>
          <a:prstGeom prst="rect">
            <a:avLst/>
          </a:prstGeom>
        </p:spPr>
      </p:pic>
      <p:sp>
        <p:nvSpPr>
          <p:cNvPr id="3" name="TextBox 2"/>
          <p:cNvSpPr txBox="1"/>
          <p:nvPr/>
        </p:nvSpPr>
        <p:spPr>
          <a:xfrm>
            <a:off x="9319035" y="6363132"/>
            <a:ext cx="1581339" cy="338554"/>
          </a:xfrm>
          <a:prstGeom prst="rect">
            <a:avLst/>
          </a:prstGeom>
          <a:noFill/>
        </p:spPr>
        <p:txBody>
          <a:bodyPr wrap="square" rtlCol="0">
            <a:spAutoFit/>
          </a:bodyPr>
          <a:lstStyle/>
          <a:p>
            <a:r>
              <a:rPr lang="en-US" sz="1600" dirty="0" err="1">
                <a:latin typeface="Source Sans Pro" panose="020B0604020202020204" charset="0"/>
                <a:hlinkClick r:id="rId5"/>
              </a:rPr>
              <a:t>scikit</a:t>
            </a:r>
            <a:r>
              <a:rPr lang="en-US" sz="1600" dirty="0">
                <a:latin typeface="Source Sans Pro" panose="020B0604020202020204" charset="0"/>
                <a:hlinkClick r:id="rId5"/>
              </a:rPr>
              <a:t>-learn</a:t>
            </a:r>
            <a:endParaRPr lang="en-US" sz="1600" dirty="0">
              <a:latin typeface="Source Sans Pro" panose="020B0604020202020204" charset="0"/>
            </a:endParaRPr>
          </a:p>
        </p:txBody>
      </p:sp>
      <p:pic>
        <p:nvPicPr>
          <p:cNvPr id="12" name="Picture 11"/>
          <p:cNvPicPr>
            <a:picLocks noChangeAspect="1"/>
          </p:cNvPicPr>
          <p:nvPr>
            <p:custDataLst>
              <p:tags r:id="rId1"/>
            </p:custDataLst>
          </p:nvPr>
        </p:nvPicPr>
        <p:blipFill rotWithShape="1">
          <a:blip r:embed="rId6" cstate="print">
            <a:extLst>
              <a:ext uri="{28A0092B-C50C-407E-A947-70E740481C1C}">
                <a14:useLocalDpi xmlns:a14="http://schemas.microsoft.com/office/drawing/2010/main" val="0"/>
              </a:ext>
            </a:extLst>
          </a:blip>
          <a:srcRect b="58237"/>
          <a:stretch/>
        </p:blipFill>
        <p:spPr>
          <a:xfrm>
            <a:off x="2260984" y="1272702"/>
            <a:ext cx="3449293" cy="778520"/>
          </a:xfrm>
          <a:prstGeom prst="rect">
            <a:avLst/>
          </a:prstGeom>
        </p:spPr>
      </p:pic>
      <p:sp>
        <p:nvSpPr>
          <p:cNvPr id="6" name="Rectangle 5"/>
          <p:cNvSpPr/>
          <p:nvPr/>
        </p:nvSpPr>
        <p:spPr>
          <a:xfrm>
            <a:off x="612191" y="2179513"/>
            <a:ext cx="7249109" cy="5271700"/>
          </a:xfrm>
          <a:prstGeom prst="rect">
            <a:avLst/>
          </a:prstGeom>
        </p:spPr>
        <p:txBody>
          <a:bodyPr wrap="square">
            <a:spAutoFit/>
          </a:bodyPr>
          <a:lstStyle/>
          <a:p>
            <a:pPr marL="228600" indent="-342900">
              <a:lnSpc>
                <a:spcPct val="140000"/>
              </a:lnSpc>
              <a:spcBef>
                <a:spcPts val="1333"/>
              </a:spcBef>
              <a:buSzPct val="100000"/>
              <a:buFont typeface="Arial" panose="020B0604020202020204" pitchFamily="34" charset="0"/>
              <a:buChar char="•"/>
            </a:pPr>
            <a:r>
              <a:rPr lang="en-US" sz="2200" dirty="0">
                <a:ea typeface="Source Sans Pro"/>
                <a:cs typeface="Source Sans Pro"/>
                <a:sym typeface="Source Sans Pro"/>
              </a:rPr>
              <a:t>A </a:t>
            </a:r>
            <a:r>
              <a:rPr lang="en-US" sz="2200" b="1" dirty="0">
                <a:ea typeface="Source Sans Pro"/>
                <a:cs typeface="Source Sans Pro"/>
                <a:sym typeface="Source Sans Pro"/>
              </a:rPr>
              <a:t>large C</a:t>
            </a:r>
            <a:r>
              <a:rPr lang="en-US" sz="2200" dirty="0">
                <a:ea typeface="Source Sans Pro"/>
                <a:cs typeface="Source Sans Pro"/>
                <a:sym typeface="Source Sans Pro"/>
              </a:rPr>
              <a:t> allows fewer margin violations but leads to a </a:t>
            </a:r>
            <a:r>
              <a:rPr lang="en-US" sz="2200" b="1" dirty="0">
                <a:ea typeface="Source Sans Pro"/>
                <a:cs typeface="Source Sans Pro"/>
                <a:sym typeface="Source Sans Pro"/>
              </a:rPr>
              <a:t>tighter margin</a:t>
            </a:r>
            <a:r>
              <a:rPr lang="en-US" sz="2200" dirty="0">
                <a:ea typeface="Source Sans Pro"/>
                <a:cs typeface="Source Sans Pro"/>
                <a:sym typeface="Source Sans Pro"/>
              </a:rPr>
              <a:t>. A </a:t>
            </a:r>
            <a:r>
              <a:rPr lang="en-US" sz="2200" b="1" dirty="0">
                <a:ea typeface="Source Sans Pro"/>
                <a:cs typeface="Source Sans Pro"/>
                <a:sym typeface="Source Sans Pro"/>
              </a:rPr>
              <a:t>small C</a:t>
            </a:r>
            <a:r>
              <a:rPr lang="en-US" sz="2200" dirty="0">
                <a:ea typeface="Source Sans Pro"/>
                <a:cs typeface="Source Sans Pro"/>
                <a:sym typeface="Source Sans Pro"/>
              </a:rPr>
              <a:t> leads to a </a:t>
            </a:r>
            <a:r>
              <a:rPr lang="en-US" sz="2200" b="1" dirty="0">
                <a:ea typeface="Source Sans Pro"/>
                <a:cs typeface="Source Sans Pro"/>
                <a:sym typeface="Source Sans Pro"/>
              </a:rPr>
              <a:t>larger margin </a:t>
            </a:r>
            <a:r>
              <a:rPr lang="en-US" sz="2200" dirty="0">
                <a:ea typeface="Source Sans Pro"/>
                <a:cs typeface="Source Sans Pro"/>
                <a:sym typeface="Source Sans Pro"/>
              </a:rPr>
              <a:t>but allows more margin violations.</a:t>
            </a:r>
          </a:p>
          <a:p>
            <a:pPr marL="228600" indent="-342900">
              <a:lnSpc>
                <a:spcPct val="140000"/>
              </a:lnSpc>
              <a:spcBef>
                <a:spcPts val="1333"/>
              </a:spcBef>
              <a:buSzPct val="100000"/>
              <a:buFont typeface="Arial" panose="020B0604020202020204" pitchFamily="34" charset="0"/>
              <a:buChar char="•"/>
            </a:pPr>
            <a:r>
              <a:rPr lang="en-US" sz="2200" dirty="0">
                <a:ea typeface="Source Sans Pro"/>
                <a:cs typeface="Source Sans Pro"/>
                <a:sym typeface="Source Sans Pro"/>
              </a:rPr>
              <a:t>What happens when C=0? C=infinity? </a:t>
            </a:r>
          </a:p>
          <a:p>
            <a:pPr marL="228600" indent="-342900">
              <a:lnSpc>
                <a:spcPct val="140000"/>
              </a:lnSpc>
              <a:spcBef>
                <a:spcPts val="1333"/>
              </a:spcBef>
              <a:buSzPct val="100000"/>
              <a:buFont typeface="Arial" panose="020B0604020202020204" pitchFamily="34" charset="0"/>
              <a:buChar char="•"/>
            </a:pPr>
            <a:r>
              <a:rPr lang="en-US" sz="2200" b="1" dirty="0">
                <a:ea typeface="Source Sans Pro"/>
                <a:cs typeface="Source Sans Pro"/>
                <a:sym typeface="Source Sans Pro"/>
              </a:rPr>
              <a:t>Bias Variance Tradeoff</a:t>
            </a:r>
            <a:r>
              <a:rPr lang="en-US" sz="2200" dirty="0">
                <a:ea typeface="Source Sans Pro"/>
                <a:cs typeface="Source Sans Pro"/>
                <a:sym typeface="Source Sans Pro"/>
              </a:rPr>
              <a:t>:</a:t>
            </a:r>
          </a:p>
          <a:p>
            <a:pPr>
              <a:lnSpc>
                <a:spcPct val="140000"/>
              </a:lnSpc>
              <a:spcBef>
                <a:spcPts val="267"/>
              </a:spcBef>
              <a:buClr>
                <a:srgbClr val="003B4C"/>
              </a:buClr>
              <a:buSzPct val="100000"/>
            </a:pPr>
            <a:r>
              <a:rPr lang="en-US" sz="2200" dirty="0">
                <a:ea typeface="Source Sans Pro"/>
                <a:cs typeface="Source Sans Pro"/>
                <a:sym typeface="Source Sans Pro"/>
              </a:rPr>
              <a:t>         A high value of C might lead to a less generalizable</a:t>
            </a:r>
          </a:p>
          <a:p>
            <a:pPr>
              <a:lnSpc>
                <a:spcPct val="140000"/>
              </a:lnSpc>
              <a:spcBef>
                <a:spcPts val="267"/>
              </a:spcBef>
              <a:buClr>
                <a:srgbClr val="003B4C"/>
              </a:buClr>
              <a:buSzPct val="100000"/>
            </a:pPr>
            <a:r>
              <a:rPr lang="en-US" sz="2200" dirty="0">
                <a:ea typeface="Source Sans Pro"/>
                <a:cs typeface="Source Sans Pro"/>
                <a:sym typeface="Source Sans Pro"/>
              </a:rPr>
              <a:t>         model (low bias, high variance). A low value of C might</a:t>
            </a:r>
          </a:p>
          <a:p>
            <a:pPr>
              <a:lnSpc>
                <a:spcPct val="140000"/>
              </a:lnSpc>
              <a:spcBef>
                <a:spcPts val="267"/>
              </a:spcBef>
              <a:buClr>
                <a:srgbClr val="003B4C"/>
              </a:buClr>
              <a:buSzPct val="100000"/>
            </a:pPr>
            <a:r>
              <a:rPr lang="en-US" sz="2200" dirty="0">
                <a:ea typeface="Source Sans Pro"/>
                <a:cs typeface="Source Sans Pro"/>
                <a:sym typeface="Source Sans Pro"/>
              </a:rPr>
              <a:t>         lead to an </a:t>
            </a:r>
            <a:r>
              <a:rPr lang="en-US" sz="2200" dirty="0" err="1">
                <a:ea typeface="Source Sans Pro"/>
                <a:cs typeface="Source Sans Pro"/>
                <a:sym typeface="Source Sans Pro"/>
              </a:rPr>
              <a:t>underfitted</a:t>
            </a:r>
            <a:r>
              <a:rPr lang="en-US" sz="2200" dirty="0">
                <a:ea typeface="Source Sans Pro"/>
                <a:cs typeface="Source Sans Pro"/>
                <a:sym typeface="Source Sans Pro"/>
              </a:rPr>
              <a:t> model (high bias, low variance).</a:t>
            </a:r>
          </a:p>
          <a:p>
            <a:pPr>
              <a:lnSpc>
                <a:spcPct val="140000"/>
              </a:lnSpc>
              <a:spcBef>
                <a:spcPts val="267"/>
              </a:spcBef>
              <a:buClr>
                <a:srgbClr val="003B4C"/>
              </a:buClr>
              <a:buSzPct val="100000"/>
            </a:pPr>
            <a:endParaRPr lang="en-US" sz="2000" dirty="0">
              <a:ea typeface="Source Sans Pro"/>
              <a:cs typeface="Source Sans Pro"/>
              <a:sym typeface="Source Sans Pro"/>
            </a:endParaRPr>
          </a:p>
          <a:p>
            <a:pPr>
              <a:lnSpc>
                <a:spcPct val="140000"/>
              </a:lnSpc>
              <a:spcBef>
                <a:spcPts val="267"/>
              </a:spcBef>
              <a:buClr>
                <a:srgbClr val="003B4C"/>
              </a:buClr>
              <a:buSzPct val="100000"/>
            </a:pPr>
            <a:endParaRPr lang="en-US" sz="2000" dirty="0">
              <a:ea typeface="Source Sans Pro"/>
              <a:cs typeface="Source Sans Pro"/>
              <a:sym typeface="Source Sans Pro"/>
            </a:endParaRPr>
          </a:p>
        </p:txBody>
      </p:sp>
    </p:spTree>
    <p:extLst>
      <p:ext uri="{BB962C8B-B14F-4D97-AF65-F5344CB8AC3E}">
        <p14:creationId xmlns:p14="http://schemas.microsoft.com/office/powerpoint/2010/main" val="1223817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Title 2"/>
          <p:cNvSpPr>
            <a:spLocks noGrp="1"/>
          </p:cNvSpPr>
          <p:nvPr>
            <p:ph type="title"/>
          </p:nvPr>
        </p:nvSpPr>
        <p:spPr/>
        <p:txBody>
          <a:bodyPr/>
          <a:lstStyle/>
          <a:p>
            <a:r>
              <a:rPr lang="es" b="1" dirty="0">
                <a:ea typeface="Source Sans Pro"/>
                <a:cs typeface="Source Sans Pro"/>
                <a:sym typeface="Source Sans Pro"/>
              </a:rPr>
              <a:t>Support Vectors for Soft Margin Classifier</a:t>
            </a:r>
            <a:endParaRPr lang="en-US" dirty="0"/>
          </a:p>
        </p:txBody>
      </p:sp>
      <p:sp>
        <p:nvSpPr>
          <p:cNvPr id="2" name="Content Placeholder 1"/>
          <p:cNvSpPr>
            <a:spLocks noGrp="1"/>
          </p:cNvSpPr>
          <p:nvPr>
            <p:ph idx="1"/>
          </p:nvPr>
        </p:nvSpPr>
        <p:spPr>
          <a:xfrm>
            <a:off x="838200" y="1825625"/>
            <a:ext cx="5938782" cy="4351338"/>
          </a:xfrm>
        </p:spPr>
        <p:txBody>
          <a:bodyPr>
            <a:normAutofit/>
          </a:bodyPr>
          <a:lstStyle/>
          <a:p>
            <a:pPr marL="550320" indent="-380990">
              <a:lnSpc>
                <a:spcPct val="100000"/>
              </a:lnSpc>
              <a:spcBef>
                <a:spcPts val="1333"/>
              </a:spcBef>
              <a:buSzPct val="100000"/>
            </a:pPr>
            <a:r>
              <a:rPr lang="en-US" sz="2400" dirty="0">
                <a:ea typeface="Source Sans Pro"/>
                <a:cs typeface="Source Sans Pro"/>
                <a:sym typeface="Source Sans Pro"/>
              </a:rPr>
              <a:t>The training observations that lie on the dashed lines, violate the margin or lie on the wrong side of the hyperplane are all support vectors. </a:t>
            </a:r>
          </a:p>
          <a:p>
            <a:pPr marL="550320" indent="-380990">
              <a:lnSpc>
                <a:spcPct val="100000"/>
              </a:lnSpc>
              <a:spcBef>
                <a:spcPts val="1333"/>
              </a:spcBef>
              <a:buSzPct val="100000"/>
            </a:pPr>
            <a:r>
              <a:rPr lang="en-US" sz="2400" dirty="0">
                <a:ea typeface="Source Sans Pro"/>
                <a:cs typeface="Source Sans Pro"/>
                <a:sym typeface="Source Sans Pro"/>
              </a:rPr>
              <a:t>Support vectors are the only training data points that affect the separating hyperplane.</a:t>
            </a:r>
          </a:p>
          <a:p>
            <a:pPr marL="550320" indent="-380990">
              <a:lnSpc>
                <a:spcPct val="100000"/>
              </a:lnSpc>
              <a:spcBef>
                <a:spcPts val="1333"/>
              </a:spcBef>
              <a:buSzPct val="100000"/>
            </a:pPr>
            <a:r>
              <a:rPr lang="en-US" sz="2400" dirty="0">
                <a:ea typeface="Source Sans Pro"/>
                <a:cs typeface="Source Sans Pro"/>
                <a:sym typeface="Source Sans Pro"/>
              </a:rPr>
              <a:t>Support vector classifiers are less sensitive to the behavior of observations that are far way from the hyperplane.</a:t>
            </a:r>
          </a:p>
          <a:p>
            <a:pPr marL="169329">
              <a:lnSpc>
                <a:spcPct val="100000"/>
              </a:lnSpc>
              <a:spcBef>
                <a:spcPts val="1333"/>
              </a:spcBef>
              <a:buSzPct val="100000"/>
            </a:pPr>
            <a:endParaRPr lang="en-US" sz="2400" dirty="0">
              <a:ea typeface="Source Sans Pro"/>
              <a:cs typeface="Source Sans Pro"/>
              <a:sym typeface="Source Sans Pro"/>
            </a:endParaRPr>
          </a:p>
          <a:p>
            <a:pPr>
              <a:lnSpc>
                <a:spcPct val="100000"/>
              </a:lnSpc>
            </a:pPr>
            <a:endParaRPr lang="en-US" sz="2400" dirty="0"/>
          </a:p>
        </p:txBody>
      </p:sp>
      <p:sp>
        <p:nvSpPr>
          <p:cNvPr id="112" name="Google Shape;193;p44 2"/>
          <p:cNvSpPr txBox="1"/>
          <p:nvPr/>
        </p:nvSpPr>
        <p:spPr>
          <a:xfrm>
            <a:off x="2848657" y="3799821"/>
            <a:ext cx="1792112" cy="773537"/>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grpSp>
        <p:nvGrpSpPr>
          <p:cNvPr id="75" name="Group 74"/>
          <p:cNvGrpSpPr/>
          <p:nvPr/>
        </p:nvGrpSpPr>
        <p:grpSpPr>
          <a:xfrm>
            <a:off x="6699421" y="1702824"/>
            <a:ext cx="5160696" cy="3901357"/>
            <a:chOff x="4290857" y="1259670"/>
            <a:chExt cx="3870522" cy="2926018"/>
          </a:xfrm>
        </p:grpSpPr>
        <p:pic>
          <p:nvPicPr>
            <p:cNvPr id="80" name="Picture 79"/>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7251083" y="3538019"/>
              <a:ext cx="808442" cy="139008"/>
            </a:xfrm>
            <a:prstGeom prst="rect">
              <a:avLst/>
            </a:prstGeom>
          </p:spPr>
        </p:pic>
        <p:pic>
          <p:nvPicPr>
            <p:cNvPr id="81" name="Picture 80"/>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6318304" y="4046680"/>
              <a:ext cx="926416" cy="139008"/>
            </a:xfrm>
            <a:prstGeom prst="rect">
              <a:avLst/>
            </a:prstGeom>
          </p:spPr>
        </p:pic>
        <p:grpSp>
          <p:nvGrpSpPr>
            <p:cNvPr id="84" name="Group 83"/>
            <p:cNvGrpSpPr/>
            <p:nvPr/>
          </p:nvGrpSpPr>
          <p:grpSpPr>
            <a:xfrm>
              <a:off x="4290857" y="1259670"/>
              <a:ext cx="3870522" cy="2674557"/>
              <a:chOff x="4931467" y="885480"/>
              <a:chExt cx="3412433" cy="2342982"/>
            </a:xfrm>
          </p:grpSpPr>
          <p:cxnSp>
            <p:nvCxnSpPr>
              <p:cNvPr id="88" name="Straight Connector 87"/>
              <p:cNvCxnSpPr/>
              <p:nvPr/>
            </p:nvCxnSpPr>
            <p:spPr>
              <a:xfrm>
                <a:off x="6016711" y="885480"/>
                <a:ext cx="1466361" cy="2038104"/>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89" name="Flowchart: Connector 88"/>
              <p:cNvSpPr/>
              <p:nvPr/>
            </p:nvSpPr>
            <p:spPr>
              <a:xfrm>
                <a:off x="5849363" y="188145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90" name="Flowchart: Connector 89"/>
              <p:cNvSpPr/>
              <p:nvPr/>
            </p:nvSpPr>
            <p:spPr>
              <a:xfrm>
                <a:off x="5278071" y="235558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91" name="Flowchart: Connector 90"/>
              <p:cNvSpPr/>
              <p:nvPr/>
            </p:nvSpPr>
            <p:spPr>
              <a:xfrm>
                <a:off x="5694850" y="232639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92" name="Flowchart: Connector 91"/>
              <p:cNvSpPr/>
              <p:nvPr/>
            </p:nvSpPr>
            <p:spPr>
              <a:xfrm>
                <a:off x="5771223" y="270132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93" name="Flowchart: Connector 92"/>
              <p:cNvSpPr/>
              <p:nvPr/>
            </p:nvSpPr>
            <p:spPr>
              <a:xfrm>
                <a:off x="5389359" y="272602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94" name="Flowchart: Connector 93"/>
              <p:cNvSpPr/>
              <p:nvPr/>
            </p:nvSpPr>
            <p:spPr>
              <a:xfrm>
                <a:off x="5683454" y="168299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95" name="Flowchart: Connector 94"/>
              <p:cNvSpPr/>
              <p:nvPr/>
            </p:nvSpPr>
            <p:spPr>
              <a:xfrm>
                <a:off x="5607566" y="1845945"/>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96" name="Flowchart: Connector 95"/>
              <p:cNvSpPr/>
              <p:nvPr/>
            </p:nvSpPr>
            <p:spPr>
              <a:xfrm>
                <a:off x="6975665" y="986951"/>
                <a:ext cx="91440" cy="91440"/>
              </a:xfrm>
              <a:prstGeom prst="flowChartConnector">
                <a:avLst/>
              </a:prstGeom>
              <a:gradFill>
                <a:gsLst>
                  <a:gs pos="0">
                    <a:srgbClr val="FF0000"/>
                  </a:gs>
                  <a:gs pos="100000">
                    <a:srgbClr val="FF7171"/>
                  </a:gs>
                </a:gsLst>
              </a:gradFill>
              <a:ln w="28575">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97" name="Flowchart: Connector 96"/>
              <p:cNvSpPr/>
              <p:nvPr/>
            </p:nvSpPr>
            <p:spPr>
              <a:xfrm>
                <a:off x="6192364" y="269010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98" name="Flowchart: Connector 97"/>
              <p:cNvSpPr/>
              <p:nvPr/>
            </p:nvSpPr>
            <p:spPr>
              <a:xfrm>
                <a:off x="5317348" y="147999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99" name="Oval 98"/>
              <p:cNvSpPr/>
              <p:nvPr/>
            </p:nvSpPr>
            <p:spPr>
              <a:xfrm>
                <a:off x="7401242" y="91646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00" name="Oval 99"/>
              <p:cNvSpPr/>
              <p:nvPr/>
            </p:nvSpPr>
            <p:spPr>
              <a:xfrm>
                <a:off x="6180410" y="1813127"/>
                <a:ext cx="91440" cy="91440"/>
              </a:xfrm>
              <a:prstGeom prst="ellipse">
                <a:avLst/>
              </a:prstGeom>
              <a:ln w="28575">
                <a:solidFill>
                  <a:schemeClr val="tx1"/>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01" name="Oval 100"/>
              <p:cNvSpPr/>
              <p:nvPr/>
            </p:nvSpPr>
            <p:spPr>
              <a:xfrm>
                <a:off x="7187398" y="112750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02" name="Oval 101"/>
              <p:cNvSpPr/>
              <p:nvPr/>
            </p:nvSpPr>
            <p:spPr>
              <a:xfrm>
                <a:off x="6949551" y="1435088"/>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03" name="Oval 102"/>
              <p:cNvSpPr/>
              <p:nvPr/>
            </p:nvSpPr>
            <p:spPr>
              <a:xfrm>
                <a:off x="7185215" y="183920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04" name="Oval 103"/>
              <p:cNvSpPr/>
              <p:nvPr/>
            </p:nvSpPr>
            <p:spPr>
              <a:xfrm>
                <a:off x="7276863" y="144855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05" name="Oval 104"/>
              <p:cNvSpPr/>
              <p:nvPr/>
            </p:nvSpPr>
            <p:spPr>
              <a:xfrm>
                <a:off x="7521255" y="122853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06" name="Oval 105"/>
              <p:cNvSpPr/>
              <p:nvPr/>
            </p:nvSpPr>
            <p:spPr>
              <a:xfrm>
                <a:off x="7558351" y="173817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07" name="Oval 106"/>
              <p:cNvSpPr/>
              <p:nvPr/>
            </p:nvSpPr>
            <p:spPr>
              <a:xfrm>
                <a:off x="6843251" y="1743822"/>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08" name="Oval 107"/>
              <p:cNvSpPr/>
              <p:nvPr/>
            </p:nvSpPr>
            <p:spPr>
              <a:xfrm>
                <a:off x="7516891" y="2180463"/>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09" name="TextBox 108"/>
              <p:cNvSpPr txBox="1"/>
              <p:nvPr/>
            </p:nvSpPr>
            <p:spPr>
              <a:xfrm>
                <a:off x="4931467" y="2062462"/>
                <a:ext cx="552532" cy="222437"/>
              </a:xfrm>
              <a:prstGeom prst="rect">
                <a:avLst/>
              </a:prstGeom>
              <a:noFill/>
            </p:spPr>
            <p:txBody>
              <a:bodyPr wrap="square" rtlCol="0">
                <a:spAutoFit/>
              </a:bodyPr>
              <a:lstStyle/>
              <a:p>
                <a:r>
                  <a:rPr lang="en-US" sz="1600" b="1" dirty="0"/>
                  <a:t>-1</a:t>
                </a:r>
              </a:p>
            </p:txBody>
          </p:sp>
          <p:sp>
            <p:nvSpPr>
              <p:cNvPr id="110" name="TextBox 109"/>
              <p:cNvSpPr txBox="1"/>
              <p:nvPr/>
            </p:nvSpPr>
            <p:spPr>
              <a:xfrm>
                <a:off x="7752555" y="1857171"/>
                <a:ext cx="591345" cy="222437"/>
              </a:xfrm>
              <a:prstGeom prst="rect">
                <a:avLst/>
              </a:prstGeom>
              <a:noFill/>
            </p:spPr>
            <p:txBody>
              <a:bodyPr wrap="square" rtlCol="0">
                <a:spAutoFit/>
              </a:bodyPr>
              <a:lstStyle/>
              <a:p>
                <a:r>
                  <a:rPr lang="en-US" sz="1600" b="1" dirty="0"/>
                  <a:t>+1</a:t>
                </a:r>
              </a:p>
            </p:txBody>
          </p:sp>
          <p:cxnSp>
            <p:nvCxnSpPr>
              <p:cNvPr id="111" name="Straight Connector 110"/>
              <p:cNvCxnSpPr/>
              <p:nvPr/>
            </p:nvCxnSpPr>
            <p:spPr>
              <a:xfrm>
                <a:off x="5819226" y="1039950"/>
                <a:ext cx="1466361" cy="2038104"/>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a:off x="5593809" y="1174273"/>
                <a:ext cx="1466361" cy="2038104"/>
              </a:xfrm>
              <a:prstGeom prst="line">
                <a:avLst/>
              </a:prstGeom>
              <a:ln w="31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14" name="Picture 113"/>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7212016" y="3089454"/>
                <a:ext cx="814844" cy="139008"/>
              </a:xfrm>
              <a:prstGeom prst="rect">
                <a:avLst/>
              </a:prstGeom>
            </p:spPr>
          </p:pic>
          <p:sp>
            <p:nvSpPr>
              <p:cNvPr id="115" name="Flowchart: Connector 114"/>
              <p:cNvSpPr/>
              <p:nvPr/>
            </p:nvSpPr>
            <p:spPr>
              <a:xfrm>
                <a:off x="5849464" y="224242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6" name="Flowchart: Connector 115"/>
              <p:cNvSpPr/>
              <p:nvPr/>
            </p:nvSpPr>
            <p:spPr>
              <a:xfrm>
                <a:off x="5561500" y="205969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17" name="Oval 116"/>
              <p:cNvSpPr/>
              <p:nvPr/>
            </p:nvSpPr>
            <p:spPr>
              <a:xfrm>
                <a:off x="7601267" y="108791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18" name="Oval 117"/>
              <p:cNvSpPr/>
              <p:nvPr/>
            </p:nvSpPr>
            <p:spPr>
              <a:xfrm>
                <a:off x="6830158" y="1264060"/>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19" name="Oval 118"/>
              <p:cNvSpPr/>
              <p:nvPr/>
            </p:nvSpPr>
            <p:spPr>
              <a:xfrm>
                <a:off x="7139773" y="127990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0" name="Oval 119"/>
              <p:cNvSpPr/>
              <p:nvPr/>
            </p:nvSpPr>
            <p:spPr>
              <a:xfrm>
                <a:off x="7035276" y="1663688"/>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1" name="Oval 120"/>
              <p:cNvSpPr/>
              <p:nvPr/>
            </p:nvSpPr>
            <p:spPr>
              <a:xfrm>
                <a:off x="7270940" y="2067806"/>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2" name="Oval 121"/>
              <p:cNvSpPr/>
              <p:nvPr/>
            </p:nvSpPr>
            <p:spPr>
              <a:xfrm>
                <a:off x="7362588" y="1677159"/>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3" name="Oval 122"/>
              <p:cNvSpPr/>
              <p:nvPr/>
            </p:nvSpPr>
            <p:spPr>
              <a:xfrm>
                <a:off x="6766532" y="1519524"/>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4" name="Oval 123"/>
              <p:cNvSpPr/>
              <p:nvPr/>
            </p:nvSpPr>
            <p:spPr>
              <a:xfrm>
                <a:off x="7606980" y="1457137"/>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5" name="Oval 124"/>
              <p:cNvSpPr/>
              <p:nvPr/>
            </p:nvSpPr>
            <p:spPr>
              <a:xfrm>
                <a:off x="7644076" y="1966775"/>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6" name="Oval 125"/>
              <p:cNvSpPr/>
              <p:nvPr/>
            </p:nvSpPr>
            <p:spPr>
              <a:xfrm>
                <a:off x="7602616" y="2409063"/>
                <a:ext cx="91440" cy="9144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27" name="Flowchart: Connector 126"/>
              <p:cNvSpPr/>
              <p:nvPr/>
            </p:nvSpPr>
            <p:spPr>
              <a:xfrm>
                <a:off x="5382638" y="1786204"/>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8" name="Flowchart: Connector 127"/>
              <p:cNvSpPr/>
              <p:nvPr/>
            </p:nvSpPr>
            <p:spPr>
              <a:xfrm>
                <a:off x="5571025" y="26597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29" name="Flowchart: Connector 128"/>
              <p:cNvSpPr/>
              <p:nvPr/>
            </p:nvSpPr>
            <p:spPr>
              <a:xfrm>
                <a:off x="6295098" y="2510829"/>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30" name="Flowchart: Connector 129"/>
              <p:cNvSpPr/>
              <p:nvPr/>
            </p:nvSpPr>
            <p:spPr>
              <a:xfrm>
                <a:off x="5970384" y="242122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31" name="Flowchart: Connector 130"/>
              <p:cNvSpPr/>
              <p:nvPr/>
            </p:nvSpPr>
            <p:spPr>
              <a:xfrm>
                <a:off x="6015316" y="210770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32" name="Flowchart: Connector 131"/>
              <p:cNvSpPr/>
              <p:nvPr/>
            </p:nvSpPr>
            <p:spPr>
              <a:xfrm>
                <a:off x="5483741" y="2179320"/>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33" name="Flowchart: Connector 132"/>
              <p:cNvSpPr/>
              <p:nvPr/>
            </p:nvSpPr>
            <p:spPr>
              <a:xfrm>
                <a:off x="6031443" y="2662016"/>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34" name="Flowchart: Connector 133"/>
              <p:cNvSpPr/>
              <p:nvPr/>
            </p:nvSpPr>
            <p:spPr>
              <a:xfrm>
                <a:off x="5287489" y="255675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35" name="Flowchart: Connector 134"/>
              <p:cNvSpPr/>
              <p:nvPr/>
            </p:nvSpPr>
            <p:spPr>
              <a:xfrm>
                <a:off x="5193523" y="1813368"/>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36" name="Flowchart: Connector 135"/>
              <p:cNvSpPr/>
              <p:nvPr/>
            </p:nvSpPr>
            <p:spPr>
              <a:xfrm>
                <a:off x="5725639" y="257580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37" name="Flowchart: Connector 136"/>
              <p:cNvSpPr/>
              <p:nvPr/>
            </p:nvSpPr>
            <p:spPr>
              <a:xfrm>
                <a:off x="5437675" y="2393073"/>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38" name="Flowchart: Connector 137"/>
              <p:cNvSpPr/>
              <p:nvPr/>
            </p:nvSpPr>
            <p:spPr>
              <a:xfrm>
                <a:off x="5540891" y="1541145"/>
                <a:ext cx="91440" cy="91440"/>
              </a:xfrm>
              <a:prstGeom prst="flowChartConnector">
                <a:avLst/>
              </a:prstGeom>
              <a:gradFill>
                <a:gsLst>
                  <a:gs pos="0">
                    <a:srgbClr val="FF0000"/>
                  </a:gs>
                  <a:gs pos="100000">
                    <a:srgbClr val="FF7171"/>
                  </a:gs>
                </a:gsLst>
              </a:gra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39" name="Flowchart: Connector 138"/>
              <p:cNvSpPr/>
              <p:nvPr/>
            </p:nvSpPr>
            <p:spPr>
              <a:xfrm>
                <a:off x="5826641" y="1541145"/>
                <a:ext cx="91440" cy="91440"/>
              </a:xfrm>
              <a:prstGeom prst="flowChartConnector">
                <a:avLst/>
              </a:prstGeom>
              <a:gradFill>
                <a:gsLst>
                  <a:gs pos="0">
                    <a:srgbClr val="FF0000"/>
                  </a:gs>
                  <a:gs pos="100000">
                    <a:srgbClr val="FF7171"/>
                  </a:gs>
                </a:gsLst>
              </a:gradFill>
              <a:ln w="28575">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2400">
                  <a:solidFill>
                    <a:srgbClr val="FFFFFF"/>
                  </a:solidFill>
                </a:endParaRPr>
              </a:p>
            </p:txBody>
          </p:sp>
          <p:sp>
            <p:nvSpPr>
              <p:cNvPr id="140" name="Oval 139"/>
              <p:cNvSpPr/>
              <p:nvPr/>
            </p:nvSpPr>
            <p:spPr>
              <a:xfrm>
                <a:off x="6284941" y="1465045"/>
                <a:ext cx="91440" cy="91440"/>
              </a:xfrm>
              <a:prstGeom prst="ellipse">
                <a:avLst/>
              </a:prstGeom>
              <a:ln w="28575">
                <a:solidFill>
                  <a:schemeClr val="tx1"/>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sp>
            <p:nvSpPr>
              <p:cNvPr id="141" name="Oval 140"/>
              <p:cNvSpPr/>
              <p:nvPr/>
            </p:nvSpPr>
            <p:spPr>
              <a:xfrm>
                <a:off x="6833726" y="2000997"/>
                <a:ext cx="91440" cy="91440"/>
              </a:xfrm>
              <a:prstGeom prst="ellipse">
                <a:avLst/>
              </a:prstGeom>
              <a:ln w="28575">
                <a:solidFill>
                  <a:schemeClr val="tx1"/>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2400">
                  <a:solidFill>
                    <a:srgbClr val="FFFFFF"/>
                  </a:solidFill>
                </a:endParaRPr>
              </a:p>
            </p:txBody>
          </p:sp>
        </p:grpSp>
      </p:grpSp>
    </p:spTree>
    <p:extLst>
      <p:ext uri="{BB962C8B-B14F-4D97-AF65-F5344CB8AC3E}">
        <p14:creationId xmlns:p14="http://schemas.microsoft.com/office/powerpoint/2010/main" val="4123544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t>Implementation of SVM</a:t>
            </a: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3440538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626530" indent="-457200">
              <a:lnSpc>
                <a:spcPct val="140000"/>
              </a:lnSpc>
              <a:spcBef>
                <a:spcPts val="1333"/>
              </a:spcBef>
              <a:buSzPct val="100000"/>
            </a:pPr>
            <a:r>
              <a:rPr lang="en-US" dirty="0">
                <a:ea typeface="Source Sans Pro"/>
                <a:cs typeface="Source Sans Pro"/>
                <a:sym typeface="Source Sans Pro"/>
              </a:rPr>
              <a:t>We will briefly discuss three methods used to find the soft margin classifier:</a:t>
            </a:r>
          </a:p>
          <a:p>
            <a:pPr marL="626530" indent="-457200">
              <a:lnSpc>
                <a:spcPct val="140000"/>
              </a:lnSpc>
              <a:spcBef>
                <a:spcPts val="1333"/>
              </a:spcBef>
              <a:buClr>
                <a:schemeClr val="tx1"/>
              </a:buClr>
              <a:buSzPct val="100000"/>
            </a:pPr>
            <a:endParaRPr lang="en-US" dirty="0">
              <a:ea typeface="Source Sans Pro"/>
              <a:cs typeface="Source Sans Pro"/>
              <a:sym typeface="Source Sans Pro"/>
            </a:endParaRPr>
          </a:p>
          <a:p>
            <a:pPr marL="626530" indent="-457200">
              <a:lnSpc>
                <a:spcPct val="140000"/>
              </a:lnSpc>
              <a:spcBef>
                <a:spcPts val="1333"/>
              </a:spcBef>
              <a:buClr>
                <a:schemeClr val="tx1"/>
              </a:buClr>
              <a:buSzPct val="100000"/>
            </a:pPr>
            <a:endParaRPr lang="en-US" dirty="0">
              <a:ea typeface="Source Sans Pro"/>
              <a:cs typeface="Source Sans Pro"/>
              <a:sym typeface="Source Sans Pro"/>
            </a:endParaRPr>
          </a:p>
          <a:p>
            <a:pPr marL="0" indent="0">
              <a:lnSpc>
                <a:spcPct val="140000"/>
              </a:lnSpc>
              <a:spcBef>
                <a:spcPts val="1333"/>
              </a:spcBef>
              <a:buClr>
                <a:schemeClr val="tx1"/>
              </a:buClr>
              <a:buSzPct val="100000"/>
              <a:buNone/>
            </a:pPr>
            <a:endParaRPr lang="en-US" dirty="0">
              <a:ea typeface="Source Sans Pro"/>
              <a:cs typeface="Source Sans Pro"/>
              <a:sym typeface="Source Sans Pro"/>
            </a:endParaRPr>
          </a:p>
          <a:p>
            <a:pPr marL="626530" indent="-457200">
              <a:lnSpc>
                <a:spcPct val="140000"/>
              </a:lnSpc>
              <a:spcBef>
                <a:spcPts val="1333"/>
              </a:spcBef>
              <a:buSzPct val="100000"/>
            </a:pPr>
            <a:r>
              <a:rPr lang="en-US" b="1" dirty="0">
                <a:ea typeface="Source Sans Pro"/>
                <a:cs typeface="Source Sans Pro"/>
                <a:sym typeface="Source Sans Pro"/>
              </a:rPr>
              <a:t>The first method </a:t>
            </a:r>
            <a:r>
              <a:rPr lang="en-US" dirty="0">
                <a:ea typeface="Source Sans Pro"/>
                <a:cs typeface="Source Sans Pro"/>
                <a:sym typeface="Source Sans Pro"/>
              </a:rPr>
              <a:t>is based on solving this optimization problem using a specific optimization method (QP: quadratic programming)</a:t>
            </a:r>
          </a:p>
          <a:p>
            <a:endParaRPr lang="en-US" dirty="0"/>
          </a:p>
        </p:txBody>
      </p:sp>
      <p:pic>
        <p:nvPicPr>
          <p:cNvPr id="3" name="Picture 2"/>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749774" y="2912621"/>
            <a:ext cx="5235669" cy="1487632"/>
          </a:xfrm>
          <a:prstGeom prst="rect">
            <a:avLst/>
          </a:prstGeom>
        </p:spPr>
      </p:pic>
      <p:sp>
        <p:nvSpPr>
          <p:cNvPr id="4" name="Title 3"/>
          <p:cNvSpPr>
            <a:spLocks noGrp="1"/>
          </p:cNvSpPr>
          <p:nvPr>
            <p:ph type="title"/>
          </p:nvPr>
        </p:nvSpPr>
        <p:spPr/>
        <p:txBody>
          <a:bodyPr>
            <a:normAutofit/>
          </a:bodyPr>
          <a:lstStyle/>
          <a:p>
            <a:r>
              <a:rPr lang="es" b="1" dirty="0">
                <a:ea typeface="Source Sans Pro"/>
                <a:cs typeface="Source Sans Pro"/>
                <a:sym typeface="Source Sans Pro"/>
              </a:rPr>
              <a:t>How is the soft margin classifier implemented?</a:t>
            </a:r>
            <a:endParaRPr lang="en-US" b="1" dirty="0"/>
          </a:p>
        </p:txBody>
      </p:sp>
    </p:spTree>
    <p:extLst>
      <p:ext uri="{BB962C8B-B14F-4D97-AF65-F5344CB8AC3E}">
        <p14:creationId xmlns:p14="http://schemas.microsoft.com/office/powerpoint/2010/main" val="62393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s" b="1" dirty="0">
                <a:ea typeface="Source Sans Pro"/>
                <a:cs typeface="Source Sans Pro"/>
                <a:sym typeface="Source Sans Pro"/>
              </a:rPr>
              <a:t>Implementation of soft margin classifier – Dual Problem</a:t>
            </a:r>
            <a:endParaRPr lang="en-US" b="1" dirty="0"/>
          </a:p>
        </p:txBody>
      </p:sp>
      <p:sp>
        <p:nvSpPr>
          <p:cNvPr id="2" name="Content Placeholder 1"/>
          <p:cNvSpPr>
            <a:spLocks noGrp="1"/>
          </p:cNvSpPr>
          <p:nvPr>
            <p:ph idx="1"/>
          </p:nvPr>
        </p:nvSpPr>
        <p:spPr/>
        <p:txBody>
          <a:bodyPr>
            <a:normAutofit fontScale="92500"/>
          </a:bodyPr>
          <a:lstStyle/>
          <a:p>
            <a:pPr marL="550320" indent="-380990">
              <a:lnSpc>
                <a:spcPct val="120000"/>
              </a:lnSpc>
              <a:spcBef>
                <a:spcPts val="1333"/>
              </a:spcBef>
              <a:buSzPct val="100000"/>
            </a:pPr>
            <a:r>
              <a:rPr lang="en-US" b="1" dirty="0">
                <a:ea typeface="Source Sans Pro"/>
                <a:cs typeface="Source Sans Pro"/>
                <a:sym typeface="Source Sans Pro"/>
              </a:rPr>
              <a:t>The second method </a:t>
            </a:r>
            <a:r>
              <a:rPr lang="en-US" dirty="0">
                <a:ea typeface="Source Sans Pro"/>
                <a:cs typeface="Source Sans Pro"/>
                <a:sym typeface="Source Sans Pro"/>
              </a:rPr>
              <a:t>is based on solving </a:t>
            </a:r>
            <a:r>
              <a:rPr lang="en-US" b="1" dirty="0">
                <a:ea typeface="Source Sans Pro"/>
                <a:cs typeface="Source Sans Pro"/>
                <a:sym typeface="Source Sans Pro"/>
              </a:rPr>
              <a:t>the dual problem</a:t>
            </a:r>
            <a:r>
              <a:rPr lang="en-US" dirty="0">
                <a:ea typeface="Source Sans Pro"/>
                <a:cs typeface="Source Sans Pro"/>
                <a:sym typeface="Source Sans Pro"/>
              </a:rPr>
              <a:t>: every constrained optimization problem (primal problem) can be expressed in different but closely related way (dual problem).  </a:t>
            </a:r>
          </a:p>
          <a:p>
            <a:pPr marL="550320" indent="-380990">
              <a:lnSpc>
                <a:spcPct val="120000"/>
              </a:lnSpc>
              <a:spcBef>
                <a:spcPts val="1333"/>
              </a:spcBef>
              <a:buSzPct val="100000"/>
            </a:pPr>
            <a:r>
              <a:rPr lang="en-US" dirty="0">
                <a:ea typeface="Source Sans Pro"/>
                <a:cs typeface="Source Sans Pro"/>
                <a:sym typeface="Source Sans Pro"/>
              </a:rPr>
              <a:t>The solution to the dual problem provides a lower bound to the solution of the primal problem.  Under certain conditions, the solution to both problems are equal, so either problem can be solved to find the solution. </a:t>
            </a:r>
          </a:p>
          <a:p>
            <a:pPr marL="550320" indent="-380990">
              <a:lnSpc>
                <a:spcPct val="120000"/>
              </a:lnSpc>
              <a:spcBef>
                <a:spcPts val="1333"/>
              </a:spcBef>
              <a:buSzPct val="100000"/>
            </a:pPr>
            <a:r>
              <a:rPr lang="en-US" dirty="0">
                <a:ea typeface="Source Sans Pro"/>
                <a:cs typeface="Source Sans Pro"/>
                <a:sym typeface="Source Sans Pro"/>
              </a:rPr>
              <a:t>Those  conditions are met for SVM; we can solve the dual form of SVM or solve the primal form. </a:t>
            </a:r>
          </a:p>
          <a:p>
            <a:pPr marL="169329">
              <a:lnSpc>
                <a:spcPct val="140000"/>
              </a:lnSpc>
              <a:spcBef>
                <a:spcPts val="1333"/>
              </a:spcBef>
              <a:buClr>
                <a:srgbClr val="003B4C"/>
              </a:buClr>
              <a:buSzPct val="100000"/>
            </a:pPr>
            <a:endParaRPr lang="en-US" b="1" dirty="0">
              <a:solidFill>
                <a:srgbClr val="003B4C"/>
              </a:solidFill>
              <a:latin typeface="Source Sans Pro"/>
              <a:ea typeface="Source Sans Pro"/>
              <a:cs typeface="Source Sans Pro"/>
              <a:sym typeface="Source Sans Pro"/>
            </a:endParaRPr>
          </a:p>
          <a:p>
            <a:pPr marL="550320" indent="-380990">
              <a:lnSpc>
                <a:spcPct val="140000"/>
              </a:lnSpc>
              <a:spcBef>
                <a:spcPts val="1333"/>
              </a:spcBef>
              <a:buClr>
                <a:srgbClr val="003B4C"/>
              </a:buClr>
              <a:buSzPct val="100000"/>
            </a:pPr>
            <a:endParaRPr lang="en-US" dirty="0">
              <a:solidFill>
                <a:srgbClr val="003B4C"/>
              </a:solidFill>
              <a:latin typeface="Source Sans Pro"/>
              <a:ea typeface="Source Sans Pro"/>
              <a:cs typeface="Source Sans Pro"/>
              <a:sym typeface="Source Sans Pro"/>
            </a:endParaRPr>
          </a:p>
          <a:p>
            <a:pPr marL="550320" indent="-380990">
              <a:lnSpc>
                <a:spcPct val="140000"/>
              </a:lnSpc>
              <a:spcBef>
                <a:spcPts val="1333"/>
              </a:spcBef>
              <a:buClr>
                <a:srgbClr val="003B4C"/>
              </a:buClr>
              <a:buSzPct val="100000"/>
            </a:pPr>
            <a:endParaRPr lang="en-US" dirty="0">
              <a:solidFill>
                <a:srgbClr val="003B4C"/>
              </a:solidFill>
              <a:latin typeface="Source Sans Pro"/>
              <a:ea typeface="Source Sans Pro"/>
              <a:cs typeface="Source Sans Pro"/>
              <a:sym typeface="Source Sans Pro"/>
            </a:endParaRPr>
          </a:p>
          <a:p>
            <a:pPr marL="550320" indent="-380990">
              <a:lnSpc>
                <a:spcPct val="140000"/>
              </a:lnSpc>
              <a:spcBef>
                <a:spcPts val="1333"/>
              </a:spcBef>
              <a:buClr>
                <a:srgbClr val="003B4C"/>
              </a:buClr>
              <a:buSzPct val="100000"/>
            </a:pPr>
            <a:endParaRPr lang="en-US" dirty="0">
              <a:solidFill>
                <a:srgbClr val="003B4C"/>
              </a:solidFill>
              <a:latin typeface="Source Sans Pro"/>
              <a:ea typeface="Source Sans Pro"/>
              <a:cs typeface="Source Sans Pro"/>
              <a:sym typeface="Source Sans Pro"/>
            </a:endParaRPr>
          </a:p>
          <a:p>
            <a:pPr marL="169329">
              <a:lnSpc>
                <a:spcPct val="140000"/>
              </a:lnSpc>
              <a:spcBef>
                <a:spcPts val="1333"/>
              </a:spcBef>
              <a:buClr>
                <a:srgbClr val="003B4C"/>
              </a:buClr>
              <a:buSzPct val="100000"/>
            </a:pPr>
            <a:endParaRPr lang="en-US" dirty="0">
              <a:solidFill>
                <a:srgbClr val="003B4C"/>
              </a:solidFill>
              <a:latin typeface="Source Sans Pro"/>
              <a:ea typeface="Source Sans Pro"/>
              <a:cs typeface="Source Sans Pro"/>
              <a:sym typeface="Source Sans Pro"/>
            </a:endParaRPr>
          </a:p>
          <a:p>
            <a:pPr marL="0" indent="0">
              <a:buNone/>
            </a:pPr>
            <a:endParaRPr lang="en-US" dirty="0"/>
          </a:p>
        </p:txBody>
      </p:sp>
    </p:spTree>
    <p:extLst>
      <p:ext uri="{BB962C8B-B14F-4D97-AF65-F5344CB8AC3E}">
        <p14:creationId xmlns:p14="http://schemas.microsoft.com/office/powerpoint/2010/main" val="1324153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s" b="1" dirty="0">
                <a:ea typeface="Source Sans Pro"/>
                <a:cs typeface="Source Sans Pro"/>
                <a:sym typeface="Source Sans Pro"/>
              </a:rPr>
              <a:t>Implementation of soft margin classifier – Dual Problem</a:t>
            </a:r>
            <a:endParaRPr lang="en-US" dirty="0"/>
          </a:p>
        </p:txBody>
      </p:sp>
      <p:sp>
        <p:nvSpPr>
          <p:cNvPr id="2" name="Content Placeholder 1"/>
          <p:cNvSpPr>
            <a:spLocks noGrp="1"/>
          </p:cNvSpPr>
          <p:nvPr>
            <p:ph idx="1"/>
          </p:nvPr>
        </p:nvSpPr>
        <p:spPr>
          <a:xfrm>
            <a:off x="838200" y="1835150"/>
            <a:ext cx="10515600" cy="4351338"/>
          </a:xfrm>
        </p:spPr>
        <p:txBody>
          <a:bodyPr>
            <a:normAutofit fontScale="55000" lnSpcReduction="20000"/>
          </a:bodyPr>
          <a:lstStyle/>
          <a:p>
            <a:pPr marL="0" indent="0">
              <a:lnSpc>
                <a:spcPct val="120000"/>
              </a:lnSpc>
              <a:spcBef>
                <a:spcPts val="1333"/>
              </a:spcBef>
              <a:buSzPct val="100000"/>
              <a:buNone/>
            </a:pPr>
            <a:r>
              <a:rPr lang="en-US" b="1" dirty="0">
                <a:solidFill>
                  <a:srgbClr val="003B4C"/>
                </a:solidFill>
                <a:latin typeface="Source Sans Pro"/>
                <a:ea typeface="Source Sans Pro"/>
                <a:cs typeface="Source Sans Pro"/>
                <a:sym typeface="Source Sans Pro"/>
              </a:rPr>
              <a:t>                    </a:t>
            </a:r>
            <a:r>
              <a:rPr lang="en-US" sz="3300" b="1" dirty="0">
                <a:ea typeface="Source Sans Pro"/>
                <a:cs typeface="Source Sans Pro"/>
                <a:sym typeface="Source Sans Pro"/>
              </a:rPr>
              <a:t>Primal Problem                                                                                           Dual Problem</a:t>
            </a:r>
          </a:p>
          <a:p>
            <a:pPr>
              <a:lnSpc>
                <a:spcPct val="120000"/>
              </a:lnSpc>
              <a:spcBef>
                <a:spcPts val="1333"/>
              </a:spcBef>
              <a:buSzPct val="100000"/>
            </a:pPr>
            <a:endParaRPr lang="en-US" sz="3300" b="1" dirty="0">
              <a:ea typeface="Source Sans Pro"/>
              <a:cs typeface="Source Sans Pro"/>
              <a:sym typeface="Source Sans Pro"/>
            </a:endParaRPr>
          </a:p>
          <a:p>
            <a:pPr>
              <a:lnSpc>
                <a:spcPct val="120000"/>
              </a:lnSpc>
              <a:spcBef>
                <a:spcPts val="1333"/>
              </a:spcBef>
              <a:buSzPct val="100000"/>
            </a:pPr>
            <a:endParaRPr lang="en-US" sz="3300" b="1" dirty="0">
              <a:ea typeface="Source Sans Pro"/>
              <a:cs typeface="Source Sans Pro"/>
              <a:sym typeface="Source Sans Pro"/>
            </a:endParaRPr>
          </a:p>
          <a:p>
            <a:pPr>
              <a:lnSpc>
                <a:spcPct val="120000"/>
              </a:lnSpc>
              <a:spcBef>
                <a:spcPts val="1333"/>
              </a:spcBef>
              <a:buSzPct val="100000"/>
            </a:pPr>
            <a:endParaRPr lang="en-US" sz="3300" b="1" dirty="0">
              <a:ea typeface="Source Sans Pro"/>
              <a:cs typeface="Source Sans Pro"/>
              <a:sym typeface="Source Sans Pro"/>
            </a:endParaRPr>
          </a:p>
          <a:p>
            <a:pPr marL="169330" indent="0">
              <a:lnSpc>
                <a:spcPct val="120000"/>
              </a:lnSpc>
              <a:spcBef>
                <a:spcPts val="1333"/>
              </a:spcBef>
              <a:buSzPct val="100000"/>
              <a:buNone/>
            </a:pPr>
            <a:endParaRPr lang="en-US" sz="3300" b="1" dirty="0">
              <a:ea typeface="Source Sans Pro"/>
              <a:cs typeface="Source Sans Pro"/>
              <a:sym typeface="Source Sans Pro"/>
            </a:endParaRPr>
          </a:p>
          <a:p>
            <a:pPr marL="169330" indent="0">
              <a:lnSpc>
                <a:spcPct val="120000"/>
              </a:lnSpc>
              <a:spcBef>
                <a:spcPts val="1333"/>
              </a:spcBef>
              <a:buSzPct val="100000"/>
              <a:buNone/>
            </a:pPr>
            <a:r>
              <a:rPr lang="en-US" sz="3300" b="1" dirty="0">
                <a:ea typeface="Source Sans Pro"/>
                <a:cs typeface="Source Sans Pro"/>
                <a:sym typeface="Source Sans Pro"/>
              </a:rPr>
              <a:t>Why dual problem?</a:t>
            </a:r>
            <a:r>
              <a:rPr lang="en-US" sz="3300" dirty="0">
                <a:ea typeface="Source Sans Pro"/>
                <a:cs typeface="Source Sans Pro"/>
                <a:sym typeface="Source Sans Pro"/>
              </a:rPr>
              <a:t> </a:t>
            </a:r>
            <a:r>
              <a:rPr lang="en-US" sz="3300" b="1" dirty="0">
                <a:ea typeface="Source Sans Pro"/>
                <a:cs typeface="Source Sans Pro"/>
                <a:sym typeface="Source Sans Pro"/>
              </a:rPr>
              <a:t>The dual problem makes the kernel trick possible! </a:t>
            </a:r>
          </a:p>
          <a:p>
            <a:pPr marL="169330" indent="0">
              <a:lnSpc>
                <a:spcPct val="120000"/>
              </a:lnSpc>
              <a:spcBef>
                <a:spcPts val="1333"/>
              </a:spcBef>
              <a:buSzPct val="100000"/>
              <a:buNone/>
            </a:pPr>
            <a:r>
              <a:rPr lang="en-US" sz="3300" dirty="0">
                <a:ea typeface="Source Sans Pro"/>
                <a:cs typeface="Source Sans Pro"/>
                <a:sym typeface="Source Sans Pro"/>
              </a:rPr>
              <a:t>Once the dual is solved, the dual variables          are used to find w and b of the primal problem.</a:t>
            </a:r>
          </a:p>
          <a:p>
            <a:pPr marL="169330" indent="0">
              <a:lnSpc>
                <a:spcPct val="120000"/>
              </a:lnSpc>
              <a:spcBef>
                <a:spcPts val="1333"/>
              </a:spcBef>
              <a:buSzPct val="100000"/>
              <a:buNone/>
            </a:pPr>
            <a:r>
              <a:rPr lang="en-US" sz="3300" dirty="0">
                <a:ea typeface="Source Sans Pro"/>
                <a:cs typeface="Source Sans Pro"/>
                <a:sym typeface="Source Sans Pro"/>
              </a:rPr>
              <a:t>Only the dual variables           that correspond to the support vectors will be non-zero.</a:t>
            </a:r>
          </a:p>
          <a:p>
            <a:pPr marL="169330" indent="0">
              <a:lnSpc>
                <a:spcPct val="120000"/>
              </a:lnSpc>
              <a:spcBef>
                <a:spcPts val="1333"/>
              </a:spcBef>
              <a:buSzPct val="100000"/>
              <a:buNone/>
            </a:pPr>
            <a:r>
              <a:rPr lang="en-US" sz="3300" dirty="0">
                <a:ea typeface="Source Sans Pro"/>
                <a:cs typeface="Source Sans Pro"/>
                <a:sym typeface="Source Sans Pro"/>
              </a:rPr>
              <a:t>For a given test example       , the output of the decision function:                                              (</a:t>
            </a:r>
            <a:r>
              <a:rPr lang="en-US" sz="3300" b="1" dirty="0">
                <a:ea typeface="Source Sans Pro"/>
                <a:cs typeface="Source Sans Pro"/>
                <a:sym typeface="Source Sans Pro"/>
              </a:rPr>
              <a:t>the decision function only depends on the support vectors</a:t>
            </a:r>
            <a:r>
              <a:rPr lang="en-US" sz="3300" dirty="0">
                <a:ea typeface="Source Sans Pro"/>
                <a:cs typeface="Source Sans Pro"/>
                <a:sym typeface="Source Sans Pro"/>
              </a:rPr>
              <a:t>).</a:t>
            </a:r>
          </a:p>
        </p:txBody>
      </p:sp>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pic>
        <p:nvPicPr>
          <p:cNvPr id="15" name="Picture 14"/>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1445747" y="2262737"/>
            <a:ext cx="2759435" cy="1491289"/>
          </a:xfrm>
          <a:prstGeom prst="rect">
            <a:avLst/>
          </a:prstGeom>
        </p:spPr>
      </p:pic>
      <p:pic>
        <p:nvPicPr>
          <p:cNvPr id="16" name="Picture 15"/>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6707698" y="2262737"/>
            <a:ext cx="4038555" cy="1581523"/>
          </a:xfrm>
          <a:prstGeom prst="rect">
            <a:avLst/>
          </a:prstGeom>
        </p:spPr>
      </p:pic>
      <p:pic>
        <p:nvPicPr>
          <p:cNvPr id="14" name="Picture 13"/>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5122947" y="4605821"/>
            <a:ext cx="227616" cy="160957"/>
          </a:xfrm>
          <a:prstGeom prst="rect">
            <a:avLst/>
          </a:prstGeom>
        </p:spPr>
      </p:pic>
      <p:pic>
        <p:nvPicPr>
          <p:cNvPr id="20" name="Picture 19"/>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3407409" y="5040173"/>
            <a:ext cx="227616" cy="160957"/>
          </a:xfrm>
          <a:prstGeom prst="rect">
            <a:avLst/>
          </a:prstGeom>
        </p:spPr>
      </p:pic>
      <p:pic>
        <p:nvPicPr>
          <p:cNvPr id="18" name="Picture 17"/>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3452565" y="5490954"/>
            <a:ext cx="134944" cy="121937"/>
          </a:xfrm>
          <a:prstGeom prst="rect">
            <a:avLst/>
          </a:prstGeom>
        </p:spPr>
      </p:pic>
      <p:pic>
        <p:nvPicPr>
          <p:cNvPr id="22" name="Picture 21"/>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7301091" y="5371668"/>
            <a:ext cx="2118249" cy="505023"/>
          </a:xfrm>
          <a:prstGeom prst="rect">
            <a:avLst/>
          </a:prstGeom>
        </p:spPr>
      </p:pic>
    </p:spTree>
    <p:extLst>
      <p:ext uri="{BB962C8B-B14F-4D97-AF65-F5344CB8AC3E}">
        <p14:creationId xmlns:p14="http://schemas.microsoft.com/office/powerpoint/2010/main" val="22378506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s" b="1" dirty="0">
                <a:ea typeface="Source Sans Pro"/>
                <a:cs typeface="Source Sans Pro"/>
                <a:sym typeface="Source Sans Pro"/>
              </a:rPr>
              <a:t>Implementation of soft margin classifier – Hinge Loss Function</a:t>
            </a:r>
            <a:endParaRPr lang="en-US" dirty="0"/>
          </a:p>
        </p:txBody>
      </p:sp>
      <p:sp>
        <p:nvSpPr>
          <p:cNvPr id="3" name="Content Placeholder 2"/>
          <p:cNvSpPr>
            <a:spLocks noGrp="1"/>
          </p:cNvSpPr>
          <p:nvPr>
            <p:ph idx="1"/>
          </p:nvPr>
        </p:nvSpPr>
        <p:spPr/>
        <p:txBody>
          <a:bodyPr>
            <a:normAutofit fontScale="70000" lnSpcReduction="20000"/>
          </a:bodyPr>
          <a:lstStyle/>
          <a:p>
            <a:pPr marL="550320" indent="-380990">
              <a:lnSpc>
                <a:spcPct val="140000"/>
              </a:lnSpc>
              <a:spcBef>
                <a:spcPts val="1333"/>
              </a:spcBef>
              <a:buSzPct val="100000"/>
            </a:pPr>
            <a:r>
              <a:rPr lang="en-US" b="1" dirty="0">
                <a:ea typeface="Source Sans Pro"/>
                <a:cs typeface="Source Sans Pro"/>
                <a:sym typeface="Source Sans Pro"/>
              </a:rPr>
              <a:t>The third method </a:t>
            </a:r>
            <a:r>
              <a:rPr lang="en-US" dirty="0">
                <a:ea typeface="Source Sans Pro"/>
                <a:cs typeface="Source Sans Pro"/>
                <a:sym typeface="Source Sans Pro"/>
              </a:rPr>
              <a:t>is based on solving an equivalent unconstrained optimization problem:</a:t>
            </a:r>
          </a:p>
          <a:p>
            <a:pPr marL="550320" indent="-380990">
              <a:lnSpc>
                <a:spcPct val="140000"/>
              </a:lnSpc>
              <a:spcBef>
                <a:spcPts val="1333"/>
              </a:spcBef>
              <a:buSzPct val="100000"/>
            </a:pPr>
            <a:endParaRPr lang="en-US" b="1" dirty="0">
              <a:ea typeface="Source Sans Pro"/>
              <a:cs typeface="Source Sans Pro"/>
              <a:sym typeface="Source Sans Pro"/>
            </a:endParaRPr>
          </a:p>
          <a:p>
            <a:pPr marL="550320" indent="-380990">
              <a:lnSpc>
                <a:spcPct val="140000"/>
              </a:lnSpc>
              <a:spcBef>
                <a:spcPts val="1333"/>
              </a:spcBef>
              <a:buSzPct val="100000"/>
            </a:pPr>
            <a:endParaRPr lang="en-US" b="1" dirty="0">
              <a:ea typeface="Source Sans Pro"/>
              <a:cs typeface="Source Sans Pro"/>
              <a:sym typeface="Source Sans Pro"/>
            </a:endParaRPr>
          </a:p>
          <a:p>
            <a:pPr marL="169329">
              <a:lnSpc>
                <a:spcPct val="140000"/>
              </a:lnSpc>
              <a:spcBef>
                <a:spcPts val="1333"/>
              </a:spcBef>
              <a:buSzPct val="100000"/>
            </a:pPr>
            <a:endParaRPr lang="en-US" b="1" dirty="0">
              <a:ea typeface="Source Sans Pro"/>
              <a:cs typeface="Source Sans Pro"/>
              <a:sym typeface="Source Sans Pro"/>
            </a:endParaRPr>
          </a:p>
          <a:p>
            <a:pPr marL="550320" indent="-380990">
              <a:lnSpc>
                <a:spcPct val="140000"/>
              </a:lnSpc>
              <a:spcBef>
                <a:spcPts val="1333"/>
              </a:spcBef>
              <a:buSzPct val="100000"/>
            </a:pPr>
            <a:r>
              <a:rPr lang="en-US" dirty="0">
                <a:ea typeface="Source Sans Pro"/>
                <a:cs typeface="Source Sans Pro"/>
                <a:sym typeface="Source Sans Pro"/>
              </a:rPr>
              <a:t>This method  uses the hinge loss function:                                to express the cost incurred due to margin violations; minimizing this term ensures that the margin violation is as small as possible. </a:t>
            </a:r>
          </a:p>
          <a:p>
            <a:pPr marL="550320" indent="-380990">
              <a:lnSpc>
                <a:spcPct val="140000"/>
              </a:lnSpc>
              <a:spcBef>
                <a:spcPts val="1333"/>
              </a:spcBef>
              <a:buSzPct val="100000"/>
            </a:pPr>
            <a:r>
              <a:rPr lang="en-US" dirty="0">
                <a:ea typeface="Source Sans Pro"/>
                <a:cs typeface="Source Sans Pro"/>
                <a:sym typeface="Source Sans Pro"/>
              </a:rPr>
              <a:t>This implementation is suitable when there is a large number of training examples, but does not allow the use of kernel trick.</a:t>
            </a:r>
          </a:p>
          <a:p>
            <a:pPr marL="550320" indent="-380990">
              <a:lnSpc>
                <a:spcPct val="140000"/>
              </a:lnSpc>
              <a:spcBef>
                <a:spcPts val="1333"/>
              </a:spcBef>
              <a:buSzPct val="100000"/>
            </a:pPr>
            <a:endParaRPr lang="en-US" dirty="0">
              <a:ea typeface="Source Sans Pro"/>
              <a:cs typeface="Source Sans Pro"/>
              <a:sym typeface="Source Sans Pro"/>
            </a:endParaRPr>
          </a:p>
          <a:p>
            <a:pPr marL="550320" indent="-380990">
              <a:lnSpc>
                <a:spcPct val="140000"/>
              </a:lnSpc>
              <a:spcBef>
                <a:spcPts val="1333"/>
              </a:spcBef>
              <a:buSzPct val="100000"/>
            </a:pPr>
            <a:endParaRPr lang="en-US" dirty="0">
              <a:ea typeface="Source Sans Pro"/>
              <a:cs typeface="Source Sans Pro"/>
              <a:sym typeface="Source Sans Pro"/>
            </a:endParaRPr>
          </a:p>
          <a:p>
            <a:pPr marL="169329">
              <a:lnSpc>
                <a:spcPct val="140000"/>
              </a:lnSpc>
              <a:spcBef>
                <a:spcPts val="1333"/>
              </a:spcBef>
              <a:buSzPct val="100000"/>
            </a:pPr>
            <a:endParaRPr lang="en-US" dirty="0">
              <a:ea typeface="Source Sans Pro"/>
              <a:cs typeface="Source Sans Pro"/>
              <a:sym typeface="Source Sans Pro"/>
            </a:endParaRPr>
          </a:p>
          <a:p>
            <a:endParaRPr lang="en-US" dirty="0"/>
          </a:p>
        </p:txBody>
      </p:sp>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pic>
        <p:nvPicPr>
          <p:cNvPr id="8" name="Picture 7"/>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1607413" y="2269944"/>
            <a:ext cx="2759435" cy="1491289"/>
          </a:xfrm>
          <a:prstGeom prst="rect">
            <a:avLst/>
          </a:prstGeom>
        </p:spPr>
      </p:pic>
      <p:sp>
        <p:nvSpPr>
          <p:cNvPr id="2" name="TextBox 1"/>
          <p:cNvSpPr txBox="1"/>
          <p:nvPr/>
        </p:nvSpPr>
        <p:spPr>
          <a:xfrm>
            <a:off x="4569305" y="2443545"/>
            <a:ext cx="1587499" cy="830997"/>
          </a:xfrm>
          <a:prstGeom prst="rect">
            <a:avLst/>
          </a:prstGeom>
          <a:noFill/>
        </p:spPr>
        <p:txBody>
          <a:bodyPr wrap="square" rtlCol="0">
            <a:spAutoFit/>
          </a:bodyPr>
          <a:lstStyle/>
          <a:p>
            <a:pPr algn="ctr"/>
            <a:r>
              <a:rPr lang="en-US" sz="1600" dirty="0">
                <a:latin typeface="Source Sans Pro" panose="020B0604020202020204" charset="0"/>
              </a:rPr>
              <a:t>can be shown to be equivalent to </a:t>
            </a:r>
          </a:p>
        </p:txBody>
      </p:sp>
      <p:pic>
        <p:nvPicPr>
          <p:cNvPr id="5" name="Picture 4"/>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6427780" y="2303012"/>
            <a:ext cx="4453139" cy="556032"/>
          </a:xfrm>
          <a:prstGeom prst="rect">
            <a:avLst/>
          </a:prstGeom>
        </p:spPr>
      </p:pic>
      <p:pic>
        <p:nvPicPr>
          <p:cNvPr id="7" name="Picture 6"/>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6096000" y="4074102"/>
            <a:ext cx="1337243" cy="236152"/>
          </a:xfrm>
          <a:prstGeom prst="rect">
            <a:avLst/>
          </a:prstGeom>
        </p:spPr>
      </p:pic>
    </p:spTree>
    <p:extLst>
      <p:ext uri="{BB962C8B-B14F-4D97-AF65-F5344CB8AC3E}">
        <p14:creationId xmlns:p14="http://schemas.microsoft.com/office/powerpoint/2010/main" val="914032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sp>
        <p:nvSpPr>
          <p:cNvPr id="194" name="Google Shape;194;p44"/>
          <p:cNvSpPr txBox="1"/>
          <p:nvPr/>
        </p:nvSpPr>
        <p:spPr>
          <a:xfrm>
            <a:off x="971621" y="1367435"/>
            <a:ext cx="10150868" cy="3574800"/>
          </a:xfrm>
          <a:prstGeom prst="rect">
            <a:avLst/>
          </a:prstGeom>
          <a:no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550320" indent="-380990">
              <a:lnSpc>
                <a:spcPct val="140000"/>
              </a:lnSpc>
              <a:spcBef>
                <a:spcPts val="1333"/>
              </a:spcBef>
              <a:buClr>
                <a:srgbClr val="003B4C"/>
              </a:buClr>
              <a:buSzPct val="100000"/>
              <a:buFont typeface="Arial" panose="020B0604020202020204" pitchFamily="34" charset="0"/>
              <a:buChar char="•"/>
            </a:pPr>
            <a:r>
              <a:rPr lang="en-US" sz="2400" b="1" dirty="0">
                <a:solidFill>
                  <a:srgbClr val="003B4C"/>
                </a:solidFill>
                <a:ea typeface="Source Sans Pro"/>
                <a:cs typeface="Source Sans Pro"/>
                <a:sym typeface="Source Sans Pro"/>
              </a:rPr>
              <a:t>The hinge loss function</a:t>
            </a:r>
            <a:r>
              <a:rPr lang="en-US" sz="2400" b="1" dirty="0">
                <a:solidFill>
                  <a:srgbClr val="003B4C"/>
                </a:solidFill>
                <a:latin typeface="Source Sans Pro"/>
                <a:ea typeface="Source Sans Pro"/>
                <a:cs typeface="Source Sans Pro"/>
                <a:sym typeface="Source Sans Pro"/>
              </a:rPr>
              <a:t>:</a:t>
            </a:r>
            <a:endParaRPr lang="en-US" sz="2400" dirty="0">
              <a:solidFill>
                <a:srgbClr val="003B4C"/>
              </a:solidFill>
              <a:latin typeface="Source Sans Pro"/>
              <a:ea typeface="Source Sans Pro"/>
              <a:cs typeface="Source Sans Pro"/>
              <a:sym typeface="Source Sans Pro"/>
            </a:endParaRPr>
          </a:p>
          <a:p>
            <a:pPr marL="550320" indent="-380990">
              <a:lnSpc>
                <a:spcPct val="140000"/>
              </a:lnSpc>
              <a:spcBef>
                <a:spcPts val="1333"/>
              </a:spcBef>
              <a:buClr>
                <a:srgbClr val="003B4C"/>
              </a:buClr>
              <a:buSzPct val="100000"/>
              <a:buFont typeface="Arial" panose="020B0604020202020204" pitchFamily="34" charset="0"/>
              <a:buChar char="•"/>
            </a:pPr>
            <a:endParaRPr lang="en-US" sz="2400" b="1" dirty="0">
              <a:solidFill>
                <a:srgbClr val="003B4C"/>
              </a:solidFill>
              <a:latin typeface="Source Sans Pro"/>
              <a:ea typeface="Source Sans Pro"/>
              <a:cs typeface="Source Sans Pro"/>
              <a:sym typeface="Source Sans Pro"/>
            </a:endParaRPr>
          </a:p>
          <a:p>
            <a:pPr marL="550320" indent="-380990">
              <a:lnSpc>
                <a:spcPct val="140000"/>
              </a:lnSpc>
              <a:spcBef>
                <a:spcPts val="1333"/>
              </a:spcBef>
              <a:buClr>
                <a:srgbClr val="003B4C"/>
              </a:buClr>
              <a:buSzPct val="100000"/>
              <a:buFont typeface="Arial" panose="020B0604020202020204" pitchFamily="34" charset="0"/>
              <a:buChar char="•"/>
            </a:pPr>
            <a:endParaRPr lang="en-US" sz="2400" b="1" dirty="0">
              <a:solidFill>
                <a:srgbClr val="003B4C"/>
              </a:solidFill>
              <a:latin typeface="Source Sans Pro"/>
              <a:ea typeface="Source Sans Pro"/>
              <a:cs typeface="Source Sans Pro"/>
              <a:sym typeface="Source Sans Pro"/>
            </a:endParaRPr>
          </a:p>
          <a:p>
            <a:pPr marL="169329">
              <a:lnSpc>
                <a:spcPct val="140000"/>
              </a:lnSpc>
              <a:spcBef>
                <a:spcPts val="1333"/>
              </a:spcBef>
              <a:buClr>
                <a:srgbClr val="003B4C"/>
              </a:buClr>
              <a:buSzPct val="100000"/>
            </a:pPr>
            <a:endParaRPr lang="en-US" sz="2400" b="1" dirty="0">
              <a:solidFill>
                <a:srgbClr val="003B4C"/>
              </a:solidFill>
              <a:latin typeface="Source Sans Pro"/>
              <a:ea typeface="Source Sans Pro"/>
              <a:cs typeface="Source Sans Pro"/>
              <a:sym typeface="Source Sans Pro"/>
            </a:endParaRPr>
          </a:p>
          <a:p>
            <a:pPr marL="169329">
              <a:lnSpc>
                <a:spcPct val="140000"/>
              </a:lnSpc>
              <a:spcBef>
                <a:spcPts val="1333"/>
              </a:spcBef>
              <a:buClr>
                <a:srgbClr val="003B4C"/>
              </a:buClr>
              <a:buSzPct val="100000"/>
            </a:pPr>
            <a:endParaRPr lang="en-US" sz="2400" b="1" dirty="0">
              <a:solidFill>
                <a:srgbClr val="003B4C"/>
              </a:solidFill>
              <a:latin typeface="Source Sans Pro"/>
              <a:ea typeface="Source Sans Pro"/>
              <a:cs typeface="Source Sans Pro"/>
              <a:sym typeface="Source Sans Pro"/>
            </a:endParaRPr>
          </a:p>
          <a:p>
            <a:pPr marL="550320" indent="-380990">
              <a:lnSpc>
                <a:spcPct val="140000"/>
              </a:lnSpc>
              <a:spcBef>
                <a:spcPts val="1333"/>
              </a:spcBef>
              <a:buClr>
                <a:srgbClr val="003B4C"/>
              </a:buClr>
              <a:buSzPct val="100000"/>
              <a:buFont typeface="Arial" panose="020B0604020202020204" pitchFamily="34" charset="0"/>
              <a:buChar char="•"/>
            </a:pPr>
            <a:endParaRPr lang="en-US" sz="2400" dirty="0">
              <a:solidFill>
                <a:srgbClr val="003B4C"/>
              </a:solidFill>
              <a:latin typeface="Source Sans Pro"/>
              <a:ea typeface="Source Sans Pro"/>
              <a:cs typeface="Source Sans Pro"/>
              <a:sym typeface="Source Sans Pro"/>
            </a:endParaRPr>
          </a:p>
          <a:p>
            <a:pPr marL="550320" indent="-380990">
              <a:lnSpc>
                <a:spcPct val="140000"/>
              </a:lnSpc>
              <a:spcBef>
                <a:spcPts val="1333"/>
              </a:spcBef>
              <a:buClr>
                <a:srgbClr val="003B4C"/>
              </a:buClr>
              <a:buSzPct val="100000"/>
              <a:buFont typeface="Arial" panose="020B0604020202020204" pitchFamily="34" charset="0"/>
              <a:buChar char="•"/>
            </a:pPr>
            <a:endParaRPr lang="en-US" sz="2400" dirty="0">
              <a:solidFill>
                <a:srgbClr val="003B4C"/>
              </a:solidFill>
              <a:latin typeface="Source Sans Pro"/>
              <a:ea typeface="Source Sans Pro"/>
              <a:cs typeface="Source Sans Pro"/>
              <a:sym typeface="Source Sans Pro"/>
            </a:endParaRPr>
          </a:p>
          <a:p>
            <a:pPr marL="169329">
              <a:lnSpc>
                <a:spcPct val="140000"/>
              </a:lnSpc>
              <a:spcBef>
                <a:spcPts val="1333"/>
              </a:spcBef>
              <a:buClr>
                <a:srgbClr val="003B4C"/>
              </a:buClr>
              <a:buSzPct val="100000"/>
            </a:pPr>
            <a:endParaRPr lang="en-US" sz="2400" dirty="0">
              <a:solidFill>
                <a:srgbClr val="003B4C"/>
              </a:solidFill>
              <a:latin typeface="Source Sans Pro"/>
              <a:ea typeface="Source Sans Pro"/>
              <a:cs typeface="Source Sans Pro"/>
              <a:sym typeface="Source Sans Pro"/>
            </a:endParaRPr>
          </a:p>
        </p:txBody>
      </p:sp>
      <p:pic>
        <p:nvPicPr>
          <p:cNvPr id="5" name="Picture 4"/>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6382060" y="2247132"/>
            <a:ext cx="4453139" cy="556032"/>
          </a:xfrm>
          <a:prstGeom prst="rect">
            <a:avLst/>
          </a:prstGeom>
        </p:spPr>
      </p:pic>
      <p:pic>
        <p:nvPicPr>
          <p:cNvPr id="7" name="Picture 6"/>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2154767" y="2383367"/>
            <a:ext cx="1337243" cy="236152"/>
          </a:xfrm>
          <a:prstGeom prst="rect">
            <a:avLst/>
          </a:prstGeom>
        </p:spPr>
      </p:pic>
      <p:grpSp>
        <p:nvGrpSpPr>
          <p:cNvPr id="20" name="Group 19"/>
          <p:cNvGrpSpPr/>
          <p:nvPr/>
        </p:nvGrpSpPr>
        <p:grpSpPr>
          <a:xfrm>
            <a:off x="1920240" y="2849880"/>
            <a:ext cx="3581400" cy="2504218"/>
            <a:chOff x="2529555" y="834781"/>
            <a:chExt cx="4739925" cy="3115177"/>
          </a:xfrm>
        </p:grpSpPr>
        <p:cxnSp>
          <p:nvCxnSpPr>
            <p:cNvPr id="13" name="Straight Arrow Connector 12"/>
            <p:cNvCxnSpPr/>
            <p:nvPr/>
          </p:nvCxnSpPr>
          <p:spPr>
            <a:xfrm>
              <a:off x="2529555" y="3315768"/>
              <a:ext cx="42062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rot="16200000" flipV="1">
              <a:off x="2303483" y="2206381"/>
              <a:ext cx="2743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2632105" y="1059679"/>
              <a:ext cx="2170631" cy="2247543"/>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94191" y="3307223"/>
              <a:ext cx="1410056" cy="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709409" y="3314700"/>
              <a:ext cx="560071" cy="574298"/>
            </a:xfrm>
            <a:prstGeom prst="rect">
              <a:avLst/>
            </a:prstGeom>
            <a:noFill/>
          </p:spPr>
          <p:txBody>
            <a:bodyPr wrap="square" rtlCol="0">
              <a:spAutoFit/>
            </a:bodyPr>
            <a:lstStyle/>
            <a:p>
              <a:r>
                <a:rPr lang="en-US" sz="2400" dirty="0"/>
                <a:t>t</a:t>
              </a:r>
            </a:p>
          </p:txBody>
        </p:sp>
        <p:sp>
          <p:nvSpPr>
            <p:cNvPr id="25" name="TextBox 24"/>
            <p:cNvSpPr txBox="1"/>
            <p:nvPr/>
          </p:nvSpPr>
          <p:spPr>
            <a:xfrm>
              <a:off x="4690111" y="3375660"/>
              <a:ext cx="560071" cy="574298"/>
            </a:xfrm>
            <a:prstGeom prst="rect">
              <a:avLst/>
            </a:prstGeom>
            <a:noFill/>
          </p:spPr>
          <p:txBody>
            <a:bodyPr wrap="square" rtlCol="0">
              <a:spAutoFit/>
            </a:bodyPr>
            <a:lstStyle/>
            <a:p>
              <a:r>
                <a:rPr lang="en-US" sz="2400" dirty="0"/>
                <a:t>1</a:t>
              </a:r>
            </a:p>
          </p:txBody>
        </p:sp>
      </p:grpSp>
      <p:sp>
        <p:nvSpPr>
          <p:cNvPr id="2" name="TextBox 1"/>
          <p:cNvSpPr txBox="1"/>
          <p:nvPr/>
        </p:nvSpPr>
        <p:spPr>
          <a:xfrm>
            <a:off x="6373641" y="3223035"/>
            <a:ext cx="4357735" cy="2308324"/>
          </a:xfrm>
          <a:prstGeom prst="rect">
            <a:avLst/>
          </a:prstGeom>
          <a:noFill/>
        </p:spPr>
        <p:txBody>
          <a:bodyPr wrap="square" rtlCol="0">
            <a:spAutoFit/>
          </a:bodyPr>
          <a:lstStyle/>
          <a:p>
            <a:pPr marL="380990" indent="-380990">
              <a:buFont typeface="Arial" panose="020B0604020202020204" pitchFamily="34" charset="0"/>
              <a:buChar char="•"/>
            </a:pPr>
            <a:r>
              <a:rPr lang="en-US" sz="2400" dirty="0"/>
              <a:t>If a data point does not violate the margin, its hinge loss is 0. </a:t>
            </a:r>
          </a:p>
          <a:p>
            <a:pPr marL="380990" indent="-380990">
              <a:buFont typeface="Arial" panose="020B0604020202020204" pitchFamily="34" charset="0"/>
              <a:buChar char="•"/>
            </a:pPr>
            <a:endParaRPr lang="en-US" sz="2400" dirty="0"/>
          </a:p>
          <a:p>
            <a:pPr marL="380990" indent="-380990">
              <a:buFont typeface="Arial" panose="020B0604020202020204" pitchFamily="34" charset="0"/>
              <a:buChar char="•"/>
            </a:pPr>
            <a:r>
              <a:rPr lang="en-US" sz="2400" dirty="0"/>
              <a:t>If a data point violates the margin, its hinge loss is positive.</a:t>
            </a:r>
          </a:p>
        </p:txBody>
      </p:sp>
      <p:sp>
        <p:nvSpPr>
          <p:cNvPr id="4" name="Title 3"/>
          <p:cNvSpPr>
            <a:spLocks noGrp="1"/>
          </p:cNvSpPr>
          <p:nvPr>
            <p:ph type="title"/>
          </p:nvPr>
        </p:nvSpPr>
        <p:spPr/>
        <p:txBody>
          <a:bodyPr/>
          <a:lstStyle/>
          <a:p>
            <a:r>
              <a:rPr lang="es" b="1" dirty="0">
                <a:ea typeface="Source Sans Pro"/>
                <a:cs typeface="Source Sans Pro"/>
                <a:sym typeface="Source Sans Pro"/>
              </a:rPr>
              <a:t>Hinge Loss Function</a:t>
            </a:r>
            <a:endParaRPr lang="en-US" b="1" dirty="0"/>
          </a:p>
        </p:txBody>
      </p:sp>
    </p:spTree>
    <p:extLst>
      <p:ext uri="{BB962C8B-B14F-4D97-AF65-F5344CB8AC3E}">
        <p14:creationId xmlns:p14="http://schemas.microsoft.com/office/powerpoint/2010/main" val="9073782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t>Kernels</a:t>
            </a: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20787837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4" name="Title 3"/>
          <p:cNvSpPr>
            <a:spLocks noGrp="1"/>
          </p:cNvSpPr>
          <p:nvPr>
            <p:ph type="title"/>
          </p:nvPr>
        </p:nvSpPr>
        <p:spPr/>
        <p:txBody>
          <a:bodyPr/>
          <a:lstStyle/>
          <a:p>
            <a:r>
              <a:rPr lang="es" b="1" dirty="0">
                <a:ea typeface="Source Sans Pro"/>
                <a:cs typeface="Source Sans Pro"/>
                <a:sym typeface="Source Sans Pro"/>
              </a:rPr>
              <a:t>Non-Linear Decision Boundary</a:t>
            </a:r>
            <a:endParaRPr lang="en-US" dirty="0"/>
          </a:p>
        </p:txBody>
      </p:sp>
      <p:sp>
        <p:nvSpPr>
          <p:cNvPr id="3" name="Content Placeholder 2"/>
          <p:cNvSpPr>
            <a:spLocks noGrp="1"/>
          </p:cNvSpPr>
          <p:nvPr>
            <p:ph idx="1"/>
          </p:nvPr>
        </p:nvSpPr>
        <p:spPr>
          <a:noFill/>
          <a:ln>
            <a:noFill/>
          </a:ln>
        </p:spPr>
        <p:style>
          <a:lnRef idx="1">
            <a:schemeClr val="accent2"/>
          </a:lnRef>
          <a:fillRef idx="2">
            <a:schemeClr val="accent2"/>
          </a:fillRef>
          <a:effectRef idx="1">
            <a:schemeClr val="accent2"/>
          </a:effectRef>
          <a:fontRef idx="minor">
            <a:schemeClr val="dk1"/>
          </a:fontRef>
        </p:style>
        <p:txBody>
          <a:bodyPr>
            <a:normAutofit/>
          </a:bodyPr>
          <a:lstStyle/>
          <a:p>
            <a:pPr marL="550320" indent="-380990">
              <a:lnSpc>
                <a:spcPct val="140000"/>
              </a:lnSpc>
              <a:spcBef>
                <a:spcPts val="1333"/>
              </a:spcBef>
              <a:buClr>
                <a:srgbClr val="003B4C"/>
              </a:buClr>
              <a:buSzPct val="100000"/>
            </a:pPr>
            <a:r>
              <a:rPr lang="en-US" sz="2400" dirty="0">
                <a:ea typeface="Source Sans Pro"/>
                <a:cs typeface="Source Sans Pro"/>
                <a:sym typeface="Source Sans Pro"/>
              </a:rPr>
              <a:t>The soft or hard margin classifier, we discussed so far, separate the classes by designing a linear decision boundary.</a:t>
            </a:r>
          </a:p>
          <a:p>
            <a:pPr marL="550320" indent="-380990">
              <a:lnSpc>
                <a:spcPct val="140000"/>
              </a:lnSpc>
              <a:spcBef>
                <a:spcPts val="1333"/>
              </a:spcBef>
              <a:buClr>
                <a:srgbClr val="003B4C"/>
              </a:buClr>
              <a:buSzPct val="100000"/>
            </a:pPr>
            <a:r>
              <a:rPr lang="en-US" sz="2400" dirty="0">
                <a:ea typeface="Source Sans Pro"/>
                <a:cs typeface="Source Sans Pro"/>
                <a:sym typeface="Source Sans Pro"/>
              </a:rPr>
              <a:t>However, data is not always linearly separable. </a:t>
            </a:r>
          </a:p>
          <a:p>
            <a:pPr marL="0" indent="0">
              <a:buNone/>
            </a:pPr>
            <a:endParaRPr lang="en-US" sz="2400" dirty="0"/>
          </a:p>
        </p:txBody>
      </p:sp>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sp>
        <p:nvSpPr>
          <p:cNvPr id="6" name="Rectangle 5"/>
          <p:cNvSpPr/>
          <p:nvPr/>
        </p:nvSpPr>
        <p:spPr>
          <a:xfrm>
            <a:off x="1762760" y="3764526"/>
            <a:ext cx="2788920" cy="24079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400"/>
          </a:p>
        </p:txBody>
      </p:sp>
      <p:sp>
        <p:nvSpPr>
          <p:cNvPr id="2" name="Flowchart: Connector 1"/>
          <p:cNvSpPr/>
          <p:nvPr/>
        </p:nvSpPr>
        <p:spPr>
          <a:xfrm>
            <a:off x="2981960" y="446556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10" name="Flowchart: Connector 9"/>
          <p:cNvSpPr/>
          <p:nvPr/>
        </p:nvSpPr>
        <p:spPr>
          <a:xfrm>
            <a:off x="3169920" y="445540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11" name="Flowchart: Connector 10"/>
          <p:cNvSpPr/>
          <p:nvPr/>
        </p:nvSpPr>
        <p:spPr>
          <a:xfrm>
            <a:off x="3556000" y="449096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12" name="Flowchart: Connector 11"/>
          <p:cNvSpPr/>
          <p:nvPr/>
        </p:nvSpPr>
        <p:spPr>
          <a:xfrm>
            <a:off x="3804920" y="481608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13" name="Flowchart: Connector 12"/>
          <p:cNvSpPr/>
          <p:nvPr/>
        </p:nvSpPr>
        <p:spPr>
          <a:xfrm>
            <a:off x="2849880" y="454684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16" name="Flowchart: Connector 15"/>
          <p:cNvSpPr/>
          <p:nvPr/>
        </p:nvSpPr>
        <p:spPr>
          <a:xfrm>
            <a:off x="2682240" y="492784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17" name="Flowchart: Connector 16"/>
          <p:cNvSpPr/>
          <p:nvPr/>
        </p:nvSpPr>
        <p:spPr>
          <a:xfrm>
            <a:off x="2992120" y="517676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18" name="Flowchart: Connector 17"/>
          <p:cNvSpPr/>
          <p:nvPr/>
        </p:nvSpPr>
        <p:spPr>
          <a:xfrm>
            <a:off x="3302000" y="489228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19" name="Flowchart: Connector 18"/>
          <p:cNvSpPr/>
          <p:nvPr/>
        </p:nvSpPr>
        <p:spPr>
          <a:xfrm>
            <a:off x="3627120" y="527836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20" name="Flowchart: Connector 19"/>
          <p:cNvSpPr/>
          <p:nvPr/>
        </p:nvSpPr>
        <p:spPr>
          <a:xfrm>
            <a:off x="3276600" y="547648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21" name="Flowchart: Connector 20"/>
          <p:cNvSpPr/>
          <p:nvPr/>
        </p:nvSpPr>
        <p:spPr>
          <a:xfrm>
            <a:off x="3007360" y="488720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22" name="Flowchart: Connector 21"/>
          <p:cNvSpPr/>
          <p:nvPr/>
        </p:nvSpPr>
        <p:spPr>
          <a:xfrm>
            <a:off x="2245360" y="443000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23" name="Flowchart: Connector 22"/>
          <p:cNvSpPr/>
          <p:nvPr/>
        </p:nvSpPr>
        <p:spPr>
          <a:xfrm>
            <a:off x="2692400" y="403884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24" name="Flowchart: Connector 23"/>
          <p:cNvSpPr/>
          <p:nvPr/>
        </p:nvSpPr>
        <p:spPr>
          <a:xfrm>
            <a:off x="2301240" y="495832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25" name="Flowchart: Connector 24"/>
          <p:cNvSpPr/>
          <p:nvPr/>
        </p:nvSpPr>
        <p:spPr>
          <a:xfrm>
            <a:off x="2397760" y="542060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26" name="Flowchart: Connector 25"/>
          <p:cNvSpPr/>
          <p:nvPr/>
        </p:nvSpPr>
        <p:spPr>
          <a:xfrm>
            <a:off x="2829560" y="566952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27" name="Flowchart: Connector 26"/>
          <p:cNvSpPr/>
          <p:nvPr/>
        </p:nvSpPr>
        <p:spPr>
          <a:xfrm>
            <a:off x="3931920" y="561364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28" name="Flowchart: Connector 27"/>
          <p:cNvSpPr/>
          <p:nvPr/>
        </p:nvSpPr>
        <p:spPr>
          <a:xfrm>
            <a:off x="3190240" y="394232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29" name="Flowchart: Connector 28"/>
          <p:cNvSpPr/>
          <p:nvPr/>
        </p:nvSpPr>
        <p:spPr>
          <a:xfrm>
            <a:off x="4246880" y="490752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30" name="Flowchart: Connector 29"/>
          <p:cNvSpPr/>
          <p:nvPr/>
        </p:nvSpPr>
        <p:spPr>
          <a:xfrm>
            <a:off x="4008120" y="436396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31" name="Flowchart: Connector 30"/>
          <p:cNvSpPr/>
          <p:nvPr/>
        </p:nvSpPr>
        <p:spPr>
          <a:xfrm>
            <a:off x="3672840" y="398296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32" name="Flowchart: Connector 31"/>
          <p:cNvSpPr/>
          <p:nvPr/>
        </p:nvSpPr>
        <p:spPr>
          <a:xfrm>
            <a:off x="1950720" y="479068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33" name="Flowchart: Connector 32"/>
          <p:cNvSpPr/>
          <p:nvPr/>
        </p:nvSpPr>
        <p:spPr>
          <a:xfrm>
            <a:off x="4145280" y="536980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34" name="Flowchart: Connector 33"/>
          <p:cNvSpPr/>
          <p:nvPr/>
        </p:nvSpPr>
        <p:spPr>
          <a:xfrm>
            <a:off x="3413760" y="588796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53" name="Rectangle 52"/>
          <p:cNvSpPr/>
          <p:nvPr/>
        </p:nvSpPr>
        <p:spPr>
          <a:xfrm>
            <a:off x="5143218" y="3784847"/>
            <a:ext cx="2788920" cy="24079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400"/>
          </a:p>
        </p:txBody>
      </p:sp>
      <p:sp>
        <p:nvSpPr>
          <p:cNvPr id="36" name="Flowchart: Connector 35"/>
          <p:cNvSpPr/>
          <p:nvPr/>
        </p:nvSpPr>
        <p:spPr>
          <a:xfrm>
            <a:off x="5681698" y="438428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37" name="Flowchart: Connector 36"/>
          <p:cNvSpPr/>
          <p:nvPr/>
        </p:nvSpPr>
        <p:spPr>
          <a:xfrm>
            <a:off x="5961098" y="458748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38" name="Flowchart: Connector 37"/>
          <p:cNvSpPr/>
          <p:nvPr/>
        </p:nvSpPr>
        <p:spPr>
          <a:xfrm>
            <a:off x="6011898" y="498880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39" name="Flowchart: Connector 38"/>
          <p:cNvSpPr/>
          <p:nvPr/>
        </p:nvSpPr>
        <p:spPr>
          <a:xfrm>
            <a:off x="6367498" y="499388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40" name="Flowchart: Connector 39"/>
          <p:cNvSpPr/>
          <p:nvPr/>
        </p:nvSpPr>
        <p:spPr>
          <a:xfrm>
            <a:off x="6646898" y="470940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41" name="Flowchart: Connector 40"/>
          <p:cNvSpPr/>
          <p:nvPr/>
        </p:nvSpPr>
        <p:spPr>
          <a:xfrm>
            <a:off x="7032978" y="479068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42" name="Flowchart: Connector 41"/>
          <p:cNvSpPr/>
          <p:nvPr/>
        </p:nvSpPr>
        <p:spPr>
          <a:xfrm>
            <a:off x="7510498" y="4536687"/>
            <a:ext cx="121920" cy="121920"/>
          </a:xfrm>
          <a:prstGeom prst="flowChartConnec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43" name="Flowchart: Connector 42"/>
          <p:cNvSpPr/>
          <p:nvPr/>
        </p:nvSpPr>
        <p:spPr>
          <a:xfrm>
            <a:off x="5290538" y="493800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44" name="Flowchart: Connector 43"/>
          <p:cNvSpPr/>
          <p:nvPr/>
        </p:nvSpPr>
        <p:spPr>
          <a:xfrm>
            <a:off x="5488658" y="530376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45" name="Flowchart: Connector 44"/>
          <p:cNvSpPr/>
          <p:nvPr/>
        </p:nvSpPr>
        <p:spPr>
          <a:xfrm>
            <a:off x="7749258" y="494308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46" name="Flowchart: Connector 45"/>
          <p:cNvSpPr/>
          <p:nvPr/>
        </p:nvSpPr>
        <p:spPr>
          <a:xfrm>
            <a:off x="5757898" y="555776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47" name="Flowchart: Connector 46"/>
          <p:cNvSpPr/>
          <p:nvPr/>
        </p:nvSpPr>
        <p:spPr>
          <a:xfrm>
            <a:off x="6799298" y="547140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48" name="Flowchart: Connector 47"/>
          <p:cNvSpPr/>
          <p:nvPr/>
        </p:nvSpPr>
        <p:spPr>
          <a:xfrm>
            <a:off x="6286218" y="547648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49" name="Flowchart: Connector 48"/>
          <p:cNvSpPr/>
          <p:nvPr/>
        </p:nvSpPr>
        <p:spPr>
          <a:xfrm>
            <a:off x="7373338" y="526820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50" name="Flowchart: Connector 49"/>
          <p:cNvSpPr/>
          <p:nvPr/>
        </p:nvSpPr>
        <p:spPr>
          <a:xfrm>
            <a:off x="5280378" y="4607807"/>
            <a:ext cx="121920" cy="121920"/>
          </a:xfrm>
          <a:prstGeom prst="flowChartConnecto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sp>
        <p:nvSpPr>
          <p:cNvPr id="35" name="TextBox 34"/>
          <p:cNvSpPr txBox="1"/>
          <p:nvPr/>
        </p:nvSpPr>
        <p:spPr>
          <a:xfrm>
            <a:off x="8336280" y="3962400"/>
            <a:ext cx="2682240" cy="1200329"/>
          </a:xfrm>
          <a:prstGeom prst="rect">
            <a:avLst/>
          </a:prstGeom>
          <a:noFill/>
        </p:spPr>
        <p:txBody>
          <a:bodyPr wrap="square" rtlCol="0">
            <a:spAutoFit/>
          </a:bodyPr>
          <a:lstStyle/>
          <a:p>
            <a:r>
              <a:rPr lang="en-US" sz="2400" dirty="0"/>
              <a:t>We need to find a non-linear decision boundary!</a:t>
            </a:r>
          </a:p>
        </p:txBody>
      </p:sp>
    </p:spTree>
    <p:extLst>
      <p:ext uri="{BB962C8B-B14F-4D97-AF65-F5344CB8AC3E}">
        <p14:creationId xmlns:p14="http://schemas.microsoft.com/office/powerpoint/2010/main" val="19031793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Title 2"/>
          <p:cNvSpPr>
            <a:spLocks noGrp="1"/>
          </p:cNvSpPr>
          <p:nvPr>
            <p:ph type="title"/>
          </p:nvPr>
        </p:nvSpPr>
        <p:spPr/>
        <p:txBody>
          <a:bodyPr/>
          <a:lstStyle/>
          <a:p>
            <a:r>
              <a:rPr lang="es" b="1" dirty="0">
                <a:ea typeface="Source Sans Pro"/>
                <a:cs typeface="Source Sans Pro"/>
                <a:sym typeface="Source Sans Pro"/>
              </a:rPr>
              <a:t>Non-Linear Decision Boundary</a:t>
            </a:r>
            <a:endParaRPr lang="en-US" dirty="0"/>
          </a:p>
        </p:txBody>
      </p:sp>
      <p:sp>
        <p:nvSpPr>
          <p:cNvPr id="2" name="Content Placeholder 1"/>
          <p:cNvSpPr>
            <a:spLocks noGrp="1"/>
          </p:cNvSpPr>
          <p:nvPr>
            <p:ph idx="1"/>
          </p:nvPr>
        </p:nvSpPr>
        <p:spPr>
          <a:xfrm>
            <a:off x="838200" y="1825625"/>
            <a:ext cx="6501384" cy="4351338"/>
          </a:xfrm>
        </p:spPr>
        <p:txBody>
          <a:bodyPr>
            <a:normAutofit/>
          </a:bodyPr>
          <a:lstStyle/>
          <a:p>
            <a:pPr>
              <a:lnSpc>
                <a:spcPct val="100000"/>
              </a:lnSpc>
              <a:spcBef>
                <a:spcPts val="1333"/>
              </a:spcBef>
              <a:buSzPct val="100000"/>
            </a:pPr>
            <a:r>
              <a:rPr lang="en-US" sz="2400" dirty="0">
                <a:ea typeface="Source Sans Pro"/>
                <a:cs typeface="Source Sans Pro"/>
                <a:sym typeface="Source Sans Pro"/>
              </a:rPr>
              <a:t>To find a non-linear decision boundary, one solution is to expand the feature space,  i.e., add more features, such as polynomial features:</a:t>
            </a:r>
          </a:p>
          <a:p>
            <a:pPr>
              <a:lnSpc>
                <a:spcPct val="100000"/>
              </a:lnSpc>
              <a:spcBef>
                <a:spcPts val="1333"/>
              </a:spcBef>
              <a:buSzPct val="100000"/>
            </a:pPr>
            <a:endParaRPr lang="en-US" sz="2400" dirty="0">
              <a:ea typeface="Source Sans Pro"/>
              <a:cs typeface="Source Sans Pro"/>
              <a:sym typeface="Source Sans Pro"/>
            </a:endParaRPr>
          </a:p>
          <a:p>
            <a:pPr>
              <a:lnSpc>
                <a:spcPct val="100000"/>
              </a:lnSpc>
              <a:spcBef>
                <a:spcPts val="1333"/>
              </a:spcBef>
              <a:buSzPct val="100000"/>
            </a:pPr>
            <a:endParaRPr lang="en-US" sz="2400" dirty="0">
              <a:ea typeface="Source Sans Pro"/>
              <a:cs typeface="Source Sans Pro"/>
              <a:sym typeface="Source Sans Pro"/>
            </a:endParaRPr>
          </a:p>
          <a:p>
            <a:pPr>
              <a:buNone/>
            </a:pPr>
            <a:endParaRPr lang="en-US" sz="2400" dirty="0"/>
          </a:p>
        </p:txBody>
      </p:sp>
      <p:sp>
        <p:nvSpPr>
          <p:cNvPr id="193" name="Google Shape;193;p44"/>
          <p:cNvSpPr txBox="1"/>
          <p:nvPr/>
        </p:nvSpPr>
        <p:spPr>
          <a:xfrm>
            <a:off x="2295767" y="2611621"/>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pic>
        <p:nvPicPr>
          <p:cNvPr id="4" name="Picture 3"/>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636332" y="3286028"/>
            <a:ext cx="4905119" cy="285943"/>
          </a:xfrm>
          <a:prstGeom prst="rect">
            <a:avLst/>
          </a:prstGeom>
        </p:spPr>
      </p:pic>
    </p:spTree>
    <p:extLst>
      <p:ext uri="{BB962C8B-B14F-4D97-AF65-F5344CB8AC3E}">
        <p14:creationId xmlns:p14="http://schemas.microsoft.com/office/powerpoint/2010/main" val="273401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Title 2"/>
          <p:cNvSpPr>
            <a:spLocks noGrp="1"/>
          </p:cNvSpPr>
          <p:nvPr>
            <p:ph type="title"/>
          </p:nvPr>
        </p:nvSpPr>
        <p:spPr/>
        <p:txBody>
          <a:bodyPr/>
          <a:lstStyle/>
          <a:p>
            <a:r>
              <a:rPr lang="es" b="1" dirty="0">
                <a:ea typeface="Source Sans Pro"/>
                <a:cs typeface="Source Sans Pro"/>
                <a:sym typeface="Source Sans Pro"/>
              </a:rPr>
              <a:t>Non-Linear Decision Boundary</a:t>
            </a:r>
            <a:endParaRPr lang="en-US" dirty="0"/>
          </a:p>
        </p:txBody>
      </p:sp>
      <p:sp>
        <p:nvSpPr>
          <p:cNvPr id="2" name="Content Placeholder 1"/>
          <p:cNvSpPr>
            <a:spLocks noGrp="1"/>
          </p:cNvSpPr>
          <p:nvPr>
            <p:ph idx="1"/>
          </p:nvPr>
        </p:nvSpPr>
        <p:spPr>
          <a:xfrm>
            <a:off x="838200" y="1825625"/>
            <a:ext cx="6501384" cy="4351338"/>
          </a:xfrm>
        </p:spPr>
        <p:txBody>
          <a:bodyPr>
            <a:normAutofit fontScale="92500" lnSpcReduction="10000"/>
          </a:bodyPr>
          <a:lstStyle/>
          <a:p>
            <a:pPr>
              <a:lnSpc>
                <a:spcPct val="100000"/>
              </a:lnSpc>
              <a:spcBef>
                <a:spcPts val="1333"/>
              </a:spcBef>
              <a:buSzPct val="100000"/>
            </a:pPr>
            <a:r>
              <a:rPr lang="en-US" sz="2400" dirty="0">
                <a:ea typeface="Source Sans Pro"/>
                <a:cs typeface="Source Sans Pro"/>
                <a:sym typeface="Source Sans Pro"/>
              </a:rPr>
              <a:t>To find a non-linear decision boundary, one solution is to expand the feature space,  i.e., add more features, such as polynomial features:</a:t>
            </a:r>
          </a:p>
          <a:p>
            <a:pPr>
              <a:lnSpc>
                <a:spcPct val="100000"/>
              </a:lnSpc>
              <a:spcBef>
                <a:spcPts val="1333"/>
              </a:spcBef>
              <a:buSzPct val="100000"/>
            </a:pPr>
            <a:endParaRPr lang="en-US" sz="2400" dirty="0">
              <a:ea typeface="Source Sans Pro"/>
              <a:cs typeface="Source Sans Pro"/>
              <a:sym typeface="Source Sans Pro"/>
            </a:endParaRPr>
          </a:p>
          <a:p>
            <a:pPr>
              <a:lnSpc>
                <a:spcPct val="100000"/>
              </a:lnSpc>
              <a:spcBef>
                <a:spcPts val="1333"/>
              </a:spcBef>
              <a:buSzPct val="100000"/>
            </a:pPr>
            <a:endParaRPr lang="en-US" sz="2400" dirty="0">
              <a:ea typeface="Source Sans Pro"/>
              <a:cs typeface="Source Sans Pro"/>
              <a:sym typeface="Source Sans Pro"/>
            </a:endParaRPr>
          </a:p>
          <a:p>
            <a:pPr>
              <a:lnSpc>
                <a:spcPct val="100000"/>
              </a:lnSpc>
              <a:spcBef>
                <a:spcPts val="1333"/>
              </a:spcBef>
              <a:buSzPct val="100000"/>
            </a:pPr>
            <a:r>
              <a:rPr lang="en-US" sz="2400" dirty="0">
                <a:ea typeface="Source Sans Pro"/>
                <a:cs typeface="Source Sans Pro"/>
                <a:sym typeface="Source Sans Pro"/>
              </a:rPr>
              <a:t>In some cases, this can result in moving the data to a higher dimensional space where the data is linearly separable. </a:t>
            </a:r>
          </a:p>
          <a:p>
            <a:pPr>
              <a:lnSpc>
                <a:spcPct val="100000"/>
              </a:lnSpc>
              <a:spcBef>
                <a:spcPts val="1333"/>
              </a:spcBef>
              <a:buSzPct val="100000"/>
            </a:pPr>
            <a:r>
              <a:rPr lang="en-US" sz="2400" dirty="0">
                <a:ea typeface="Source Sans Pro"/>
                <a:cs typeface="Source Sans Pro"/>
                <a:sym typeface="Source Sans Pro"/>
              </a:rPr>
              <a:t>One problem with polynomial features is that we could end up with a huge number of features, which would make computations slow or unmanageable.</a:t>
            </a:r>
          </a:p>
          <a:p>
            <a:pPr>
              <a:buNone/>
            </a:pPr>
            <a:endParaRPr lang="en-US" sz="2400" dirty="0"/>
          </a:p>
        </p:txBody>
      </p:sp>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sp>
        <p:nvSpPr>
          <p:cNvPr id="52" name="Google Shape;287;p27"/>
          <p:cNvSpPr/>
          <p:nvPr/>
        </p:nvSpPr>
        <p:spPr>
          <a:xfrm>
            <a:off x="7486394" y="2288574"/>
            <a:ext cx="4421636" cy="2465851"/>
          </a:xfrm>
          <a:prstGeom prst="rect">
            <a:avLst/>
          </a:prstGeom>
          <a:blipFill rotWithShape="1">
            <a:blip r:embed="rId4">
              <a:alphaModFix/>
            </a:blip>
            <a:stretch>
              <a:fillRect/>
            </a:stretch>
          </a:blipFill>
          <a:ln>
            <a:noFill/>
          </a:ln>
        </p:spPr>
        <p:txBody>
          <a:bodyPr spcFirstLastPara="1" wrap="square" lIns="60933" tIns="60933" rIns="60933" bIns="60933" anchor="ctr" anchorCtr="0">
            <a:noAutofit/>
          </a:bodyPr>
          <a:lstStyle/>
          <a:p>
            <a:pPr>
              <a:buClr>
                <a:srgbClr val="4285F4"/>
              </a:buClr>
              <a:buSzPts val="1400"/>
            </a:pPr>
            <a:endParaRPr sz="1867">
              <a:solidFill>
                <a:srgbClr val="4285F4"/>
              </a:solidFill>
              <a:latin typeface="Helvetica Neue"/>
              <a:ea typeface="Helvetica Neue"/>
              <a:cs typeface="Helvetica Neue"/>
              <a:sym typeface="Helvetica Neue"/>
            </a:endParaRPr>
          </a:p>
        </p:txBody>
      </p:sp>
      <p:pic>
        <p:nvPicPr>
          <p:cNvPr id="4" name="Picture 3"/>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1636332" y="3053500"/>
            <a:ext cx="4905119" cy="285943"/>
          </a:xfrm>
          <a:prstGeom prst="rect">
            <a:avLst/>
          </a:prstGeom>
        </p:spPr>
      </p:pic>
      <p:sp>
        <p:nvSpPr>
          <p:cNvPr id="14" name="TextBox 13"/>
          <p:cNvSpPr txBox="1"/>
          <p:nvPr/>
        </p:nvSpPr>
        <p:spPr>
          <a:xfrm>
            <a:off x="9149601" y="4881070"/>
            <a:ext cx="1935480" cy="297454"/>
          </a:xfrm>
          <a:prstGeom prst="rect">
            <a:avLst/>
          </a:prstGeom>
          <a:noFill/>
        </p:spPr>
        <p:txBody>
          <a:bodyPr wrap="square" rtlCol="0">
            <a:spAutoFit/>
          </a:bodyPr>
          <a:lstStyle/>
          <a:p>
            <a:r>
              <a:rPr lang="en-US" sz="1333" dirty="0">
                <a:latin typeface="Source Sans Pro" panose="020B0604020202020204" charset="0"/>
                <a:hlinkClick r:id="rId6"/>
              </a:rPr>
              <a:t>Image credit</a:t>
            </a:r>
            <a:endParaRPr lang="en-US" sz="1333" dirty="0">
              <a:latin typeface="Source Sans Pro" panose="020B0604020202020204" charset="0"/>
            </a:endParaRPr>
          </a:p>
        </p:txBody>
      </p:sp>
    </p:spTree>
    <p:extLst>
      <p:ext uri="{BB962C8B-B14F-4D97-AF65-F5344CB8AC3E}">
        <p14:creationId xmlns:p14="http://schemas.microsoft.com/office/powerpoint/2010/main" val="16847622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pPr marL="550320" indent="-380990">
              <a:lnSpc>
                <a:spcPct val="140000"/>
              </a:lnSpc>
              <a:spcBef>
                <a:spcPts val="1333"/>
              </a:spcBef>
              <a:buSzPct val="100000"/>
            </a:pPr>
            <a:r>
              <a:rPr lang="en-US" dirty="0">
                <a:ea typeface="Source Sans Pro"/>
                <a:cs typeface="Source Sans Pro"/>
                <a:sym typeface="Source Sans Pro"/>
              </a:rPr>
              <a:t>We saw that we can find the soft margin classifier by solving the dual form:</a:t>
            </a:r>
          </a:p>
          <a:p>
            <a:pPr marL="169330" indent="0">
              <a:lnSpc>
                <a:spcPct val="140000"/>
              </a:lnSpc>
              <a:spcBef>
                <a:spcPts val="1333"/>
              </a:spcBef>
              <a:buSzPct val="100000"/>
              <a:buNone/>
            </a:pPr>
            <a:endParaRPr lang="en-US" dirty="0">
              <a:ea typeface="Source Sans Pro"/>
              <a:cs typeface="Source Sans Pro"/>
              <a:sym typeface="Source Sans Pro"/>
            </a:endParaRPr>
          </a:p>
          <a:p>
            <a:pPr marL="550320" indent="-380990">
              <a:lnSpc>
                <a:spcPct val="140000"/>
              </a:lnSpc>
              <a:spcBef>
                <a:spcPts val="1333"/>
              </a:spcBef>
              <a:buSzPct val="100000"/>
            </a:pPr>
            <a:r>
              <a:rPr lang="en-US" dirty="0">
                <a:ea typeface="Source Sans Pro"/>
                <a:cs typeface="Source Sans Pro"/>
                <a:sym typeface="Source Sans Pro"/>
              </a:rPr>
              <a:t>This form involves the computation of the dot product:</a:t>
            </a:r>
          </a:p>
          <a:p>
            <a:pPr marL="550320" indent="-380990">
              <a:lnSpc>
                <a:spcPct val="140000"/>
              </a:lnSpc>
              <a:spcBef>
                <a:spcPts val="1333"/>
              </a:spcBef>
              <a:buSzPct val="100000"/>
            </a:pPr>
            <a:r>
              <a:rPr lang="en-US" dirty="0">
                <a:ea typeface="Source Sans Pro"/>
                <a:cs typeface="Source Sans Pro"/>
                <a:sym typeface="Source Sans Pro"/>
              </a:rPr>
              <a:t>Let’s assume that we’ve expanded the feature space in our data by applying a feature mapping denoted by        :                    .</a:t>
            </a:r>
          </a:p>
          <a:p>
            <a:pPr marL="550320" indent="-380990">
              <a:lnSpc>
                <a:spcPct val="140000"/>
              </a:lnSpc>
              <a:spcBef>
                <a:spcPts val="1333"/>
              </a:spcBef>
              <a:buSzPct val="100000"/>
            </a:pPr>
            <a:r>
              <a:rPr lang="en-US" dirty="0">
                <a:ea typeface="Source Sans Pro"/>
                <a:cs typeface="Source Sans Pro"/>
                <a:sym typeface="Source Sans Pro"/>
              </a:rPr>
              <a:t>Then all we need to do is to replace each dot product with the new transformed features:</a:t>
            </a:r>
          </a:p>
          <a:p>
            <a:pPr marL="169329">
              <a:lnSpc>
                <a:spcPct val="140000"/>
              </a:lnSpc>
              <a:spcBef>
                <a:spcPts val="1333"/>
              </a:spcBef>
              <a:buClr>
                <a:srgbClr val="003B4C"/>
              </a:buClr>
              <a:buSzPct val="100000"/>
            </a:pPr>
            <a:endParaRPr lang="en-US" dirty="0">
              <a:solidFill>
                <a:srgbClr val="003B4C"/>
              </a:solidFill>
              <a:latin typeface="Source Sans Pro"/>
              <a:ea typeface="Source Sans Pro"/>
              <a:cs typeface="Source Sans Pro"/>
              <a:sym typeface="Source Sans Pro"/>
            </a:endParaRPr>
          </a:p>
          <a:p>
            <a:pPr marL="550320" indent="-380990">
              <a:lnSpc>
                <a:spcPct val="140000"/>
              </a:lnSpc>
              <a:spcBef>
                <a:spcPts val="1333"/>
              </a:spcBef>
              <a:buClr>
                <a:srgbClr val="003B4C"/>
              </a:buClr>
              <a:buSzPct val="100000"/>
            </a:pPr>
            <a:endParaRPr lang="en-US" dirty="0">
              <a:solidFill>
                <a:srgbClr val="003B4C"/>
              </a:solidFill>
              <a:latin typeface="Source Sans Pro"/>
              <a:ea typeface="Source Sans Pro"/>
              <a:cs typeface="Source Sans Pro"/>
              <a:sym typeface="Source Sans Pro"/>
            </a:endParaRPr>
          </a:p>
          <a:p>
            <a:pPr marL="169329">
              <a:lnSpc>
                <a:spcPct val="140000"/>
              </a:lnSpc>
              <a:spcBef>
                <a:spcPts val="1333"/>
              </a:spcBef>
              <a:buClr>
                <a:srgbClr val="003B4C"/>
              </a:buClr>
              <a:buSzPct val="100000"/>
            </a:pPr>
            <a:endParaRPr lang="en-US" dirty="0">
              <a:solidFill>
                <a:srgbClr val="003B4C"/>
              </a:solidFill>
              <a:latin typeface="Source Sans Pro"/>
              <a:ea typeface="Source Sans Pro"/>
              <a:cs typeface="Source Sans Pro"/>
              <a:sym typeface="Source Sans Pro"/>
            </a:endParaRPr>
          </a:p>
          <a:p>
            <a:pPr marL="169329">
              <a:lnSpc>
                <a:spcPct val="140000"/>
              </a:lnSpc>
              <a:spcBef>
                <a:spcPts val="1333"/>
              </a:spcBef>
              <a:buClr>
                <a:srgbClr val="003B4C"/>
              </a:buClr>
              <a:buSzPct val="100000"/>
            </a:pPr>
            <a:endParaRPr lang="en-US" dirty="0">
              <a:solidFill>
                <a:srgbClr val="003B4C"/>
              </a:solidFill>
              <a:latin typeface="Source Sans Pro"/>
              <a:ea typeface="Source Sans Pro"/>
              <a:cs typeface="Source Sans Pro"/>
              <a:sym typeface="Source Sans Pro"/>
            </a:endParaRPr>
          </a:p>
          <a:p>
            <a:pPr marL="0" indent="0">
              <a:buNone/>
            </a:pPr>
            <a:endParaRPr lang="en-US" dirty="0"/>
          </a:p>
        </p:txBody>
      </p:sp>
      <p:pic>
        <p:nvPicPr>
          <p:cNvPr id="5" name="Picture 4"/>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5161921" y="4449155"/>
            <a:ext cx="126611" cy="211967"/>
          </a:xfrm>
          <a:prstGeom prst="rect">
            <a:avLst/>
          </a:prstGeom>
        </p:spPr>
      </p:pic>
      <p:pic>
        <p:nvPicPr>
          <p:cNvPr id="4" name="Picture 3"/>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5816830" y="4449155"/>
            <a:ext cx="998360" cy="253020"/>
          </a:xfrm>
          <a:prstGeom prst="rect">
            <a:avLst/>
          </a:prstGeom>
        </p:spPr>
      </p:pic>
      <p:pic>
        <p:nvPicPr>
          <p:cNvPr id="9" name="Picture 8"/>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3637080" y="2383234"/>
            <a:ext cx="4710224" cy="680003"/>
          </a:xfrm>
          <a:prstGeom prst="rect">
            <a:avLst/>
          </a:prstGeom>
        </p:spPr>
      </p:pic>
      <p:pic>
        <p:nvPicPr>
          <p:cNvPr id="10" name="Picture 9"/>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8347304" y="3241968"/>
            <a:ext cx="983016" cy="280252"/>
          </a:xfrm>
          <a:prstGeom prst="rect">
            <a:avLst/>
          </a:prstGeom>
        </p:spPr>
      </p:pic>
      <p:pic>
        <p:nvPicPr>
          <p:cNvPr id="13" name="Picture 12"/>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4369741" y="5499067"/>
            <a:ext cx="4890897" cy="280252"/>
          </a:xfrm>
          <a:prstGeom prst="rect">
            <a:avLst/>
          </a:prstGeom>
        </p:spPr>
      </p:pic>
      <p:sp>
        <p:nvSpPr>
          <p:cNvPr id="3" name="Title 2"/>
          <p:cNvSpPr>
            <a:spLocks noGrp="1"/>
          </p:cNvSpPr>
          <p:nvPr>
            <p:ph type="title"/>
          </p:nvPr>
        </p:nvSpPr>
        <p:spPr/>
        <p:txBody>
          <a:bodyPr/>
          <a:lstStyle/>
          <a:p>
            <a:r>
              <a:rPr lang="en-US" b="1" dirty="0"/>
              <a:t>Kernel Trick</a:t>
            </a:r>
          </a:p>
        </p:txBody>
      </p:sp>
    </p:spTree>
    <p:extLst>
      <p:ext uri="{BB962C8B-B14F-4D97-AF65-F5344CB8AC3E}">
        <p14:creationId xmlns:p14="http://schemas.microsoft.com/office/powerpoint/2010/main" val="22785802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a:lnSpc>
                <a:spcPct val="120000"/>
              </a:lnSpc>
              <a:spcBef>
                <a:spcPts val="1200"/>
              </a:spcBef>
              <a:buSzPct val="100000"/>
            </a:pPr>
            <a:r>
              <a:rPr lang="en-US" dirty="0">
                <a:ea typeface="Source Sans Pro"/>
                <a:cs typeface="Source Sans Pro"/>
                <a:sym typeface="Source Sans Pro"/>
              </a:rPr>
              <a:t>For a given feature mapping       ,  let’s define its corresponding kernel function as follows:</a:t>
            </a:r>
          </a:p>
          <a:p>
            <a:pPr>
              <a:lnSpc>
                <a:spcPct val="120000"/>
              </a:lnSpc>
              <a:spcBef>
                <a:spcPts val="1200"/>
              </a:spcBef>
              <a:buSzPct val="100000"/>
            </a:pPr>
            <a:endParaRPr lang="en-US" dirty="0">
              <a:ea typeface="Source Sans Pro"/>
              <a:cs typeface="Source Sans Pro"/>
              <a:sym typeface="Source Sans Pro"/>
            </a:endParaRPr>
          </a:p>
          <a:p>
            <a:pPr>
              <a:lnSpc>
                <a:spcPct val="120000"/>
              </a:lnSpc>
              <a:spcBef>
                <a:spcPts val="1200"/>
              </a:spcBef>
              <a:buSzPct val="100000"/>
            </a:pPr>
            <a:r>
              <a:rPr lang="en-US" dirty="0">
                <a:ea typeface="Source Sans Pro"/>
                <a:cs typeface="Source Sans Pro"/>
                <a:sym typeface="Source Sans Pro"/>
              </a:rPr>
              <a:t>To find the dot product of the transformed features, we could first transform the features and then compute the dot product. But finding the transformed features can be expensive, especially in higher dimensional space.</a:t>
            </a:r>
          </a:p>
          <a:p>
            <a:pPr>
              <a:lnSpc>
                <a:spcPct val="120000"/>
              </a:lnSpc>
              <a:spcBef>
                <a:spcPts val="1200"/>
              </a:spcBef>
              <a:buSzPct val="100000"/>
            </a:pPr>
            <a:r>
              <a:rPr lang="en-US" dirty="0">
                <a:ea typeface="Source Sans Pro"/>
                <a:cs typeface="Source Sans Pro"/>
                <a:sym typeface="Source Sans Pro"/>
              </a:rPr>
              <a:t>What is interesting is that for  a given feature mapping       ,  if we know the closed-form of the kernel function (which might be inexpensive to compute), we can directly compute the kernel function without the need to do feature mapping.</a:t>
            </a:r>
          </a:p>
        </p:txBody>
      </p:sp>
      <p:pic>
        <p:nvPicPr>
          <p:cNvPr id="2" name="Picture 1"/>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4215984" y="2659640"/>
            <a:ext cx="3891542" cy="365760"/>
          </a:xfrm>
          <a:prstGeom prst="rect">
            <a:avLst/>
          </a:prstGeom>
        </p:spPr>
      </p:pic>
      <p:pic>
        <p:nvPicPr>
          <p:cNvPr id="6" name="Picture 5"/>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4779686" y="1936463"/>
            <a:ext cx="182880" cy="306169"/>
          </a:xfrm>
          <a:prstGeom prst="rect">
            <a:avLst/>
          </a:prstGeom>
        </p:spPr>
      </p:pic>
      <p:pic>
        <p:nvPicPr>
          <p:cNvPr id="15" name="Picture 14"/>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8043088" y="4604130"/>
            <a:ext cx="163856" cy="274320"/>
          </a:xfrm>
          <a:prstGeom prst="rect">
            <a:avLst/>
          </a:prstGeom>
        </p:spPr>
      </p:pic>
      <p:sp>
        <p:nvSpPr>
          <p:cNvPr id="4" name="Title 3"/>
          <p:cNvSpPr>
            <a:spLocks noGrp="1"/>
          </p:cNvSpPr>
          <p:nvPr>
            <p:ph type="title"/>
          </p:nvPr>
        </p:nvSpPr>
        <p:spPr/>
        <p:txBody>
          <a:bodyPr/>
          <a:lstStyle/>
          <a:p>
            <a:r>
              <a:rPr lang="en-US" b="1" dirty="0"/>
              <a:t>Kernel Trick</a:t>
            </a:r>
          </a:p>
        </p:txBody>
      </p:sp>
    </p:spTree>
    <p:extLst>
      <p:ext uri="{BB962C8B-B14F-4D97-AF65-F5344CB8AC3E}">
        <p14:creationId xmlns:p14="http://schemas.microsoft.com/office/powerpoint/2010/main" val="5492489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normAutofit fontScale="92500" lnSpcReduction="10000"/>
          </a:bodyPr>
          <a:lstStyle/>
          <a:p>
            <a:r>
              <a:rPr lang="en-US" dirty="0"/>
              <a:t>Let’s assume the following feature mapping:</a:t>
            </a:r>
          </a:p>
          <a:p>
            <a:endParaRPr lang="en-US" dirty="0"/>
          </a:p>
          <a:p>
            <a:endParaRPr lang="en-US" dirty="0"/>
          </a:p>
          <a:p>
            <a:pPr marL="0" indent="0">
              <a:buNone/>
            </a:pPr>
            <a:endParaRPr lang="en-US" dirty="0"/>
          </a:p>
          <a:p>
            <a:r>
              <a:rPr lang="en-US" dirty="0"/>
              <a:t>When doing feature transformation, the dot product in the dual form will be replaced with the dot product of the transformed features:</a:t>
            </a:r>
          </a:p>
          <a:p>
            <a:endParaRPr lang="en-US" dirty="0"/>
          </a:p>
          <a:p>
            <a:endParaRPr lang="en-US" dirty="0"/>
          </a:p>
          <a:p>
            <a:r>
              <a:rPr lang="en-US" dirty="0"/>
              <a:t>For this particular transformation, what is                             ? Does it have a closed form? </a:t>
            </a:r>
          </a:p>
          <a:p>
            <a:endParaRPr lang="en-US" dirty="0"/>
          </a:p>
          <a:p>
            <a:endParaRPr lang="en-US" dirty="0"/>
          </a:p>
          <a:p>
            <a:pPr marL="0" indent="0">
              <a:buNone/>
            </a:pPr>
            <a:endParaRPr lang="en-US" dirty="0"/>
          </a:p>
          <a:p>
            <a:pPr marL="0" indent="0">
              <a:buNone/>
            </a:pPr>
            <a:endParaRPr lang="en-US" dirty="0"/>
          </a:p>
        </p:txBody>
      </p:sp>
      <p:pic>
        <p:nvPicPr>
          <p:cNvPr id="14" name="Picture 13" descr="\documentclass{article}&#10;\usepackage{amsmath}&#10;\pagestyle{empty}&#10;\begin{document}&#10;&#10;\[\phi(x) = \phi\left(\left[  \begin{array}{c}&#10;x_1 \\&#10;x_2  &#10; \end{array} \right]\right)= \left[  \begin{array}{c}&#10;x_1^2 \\&#10;x_2^2  \\&#10;\sqrt{2}x_1^2x_2^2  \end{array} \right]\] &#10;&#10;&#10;&#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2811852" y="2446983"/>
            <a:ext cx="4480560" cy="1060904"/>
          </a:xfrm>
          <a:prstGeom prst="rect">
            <a:avLst/>
          </a:prstGeom>
        </p:spPr>
      </p:pic>
      <p:pic>
        <p:nvPicPr>
          <p:cNvPr id="15" name="Picture 14"/>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2144587" y="4476665"/>
            <a:ext cx="6383164" cy="365760"/>
          </a:xfrm>
          <a:prstGeom prst="rect">
            <a:avLst/>
          </a:prstGeom>
        </p:spPr>
      </p:pic>
      <p:pic>
        <p:nvPicPr>
          <p:cNvPr id="17" name="Picture 16" descr="\documentclass{article}&#10;\usepackage{amsmath}&#10;\newcommand{\norm}[1]{\left\lVert#1\right\rVert}&#10;&#10;\pagestyle{empty}&#10;\begin{document}&#10;&#10;&#10;\begin{equation*}&#10;\begin{aligned}&#10;\phi(x^{(i)})^T\phi(x^{(j)}) &#10;\end{aligned}&#10;\end{equation*}&#10;&#10;\end{document}" title="IguanaTex Bitmap Display"/>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6872282" y="5240315"/>
            <a:ext cx="1968049" cy="365760"/>
          </a:xfrm>
          <a:prstGeom prst="rect">
            <a:avLst/>
          </a:prstGeom>
        </p:spPr>
      </p:pic>
    </p:spTree>
    <p:extLst>
      <p:ext uri="{BB962C8B-B14F-4D97-AF65-F5344CB8AC3E}">
        <p14:creationId xmlns:p14="http://schemas.microsoft.com/office/powerpoint/2010/main" val="31029276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lstStyle/>
          <a:p>
            <a:r>
              <a:rPr lang="en-US" dirty="0"/>
              <a:t>It turns out that:</a:t>
            </a:r>
          </a:p>
          <a:p>
            <a:endParaRPr lang="en-US" dirty="0"/>
          </a:p>
          <a:p>
            <a:endParaRPr lang="en-US" dirty="0"/>
          </a:p>
          <a:p>
            <a:r>
              <a:rPr lang="en-US" dirty="0"/>
              <a:t>So instead of finding each transformed feature and then finding their dot product, we can directly compute the above closed-form.</a:t>
            </a:r>
          </a:p>
          <a:p>
            <a:pPr marL="0" indent="0">
              <a:buNone/>
            </a:pPr>
            <a:endParaRPr lang="en-US" dirty="0"/>
          </a:p>
        </p:txBody>
      </p:sp>
      <p:pic>
        <p:nvPicPr>
          <p:cNvPr id="11" name="Picture 10" descr="\documentclass{article}&#10;\usepackage{amsmath}&#10;\newcommand{\norm}[1]{\left\lVert#1\right\rVert}&#10;&#10;\pagestyle{empty}&#10;\begin{document}&#10;&#10;&#10;\begin{equation*}&#10;\begin{aligned}&#10;\phi(x^{(i)})^T\phi(x^{(j)}) = ({x^{(i)}} \cdot x^{(j)})^2 &#10;\end{aligned}&#10;\end{equation*}&#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238500" y="2484759"/>
            <a:ext cx="3952807" cy="365760"/>
          </a:xfrm>
          <a:prstGeom prst="rect">
            <a:avLst/>
          </a:prstGeom>
        </p:spPr>
      </p:pic>
    </p:spTree>
    <p:extLst>
      <p:ext uri="{BB962C8B-B14F-4D97-AF65-F5344CB8AC3E}">
        <p14:creationId xmlns:p14="http://schemas.microsoft.com/office/powerpoint/2010/main" val="29763817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Title 2"/>
          <p:cNvSpPr>
            <a:spLocks noGrp="1"/>
          </p:cNvSpPr>
          <p:nvPr>
            <p:ph type="title"/>
          </p:nvPr>
        </p:nvSpPr>
        <p:spPr/>
        <p:txBody>
          <a:bodyPr/>
          <a:lstStyle/>
          <a:p>
            <a:r>
              <a:rPr lang="es" b="1" dirty="0">
                <a:ea typeface="Source Sans Pro"/>
                <a:cs typeface="Source Sans Pro"/>
                <a:sym typeface="Source Sans Pro"/>
              </a:rPr>
              <a:t>Kernelized SVM</a:t>
            </a:r>
            <a:endParaRPr lang="en-US" dirty="0"/>
          </a:p>
        </p:txBody>
      </p:sp>
      <p:sp>
        <p:nvSpPr>
          <p:cNvPr id="2" name="Content Placeholder 1"/>
          <p:cNvSpPr>
            <a:spLocks noGrp="1"/>
          </p:cNvSpPr>
          <p:nvPr>
            <p:ph idx="1"/>
          </p:nvPr>
        </p:nvSpPr>
        <p:spPr/>
        <p:txBody>
          <a:bodyPr>
            <a:normAutofit/>
          </a:bodyPr>
          <a:lstStyle/>
          <a:p>
            <a:pPr marL="550320" indent="-380990">
              <a:lnSpc>
                <a:spcPct val="110000"/>
              </a:lnSpc>
              <a:spcBef>
                <a:spcPts val="1333"/>
              </a:spcBef>
              <a:buSzPct val="100000"/>
            </a:pPr>
            <a:r>
              <a:rPr lang="en-US" sz="2400" dirty="0">
                <a:ea typeface="Source Sans Pro"/>
                <a:cs typeface="Source Sans Pro"/>
                <a:sym typeface="Source Sans Pro"/>
              </a:rPr>
              <a:t>The kernel trick consists of replacing each dot product in the dual formulation of SVM with a kernel function of our choice.</a:t>
            </a:r>
          </a:p>
          <a:p>
            <a:pPr marL="550320" indent="-380990">
              <a:lnSpc>
                <a:spcPct val="110000"/>
              </a:lnSpc>
              <a:spcBef>
                <a:spcPts val="1333"/>
              </a:spcBef>
              <a:buSzPct val="100000"/>
            </a:pPr>
            <a:r>
              <a:rPr lang="en-US" sz="2400" dirty="0">
                <a:ea typeface="Source Sans Pro"/>
                <a:cs typeface="Source Sans Pro"/>
                <a:sym typeface="Source Sans Pro"/>
              </a:rPr>
              <a:t>We can use any kernel function as long as there exists some feature mapping      such that:</a:t>
            </a:r>
          </a:p>
          <a:p>
            <a:pPr marL="550320" indent="-380990">
              <a:lnSpc>
                <a:spcPct val="110000"/>
              </a:lnSpc>
              <a:spcBef>
                <a:spcPts val="1333"/>
              </a:spcBef>
              <a:buSzPct val="100000"/>
            </a:pPr>
            <a:endParaRPr lang="en-US" sz="2400" dirty="0">
              <a:ea typeface="Source Sans Pro"/>
              <a:cs typeface="Source Sans Pro"/>
              <a:sym typeface="Source Sans Pro"/>
            </a:endParaRPr>
          </a:p>
          <a:p>
            <a:pPr marL="550320" indent="-380990">
              <a:lnSpc>
                <a:spcPct val="110000"/>
              </a:lnSpc>
              <a:spcBef>
                <a:spcPts val="1333"/>
              </a:spcBef>
              <a:buSzPct val="100000"/>
            </a:pPr>
            <a:r>
              <a:rPr lang="en-US" sz="2400" dirty="0">
                <a:ea typeface="Source Sans Pro"/>
                <a:cs typeface="Source Sans Pro"/>
                <a:sym typeface="Source Sans Pro"/>
              </a:rPr>
              <a:t>This allows </a:t>
            </a:r>
            <a:r>
              <a:rPr lang="en-GB" sz="2400" dirty="0"/>
              <a:t>SVMs to learn in the high dimensional feature space given by      ,  but without ever having to explicitly find</a:t>
            </a:r>
            <a:r>
              <a:rPr lang="en-US" sz="2400" dirty="0"/>
              <a:t>  .</a:t>
            </a:r>
          </a:p>
        </p:txBody>
      </p:sp>
      <p:pic>
        <p:nvPicPr>
          <p:cNvPr id="10" name="Picture 9"/>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1035494" y="2897599"/>
            <a:ext cx="182880" cy="306169"/>
          </a:xfrm>
          <a:prstGeom prst="rect">
            <a:avLst/>
          </a:prstGeom>
        </p:spPr>
      </p:pic>
      <p:pic>
        <p:nvPicPr>
          <p:cNvPr id="4" name="Picture 3"/>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6622840" y="4867507"/>
            <a:ext cx="548640" cy="303581"/>
          </a:xfrm>
          <a:prstGeom prst="rect">
            <a:avLst/>
          </a:prstGeom>
        </p:spPr>
      </p:pic>
      <p:pic>
        <p:nvPicPr>
          <p:cNvPr id="13" name="Picture 12"/>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10502094" y="4437611"/>
            <a:ext cx="182880" cy="306169"/>
          </a:xfrm>
          <a:prstGeom prst="rect">
            <a:avLst/>
          </a:prstGeom>
        </p:spPr>
      </p:pic>
      <p:pic>
        <p:nvPicPr>
          <p:cNvPr id="14" name="Picture 13"/>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4175731" y="3552238"/>
            <a:ext cx="3291840" cy="309394"/>
          </a:xfrm>
          <a:prstGeom prst="rect">
            <a:avLst/>
          </a:prstGeom>
        </p:spPr>
      </p:pic>
    </p:spTree>
    <p:extLst>
      <p:ext uri="{BB962C8B-B14F-4D97-AF65-F5344CB8AC3E}">
        <p14:creationId xmlns:p14="http://schemas.microsoft.com/office/powerpoint/2010/main" val="1102404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Title 2"/>
          <p:cNvSpPr>
            <a:spLocks noGrp="1"/>
          </p:cNvSpPr>
          <p:nvPr>
            <p:ph type="title"/>
          </p:nvPr>
        </p:nvSpPr>
        <p:spPr/>
        <p:txBody>
          <a:bodyPr/>
          <a:lstStyle/>
          <a:p>
            <a:r>
              <a:rPr lang="es" b="1" dirty="0">
                <a:ea typeface="Source Sans Pro"/>
                <a:cs typeface="Source Sans Pro"/>
                <a:sym typeface="Source Sans Pro"/>
              </a:rPr>
              <a:t>Kernel Functions</a:t>
            </a:r>
            <a:endParaRPr lang="en-US" dirty="0"/>
          </a:p>
        </p:txBody>
      </p:sp>
      <p:sp>
        <p:nvSpPr>
          <p:cNvPr id="2" name="Content Placeholder 1"/>
          <p:cNvSpPr>
            <a:spLocks noGrp="1"/>
          </p:cNvSpPr>
          <p:nvPr>
            <p:ph idx="1"/>
          </p:nvPr>
        </p:nvSpPr>
        <p:spPr/>
        <p:txBody>
          <a:bodyPr>
            <a:normAutofit/>
          </a:bodyPr>
          <a:lstStyle/>
          <a:p>
            <a:pPr marL="626530" indent="-457200">
              <a:lnSpc>
                <a:spcPct val="140000"/>
              </a:lnSpc>
              <a:spcBef>
                <a:spcPts val="1333"/>
              </a:spcBef>
              <a:buClr>
                <a:srgbClr val="003B4C"/>
              </a:buClr>
              <a:buSzPct val="100000"/>
            </a:pPr>
            <a:r>
              <a:rPr lang="en-US" dirty="0">
                <a:ea typeface="Source Sans Pro"/>
                <a:cs typeface="Source Sans Pro"/>
                <a:sym typeface="Source Sans Pro"/>
              </a:rPr>
              <a:t>Examples of common kernels:</a:t>
            </a:r>
          </a:p>
          <a:p>
            <a:pPr marL="0" indent="0">
              <a:lnSpc>
                <a:spcPct val="140000"/>
              </a:lnSpc>
              <a:spcBef>
                <a:spcPts val="1333"/>
              </a:spcBef>
              <a:buClr>
                <a:srgbClr val="003B4C"/>
              </a:buClr>
              <a:buSzPct val="100000"/>
              <a:buNone/>
            </a:pPr>
            <a:r>
              <a:rPr lang="en-US" dirty="0">
                <a:ea typeface="Source Sans Pro"/>
                <a:cs typeface="Source Sans Pro"/>
                <a:sym typeface="Source Sans Pro"/>
              </a:rPr>
              <a:t>	Linear: </a:t>
            </a:r>
          </a:p>
          <a:p>
            <a:pPr marL="0" indent="0">
              <a:lnSpc>
                <a:spcPct val="140000"/>
              </a:lnSpc>
              <a:spcBef>
                <a:spcPts val="1333"/>
              </a:spcBef>
              <a:buClr>
                <a:srgbClr val="003B4C"/>
              </a:buClr>
              <a:buSzPct val="100000"/>
              <a:buNone/>
            </a:pPr>
            <a:r>
              <a:rPr lang="en-US" dirty="0">
                <a:ea typeface="Source Sans Pro"/>
                <a:cs typeface="Source Sans Pro"/>
                <a:sym typeface="Source Sans Pro"/>
              </a:rPr>
              <a:t>	Polynomial: </a:t>
            </a:r>
          </a:p>
          <a:p>
            <a:pPr marL="0" indent="0">
              <a:lnSpc>
                <a:spcPct val="140000"/>
              </a:lnSpc>
              <a:spcBef>
                <a:spcPts val="1333"/>
              </a:spcBef>
              <a:buClr>
                <a:srgbClr val="003B4C"/>
              </a:buClr>
              <a:buSzPct val="100000"/>
              <a:buNone/>
            </a:pPr>
            <a:r>
              <a:rPr lang="en-US" dirty="0">
                <a:ea typeface="Source Sans Pro"/>
                <a:cs typeface="Source Sans Pro"/>
                <a:sym typeface="Source Sans Pro"/>
              </a:rPr>
              <a:t>	Radial:</a:t>
            </a:r>
          </a:p>
          <a:p>
            <a:pPr marL="169330" indent="0">
              <a:lnSpc>
                <a:spcPct val="140000"/>
              </a:lnSpc>
              <a:spcBef>
                <a:spcPts val="1333"/>
              </a:spcBef>
              <a:buClr>
                <a:srgbClr val="003B4C"/>
              </a:buClr>
              <a:buSzPct val="100000"/>
              <a:buNone/>
            </a:pPr>
            <a:endParaRPr lang="en-US" dirty="0">
              <a:ea typeface="Source Sans Pro"/>
              <a:cs typeface="Source Sans Pro"/>
              <a:sym typeface="Source Sans Pro"/>
            </a:endParaRPr>
          </a:p>
        </p:txBody>
      </p:sp>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dirty="0">
              <a:latin typeface="Montserrat"/>
              <a:ea typeface="Montserrat"/>
              <a:cs typeface="Montserrat"/>
              <a:sym typeface="Montserrat"/>
            </a:endParaRPr>
          </a:p>
        </p:txBody>
      </p:sp>
      <p:pic>
        <p:nvPicPr>
          <p:cNvPr id="7" name="Picture 6"/>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3749674" y="2887565"/>
            <a:ext cx="1371385" cy="256068"/>
          </a:xfrm>
          <a:prstGeom prst="rect">
            <a:avLst/>
          </a:prstGeom>
        </p:spPr>
      </p:pic>
      <p:pic>
        <p:nvPicPr>
          <p:cNvPr id="6" name="Picture 5"/>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3711685" y="3596577"/>
            <a:ext cx="2196492" cy="258913"/>
          </a:xfrm>
          <a:prstGeom prst="rect">
            <a:avLst/>
          </a:prstGeom>
        </p:spPr>
      </p:pic>
      <p:pic>
        <p:nvPicPr>
          <p:cNvPr id="12" name="Picture 11"/>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3556102" y="4406976"/>
            <a:ext cx="2742771" cy="287365"/>
          </a:xfrm>
          <a:prstGeom prst="rect">
            <a:avLst/>
          </a:prstGeom>
        </p:spPr>
      </p:pic>
    </p:spTree>
    <p:extLst>
      <p:ext uri="{BB962C8B-B14F-4D97-AF65-F5344CB8AC3E}">
        <p14:creationId xmlns:p14="http://schemas.microsoft.com/office/powerpoint/2010/main" val="37441897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Title 2">
            <a:extLst>
              <a:ext uri="{FF2B5EF4-FFF2-40B4-BE49-F238E27FC236}">
                <a16:creationId xmlns:a16="http://schemas.microsoft.com/office/drawing/2014/main" id="{034983D6-6C67-439E-8353-874CBD381787}"/>
              </a:ext>
            </a:extLst>
          </p:cNvPr>
          <p:cNvSpPr>
            <a:spLocks noGrp="1"/>
          </p:cNvSpPr>
          <p:nvPr>
            <p:ph type="title"/>
          </p:nvPr>
        </p:nvSpPr>
        <p:spPr/>
        <p:txBody>
          <a:bodyPr/>
          <a:lstStyle/>
          <a:p>
            <a:r>
              <a:rPr lang="es" sz="4400" b="1" dirty="0">
                <a:ea typeface="Source Sans Pro"/>
                <a:cs typeface="Source Sans Pro"/>
                <a:sym typeface="Source Sans Pro"/>
              </a:rPr>
              <a:t>Example of a Kernel Function</a:t>
            </a:r>
            <a:endParaRPr lang="en-US" dirty="0"/>
          </a:p>
        </p:txBody>
      </p:sp>
      <p:sp>
        <p:nvSpPr>
          <p:cNvPr id="2" name="Content Placeholder 1"/>
          <p:cNvSpPr>
            <a:spLocks noGrp="1"/>
          </p:cNvSpPr>
          <p:nvPr>
            <p:ph idx="1"/>
          </p:nvPr>
        </p:nvSpPr>
        <p:spPr>
          <a:xfrm>
            <a:off x="838200" y="1825625"/>
            <a:ext cx="7366686" cy="4351338"/>
          </a:xfrm>
        </p:spPr>
        <p:txBody>
          <a:bodyPr>
            <a:normAutofit/>
          </a:bodyPr>
          <a:lstStyle/>
          <a:p>
            <a:pPr>
              <a:lnSpc>
                <a:spcPct val="140000"/>
              </a:lnSpc>
              <a:spcBef>
                <a:spcPts val="1333"/>
              </a:spcBef>
              <a:buSzPct val="100000"/>
            </a:pPr>
            <a:r>
              <a:rPr lang="en-US" sz="2400" dirty="0">
                <a:ea typeface="Source Sans Pro"/>
                <a:cs typeface="Source Sans Pro"/>
                <a:sym typeface="Source Sans Pro"/>
              </a:rPr>
              <a:t>Consider the following polynomial kernel:</a:t>
            </a:r>
          </a:p>
          <a:p>
            <a:pPr marL="512230" indent="-342900">
              <a:lnSpc>
                <a:spcPct val="140000"/>
              </a:lnSpc>
              <a:spcBef>
                <a:spcPts val="1333"/>
              </a:spcBef>
              <a:buSzPct val="100000"/>
            </a:pPr>
            <a:endParaRPr lang="en-US" sz="2400" dirty="0">
              <a:ea typeface="Source Sans Pro"/>
              <a:cs typeface="Source Sans Pro"/>
              <a:sym typeface="Source Sans Pro"/>
            </a:endParaRPr>
          </a:p>
          <a:p>
            <a:pPr marL="512230" indent="-342900">
              <a:lnSpc>
                <a:spcPct val="140000"/>
              </a:lnSpc>
              <a:spcBef>
                <a:spcPts val="1333"/>
              </a:spcBef>
              <a:buSzPct val="100000"/>
            </a:pPr>
            <a:endParaRPr lang="en-US" sz="2400" dirty="0">
              <a:ea typeface="Source Sans Pro"/>
              <a:cs typeface="Source Sans Pro"/>
              <a:sym typeface="Source Sans Pro"/>
            </a:endParaRPr>
          </a:p>
          <a:p>
            <a:pPr>
              <a:lnSpc>
                <a:spcPct val="140000"/>
              </a:lnSpc>
              <a:spcBef>
                <a:spcPts val="1333"/>
              </a:spcBef>
              <a:buSzPct val="100000"/>
            </a:pPr>
            <a:r>
              <a:rPr lang="en-US" sz="2400" dirty="0">
                <a:ea typeface="Source Sans Pro"/>
                <a:cs typeface="Source Sans Pro"/>
                <a:sym typeface="Source Sans Pro"/>
              </a:rPr>
              <a:t>If                    , then it can be shown that the given kernel corresponds to this feature mapping:</a:t>
            </a:r>
          </a:p>
        </p:txBody>
      </p:sp>
      <p:sp>
        <p:nvSpPr>
          <p:cNvPr id="195" name="Google Shape;195;p44"/>
          <p:cNvSpPr txBox="1">
            <a:spLocks noGrp="1"/>
          </p:cNvSpPr>
          <p:nvPr>
            <p:ph type="sldNum" sz="quarter" idx="12"/>
          </p:nvPr>
        </p:nvSpPr>
        <p:spPr>
          <a:prstGeom prst="rect">
            <a:avLst/>
          </a:prstGeom>
        </p:spPr>
        <p:txBody>
          <a:bodyPr spcFirstLastPara="1" vert="horz" wrap="square" lIns="121900" tIns="121900" rIns="121900" bIns="121900" rtlCol="0" anchor="t" anchorCtr="0">
            <a:noAutofit/>
          </a:bodyPr>
          <a:lstStyle/>
          <a:p>
            <a:fld id="{00000000-1234-1234-1234-123412341234}" type="slidenum">
              <a:rPr lang="es"/>
              <a:pPr/>
              <a:t>47</a:t>
            </a:fld>
            <a:endParaRPr/>
          </a:p>
        </p:txBody>
      </p:sp>
      <p:pic>
        <p:nvPicPr>
          <p:cNvPr id="25" name="Picture 24"/>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3017462" y="2808757"/>
            <a:ext cx="2651760" cy="333090"/>
          </a:xfrm>
          <a:prstGeom prst="rect">
            <a:avLst/>
          </a:prstGeom>
        </p:spPr>
      </p:pic>
      <p:pic>
        <p:nvPicPr>
          <p:cNvPr id="4" name="Picture 3"/>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1528892" y="4003474"/>
            <a:ext cx="914400" cy="280800"/>
          </a:xfrm>
          <a:prstGeom prst="rect">
            <a:avLst/>
          </a:prstGeom>
        </p:spPr>
      </p:pic>
      <p:pic>
        <p:nvPicPr>
          <p:cNvPr id="5" name="Picture 4"/>
          <p:cNvPicPr>
            <a:picLocks noChangeAspect="1"/>
          </p:cNvPicPr>
          <p:nvPr/>
        </p:nvPicPr>
        <p:blipFill rotWithShape="1">
          <a:blip r:embed="rId7"/>
          <a:srcRect l="42014" t="39086" r="41588" b="7662"/>
          <a:stretch/>
        </p:blipFill>
        <p:spPr>
          <a:xfrm>
            <a:off x="8204886" y="1027906"/>
            <a:ext cx="2438400" cy="4451925"/>
          </a:xfrm>
          <a:prstGeom prst="rect">
            <a:avLst/>
          </a:prstGeom>
        </p:spPr>
      </p:pic>
      <p:cxnSp>
        <p:nvCxnSpPr>
          <p:cNvPr id="23" name="Straight Arrow Connector 22"/>
          <p:cNvCxnSpPr/>
          <p:nvPr/>
        </p:nvCxnSpPr>
        <p:spPr>
          <a:xfrm flipV="1">
            <a:off x="6693244" y="3296466"/>
            <a:ext cx="97206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4" name="TextBox 23"/>
          <p:cNvSpPr txBox="1"/>
          <p:nvPr/>
        </p:nvSpPr>
        <p:spPr>
          <a:xfrm>
            <a:off x="9621795" y="5766488"/>
            <a:ext cx="1499287" cy="461665"/>
          </a:xfrm>
          <a:prstGeom prst="rect">
            <a:avLst/>
          </a:prstGeom>
          <a:noFill/>
        </p:spPr>
        <p:txBody>
          <a:bodyPr wrap="square" rtlCol="0">
            <a:spAutoFit/>
          </a:bodyPr>
          <a:lstStyle/>
          <a:p>
            <a:r>
              <a:rPr lang="en-US" sz="2400" dirty="0">
                <a:latin typeface="Source Sans Pro" panose="020B0604020202020204" charset="0"/>
                <a:hlinkClick r:id="rId8"/>
              </a:rPr>
              <a:t>source</a:t>
            </a:r>
            <a:endParaRPr lang="en-US" sz="2400" dirty="0">
              <a:latin typeface="Source Sans Pro" panose="020B0604020202020204" charset="0"/>
            </a:endParaRPr>
          </a:p>
        </p:txBody>
      </p:sp>
    </p:spTree>
    <p:extLst>
      <p:ext uri="{BB962C8B-B14F-4D97-AF65-F5344CB8AC3E}">
        <p14:creationId xmlns:p14="http://schemas.microsoft.com/office/powerpoint/2010/main" val="37514478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Clr>
                <a:srgbClr val="737373"/>
              </a:buClr>
              <a:buSzPts val="1600"/>
              <a:buNone/>
            </a:pPr>
            <a:endParaRPr lang="en-US" sz="2400" dirty="0">
              <a:ea typeface="Helvetica Neue"/>
              <a:cs typeface="Helvetica Neue"/>
              <a:sym typeface="Helvetica Neue"/>
            </a:endParaRPr>
          </a:p>
          <a:p>
            <a:pPr>
              <a:buClr>
                <a:srgbClr val="737373"/>
              </a:buClr>
              <a:buSzPts val="1600"/>
            </a:pPr>
            <a:r>
              <a:rPr lang="en-US" sz="2400" dirty="0">
                <a:ea typeface="Helvetica Neue"/>
                <a:cs typeface="Helvetica Neue"/>
                <a:sym typeface="Helvetica Neue"/>
              </a:rPr>
              <a:t>equivalent to the dot product of features mapped to d-order feature space </a:t>
            </a:r>
          </a:p>
          <a:p>
            <a:pPr>
              <a:buClr>
                <a:srgbClr val="737373"/>
              </a:buClr>
              <a:buSzPts val="1600"/>
            </a:pPr>
            <a:r>
              <a:rPr lang="en-US" sz="2400" dirty="0">
                <a:ea typeface="Helvetica Neue"/>
                <a:cs typeface="Helvetica Neue"/>
                <a:sym typeface="Helvetica Neue"/>
              </a:rPr>
              <a:t>requires an extra hyper-parameter, d, for “degree”.</a:t>
            </a:r>
            <a:endParaRPr lang="en-US" sz="2400" dirty="0"/>
          </a:p>
          <a:p>
            <a:pPr marL="0" indent="0">
              <a:buNone/>
            </a:pPr>
            <a:endParaRPr lang="en-US" dirty="0"/>
          </a:p>
        </p:txBody>
      </p:sp>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pic>
        <p:nvPicPr>
          <p:cNvPr id="2" name="Picture 1"/>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435367" y="1694778"/>
            <a:ext cx="2510277" cy="295900"/>
          </a:xfrm>
          <a:prstGeom prst="rect">
            <a:avLst/>
          </a:prstGeom>
        </p:spPr>
      </p:pic>
      <p:pic>
        <p:nvPicPr>
          <p:cNvPr id="10" name="Google Shape;331;p33" descr="Image"/>
          <p:cNvPicPr preferRelativeResize="0"/>
          <p:nvPr/>
        </p:nvPicPr>
        <p:blipFill rotWithShape="1">
          <a:blip r:embed="rId5">
            <a:alphaModFix/>
          </a:blip>
          <a:srcRect/>
          <a:stretch/>
        </p:blipFill>
        <p:spPr>
          <a:xfrm>
            <a:off x="917440" y="3289393"/>
            <a:ext cx="10024171" cy="3048604"/>
          </a:xfrm>
          <a:prstGeom prst="rect">
            <a:avLst/>
          </a:prstGeom>
          <a:noFill/>
          <a:ln>
            <a:noFill/>
          </a:ln>
        </p:spPr>
      </p:pic>
      <p:sp>
        <p:nvSpPr>
          <p:cNvPr id="11" name="Google Shape;332;p33"/>
          <p:cNvSpPr txBox="1"/>
          <p:nvPr/>
        </p:nvSpPr>
        <p:spPr>
          <a:xfrm>
            <a:off x="171749" y="6176963"/>
            <a:ext cx="12020251" cy="635184"/>
          </a:xfrm>
          <a:prstGeom prst="rect">
            <a:avLst/>
          </a:prstGeom>
          <a:noFill/>
          <a:ln>
            <a:noFill/>
          </a:ln>
        </p:spPr>
        <p:txBody>
          <a:bodyPr spcFirstLastPara="1" wrap="square" lIns="60933" tIns="60933" rIns="60933" bIns="60933" anchor="t" anchorCtr="0">
            <a:spAutoFit/>
          </a:bodyPr>
          <a:lstStyle/>
          <a:p>
            <a:pPr algn="ctr">
              <a:lnSpc>
                <a:spcPct val="256410"/>
              </a:lnSpc>
              <a:buClr>
                <a:srgbClr val="333333"/>
              </a:buClr>
              <a:buSzPts val="975"/>
            </a:pPr>
            <a:r>
              <a:rPr lang="en-US" sz="1300" u="sng" dirty="0">
                <a:solidFill>
                  <a:srgbClr val="333333"/>
                </a:solidFill>
                <a:latin typeface="Arial"/>
                <a:ea typeface="Arial"/>
                <a:cs typeface="Arial"/>
                <a:sym typeface="Arial"/>
                <a:hlinkClick r:id="rId6">
                  <a:extLst>
                    <a:ext uri="{A12FA001-AC4F-418D-AE19-62706E023703}">
                      <ahyp:hlinkClr xmlns:ahyp="http://schemas.microsoft.com/office/drawing/2018/hyperlinkcolor" val="tx"/>
                    </a:ext>
                  </a:extLst>
                </a:hlinkClick>
              </a:rPr>
              <a:t>https://doi.org/10.1371/journal.pcbi.1000173</a:t>
            </a:r>
            <a:endParaRPr sz="2400" dirty="0"/>
          </a:p>
        </p:txBody>
      </p:sp>
      <p:sp>
        <p:nvSpPr>
          <p:cNvPr id="4" name="Title 3"/>
          <p:cNvSpPr>
            <a:spLocks noGrp="1"/>
          </p:cNvSpPr>
          <p:nvPr>
            <p:ph type="title"/>
          </p:nvPr>
        </p:nvSpPr>
        <p:spPr>
          <a:xfrm>
            <a:off x="838200" y="217218"/>
            <a:ext cx="10515600" cy="1325563"/>
          </a:xfrm>
        </p:spPr>
        <p:txBody>
          <a:bodyPr/>
          <a:lstStyle/>
          <a:p>
            <a:r>
              <a:rPr lang="es" b="1" dirty="0">
                <a:ea typeface="Source Sans Pro"/>
                <a:cs typeface="Source Sans Pro"/>
                <a:sym typeface="Source Sans Pro"/>
              </a:rPr>
              <a:t>Polynomial Kernel</a:t>
            </a:r>
            <a:endParaRPr lang="en-US" dirty="0"/>
          </a:p>
        </p:txBody>
      </p:sp>
    </p:spTree>
    <p:extLst>
      <p:ext uri="{BB962C8B-B14F-4D97-AF65-F5344CB8AC3E}">
        <p14:creationId xmlns:p14="http://schemas.microsoft.com/office/powerpoint/2010/main" val="38820546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5" name="Title 4"/>
          <p:cNvSpPr>
            <a:spLocks noGrp="1"/>
          </p:cNvSpPr>
          <p:nvPr>
            <p:ph type="title"/>
          </p:nvPr>
        </p:nvSpPr>
        <p:spPr/>
        <p:txBody>
          <a:bodyPr/>
          <a:lstStyle/>
          <a:p>
            <a:r>
              <a:rPr lang="es" b="1" dirty="0">
                <a:ea typeface="Source Sans Pro"/>
                <a:cs typeface="Source Sans Pro"/>
                <a:sym typeface="Source Sans Pro"/>
              </a:rPr>
              <a:t>Radial Basis Function (RBF Kernel or Gaussian Kernel)</a:t>
            </a:r>
            <a:endParaRPr lang="en-US" dirty="0"/>
          </a:p>
        </p:txBody>
      </p:sp>
      <p:sp>
        <p:nvSpPr>
          <p:cNvPr id="2" name="Content Placeholder 1"/>
          <p:cNvSpPr>
            <a:spLocks noGrp="1"/>
          </p:cNvSpPr>
          <p:nvPr>
            <p:ph idx="1"/>
          </p:nvPr>
        </p:nvSpPr>
        <p:spPr>
          <a:xfrm>
            <a:off x="853440" y="1840230"/>
            <a:ext cx="10485120" cy="4322128"/>
          </a:xfrm>
        </p:spPr>
        <p:txBody>
          <a:bodyPr>
            <a:normAutofit/>
          </a:bodyPr>
          <a:lstStyle/>
          <a:p>
            <a:pPr>
              <a:buSzPts val="1600"/>
            </a:pPr>
            <a:endParaRPr lang="en-US" sz="2400" dirty="0">
              <a:ea typeface="Helvetica Neue"/>
              <a:cs typeface="Helvetica Neue"/>
              <a:sym typeface="Helvetica Neue"/>
            </a:endParaRPr>
          </a:p>
          <a:p>
            <a:pPr>
              <a:buSzPts val="1600"/>
            </a:pPr>
            <a:endParaRPr lang="en-US" sz="2400" dirty="0">
              <a:ea typeface="Helvetica Neue"/>
              <a:cs typeface="Helvetica Neue"/>
              <a:sym typeface="Helvetica Neue"/>
            </a:endParaRPr>
          </a:p>
          <a:p>
            <a:pPr>
              <a:buSzPts val="1600"/>
            </a:pPr>
            <a:r>
              <a:rPr lang="en-US" sz="2400" dirty="0">
                <a:ea typeface="Helvetica Neue"/>
                <a:cs typeface="Helvetica Neue"/>
                <a:sym typeface="Helvetica Neue"/>
              </a:rPr>
              <a:t>equivalent to the dot product of features mapped to infinite-dimensional space</a:t>
            </a:r>
          </a:p>
          <a:p>
            <a:pPr>
              <a:buSzPts val="1600"/>
            </a:pPr>
            <a:r>
              <a:rPr lang="en-US" sz="2400" dirty="0">
                <a:ea typeface="Helvetica Neue"/>
                <a:cs typeface="Helvetica Neue"/>
                <a:sym typeface="Helvetica Neue"/>
              </a:rPr>
              <a:t>requires an extra hyper-parameter,      , “gamma”</a:t>
            </a:r>
            <a:endParaRPr lang="en-US" sz="2400" dirty="0">
              <a:sym typeface="Helvetica Neue"/>
            </a:endParaRPr>
          </a:p>
          <a:p>
            <a:pPr>
              <a:buClr>
                <a:srgbClr val="003B4C"/>
              </a:buClr>
              <a:buSzPts val="1600"/>
            </a:pPr>
            <a:endParaRPr lang="en-US" sz="2400" dirty="0">
              <a:ea typeface="Helvetica Neue"/>
              <a:cs typeface="Helvetica Neue"/>
              <a:sym typeface="Helvetica Neue"/>
            </a:endParaRPr>
          </a:p>
        </p:txBody>
      </p:sp>
      <p:pic>
        <p:nvPicPr>
          <p:cNvPr id="3" name="Picture 2"/>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194387" y="1917049"/>
            <a:ext cx="3134595" cy="328417"/>
          </a:xfrm>
          <a:prstGeom prst="rect">
            <a:avLst/>
          </a:prstGeom>
        </p:spPr>
      </p:pic>
      <p:pic>
        <p:nvPicPr>
          <p:cNvPr id="7" name="Picture 6"/>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5616985" y="3360671"/>
            <a:ext cx="144699" cy="177215"/>
          </a:xfrm>
          <a:prstGeom prst="rect">
            <a:avLst/>
          </a:prstGeom>
        </p:spPr>
      </p:pic>
      <p:grpSp>
        <p:nvGrpSpPr>
          <p:cNvPr id="10" name="Group 9">
            <a:extLst>
              <a:ext uri="{FF2B5EF4-FFF2-40B4-BE49-F238E27FC236}">
                <a16:creationId xmlns:a16="http://schemas.microsoft.com/office/drawing/2014/main" id="{7FFDEDD2-D942-4A1E-BA7A-79490A737765}"/>
              </a:ext>
            </a:extLst>
          </p:cNvPr>
          <p:cNvGrpSpPr/>
          <p:nvPr/>
        </p:nvGrpSpPr>
        <p:grpSpPr>
          <a:xfrm>
            <a:off x="1628427" y="3801921"/>
            <a:ext cx="9531070" cy="2899175"/>
            <a:chOff x="1628427" y="3801921"/>
            <a:chExt cx="9531070" cy="2899175"/>
          </a:xfrm>
        </p:grpSpPr>
        <p:pic>
          <p:nvPicPr>
            <p:cNvPr id="6" name="Picture 5" descr="Chart, diagram&#10;&#10;Description automatically generated">
              <a:extLst>
                <a:ext uri="{FF2B5EF4-FFF2-40B4-BE49-F238E27FC236}">
                  <a16:creationId xmlns:a16="http://schemas.microsoft.com/office/drawing/2014/main" id="{704EB484-E081-4E1A-962D-0C3ED6F2F56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28427" y="4005212"/>
              <a:ext cx="8935146" cy="2695884"/>
            </a:xfrm>
            <a:prstGeom prst="rect">
              <a:avLst/>
            </a:prstGeom>
          </p:spPr>
        </p:pic>
        <p:sp>
          <p:nvSpPr>
            <p:cNvPr id="8" name="TextBox 7">
              <a:extLst>
                <a:ext uri="{FF2B5EF4-FFF2-40B4-BE49-F238E27FC236}">
                  <a16:creationId xmlns:a16="http://schemas.microsoft.com/office/drawing/2014/main" id="{D406C531-BF5E-4F04-92E5-DA1CDE5E64AF}"/>
                </a:ext>
              </a:extLst>
            </p:cNvPr>
            <p:cNvSpPr txBox="1"/>
            <p:nvPr/>
          </p:nvSpPr>
          <p:spPr>
            <a:xfrm>
              <a:off x="2326259" y="3817971"/>
              <a:ext cx="2105522" cy="397424"/>
            </a:xfrm>
            <a:prstGeom prst="rect">
              <a:avLst/>
            </a:prstGeom>
            <a:solidFill>
              <a:schemeClr val="bg1"/>
            </a:solidFill>
          </p:spPr>
          <p:txBody>
            <a:bodyPr wrap="square" rtlCol="0">
              <a:spAutoFit/>
            </a:bodyPr>
            <a:lstStyle/>
            <a:p>
              <a:r>
                <a:rPr lang="en-US" sz="2000" b="1" dirty="0"/>
                <a:t>gamma = 0.05</a:t>
              </a:r>
            </a:p>
          </p:txBody>
        </p:sp>
        <p:sp>
          <p:nvSpPr>
            <p:cNvPr id="13" name="TextBox 12">
              <a:extLst>
                <a:ext uri="{FF2B5EF4-FFF2-40B4-BE49-F238E27FC236}">
                  <a16:creationId xmlns:a16="http://schemas.microsoft.com/office/drawing/2014/main" id="{DC9F0423-946A-4889-BD3A-D1BAB2FBED52}"/>
                </a:ext>
              </a:extLst>
            </p:cNvPr>
            <p:cNvSpPr txBox="1"/>
            <p:nvPr/>
          </p:nvSpPr>
          <p:spPr>
            <a:xfrm>
              <a:off x="8578105" y="3817971"/>
              <a:ext cx="2581392" cy="397424"/>
            </a:xfrm>
            <a:prstGeom prst="rect">
              <a:avLst/>
            </a:prstGeom>
            <a:solidFill>
              <a:schemeClr val="bg1"/>
            </a:solidFill>
          </p:spPr>
          <p:txBody>
            <a:bodyPr wrap="square" rtlCol="0">
              <a:spAutoFit/>
            </a:bodyPr>
            <a:lstStyle/>
            <a:p>
              <a:r>
                <a:rPr lang="en-US" sz="2000" b="1" dirty="0"/>
                <a:t>gamma = 20</a:t>
              </a:r>
            </a:p>
          </p:txBody>
        </p:sp>
        <p:sp>
          <p:nvSpPr>
            <p:cNvPr id="14" name="TextBox 13">
              <a:extLst>
                <a:ext uri="{FF2B5EF4-FFF2-40B4-BE49-F238E27FC236}">
                  <a16:creationId xmlns:a16="http://schemas.microsoft.com/office/drawing/2014/main" id="{EE1A9930-801A-458E-9D79-32B3D0173276}"/>
                </a:ext>
              </a:extLst>
            </p:cNvPr>
            <p:cNvSpPr txBox="1"/>
            <p:nvPr/>
          </p:nvSpPr>
          <p:spPr>
            <a:xfrm>
              <a:off x="5619361" y="3801921"/>
              <a:ext cx="1634896" cy="397424"/>
            </a:xfrm>
            <a:prstGeom prst="rect">
              <a:avLst/>
            </a:prstGeom>
            <a:solidFill>
              <a:schemeClr val="bg1"/>
            </a:solidFill>
          </p:spPr>
          <p:txBody>
            <a:bodyPr wrap="square" rtlCol="0">
              <a:spAutoFit/>
            </a:bodyPr>
            <a:lstStyle/>
            <a:p>
              <a:r>
                <a:rPr lang="en-US" sz="2000" b="1" dirty="0"/>
                <a:t>gamma = 1</a:t>
              </a:r>
            </a:p>
          </p:txBody>
        </p:sp>
      </p:grpSp>
      <p:sp>
        <p:nvSpPr>
          <p:cNvPr id="15" name="Google Shape;332;p33">
            <a:extLst>
              <a:ext uri="{FF2B5EF4-FFF2-40B4-BE49-F238E27FC236}">
                <a16:creationId xmlns:a16="http://schemas.microsoft.com/office/drawing/2014/main" id="{0ECDD6F4-6846-4FFC-B6FB-515BD650F9B6}"/>
              </a:ext>
            </a:extLst>
          </p:cNvPr>
          <p:cNvSpPr txBox="1"/>
          <p:nvPr/>
        </p:nvSpPr>
        <p:spPr>
          <a:xfrm>
            <a:off x="10995661" y="5875021"/>
            <a:ext cx="994410" cy="635184"/>
          </a:xfrm>
          <a:prstGeom prst="rect">
            <a:avLst/>
          </a:prstGeom>
          <a:noFill/>
          <a:ln>
            <a:noFill/>
          </a:ln>
        </p:spPr>
        <p:txBody>
          <a:bodyPr spcFirstLastPara="1" wrap="square" lIns="60933" tIns="60933" rIns="60933" bIns="60933" anchor="t" anchorCtr="0">
            <a:spAutoFit/>
          </a:bodyPr>
          <a:lstStyle/>
          <a:p>
            <a:pPr algn="ctr">
              <a:lnSpc>
                <a:spcPct val="256410"/>
              </a:lnSpc>
              <a:buClr>
                <a:srgbClr val="333333"/>
              </a:buClr>
              <a:buSzPts val="975"/>
            </a:pPr>
            <a:r>
              <a:rPr lang="en-US" sz="1300" u="sng" dirty="0">
                <a:solidFill>
                  <a:srgbClr val="333333"/>
                </a:solidFill>
                <a:latin typeface="Arial"/>
                <a:ea typeface="Arial"/>
                <a:cs typeface="Arial"/>
                <a:sym typeface="Arial"/>
                <a:hlinkClick r:id="rId8"/>
              </a:rPr>
              <a:t>source</a:t>
            </a:r>
            <a:endParaRPr sz="2400" dirty="0"/>
          </a:p>
        </p:txBody>
      </p:sp>
    </p:spTree>
    <p:extLst>
      <p:ext uri="{BB962C8B-B14F-4D97-AF65-F5344CB8AC3E}">
        <p14:creationId xmlns:p14="http://schemas.microsoft.com/office/powerpoint/2010/main" val="23092750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lnSpc>
                <a:spcPct val="100000"/>
              </a:lnSpc>
              <a:spcBef>
                <a:spcPts val="1333"/>
              </a:spcBef>
              <a:buSzPct val="100000"/>
            </a:pPr>
            <a:r>
              <a:rPr lang="en-US" sz="2400" dirty="0">
                <a:ea typeface="Source Sans Pro"/>
                <a:cs typeface="Source Sans Pro"/>
                <a:sym typeface="Source Sans Pro"/>
              </a:rPr>
              <a:t>The ‘gamma’ of the radial kernel and ‘degree’ of the polynomial kernel can be tuned to control the flexibility of the decision boundary or the complexity of the model.</a:t>
            </a:r>
          </a:p>
          <a:p>
            <a:pPr>
              <a:lnSpc>
                <a:spcPct val="100000"/>
              </a:lnSpc>
              <a:spcBef>
                <a:spcPts val="1333"/>
              </a:spcBef>
              <a:buSzPct val="100000"/>
            </a:pPr>
            <a:r>
              <a:rPr lang="en-US" sz="2400" dirty="0">
                <a:ea typeface="Source Sans Pro"/>
                <a:cs typeface="Source Sans Pro"/>
                <a:sym typeface="Source Sans Pro"/>
              </a:rPr>
              <a:t>Decreasing gamma or degree leads to a smoother decision boundary; increasing gamma or degree leads to a more complex decision boundary.</a:t>
            </a:r>
          </a:p>
          <a:p>
            <a:pPr>
              <a:lnSpc>
                <a:spcPct val="100000"/>
              </a:lnSpc>
              <a:spcBef>
                <a:spcPts val="1333"/>
              </a:spcBef>
              <a:buSzPct val="100000"/>
            </a:pPr>
            <a:r>
              <a:rPr lang="en-US" sz="2400" dirty="0">
                <a:ea typeface="Source Sans Pro"/>
                <a:cs typeface="Source Sans Pro"/>
                <a:sym typeface="Source Sans Pro"/>
              </a:rPr>
              <a:t>Similarly to the margin parameter C, kernel parameters are used to control the bias-variance tradeoff.</a:t>
            </a:r>
          </a:p>
        </p:txBody>
      </p:sp>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sp>
        <p:nvSpPr>
          <p:cNvPr id="3" name="Title 2"/>
          <p:cNvSpPr>
            <a:spLocks noGrp="1"/>
          </p:cNvSpPr>
          <p:nvPr>
            <p:ph type="title"/>
          </p:nvPr>
        </p:nvSpPr>
        <p:spPr/>
        <p:txBody>
          <a:bodyPr/>
          <a:lstStyle/>
          <a:p>
            <a:r>
              <a:rPr lang="es" b="1" dirty="0">
                <a:ea typeface="Source Sans Pro"/>
                <a:cs typeface="Source Sans Pro"/>
                <a:sym typeface="Source Sans Pro"/>
              </a:rPr>
              <a:t>Kernel </a:t>
            </a:r>
            <a:r>
              <a:rPr lang="en-US" b="1" dirty="0">
                <a:ea typeface="Source Sans Pro"/>
                <a:cs typeface="Source Sans Pro"/>
                <a:sym typeface="Source Sans Pro"/>
              </a:rPr>
              <a:t>Parameters</a:t>
            </a:r>
            <a:r>
              <a:rPr lang="es" b="1" dirty="0">
                <a:ea typeface="Source Sans Pro"/>
                <a:cs typeface="Source Sans Pro"/>
                <a:sym typeface="Source Sans Pro"/>
              </a:rPr>
              <a:t>: gamma and degree</a:t>
            </a:r>
            <a:endParaRPr lang="en-US" dirty="0"/>
          </a:p>
        </p:txBody>
      </p:sp>
    </p:spTree>
    <p:extLst>
      <p:ext uri="{BB962C8B-B14F-4D97-AF65-F5344CB8AC3E}">
        <p14:creationId xmlns:p14="http://schemas.microsoft.com/office/powerpoint/2010/main" val="36593518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44"/>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s" b="1" dirty="0">
                <a:ea typeface="Source Sans Pro"/>
                <a:cs typeface="Source Sans Pro"/>
                <a:sym typeface="Source Sans Pro"/>
              </a:rPr>
              <a:t>Kernels Example</a:t>
            </a:r>
            <a:endParaRPr b="1" dirty="0">
              <a:ea typeface="Source Sans Pro"/>
              <a:cs typeface="Source Sans Pro"/>
              <a:sym typeface="Source Sans Pro"/>
            </a:endParaRPr>
          </a:p>
        </p:txBody>
      </p:sp>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sp>
        <p:nvSpPr>
          <p:cNvPr id="9" name="Google Shape;293;p28"/>
          <p:cNvSpPr/>
          <p:nvPr/>
        </p:nvSpPr>
        <p:spPr>
          <a:xfrm>
            <a:off x="717782" y="1454824"/>
            <a:ext cx="6296187" cy="4722139"/>
          </a:xfrm>
          <a:prstGeom prst="rect">
            <a:avLst/>
          </a:prstGeom>
          <a:blipFill rotWithShape="1">
            <a:blip r:embed="rId3">
              <a:alphaModFix/>
            </a:blip>
            <a:stretch>
              <a:fillRect/>
            </a:stretch>
          </a:blipFill>
          <a:ln>
            <a:noFill/>
          </a:ln>
        </p:spPr>
        <p:txBody>
          <a:bodyPr spcFirstLastPara="1" wrap="square" lIns="60933" tIns="60933" rIns="60933" bIns="60933" anchor="ctr" anchorCtr="0">
            <a:noAutofit/>
          </a:bodyPr>
          <a:lstStyle/>
          <a:p>
            <a:pPr>
              <a:buClr>
                <a:srgbClr val="4285F4"/>
              </a:buClr>
              <a:buSzPts val="1400"/>
            </a:pPr>
            <a:endParaRPr sz="1867">
              <a:solidFill>
                <a:srgbClr val="4285F4"/>
              </a:solidFill>
              <a:latin typeface="Helvetica Neue"/>
              <a:ea typeface="Helvetica Neue"/>
              <a:cs typeface="Helvetica Neue"/>
              <a:sym typeface="Helvetica Neue"/>
            </a:endParaRPr>
          </a:p>
        </p:txBody>
      </p:sp>
      <p:sp>
        <p:nvSpPr>
          <p:cNvPr id="12" name="Google Shape;294;p28"/>
          <p:cNvSpPr txBox="1"/>
          <p:nvPr/>
        </p:nvSpPr>
        <p:spPr>
          <a:xfrm>
            <a:off x="2768699" y="6071155"/>
            <a:ext cx="5683149" cy="246221"/>
          </a:xfrm>
          <a:prstGeom prst="rect">
            <a:avLst/>
          </a:prstGeom>
          <a:noFill/>
          <a:ln>
            <a:noFill/>
          </a:ln>
        </p:spPr>
        <p:txBody>
          <a:bodyPr spcFirstLastPara="1" wrap="square" lIns="0" tIns="0" rIns="0" bIns="0" anchor="t" anchorCtr="0">
            <a:spAutoFit/>
          </a:bodyPr>
          <a:lstStyle/>
          <a:p>
            <a:pPr indent="16933">
              <a:buClr>
                <a:schemeClr val="accent5"/>
              </a:buClr>
              <a:buSzPts val="1200"/>
            </a:pPr>
            <a:r>
              <a:rPr lang="en-US" sz="1600" u="sng" dirty="0" err="1">
                <a:solidFill>
                  <a:schemeClr val="accent5"/>
                </a:solidFill>
                <a:latin typeface="Source Sans Pro" panose="020B0604020202020204" charset="0"/>
                <a:ea typeface="Helvetica Neue"/>
                <a:cs typeface="Helvetica Neue"/>
                <a:sym typeface="Helvetica Neue"/>
                <a:hlinkClick r:id="rId4"/>
              </a:rPr>
              <a:t>scikit</a:t>
            </a:r>
            <a:r>
              <a:rPr lang="en-US" sz="1600" u="sng" dirty="0">
                <a:solidFill>
                  <a:schemeClr val="accent5"/>
                </a:solidFill>
                <a:latin typeface="Source Sans Pro" panose="020B0604020202020204" charset="0"/>
                <a:ea typeface="Helvetica Neue"/>
                <a:cs typeface="Helvetica Neue"/>
                <a:sym typeface="Helvetica Neue"/>
                <a:hlinkClick r:id="rId4"/>
              </a:rPr>
              <a:t>-learn example</a:t>
            </a:r>
            <a:endParaRPr sz="2400" dirty="0">
              <a:latin typeface="Source Sans Pro" panose="020B0604020202020204" charset="0"/>
            </a:endParaRPr>
          </a:p>
        </p:txBody>
      </p:sp>
    </p:spTree>
    <p:extLst>
      <p:ext uri="{BB962C8B-B14F-4D97-AF65-F5344CB8AC3E}">
        <p14:creationId xmlns:p14="http://schemas.microsoft.com/office/powerpoint/2010/main" val="31066535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t>SVM in </a:t>
            </a:r>
            <a:r>
              <a:rPr lang="en-US" b="1" dirty="0" err="1"/>
              <a:t>Scikit</a:t>
            </a:r>
            <a:r>
              <a:rPr lang="en-US" b="1" dirty="0"/>
              <a:t>-Learn</a:t>
            </a:r>
          </a:p>
        </p:txBody>
      </p:sp>
      <p:sp>
        <p:nvSpPr>
          <p:cNvPr id="4" name="Text Placeholder 3"/>
          <p:cNvSpPr>
            <a:spLocks noGrp="1"/>
          </p:cNvSpPr>
          <p:nvPr>
            <p:ph type="body" idx="1"/>
          </p:nvPr>
        </p:nvSpPr>
        <p:spPr/>
        <p:txBody>
          <a:bodyPr/>
          <a:lstStyle/>
          <a:p>
            <a:endParaRPr lang="en-US"/>
          </a:p>
        </p:txBody>
      </p:sp>
    </p:spTree>
    <p:extLst>
      <p:ext uri="{BB962C8B-B14F-4D97-AF65-F5344CB8AC3E}">
        <p14:creationId xmlns:p14="http://schemas.microsoft.com/office/powerpoint/2010/main" val="15599612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3" name="Google Shape;193;p44"/>
          <p:cNvSpPr txBox="1"/>
          <p:nvPr/>
        </p:nvSpPr>
        <p:spPr>
          <a:xfrm>
            <a:off x="2295765" y="2645635"/>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graphicFrame>
        <p:nvGraphicFramePr>
          <p:cNvPr id="2" name="Table 1"/>
          <p:cNvGraphicFramePr>
            <a:graphicFrameLocks noGrp="1"/>
          </p:cNvGraphicFramePr>
          <p:nvPr>
            <p:extLst>
              <p:ext uri="{D42A27DB-BD31-4B8C-83A1-F6EECF244321}">
                <p14:modId xmlns:p14="http://schemas.microsoft.com/office/powerpoint/2010/main" val="2587489449"/>
              </p:ext>
            </p:extLst>
          </p:nvPr>
        </p:nvGraphicFramePr>
        <p:xfrm>
          <a:off x="-1" y="215832"/>
          <a:ext cx="12192001" cy="5952184"/>
        </p:xfrm>
        <a:graphic>
          <a:graphicData uri="http://schemas.openxmlformats.org/drawingml/2006/table">
            <a:tbl>
              <a:tblPr firstRow="1" bandRow="1">
                <a:tableStyleId>{5C22544A-7EE6-4342-B048-85BDC9FD1C3A}</a:tableStyleId>
              </a:tblPr>
              <a:tblGrid>
                <a:gridCol w="1533236">
                  <a:extLst>
                    <a:ext uri="{9D8B030D-6E8A-4147-A177-3AD203B41FA5}">
                      <a16:colId xmlns:a16="http://schemas.microsoft.com/office/drawing/2014/main" val="20000"/>
                    </a:ext>
                  </a:extLst>
                </a:gridCol>
                <a:gridCol w="3574308">
                  <a:extLst>
                    <a:ext uri="{9D8B030D-6E8A-4147-A177-3AD203B41FA5}">
                      <a16:colId xmlns:a16="http://schemas.microsoft.com/office/drawing/2014/main" val="20001"/>
                    </a:ext>
                  </a:extLst>
                </a:gridCol>
                <a:gridCol w="3479136">
                  <a:extLst>
                    <a:ext uri="{9D8B030D-6E8A-4147-A177-3AD203B41FA5}">
                      <a16:colId xmlns:a16="http://schemas.microsoft.com/office/drawing/2014/main" val="20002"/>
                    </a:ext>
                  </a:extLst>
                </a:gridCol>
                <a:gridCol w="3605321">
                  <a:extLst>
                    <a:ext uri="{9D8B030D-6E8A-4147-A177-3AD203B41FA5}">
                      <a16:colId xmlns:a16="http://schemas.microsoft.com/office/drawing/2014/main" val="20003"/>
                    </a:ext>
                  </a:extLst>
                </a:gridCol>
              </a:tblGrid>
              <a:tr h="365760">
                <a:tc>
                  <a:txBody>
                    <a:bodyPr/>
                    <a:lstStyle/>
                    <a:p>
                      <a:endParaRPr lang="en-US" sz="1600" dirty="0">
                        <a:latin typeface="Source Sans Pro" panose="020B0604020202020204" charset="0"/>
                      </a:endParaRPr>
                    </a:p>
                  </a:txBody>
                  <a:tcPr marL="121920" marR="121920" marT="60960" marB="60960"/>
                </a:tc>
                <a:tc>
                  <a:txBody>
                    <a:bodyPr/>
                    <a:lstStyle/>
                    <a:p>
                      <a:r>
                        <a:rPr lang="en-US" sz="1600" dirty="0">
                          <a:latin typeface="Source Sans Pro" panose="020B0604020202020204" charset="0"/>
                        </a:rPr>
                        <a:t>SVC</a:t>
                      </a:r>
                    </a:p>
                  </a:txBody>
                  <a:tcPr marL="121920" marR="121920" marT="60960" marB="60960"/>
                </a:tc>
                <a:tc>
                  <a:txBody>
                    <a:bodyPr/>
                    <a:lstStyle/>
                    <a:p>
                      <a:r>
                        <a:rPr lang="en-US" sz="1600" dirty="0" err="1">
                          <a:latin typeface="Source Sans Pro" panose="020B0604020202020204" charset="0"/>
                        </a:rPr>
                        <a:t>LinearSVC</a:t>
                      </a:r>
                      <a:endParaRPr lang="en-US" sz="1600" dirty="0">
                        <a:latin typeface="Source Sans Pro" panose="020B0604020202020204" charset="0"/>
                      </a:endParaRPr>
                    </a:p>
                  </a:txBody>
                  <a:tcPr marL="121920" marR="121920" marT="60960" marB="60960"/>
                </a:tc>
                <a:tc>
                  <a:txBody>
                    <a:bodyPr/>
                    <a:lstStyle/>
                    <a:p>
                      <a:r>
                        <a:rPr lang="en-US" sz="1600" dirty="0" err="1">
                          <a:latin typeface="Source Sans Pro" panose="020B0604020202020204" charset="0"/>
                        </a:rPr>
                        <a:t>SGDClassifier</a:t>
                      </a:r>
                      <a:endParaRPr lang="en-US" sz="1600" dirty="0">
                        <a:latin typeface="Source Sans Pro" panose="020B0604020202020204" charset="0"/>
                      </a:endParaRPr>
                    </a:p>
                  </a:txBody>
                  <a:tcPr marL="121920" marR="121920" marT="60960" marB="60960"/>
                </a:tc>
                <a:extLst>
                  <a:ext uri="{0D108BD9-81ED-4DB2-BD59-A6C34878D82A}">
                    <a16:rowId xmlns:a16="http://schemas.microsoft.com/office/drawing/2014/main" val="10000"/>
                  </a:ext>
                </a:extLst>
              </a:tr>
              <a:tr h="1856992">
                <a:tc>
                  <a:txBody>
                    <a:bodyPr/>
                    <a:lstStyle/>
                    <a:p>
                      <a:r>
                        <a:rPr lang="en-US" sz="1600" b="1" dirty="0">
                          <a:latin typeface="Source Sans Pro" panose="020B0604020202020204" charset="0"/>
                        </a:rPr>
                        <a:t>Optimization</a:t>
                      </a:r>
                      <a:r>
                        <a:rPr lang="en-US" sz="1600" b="1" baseline="0" dirty="0">
                          <a:latin typeface="Source Sans Pro" panose="020B0604020202020204" charset="0"/>
                        </a:rPr>
                        <a:t> Problem</a:t>
                      </a:r>
                      <a:endParaRPr lang="en-US" sz="1600" b="1" dirty="0">
                        <a:latin typeface="Source Sans Pro" panose="020B0604020202020204" charset="0"/>
                      </a:endParaRPr>
                    </a:p>
                  </a:txBody>
                  <a:tcPr marL="121920" marR="121920" marT="60960" marB="60960"/>
                </a:tc>
                <a:tc>
                  <a:txBody>
                    <a:bodyPr/>
                    <a:lstStyle/>
                    <a:p>
                      <a:r>
                        <a:rPr lang="en-US" sz="1600" dirty="0">
                          <a:latin typeface="Source Sans Pro" panose="020B0604020202020204" charset="0"/>
                        </a:rPr>
                        <a:t>Dual Problem:</a:t>
                      </a:r>
                    </a:p>
                    <a:p>
                      <a:endParaRPr lang="en-US" sz="1600" dirty="0">
                        <a:latin typeface="Source Sans Pro" panose="020B0604020202020204" charset="0"/>
                      </a:endParaRPr>
                    </a:p>
                    <a:p>
                      <a:endParaRPr lang="en-US" sz="1600" dirty="0">
                        <a:latin typeface="Source Sans Pro" panose="020B0604020202020204" charset="0"/>
                      </a:endParaRPr>
                    </a:p>
                    <a:p>
                      <a:endParaRPr lang="en-US" sz="1600" dirty="0">
                        <a:latin typeface="Source Sans Pro" panose="020B0604020202020204" charset="0"/>
                      </a:endParaRPr>
                    </a:p>
                  </a:txBody>
                  <a:tcPr marL="121920" marR="121920" marT="60960" marB="60960"/>
                </a:tc>
                <a:tc>
                  <a:txBody>
                    <a:bodyPr/>
                    <a:lstStyle/>
                    <a:p>
                      <a:r>
                        <a:rPr lang="en-US" sz="1600" dirty="0">
                          <a:latin typeface="Source Sans Pro" panose="020B0604020202020204" charset="0"/>
                        </a:rPr>
                        <a:t>Uses</a:t>
                      </a:r>
                      <a:r>
                        <a:rPr lang="en-US" sz="1600" baseline="0" dirty="0">
                          <a:latin typeface="Source Sans Pro" panose="020B0604020202020204" charset="0"/>
                        </a:rPr>
                        <a:t> the hinge (or squared hinge) loss function:</a:t>
                      </a:r>
                      <a:endParaRPr lang="en-US" sz="1600" dirty="0">
                        <a:latin typeface="Source Sans Pro" panose="020B0604020202020204" charset="0"/>
                      </a:endParaRPr>
                    </a:p>
                  </a:txBody>
                  <a:tcPr marL="121920" marR="121920" marT="60960" marB="60960"/>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Source Sans Pro" panose="020B0604020202020204" charset="0"/>
                        </a:rPr>
                        <a:t>Uses</a:t>
                      </a:r>
                      <a:r>
                        <a:rPr lang="en-US" sz="1600" baseline="0" dirty="0">
                          <a:latin typeface="Source Sans Pro" panose="020B0604020202020204" charset="0"/>
                        </a:rPr>
                        <a:t> the hinge (or squared hinge) loss function:</a:t>
                      </a:r>
                      <a:endParaRPr lang="en-US" sz="1600" dirty="0">
                        <a:latin typeface="Source Sans Pro" panose="020B0604020202020204" charset="0"/>
                      </a:endParaRPr>
                    </a:p>
                    <a:p>
                      <a:endParaRPr lang="en-US" sz="1600" dirty="0">
                        <a:latin typeface="Source Sans Pro" panose="020B0604020202020204" charset="0"/>
                      </a:endParaRPr>
                    </a:p>
                  </a:txBody>
                  <a:tcPr marL="121920" marR="121920" marT="60960" marB="60960"/>
                </a:tc>
                <a:extLst>
                  <a:ext uri="{0D108BD9-81ED-4DB2-BD59-A6C34878D82A}">
                    <a16:rowId xmlns:a16="http://schemas.microsoft.com/office/drawing/2014/main" val="10001"/>
                  </a:ext>
                </a:extLst>
              </a:tr>
              <a:tr h="609600">
                <a:tc>
                  <a:txBody>
                    <a:bodyPr/>
                    <a:lstStyle/>
                    <a:p>
                      <a:r>
                        <a:rPr lang="en-US" sz="1600" b="1" dirty="0" err="1">
                          <a:latin typeface="Source Sans Pro" panose="020B0604020202020204" charset="0"/>
                        </a:rPr>
                        <a:t>Kernelized</a:t>
                      </a:r>
                      <a:r>
                        <a:rPr lang="en-US" sz="1600" b="1" baseline="0" dirty="0">
                          <a:latin typeface="Source Sans Pro" panose="020B0604020202020204" charset="0"/>
                        </a:rPr>
                        <a:t> SVM</a:t>
                      </a:r>
                      <a:endParaRPr lang="en-US" sz="1600" b="1" dirty="0">
                        <a:latin typeface="Source Sans Pro" panose="020B0604020202020204" charset="0"/>
                      </a:endParaRPr>
                    </a:p>
                  </a:txBody>
                  <a:tcPr marL="121920" marR="121920" marT="60960" marB="60960"/>
                </a:tc>
                <a:tc>
                  <a:txBody>
                    <a:bodyPr/>
                    <a:lstStyle/>
                    <a:p>
                      <a:pPr algn="ctr"/>
                      <a:r>
                        <a:rPr lang="en-US" sz="1600" dirty="0">
                          <a:latin typeface="Source Sans Pro" panose="020B0604020202020204" charset="0"/>
                        </a:rPr>
                        <a:t>Yes</a:t>
                      </a:r>
                    </a:p>
                  </a:txBody>
                  <a:tcPr marL="121920" marR="121920" marT="60960" marB="60960"/>
                </a:tc>
                <a:tc>
                  <a:txBody>
                    <a:bodyPr/>
                    <a:lstStyle/>
                    <a:p>
                      <a:pPr algn="ctr"/>
                      <a:r>
                        <a:rPr lang="en-US" sz="1600" dirty="0">
                          <a:latin typeface="Source Sans Pro" panose="020B0604020202020204" charset="0"/>
                        </a:rPr>
                        <a:t>No</a:t>
                      </a:r>
                    </a:p>
                  </a:txBody>
                  <a:tcPr marL="121920" marR="121920" marT="60960" marB="60960"/>
                </a:tc>
                <a:tc>
                  <a:txBody>
                    <a:bodyPr/>
                    <a:lstStyle/>
                    <a:p>
                      <a:pPr algn="ctr"/>
                      <a:r>
                        <a:rPr lang="en-US" sz="1600" dirty="0">
                          <a:latin typeface="Source Sans Pro" panose="020B0604020202020204" charset="0"/>
                        </a:rPr>
                        <a:t>No</a:t>
                      </a:r>
                    </a:p>
                  </a:txBody>
                  <a:tcPr marL="121920" marR="121920" marT="60960" marB="60960"/>
                </a:tc>
                <a:extLst>
                  <a:ext uri="{0D108BD9-81ED-4DB2-BD59-A6C34878D82A}">
                    <a16:rowId xmlns:a16="http://schemas.microsoft.com/office/drawing/2014/main" val="10002"/>
                  </a:ext>
                </a:extLst>
              </a:tr>
              <a:tr h="645516">
                <a:tc>
                  <a:txBody>
                    <a:bodyPr/>
                    <a:lstStyle/>
                    <a:p>
                      <a:r>
                        <a:rPr lang="en-US" sz="1600" b="1" dirty="0">
                          <a:latin typeface="Source Sans Pro" panose="020B0604020202020204" charset="0"/>
                        </a:rPr>
                        <a:t>Hyper-parameters</a:t>
                      </a:r>
                    </a:p>
                  </a:txBody>
                  <a:tcPr marL="121920" marR="121920" marT="60960" marB="60960"/>
                </a:tc>
                <a:tc>
                  <a:txBody>
                    <a:bodyPr/>
                    <a:lstStyle/>
                    <a:p>
                      <a:r>
                        <a:rPr lang="en-US" sz="1600" dirty="0">
                          <a:latin typeface="Source Sans Pro" panose="020B0604020202020204" charset="0"/>
                        </a:rPr>
                        <a:t>C, kernel (poly, linear or </a:t>
                      </a:r>
                      <a:r>
                        <a:rPr lang="en-US" sz="1600" dirty="0" err="1">
                          <a:latin typeface="Source Sans Pro" panose="020B0604020202020204" charset="0"/>
                        </a:rPr>
                        <a:t>rbf</a:t>
                      </a:r>
                      <a:r>
                        <a:rPr lang="en-US" sz="1600" dirty="0">
                          <a:latin typeface="Source Sans Pro" panose="020B0604020202020204" charset="0"/>
                        </a:rPr>
                        <a:t>), gamma</a:t>
                      </a:r>
                      <a:r>
                        <a:rPr lang="en-US" sz="1600" baseline="0" dirty="0">
                          <a:latin typeface="Source Sans Pro" panose="020B0604020202020204" charset="0"/>
                        </a:rPr>
                        <a:t>, d</a:t>
                      </a:r>
                      <a:r>
                        <a:rPr lang="en-US" sz="1600" dirty="0">
                          <a:latin typeface="Source Sans Pro" panose="020B0604020202020204" charset="0"/>
                        </a:rPr>
                        <a:t>egree,  </a:t>
                      </a:r>
                      <a:r>
                        <a:rPr lang="en-US" sz="1600" dirty="0" err="1">
                          <a:latin typeface="Source Sans Pro" panose="020B0604020202020204" charset="0"/>
                        </a:rPr>
                        <a:t>class</a:t>
                      </a:r>
                      <a:r>
                        <a:rPr lang="en-US" sz="1600" dirty="0" err="1">
                          <a:latin typeface="+mn-lt"/>
                        </a:rPr>
                        <a:t>_</a:t>
                      </a:r>
                      <a:r>
                        <a:rPr lang="en-US" sz="1600" dirty="0" err="1">
                          <a:latin typeface="Source Sans Pro" panose="020B0604020202020204" charset="0"/>
                        </a:rPr>
                        <a:t>weight</a:t>
                      </a:r>
                      <a:endParaRPr lang="en-US" sz="1600" dirty="0">
                        <a:latin typeface="Source Sans Pro" panose="020B0604020202020204" charset="0"/>
                      </a:endParaRPr>
                    </a:p>
                  </a:txBody>
                  <a:tcPr marL="121920" marR="121920" marT="60960" marB="60960"/>
                </a:tc>
                <a:tc>
                  <a:txBody>
                    <a:bodyPr/>
                    <a:lstStyle/>
                    <a:p>
                      <a:pPr algn="l"/>
                      <a:r>
                        <a:rPr lang="en-US" sz="1600" dirty="0">
                          <a:latin typeface="Source Sans Pro" panose="020B0604020202020204" charset="0"/>
                        </a:rPr>
                        <a:t>C, loss (hinge or </a:t>
                      </a:r>
                      <a:r>
                        <a:rPr lang="en-US" sz="1600" dirty="0" err="1">
                          <a:latin typeface="Source Sans Pro" panose="020B0604020202020204" charset="0"/>
                        </a:rPr>
                        <a:t>squared</a:t>
                      </a:r>
                      <a:r>
                        <a:rPr lang="en-US" sz="1600" dirty="0" err="1">
                          <a:latin typeface="+mn-lt"/>
                        </a:rPr>
                        <a:t>_</a:t>
                      </a:r>
                      <a:r>
                        <a:rPr lang="en-US" sz="1600" dirty="0" err="1">
                          <a:latin typeface="Source Sans Pro" panose="020B0604020202020204" charset="0"/>
                        </a:rPr>
                        <a:t>hinge</a:t>
                      </a:r>
                      <a:r>
                        <a:rPr lang="en-US" sz="1600" dirty="0">
                          <a:latin typeface="Source Sans Pro" panose="020B0604020202020204" charset="0"/>
                        </a:rPr>
                        <a:t>)</a:t>
                      </a:r>
                    </a:p>
                  </a:txBody>
                  <a:tcPr marL="121920" marR="121920" marT="60960" marB="60960"/>
                </a:tc>
                <a:tc>
                  <a:txBody>
                    <a:bodyPr/>
                    <a:lstStyle/>
                    <a:p>
                      <a:r>
                        <a:rPr lang="en-US" sz="1600" dirty="0">
                          <a:latin typeface="Source Sans Pro" panose="020B0604020202020204" charset="0"/>
                        </a:rPr>
                        <a:t>alpha ( equivalent to 1/(n*C)), loss</a:t>
                      </a:r>
                    </a:p>
                  </a:txBody>
                  <a:tcPr marL="121920" marR="121920" marT="60960" marB="60960"/>
                </a:tc>
                <a:extLst>
                  <a:ext uri="{0D108BD9-81ED-4DB2-BD59-A6C34878D82A}">
                    <a16:rowId xmlns:a16="http://schemas.microsoft.com/office/drawing/2014/main" val="10003"/>
                  </a:ext>
                </a:extLst>
              </a:tr>
              <a:tr h="1828800">
                <a:tc>
                  <a:txBody>
                    <a:bodyPr/>
                    <a:lstStyle/>
                    <a:p>
                      <a:r>
                        <a:rPr lang="en-US" sz="1600" b="1" dirty="0">
                          <a:latin typeface="Source Sans Pro" panose="020B0604020202020204" charset="0"/>
                        </a:rPr>
                        <a:t>Time Complexity</a:t>
                      </a:r>
                    </a:p>
                  </a:txBody>
                  <a:tcPr marL="121920" marR="121920" marT="60960" marB="60960"/>
                </a:tc>
                <a:tc>
                  <a:txBody>
                    <a:bodyPr/>
                    <a:lstStyle/>
                    <a:p>
                      <a:pPr marL="171450" indent="-171450">
                        <a:buFontTx/>
                        <a:buChar char="-"/>
                      </a:pPr>
                      <a:r>
                        <a:rPr lang="en-GB" sz="1600" b="0" i="0" u="none" strike="noStrike" cap="none" dirty="0">
                          <a:solidFill>
                            <a:schemeClr val="dk1"/>
                          </a:solidFill>
                          <a:effectLst/>
                          <a:latin typeface="Source Sans Pro" panose="020B0604020202020204" charset="0"/>
                          <a:ea typeface="+mn-ea"/>
                          <a:cs typeface="+mn-cs"/>
                          <a:sym typeface="Arial"/>
                        </a:rPr>
                        <a:t>fit time scales at least </a:t>
                      </a:r>
                      <a:r>
                        <a:rPr lang="en-GB" sz="1600" b="0" i="0" u="none" strike="noStrike" cap="none" dirty="0" err="1">
                          <a:solidFill>
                            <a:schemeClr val="dk1"/>
                          </a:solidFill>
                          <a:effectLst/>
                          <a:latin typeface="Source Sans Pro" panose="020B0604020202020204" charset="0"/>
                          <a:ea typeface="+mn-ea"/>
                          <a:cs typeface="+mn-cs"/>
                          <a:sym typeface="Arial"/>
                        </a:rPr>
                        <a:t>quadratically</a:t>
                      </a:r>
                      <a:r>
                        <a:rPr lang="en-GB" sz="1600" b="0" i="0" u="none" strike="noStrike" cap="none" dirty="0">
                          <a:solidFill>
                            <a:schemeClr val="dk1"/>
                          </a:solidFill>
                          <a:effectLst/>
                          <a:latin typeface="Source Sans Pro" panose="020B0604020202020204" charset="0"/>
                          <a:ea typeface="+mn-ea"/>
                          <a:cs typeface="+mn-cs"/>
                          <a:sym typeface="Arial"/>
                        </a:rPr>
                        <a:t> with the number of samples </a:t>
                      </a:r>
                    </a:p>
                    <a:p>
                      <a:pPr marL="171450" indent="-171450">
                        <a:buFontTx/>
                        <a:buChar char="-"/>
                      </a:pPr>
                      <a:r>
                        <a:rPr lang="en-GB" sz="1600" b="0" i="0" u="none" strike="noStrike" cap="none" dirty="0">
                          <a:solidFill>
                            <a:schemeClr val="dk1"/>
                          </a:solidFill>
                          <a:effectLst/>
                          <a:latin typeface="Source Sans Pro" panose="020B0604020202020204" charset="0"/>
                          <a:ea typeface="+mn-ea"/>
                          <a:cs typeface="+mn-cs"/>
                          <a:sym typeface="Arial"/>
                        </a:rPr>
                        <a:t>may be impractical beyond tens of thousands of samples</a:t>
                      </a:r>
                    </a:p>
                    <a:p>
                      <a:pPr marL="0" indent="0">
                        <a:buFontTx/>
                        <a:buNone/>
                      </a:pPr>
                      <a:r>
                        <a:rPr lang="en-GB" sz="1600" b="0" i="0" u="none" strike="noStrike" cap="none" dirty="0">
                          <a:solidFill>
                            <a:schemeClr val="dk1"/>
                          </a:solidFill>
                          <a:effectLst/>
                          <a:latin typeface="Source Sans Pro" panose="020B0604020202020204" charset="0"/>
                          <a:ea typeface="+mn-ea"/>
                          <a:cs typeface="+mn-cs"/>
                          <a:sym typeface="Arial"/>
                        </a:rPr>
                        <a:t>    </a:t>
                      </a:r>
                    </a:p>
                    <a:p>
                      <a:pPr marL="0" marR="0" indent="0" algn="l" defTabSz="914400" rtl="0" eaLnBrk="1" fontAlgn="auto" latinLnBrk="0" hangingPunct="1">
                        <a:lnSpc>
                          <a:spcPct val="100000"/>
                        </a:lnSpc>
                        <a:spcBef>
                          <a:spcPts val="0"/>
                        </a:spcBef>
                        <a:spcAft>
                          <a:spcPts val="0"/>
                        </a:spcAft>
                        <a:buClr>
                          <a:srgbClr val="000000"/>
                        </a:buClr>
                        <a:buSzTx/>
                        <a:buFontTx/>
                        <a:buNone/>
                        <a:tabLst/>
                        <a:defRPr/>
                      </a:pPr>
                      <a:r>
                        <a:rPr lang="en-GB" sz="1600" b="0" i="0" u="none" strike="noStrike" cap="none" dirty="0">
                          <a:solidFill>
                            <a:schemeClr val="dk1"/>
                          </a:solidFill>
                          <a:effectLst/>
                          <a:latin typeface="Source Sans Pro" panose="020B0604020202020204" charset="0"/>
                          <a:ea typeface="+mn-ea"/>
                          <a:cs typeface="+mn-cs"/>
                          <a:sym typeface="Arial"/>
                        </a:rPr>
                        <a:t>O(</a:t>
                      </a:r>
                      <a:r>
                        <a:rPr lang="en-US" sz="1600" b="0" i="0" u="none" strike="noStrike" cap="none" dirty="0">
                          <a:solidFill>
                            <a:schemeClr val="dk1"/>
                          </a:solidFill>
                          <a:effectLst/>
                          <a:latin typeface="+mn-lt"/>
                          <a:ea typeface="+mn-ea"/>
                          <a:cs typeface="+mn-cs"/>
                          <a:sym typeface="Arial"/>
                        </a:rPr>
                        <a:t>n</a:t>
                      </a:r>
                      <a:r>
                        <a:rPr lang="en-US" sz="1600" b="0" i="0" u="none" strike="noStrike" cap="none" baseline="30000" dirty="0">
                          <a:solidFill>
                            <a:schemeClr val="dk1"/>
                          </a:solidFill>
                          <a:effectLst/>
                          <a:latin typeface="+mn-lt"/>
                          <a:ea typeface="+mn-ea"/>
                          <a:cs typeface="+mn-cs"/>
                          <a:sym typeface="Arial"/>
                        </a:rPr>
                        <a:t>2</a:t>
                      </a:r>
                      <a:r>
                        <a:rPr lang="en-GB" sz="1600" b="0" i="0" u="none" strike="noStrike" cap="none" dirty="0">
                          <a:solidFill>
                            <a:schemeClr val="dk1"/>
                          </a:solidFill>
                          <a:effectLst/>
                          <a:latin typeface="Source Sans Pro" panose="020B0604020202020204" charset="0"/>
                          <a:ea typeface="+mn-ea"/>
                          <a:cs typeface="+mn-cs"/>
                          <a:sym typeface="Arial"/>
                        </a:rPr>
                        <a:t>p) to O(</a:t>
                      </a:r>
                      <a:r>
                        <a:rPr lang="en-US" sz="1600" b="0" i="0" u="none" strike="noStrike" cap="none" dirty="0">
                          <a:solidFill>
                            <a:schemeClr val="dk1"/>
                          </a:solidFill>
                          <a:effectLst/>
                          <a:latin typeface="+mn-lt"/>
                          <a:ea typeface="+mn-ea"/>
                          <a:cs typeface="+mn-cs"/>
                          <a:sym typeface="Arial"/>
                        </a:rPr>
                        <a:t>n</a:t>
                      </a:r>
                      <a:r>
                        <a:rPr lang="en-US" sz="1600" b="0" i="0" u="none" strike="noStrike" cap="none" baseline="30000" dirty="0">
                          <a:solidFill>
                            <a:schemeClr val="dk1"/>
                          </a:solidFill>
                          <a:effectLst/>
                          <a:latin typeface="+mn-lt"/>
                          <a:ea typeface="+mn-ea"/>
                          <a:cs typeface="+mn-cs"/>
                          <a:sym typeface="Arial"/>
                        </a:rPr>
                        <a:t>3</a:t>
                      </a:r>
                      <a:r>
                        <a:rPr lang="en-GB" sz="1600" b="0" i="0" u="none" strike="noStrike" cap="none" dirty="0">
                          <a:solidFill>
                            <a:schemeClr val="dk1"/>
                          </a:solidFill>
                          <a:effectLst/>
                          <a:latin typeface="Source Sans Pro" panose="020B0604020202020204" charset="0"/>
                          <a:ea typeface="+mn-ea"/>
                          <a:cs typeface="+mn-cs"/>
                          <a:sym typeface="Arial"/>
                        </a:rPr>
                        <a:t>p)</a:t>
                      </a:r>
                    </a:p>
                  </a:txBody>
                  <a:tcPr marL="121920" marR="121920" marT="60960" marB="60960"/>
                </a:tc>
                <a:tc>
                  <a:txBody>
                    <a:bodyPr/>
                    <a:lstStyle/>
                    <a:p>
                      <a:pPr marL="171450" marR="0" indent="-171450" algn="l" defTabSz="914400" rtl="0" eaLnBrk="1" fontAlgn="auto" latinLnBrk="0" hangingPunct="1">
                        <a:lnSpc>
                          <a:spcPct val="100000"/>
                        </a:lnSpc>
                        <a:spcBef>
                          <a:spcPts val="0"/>
                        </a:spcBef>
                        <a:spcAft>
                          <a:spcPts val="0"/>
                        </a:spcAft>
                        <a:buClr>
                          <a:srgbClr val="000000"/>
                        </a:buClr>
                        <a:buSzTx/>
                        <a:buFontTx/>
                        <a:buChar char="-"/>
                        <a:tabLst/>
                        <a:defRPr/>
                      </a:pPr>
                      <a:r>
                        <a:rPr lang="en-GB" sz="1600" b="0" i="0" u="none" strike="noStrike" cap="none" dirty="0">
                          <a:solidFill>
                            <a:schemeClr val="dk1"/>
                          </a:solidFill>
                          <a:effectLst/>
                          <a:latin typeface="Source Sans Pro" panose="020B0604020202020204" charset="0"/>
                          <a:ea typeface="+mn-ea"/>
                          <a:cs typeface="+mn-cs"/>
                          <a:sym typeface="Arial"/>
                        </a:rPr>
                        <a:t>fit time scales linearly</a:t>
                      </a:r>
                      <a:r>
                        <a:rPr lang="en-GB" sz="1600" b="0" i="0" u="none" strike="noStrike" cap="none" baseline="0" dirty="0">
                          <a:solidFill>
                            <a:schemeClr val="dk1"/>
                          </a:solidFill>
                          <a:effectLst/>
                          <a:latin typeface="Source Sans Pro" panose="020B0604020202020204" charset="0"/>
                          <a:ea typeface="+mn-ea"/>
                          <a:cs typeface="+mn-cs"/>
                          <a:sym typeface="Arial"/>
                        </a:rPr>
                        <a:t> </a:t>
                      </a:r>
                      <a:r>
                        <a:rPr lang="en-GB" sz="1600" b="0" i="0" u="none" strike="noStrike" cap="none" dirty="0">
                          <a:solidFill>
                            <a:schemeClr val="dk1"/>
                          </a:solidFill>
                          <a:effectLst/>
                          <a:latin typeface="Source Sans Pro" panose="020B0604020202020204" charset="0"/>
                          <a:ea typeface="+mn-ea"/>
                          <a:cs typeface="+mn-cs"/>
                          <a:sym typeface="Arial"/>
                        </a:rPr>
                        <a:t>with the number of samples </a:t>
                      </a:r>
                    </a:p>
                    <a:p>
                      <a:pPr marL="171450" marR="0" indent="-171450" algn="l" defTabSz="914400" rtl="0" eaLnBrk="1" fontAlgn="auto" latinLnBrk="0" hangingPunct="1">
                        <a:lnSpc>
                          <a:spcPct val="100000"/>
                        </a:lnSpc>
                        <a:spcBef>
                          <a:spcPts val="0"/>
                        </a:spcBef>
                        <a:spcAft>
                          <a:spcPts val="0"/>
                        </a:spcAft>
                        <a:buClr>
                          <a:srgbClr val="000000"/>
                        </a:buClr>
                        <a:buSzTx/>
                        <a:buFontTx/>
                        <a:buChar char="-"/>
                        <a:tabLst/>
                        <a:defRPr/>
                      </a:pPr>
                      <a:r>
                        <a:rPr lang="en-GB" sz="1600" b="0" i="0" u="none" strike="noStrike" cap="none" dirty="0">
                          <a:solidFill>
                            <a:schemeClr val="dk1"/>
                          </a:solidFill>
                          <a:effectLst/>
                          <a:latin typeface="Source Sans Pro" panose="020B0604020202020204" charset="0"/>
                          <a:ea typeface="+mn-ea"/>
                          <a:cs typeface="+mn-cs"/>
                          <a:sym typeface="Arial"/>
                        </a:rPr>
                        <a:t>can be used with large datasets</a:t>
                      </a: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600" b="0" i="0" u="none" strike="noStrike" cap="none" dirty="0">
                          <a:solidFill>
                            <a:schemeClr val="dk1"/>
                          </a:solidFill>
                          <a:effectLst/>
                          <a:latin typeface="Source Sans Pro" panose="020B0604020202020204" charset="0"/>
                          <a:ea typeface="+mn-ea"/>
                          <a:cs typeface="+mn-cs"/>
                          <a:sym typeface="Arial"/>
                        </a:rPr>
                        <a:t>    </a:t>
                      </a: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GB" sz="1600" b="0" i="0" u="none" strike="noStrike" cap="none" dirty="0">
                        <a:solidFill>
                          <a:schemeClr val="dk1"/>
                        </a:solidFill>
                        <a:effectLst/>
                        <a:latin typeface="Source Sans Pro" panose="020B0604020202020204" charset="0"/>
                        <a:ea typeface="+mn-ea"/>
                        <a:cs typeface="+mn-cs"/>
                        <a:sym typeface="Arial"/>
                      </a:endParaRP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600" b="0" i="0" u="none" strike="noStrike" cap="none" dirty="0">
                          <a:solidFill>
                            <a:schemeClr val="dk1"/>
                          </a:solidFill>
                          <a:effectLst/>
                          <a:latin typeface="Source Sans Pro" panose="020B0604020202020204" charset="0"/>
                          <a:ea typeface="+mn-ea"/>
                          <a:cs typeface="+mn-cs"/>
                          <a:sym typeface="Arial"/>
                        </a:rPr>
                        <a:t>O(np) </a:t>
                      </a:r>
                    </a:p>
                  </a:txBody>
                  <a:tcPr marL="121920" marR="121920" marT="60960" marB="60960"/>
                </a:tc>
                <a:tc>
                  <a:txBody>
                    <a:bodyPr/>
                    <a:lstStyle/>
                    <a:p>
                      <a:pPr marL="171450" marR="0" indent="-171450" algn="l" defTabSz="914400" rtl="0" eaLnBrk="1" fontAlgn="auto" latinLnBrk="0" hangingPunct="1">
                        <a:lnSpc>
                          <a:spcPct val="100000"/>
                        </a:lnSpc>
                        <a:spcBef>
                          <a:spcPts val="0"/>
                        </a:spcBef>
                        <a:spcAft>
                          <a:spcPts val="0"/>
                        </a:spcAft>
                        <a:buClr>
                          <a:srgbClr val="000000"/>
                        </a:buClr>
                        <a:buSzTx/>
                        <a:buFontTx/>
                        <a:buChar char="-"/>
                        <a:tabLst/>
                        <a:defRPr/>
                      </a:pPr>
                      <a:r>
                        <a:rPr lang="en-GB" sz="1600" b="0" i="0" u="none" strike="noStrike" cap="none" dirty="0">
                          <a:solidFill>
                            <a:schemeClr val="dk1"/>
                          </a:solidFill>
                          <a:effectLst/>
                          <a:latin typeface="Source Sans Pro" panose="020B0604020202020204" charset="0"/>
                          <a:ea typeface="+mn-ea"/>
                          <a:cs typeface="+mn-cs"/>
                          <a:sym typeface="Arial"/>
                        </a:rPr>
                        <a:t>fit time scales linearly</a:t>
                      </a:r>
                      <a:r>
                        <a:rPr lang="en-GB" sz="1600" b="0" i="0" u="none" strike="noStrike" cap="none" baseline="0" dirty="0">
                          <a:solidFill>
                            <a:schemeClr val="dk1"/>
                          </a:solidFill>
                          <a:effectLst/>
                          <a:latin typeface="Source Sans Pro" panose="020B0604020202020204" charset="0"/>
                          <a:ea typeface="+mn-ea"/>
                          <a:cs typeface="+mn-cs"/>
                          <a:sym typeface="Arial"/>
                        </a:rPr>
                        <a:t> </a:t>
                      </a:r>
                      <a:r>
                        <a:rPr lang="en-GB" sz="1600" b="0" i="0" u="none" strike="noStrike" cap="none" dirty="0">
                          <a:solidFill>
                            <a:schemeClr val="dk1"/>
                          </a:solidFill>
                          <a:effectLst/>
                          <a:latin typeface="Source Sans Pro" panose="020B0604020202020204" charset="0"/>
                          <a:ea typeface="+mn-ea"/>
                          <a:cs typeface="+mn-cs"/>
                          <a:sym typeface="Arial"/>
                        </a:rPr>
                        <a:t>with the number of samples </a:t>
                      </a:r>
                    </a:p>
                    <a:p>
                      <a:pPr marL="171450" marR="0" indent="-171450" algn="l" defTabSz="914400" rtl="0" eaLnBrk="1" fontAlgn="auto" latinLnBrk="0" hangingPunct="1">
                        <a:lnSpc>
                          <a:spcPct val="100000"/>
                        </a:lnSpc>
                        <a:spcBef>
                          <a:spcPts val="0"/>
                        </a:spcBef>
                        <a:spcAft>
                          <a:spcPts val="0"/>
                        </a:spcAft>
                        <a:buClr>
                          <a:srgbClr val="000000"/>
                        </a:buClr>
                        <a:buSzTx/>
                        <a:buFontTx/>
                        <a:buChar char="-"/>
                        <a:tabLst/>
                        <a:defRPr/>
                      </a:pPr>
                      <a:r>
                        <a:rPr lang="en-GB" sz="1600" b="0" i="0" u="none" strike="noStrike" cap="none" dirty="0">
                          <a:solidFill>
                            <a:schemeClr val="dk1"/>
                          </a:solidFill>
                          <a:effectLst/>
                          <a:latin typeface="Source Sans Pro" panose="020B0604020202020204" charset="0"/>
                          <a:ea typeface="+mn-ea"/>
                          <a:cs typeface="+mn-cs"/>
                          <a:sym typeface="Arial"/>
                        </a:rPr>
                        <a:t>can be used with large datasets</a:t>
                      </a:r>
                    </a:p>
                    <a:p>
                      <a:pPr marL="171450" marR="0" indent="-171450" algn="l" defTabSz="914400" rtl="0" eaLnBrk="1" fontAlgn="auto" latinLnBrk="0" hangingPunct="1">
                        <a:lnSpc>
                          <a:spcPct val="100000"/>
                        </a:lnSpc>
                        <a:spcBef>
                          <a:spcPts val="0"/>
                        </a:spcBef>
                        <a:spcAft>
                          <a:spcPts val="0"/>
                        </a:spcAft>
                        <a:buClr>
                          <a:srgbClr val="000000"/>
                        </a:buClr>
                        <a:buSzTx/>
                        <a:buFontTx/>
                        <a:buChar char="-"/>
                        <a:tabLst/>
                        <a:defRPr/>
                      </a:pPr>
                      <a:r>
                        <a:rPr lang="en-GB" sz="1600" b="0" i="0" u="none" strike="noStrike" cap="none" dirty="0">
                          <a:solidFill>
                            <a:schemeClr val="dk1"/>
                          </a:solidFill>
                          <a:effectLst/>
                          <a:latin typeface="Source Sans Pro" panose="020B0604020202020204" charset="0"/>
                          <a:ea typeface="+mn-ea"/>
                          <a:cs typeface="+mn-cs"/>
                          <a:sym typeface="Arial"/>
                        </a:rPr>
                        <a:t>can be used for online learning</a:t>
                      </a:r>
                    </a:p>
                    <a:p>
                      <a:pPr marL="0" marR="0" indent="0" algn="l" defTabSz="914400" rtl="0" eaLnBrk="1" fontAlgn="auto" latinLnBrk="0" hangingPunct="1">
                        <a:lnSpc>
                          <a:spcPct val="100000"/>
                        </a:lnSpc>
                        <a:spcBef>
                          <a:spcPts val="0"/>
                        </a:spcBef>
                        <a:spcAft>
                          <a:spcPts val="0"/>
                        </a:spcAft>
                        <a:buClr>
                          <a:srgbClr val="000000"/>
                        </a:buClr>
                        <a:buSzTx/>
                        <a:buFontTx/>
                        <a:buNone/>
                        <a:tabLst/>
                        <a:defRPr/>
                      </a:pPr>
                      <a:r>
                        <a:rPr lang="en-GB" sz="1600" b="0" i="0" u="none" strike="noStrike" cap="none" dirty="0">
                          <a:solidFill>
                            <a:schemeClr val="dk1"/>
                          </a:solidFill>
                          <a:effectLst/>
                          <a:latin typeface="Source Sans Pro" panose="020B0604020202020204" charset="0"/>
                          <a:ea typeface="+mn-ea"/>
                          <a:cs typeface="+mn-cs"/>
                          <a:sym typeface="Arial"/>
                        </a:rPr>
                        <a:t>    </a:t>
                      </a:r>
                    </a:p>
                    <a:p>
                      <a:pPr marL="0" marR="0" indent="0" algn="l" defTabSz="914400" rtl="0" eaLnBrk="1" fontAlgn="auto" latinLnBrk="0" hangingPunct="1">
                        <a:lnSpc>
                          <a:spcPct val="100000"/>
                        </a:lnSpc>
                        <a:spcBef>
                          <a:spcPts val="0"/>
                        </a:spcBef>
                        <a:spcAft>
                          <a:spcPts val="0"/>
                        </a:spcAft>
                        <a:buClr>
                          <a:srgbClr val="000000"/>
                        </a:buClr>
                        <a:buSzTx/>
                        <a:buFontTx/>
                        <a:buNone/>
                        <a:tabLst/>
                        <a:defRPr/>
                      </a:pPr>
                      <a:r>
                        <a:rPr lang="en-GB" sz="1600" b="0" i="0" u="none" strike="noStrike" cap="none" dirty="0">
                          <a:solidFill>
                            <a:schemeClr val="dk1"/>
                          </a:solidFill>
                          <a:effectLst/>
                          <a:latin typeface="Source Sans Pro" panose="020B0604020202020204" charset="0"/>
                          <a:ea typeface="+mn-ea"/>
                          <a:cs typeface="+mn-cs"/>
                          <a:sym typeface="Arial"/>
                        </a:rPr>
                        <a:t>O(np)</a:t>
                      </a:r>
                    </a:p>
                  </a:txBody>
                  <a:tcPr marL="121920" marR="121920" marT="60960" marB="60960"/>
                </a:tc>
                <a:extLst>
                  <a:ext uri="{0D108BD9-81ED-4DB2-BD59-A6C34878D82A}">
                    <a16:rowId xmlns:a16="http://schemas.microsoft.com/office/drawing/2014/main" val="10004"/>
                  </a:ext>
                </a:extLst>
              </a:tr>
              <a:tr h="645516">
                <a:tc>
                  <a:txBody>
                    <a:bodyPr/>
                    <a:lstStyle/>
                    <a:p>
                      <a:r>
                        <a:rPr lang="en-US" sz="1600" b="1" dirty="0">
                          <a:latin typeface="Source Sans Pro" panose="020B0604020202020204" charset="0"/>
                        </a:rPr>
                        <a:t>Multi-class</a:t>
                      </a:r>
                    </a:p>
                  </a:txBody>
                  <a:tcPr marL="121920" marR="121920" marT="60960" marB="60960"/>
                </a:tc>
                <a:tc>
                  <a:txBody>
                    <a:bodyPr/>
                    <a:lstStyle/>
                    <a:p>
                      <a:pPr algn="ctr"/>
                      <a:r>
                        <a:rPr lang="en-GB" sz="1600" b="0" i="0" u="none" strike="noStrike" cap="none" dirty="0">
                          <a:solidFill>
                            <a:schemeClr val="dk1"/>
                          </a:solidFill>
                          <a:effectLst/>
                          <a:latin typeface="Source Sans Pro" panose="020B0604020202020204" charset="0"/>
                          <a:ea typeface="+mn-ea"/>
                          <a:cs typeface="+mn-cs"/>
                          <a:sym typeface="Arial"/>
                        </a:rPr>
                        <a:t>one-vs-one scheme</a:t>
                      </a:r>
                    </a:p>
                  </a:txBody>
                  <a:tcPr marL="121920" marR="121920" marT="60960" marB="60960"/>
                </a:tc>
                <a:tc>
                  <a:txBody>
                    <a:bodyPr/>
                    <a:lstStyle/>
                    <a:p>
                      <a:pPr algn="ctr"/>
                      <a:r>
                        <a:rPr lang="en-GB" sz="1600" b="0" i="0" u="none" strike="noStrike" cap="none" dirty="0">
                          <a:solidFill>
                            <a:schemeClr val="dk1"/>
                          </a:solidFill>
                          <a:effectLst/>
                          <a:latin typeface="Source Sans Pro" panose="020B0604020202020204" charset="0"/>
                          <a:ea typeface="+mn-ea"/>
                          <a:cs typeface="+mn-cs"/>
                          <a:sym typeface="Arial"/>
                        </a:rPr>
                        <a:t>one-vs-the-rest scheme</a:t>
                      </a:r>
                      <a:endParaRPr lang="en-US" sz="1600" dirty="0">
                        <a:latin typeface="Source Sans Pro" panose="020B0604020202020204" charset="0"/>
                      </a:endParaRPr>
                    </a:p>
                  </a:txBody>
                  <a:tcPr marL="121920" marR="121920" marT="60960" marB="60960"/>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600" b="0" i="0" u="none" strike="noStrike" cap="none" dirty="0">
                          <a:solidFill>
                            <a:schemeClr val="dk1"/>
                          </a:solidFill>
                          <a:effectLst/>
                          <a:latin typeface="Source Sans Pro" panose="020B0604020202020204" charset="0"/>
                          <a:ea typeface="+mn-ea"/>
                          <a:cs typeface="+mn-cs"/>
                          <a:sym typeface="Arial"/>
                        </a:rPr>
                        <a:t>one-vs-the-rest scheme</a:t>
                      </a:r>
                      <a:endParaRPr lang="en-US" sz="1600" dirty="0">
                        <a:latin typeface="Source Sans Pro" panose="020B0604020202020204" charset="0"/>
                      </a:endParaRPr>
                    </a:p>
                    <a:p>
                      <a:endParaRPr lang="en-US" sz="1600" dirty="0">
                        <a:latin typeface="Source Sans Pro" panose="020B0604020202020204" charset="0"/>
                      </a:endParaRPr>
                    </a:p>
                  </a:txBody>
                  <a:tcPr marL="121920" marR="121920" marT="60960" marB="60960"/>
                </a:tc>
                <a:extLst>
                  <a:ext uri="{0D108BD9-81ED-4DB2-BD59-A6C34878D82A}">
                    <a16:rowId xmlns:a16="http://schemas.microsoft.com/office/drawing/2014/main" val="10005"/>
                  </a:ext>
                </a:extLst>
              </a:tr>
            </a:tbl>
          </a:graphicData>
        </a:graphic>
      </p:graphicFrame>
      <p:pic>
        <p:nvPicPr>
          <p:cNvPr id="3" name="Picture 2"/>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1650570" y="977865"/>
            <a:ext cx="3365461" cy="1317936"/>
          </a:xfrm>
          <a:prstGeom prst="rect">
            <a:avLst/>
          </a:prstGeom>
        </p:spPr>
      </p:pic>
      <p:pic>
        <p:nvPicPr>
          <p:cNvPr id="9" name="Picture 8"/>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5302000" y="1296479"/>
            <a:ext cx="3009811" cy="922656"/>
          </a:xfrm>
          <a:prstGeom prst="rect">
            <a:avLst/>
          </a:prstGeom>
        </p:spPr>
      </p:pic>
      <p:pic>
        <p:nvPicPr>
          <p:cNvPr id="13" name="Picture 12"/>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8723145" y="1275368"/>
            <a:ext cx="3127683" cy="922656"/>
          </a:xfrm>
          <a:prstGeom prst="rect">
            <a:avLst/>
          </a:prstGeom>
        </p:spPr>
      </p:pic>
      <p:sp>
        <p:nvSpPr>
          <p:cNvPr id="4" name="TextBox 3"/>
          <p:cNvSpPr txBox="1"/>
          <p:nvPr/>
        </p:nvSpPr>
        <p:spPr>
          <a:xfrm>
            <a:off x="3262186" y="6194854"/>
            <a:ext cx="7051589" cy="338554"/>
          </a:xfrm>
          <a:prstGeom prst="rect">
            <a:avLst/>
          </a:prstGeom>
          <a:noFill/>
        </p:spPr>
        <p:txBody>
          <a:bodyPr wrap="square" rtlCol="0">
            <a:spAutoFit/>
          </a:bodyPr>
          <a:lstStyle/>
          <a:p>
            <a:r>
              <a:rPr lang="en-US" sz="1600" dirty="0"/>
              <a:t>Source: book (Hands-on machine learning with scikit-learn) &amp; </a:t>
            </a:r>
            <a:r>
              <a:rPr lang="en-US" sz="1600" dirty="0">
                <a:hlinkClick r:id="rId9"/>
              </a:rPr>
              <a:t>scikit-learn</a:t>
            </a:r>
            <a:r>
              <a:rPr lang="en-US" sz="1600" dirty="0"/>
              <a:t> </a:t>
            </a:r>
          </a:p>
        </p:txBody>
      </p:sp>
    </p:spTree>
    <p:extLst>
      <p:ext uri="{BB962C8B-B14F-4D97-AF65-F5344CB8AC3E}">
        <p14:creationId xmlns:p14="http://schemas.microsoft.com/office/powerpoint/2010/main" val="23702122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Title 2"/>
          <p:cNvSpPr>
            <a:spLocks noGrp="1"/>
          </p:cNvSpPr>
          <p:nvPr>
            <p:ph type="title"/>
          </p:nvPr>
        </p:nvSpPr>
        <p:spPr/>
        <p:txBody>
          <a:bodyPr/>
          <a:lstStyle/>
          <a:p>
            <a:r>
              <a:rPr lang="es" b="1" dirty="0">
                <a:ea typeface="Source Sans Pro"/>
                <a:cs typeface="Source Sans Pro"/>
                <a:sym typeface="Source Sans Pro"/>
              </a:rPr>
              <a:t>Data Preprocessing</a:t>
            </a:r>
            <a:endParaRPr lang="en-US" dirty="0"/>
          </a:p>
        </p:txBody>
      </p:sp>
      <p:sp>
        <p:nvSpPr>
          <p:cNvPr id="2" name="Content Placeholder 1"/>
          <p:cNvSpPr>
            <a:spLocks noGrp="1"/>
          </p:cNvSpPr>
          <p:nvPr>
            <p:ph idx="1"/>
          </p:nvPr>
        </p:nvSpPr>
        <p:spPr/>
        <p:txBody>
          <a:bodyPr>
            <a:normAutofit fontScale="92500" lnSpcReduction="10000"/>
          </a:bodyPr>
          <a:lstStyle/>
          <a:p>
            <a:pPr marL="626530" indent="-457200">
              <a:lnSpc>
                <a:spcPct val="140000"/>
              </a:lnSpc>
              <a:spcBef>
                <a:spcPts val="1333"/>
              </a:spcBef>
              <a:buSzPct val="100000"/>
            </a:pPr>
            <a:r>
              <a:rPr lang="en-US" dirty="0">
                <a:ea typeface="Source Sans Pro"/>
                <a:cs typeface="Source Sans Pro"/>
                <a:sym typeface="Source Sans Pro"/>
              </a:rPr>
              <a:t>Scaling data features before training SVM is very important.</a:t>
            </a:r>
          </a:p>
          <a:p>
            <a:pPr marL="626530" indent="-457200">
              <a:lnSpc>
                <a:spcPct val="140000"/>
              </a:lnSpc>
              <a:spcBef>
                <a:spcPts val="1333"/>
              </a:spcBef>
              <a:buSzPct val="100000"/>
            </a:pPr>
            <a:r>
              <a:rPr lang="en-US" dirty="0">
                <a:ea typeface="Source Sans Pro"/>
                <a:cs typeface="Source Sans Pro"/>
                <a:sym typeface="Source Sans Pro"/>
              </a:rPr>
              <a:t>It avoids features with large range of values dominating features with smaller range of values.</a:t>
            </a:r>
          </a:p>
          <a:p>
            <a:pPr marL="626530" indent="-457200">
              <a:lnSpc>
                <a:spcPct val="140000"/>
              </a:lnSpc>
              <a:spcBef>
                <a:spcPts val="1333"/>
              </a:spcBef>
              <a:buSzPct val="100000"/>
            </a:pPr>
            <a:r>
              <a:rPr lang="en-US" dirty="0">
                <a:ea typeface="Source Sans Pro"/>
                <a:cs typeface="Source Sans Pro"/>
                <a:sym typeface="Source Sans Pro"/>
              </a:rPr>
              <a:t>It avoids any numerical problems or difficulties that can happen during computation (it can help with faster convergence).</a:t>
            </a:r>
          </a:p>
          <a:p>
            <a:pPr marL="626530" indent="-457200">
              <a:lnSpc>
                <a:spcPct val="140000"/>
              </a:lnSpc>
              <a:spcBef>
                <a:spcPts val="1333"/>
              </a:spcBef>
              <a:buSzPct val="100000"/>
            </a:pPr>
            <a:r>
              <a:rPr lang="en-US" dirty="0">
                <a:ea typeface="Source Sans Pro"/>
                <a:cs typeface="Source Sans Pro"/>
                <a:sym typeface="Source Sans Pro"/>
              </a:rPr>
              <a:t>Test set should be scaled in the same way that the training set was scaled.</a:t>
            </a:r>
          </a:p>
          <a:p>
            <a:pPr marL="0" indent="0">
              <a:buNone/>
            </a:pPr>
            <a:endParaRPr lang="en-US" dirty="0"/>
          </a:p>
        </p:txBody>
      </p:sp>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spTree>
    <p:extLst>
      <p:ext uri="{BB962C8B-B14F-4D97-AF65-F5344CB8AC3E}">
        <p14:creationId xmlns:p14="http://schemas.microsoft.com/office/powerpoint/2010/main" val="22423495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3" name="Title 2">
            <a:extLst>
              <a:ext uri="{FF2B5EF4-FFF2-40B4-BE49-F238E27FC236}">
                <a16:creationId xmlns:a16="http://schemas.microsoft.com/office/drawing/2014/main" id="{B07239F3-903F-4395-BE9C-B2F7D47FE688}"/>
              </a:ext>
            </a:extLst>
          </p:cNvPr>
          <p:cNvSpPr>
            <a:spLocks noGrp="1"/>
          </p:cNvSpPr>
          <p:nvPr>
            <p:ph type="title"/>
          </p:nvPr>
        </p:nvSpPr>
        <p:spPr/>
        <p:txBody>
          <a:bodyPr/>
          <a:lstStyle/>
          <a:p>
            <a:r>
              <a:rPr lang="es" sz="4400" b="1" dirty="0">
                <a:ea typeface="Source Sans Pro"/>
                <a:cs typeface="Source Sans Pro"/>
                <a:sym typeface="Source Sans Pro"/>
              </a:rPr>
              <a:t>Tuning SVM</a:t>
            </a:r>
            <a:endParaRPr lang="en-US" dirty="0"/>
          </a:p>
        </p:txBody>
      </p:sp>
      <p:sp>
        <p:nvSpPr>
          <p:cNvPr id="2" name="Content Placeholder 1"/>
          <p:cNvSpPr>
            <a:spLocks noGrp="1"/>
          </p:cNvSpPr>
          <p:nvPr>
            <p:ph idx="1"/>
          </p:nvPr>
        </p:nvSpPr>
        <p:spPr/>
        <p:txBody>
          <a:bodyPr>
            <a:normAutofit fontScale="70000" lnSpcReduction="20000"/>
          </a:bodyPr>
          <a:lstStyle/>
          <a:p>
            <a:pPr>
              <a:lnSpc>
                <a:spcPct val="120000"/>
              </a:lnSpc>
              <a:spcBef>
                <a:spcPts val="0"/>
              </a:spcBef>
              <a:buSzPct val="100000"/>
            </a:pPr>
            <a:r>
              <a:rPr lang="en-US" dirty="0">
                <a:ea typeface="Source Sans Pro"/>
                <a:cs typeface="Source Sans Pro"/>
                <a:sym typeface="Source Sans Pro"/>
              </a:rPr>
              <a:t>Given a classification task,</a:t>
            </a:r>
          </a:p>
          <a:p>
            <a:pPr indent="0">
              <a:lnSpc>
                <a:spcPct val="120000"/>
              </a:lnSpc>
              <a:spcBef>
                <a:spcPts val="1333"/>
              </a:spcBef>
              <a:buSzPct val="100000"/>
              <a:buNone/>
            </a:pPr>
            <a:r>
              <a:rPr lang="en-US" dirty="0">
                <a:ea typeface="Source Sans Pro"/>
                <a:cs typeface="Source Sans Pro"/>
                <a:sym typeface="Source Sans Pro"/>
              </a:rPr>
              <a:t>	which kernel to choose?</a:t>
            </a:r>
          </a:p>
          <a:p>
            <a:pPr indent="0">
              <a:lnSpc>
                <a:spcPct val="120000"/>
              </a:lnSpc>
              <a:spcBef>
                <a:spcPts val="1333"/>
              </a:spcBef>
              <a:buSzPct val="100000"/>
              <a:buNone/>
            </a:pPr>
            <a:r>
              <a:rPr lang="en-US" dirty="0">
                <a:ea typeface="Source Sans Pro"/>
                <a:cs typeface="Source Sans Pro"/>
                <a:sym typeface="Source Sans Pro"/>
              </a:rPr>
              <a:t>	which kernel parameter values to use?</a:t>
            </a:r>
          </a:p>
          <a:p>
            <a:pPr indent="0">
              <a:lnSpc>
                <a:spcPct val="120000"/>
              </a:lnSpc>
              <a:spcBef>
                <a:spcPts val="1333"/>
              </a:spcBef>
              <a:buSzPct val="100000"/>
              <a:buNone/>
            </a:pPr>
            <a:r>
              <a:rPr lang="en-US" dirty="0">
                <a:ea typeface="Source Sans Pro"/>
                <a:cs typeface="Source Sans Pro"/>
                <a:sym typeface="Source Sans Pro"/>
              </a:rPr>
              <a:t>	which value for C to set?</a:t>
            </a:r>
          </a:p>
          <a:p>
            <a:pPr>
              <a:lnSpc>
                <a:spcPct val="120000"/>
              </a:lnSpc>
              <a:spcBef>
                <a:spcPts val="1333"/>
              </a:spcBef>
              <a:buSzPct val="100000"/>
            </a:pPr>
            <a:r>
              <a:rPr lang="en-US" dirty="0">
                <a:ea typeface="Source Sans Pro"/>
                <a:cs typeface="Source Sans Pro"/>
                <a:sym typeface="Source Sans Pro"/>
              </a:rPr>
              <a:t>Try different combinations and choose the best: use cross validation.</a:t>
            </a:r>
          </a:p>
          <a:p>
            <a:pPr>
              <a:lnSpc>
                <a:spcPct val="120000"/>
              </a:lnSpc>
              <a:spcBef>
                <a:spcPts val="1333"/>
              </a:spcBef>
              <a:buSzPct val="100000"/>
            </a:pPr>
            <a:r>
              <a:rPr lang="en-US" dirty="0">
                <a:ea typeface="Source Sans Pro"/>
                <a:cs typeface="Source Sans Pro"/>
                <a:sym typeface="Source Sans Pro"/>
              </a:rPr>
              <a:t>For C and gamma, a practical method to find the best combination is to try exponential sequences: for more details, check this </a:t>
            </a:r>
            <a:r>
              <a:rPr lang="en-US" dirty="0">
                <a:ea typeface="Source Sans Pro"/>
                <a:cs typeface="Source Sans Pro"/>
                <a:sym typeface="Source Sans Pro"/>
                <a:hlinkClick r:id="rId3"/>
              </a:rPr>
              <a:t>SVM guide</a:t>
            </a:r>
            <a:r>
              <a:rPr lang="en-US" dirty="0">
                <a:ea typeface="Source Sans Pro"/>
                <a:cs typeface="Source Sans Pro"/>
                <a:sym typeface="Source Sans Pro"/>
              </a:rPr>
              <a:t>.</a:t>
            </a:r>
          </a:p>
          <a:p>
            <a:pPr>
              <a:lnSpc>
                <a:spcPct val="120000"/>
              </a:lnSpc>
              <a:spcBef>
                <a:spcPts val="1333"/>
              </a:spcBef>
              <a:buSzPct val="100000"/>
            </a:pPr>
            <a:r>
              <a:rPr lang="en-US" dirty="0">
                <a:ea typeface="Source Sans Pro"/>
                <a:cs typeface="Source Sans Pro"/>
                <a:sym typeface="Source Sans Pro"/>
              </a:rPr>
              <a:t>It is important to keep in mind that kernelized SVM is suitable for small to medium datasets: with large datasets, training a kernelized SVM becomes very slow. Moreover, </a:t>
            </a:r>
            <a:r>
              <a:rPr lang="en-US" dirty="0"/>
              <a:t>If the number of features is much greater than the number of samples, kernelized SVM won’t be suitable.</a:t>
            </a:r>
          </a:p>
          <a:p>
            <a:pPr>
              <a:lnSpc>
                <a:spcPct val="120000"/>
              </a:lnSpc>
              <a:spcBef>
                <a:spcPts val="1333"/>
              </a:spcBef>
              <a:buClr>
                <a:srgbClr val="003B4C"/>
              </a:buClr>
              <a:buSzPct val="100000"/>
            </a:pPr>
            <a:endParaRPr lang="en-US" dirty="0">
              <a:latin typeface="Source Sans Pro"/>
              <a:ea typeface="Source Sans Pro"/>
              <a:cs typeface="Source Sans Pro"/>
              <a:sym typeface="Source Sans Pro"/>
            </a:endParaRPr>
          </a:p>
          <a:p>
            <a:pPr marL="0" indent="0">
              <a:lnSpc>
                <a:spcPct val="120000"/>
              </a:lnSpc>
              <a:buNone/>
            </a:pPr>
            <a:endParaRPr lang="en-US" dirty="0"/>
          </a:p>
        </p:txBody>
      </p:sp>
      <p:sp>
        <p:nvSpPr>
          <p:cNvPr id="193" name="Google Shape;193;p44"/>
          <p:cNvSpPr txBox="1"/>
          <p:nvPr/>
        </p:nvSpPr>
        <p:spPr>
          <a:xfrm>
            <a:off x="2295767" y="2585500"/>
            <a:ext cx="2139600" cy="936000"/>
          </a:xfrm>
          <a:prstGeom prst="rect">
            <a:avLst/>
          </a:prstGeom>
          <a:noFill/>
          <a:ln>
            <a:noFill/>
          </a:ln>
        </p:spPr>
        <p:txBody>
          <a:bodyPr spcFirstLastPara="1" wrap="square" lIns="121900" tIns="121900" rIns="121900" bIns="121900" anchor="t" anchorCtr="0">
            <a:noAutofit/>
          </a:bodyPr>
          <a:lstStyle/>
          <a:p>
            <a:endParaRPr sz="2400">
              <a:latin typeface="Montserrat"/>
              <a:ea typeface="Montserrat"/>
              <a:cs typeface="Montserrat"/>
              <a:sym typeface="Montserrat"/>
            </a:endParaRPr>
          </a:p>
        </p:txBody>
      </p:sp>
    </p:spTree>
    <p:extLst>
      <p:ext uri="{BB962C8B-B14F-4D97-AF65-F5344CB8AC3E}">
        <p14:creationId xmlns:p14="http://schemas.microsoft.com/office/powerpoint/2010/main" val="31746440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6" name="Title 5"/>
          <p:cNvSpPr>
            <a:spLocks noGrp="1"/>
          </p:cNvSpPr>
          <p:nvPr>
            <p:ph type="title"/>
          </p:nvPr>
        </p:nvSpPr>
        <p:spPr/>
        <p:txBody>
          <a:bodyPr/>
          <a:lstStyle/>
          <a:p>
            <a:r>
              <a:rPr lang="en-US" b="1" dirty="0"/>
              <a:t>Final Remarks</a:t>
            </a:r>
          </a:p>
        </p:txBody>
      </p:sp>
      <p:sp>
        <p:nvSpPr>
          <p:cNvPr id="5" name="Content Placeholder 4"/>
          <p:cNvSpPr>
            <a:spLocks noGrp="1"/>
          </p:cNvSpPr>
          <p:nvPr>
            <p:ph idx="1"/>
          </p:nvPr>
        </p:nvSpPr>
        <p:spPr/>
        <p:txBody>
          <a:bodyPr>
            <a:noAutofit/>
          </a:bodyPr>
          <a:lstStyle/>
          <a:p>
            <a:pPr marL="380990" indent="-380990">
              <a:lnSpc>
                <a:spcPct val="100000"/>
              </a:lnSpc>
              <a:buClr>
                <a:schemeClr val="tx1"/>
              </a:buClr>
            </a:pPr>
            <a:r>
              <a:rPr lang="en-US" sz="2400" dirty="0"/>
              <a:t>The decision function depends on a subset of training data: support vectors (memory efficient).</a:t>
            </a:r>
          </a:p>
          <a:p>
            <a:pPr marL="380990" indent="-380990">
              <a:lnSpc>
                <a:spcPct val="100000"/>
              </a:lnSpc>
              <a:buClr>
                <a:schemeClr val="tx1"/>
              </a:buClr>
            </a:pPr>
            <a:r>
              <a:rPr lang="en-US" sz="2400" dirty="0"/>
              <a:t>The regression version of SVM is also implemented in </a:t>
            </a:r>
            <a:r>
              <a:rPr lang="en-US" sz="2400" dirty="0" err="1"/>
              <a:t>scikit</a:t>
            </a:r>
            <a:r>
              <a:rPr lang="en-US" sz="2400" dirty="0"/>
              <a:t>-learn.</a:t>
            </a:r>
          </a:p>
          <a:p>
            <a:pPr marL="380990" indent="-380990">
              <a:lnSpc>
                <a:spcPct val="100000"/>
              </a:lnSpc>
              <a:buClr>
                <a:schemeClr val="tx1"/>
              </a:buClr>
            </a:pPr>
            <a:r>
              <a:rPr lang="en-US" sz="2400" dirty="0"/>
              <a:t>SVM does not output the probabilities of classes, but these probabilities can still be estimated (check </a:t>
            </a:r>
            <a:r>
              <a:rPr lang="en-US" sz="2400" dirty="0">
                <a:hlinkClick r:id="rId3"/>
              </a:rPr>
              <a:t>here</a:t>
            </a:r>
            <a:r>
              <a:rPr lang="en-US" sz="2400" dirty="0"/>
              <a:t>).</a:t>
            </a:r>
          </a:p>
          <a:p>
            <a:pPr marL="380990" indent="-380990">
              <a:lnSpc>
                <a:spcPct val="100000"/>
              </a:lnSpc>
              <a:buClr>
                <a:schemeClr val="tx1"/>
              </a:buClr>
            </a:pPr>
            <a:r>
              <a:rPr lang="en-US" sz="2400" dirty="0"/>
              <a:t>SVM was used for text categorization, image classification, hand-written characters recognition and it was also applied in the biological sciences </a:t>
            </a:r>
            <a:r>
              <a:rPr lang="en-US" sz="2400" dirty="0">
                <a:hlinkClick r:id="rId4"/>
              </a:rPr>
              <a:t>(SVM applications</a:t>
            </a:r>
            <a:r>
              <a:rPr lang="en-US" sz="2400" dirty="0"/>
              <a:t>).</a:t>
            </a:r>
          </a:p>
        </p:txBody>
      </p:sp>
    </p:spTree>
    <p:extLst>
      <p:ext uri="{BB962C8B-B14F-4D97-AF65-F5344CB8AC3E}">
        <p14:creationId xmlns:p14="http://schemas.microsoft.com/office/powerpoint/2010/main" val="27024436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RIGINALHEIGHT" val="141.7698"/>
  <p:tag name="ORIGINALWIDTH" val="1368.191"/>
  <p:tag name="OUTPUTDPI" val="1200"/>
  <p:tag name="LATEXADDIN" val="\documentclass{article}&#10;\usepackage{amsmath}&#10;\pagestyle{empty}&#10;\begin{document}&#10;&#10;&#10;$\{(x^{(i)}, y^{(i)}),\; i = 1, \cdots, n\}$&#10;&#10;\end{document}"/>
  <p:tag name="IGUANATEXSIZE" val="14"/>
  <p:tag name="IGUANATEXCURSOR" val="123"/>
  <p:tag name="TRANSPARENCY" val="True"/>
  <p:tag name="FILENAME" val=""/>
  <p:tag name="INPUTTYPE" val="0"/>
  <p:tag name="LATEXENGINEID" val="1"/>
  <p:tag name="TEMPFOLDER" val="C:\Users\User\Documents\PowerPointLAtex\"/>
</p:tagLst>
</file>

<file path=ppt/tags/tag2.xml><?xml version="1.0" encoding="utf-8"?>
<p:tagLst xmlns:a="http://schemas.openxmlformats.org/drawingml/2006/main" xmlns:r="http://schemas.openxmlformats.org/officeDocument/2006/relationships" xmlns:p="http://schemas.openxmlformats.org/presentationml/2006/main">
  <p:tag name="ORIGINALHEIGHT" val="115.5161"/>
  <p:tag name="ORIGINALWIDTH" val="504.0703"/>
  <p:tag name="OUTPUTDPI" val="1200"/>
  <p:tag name="LATEXADDIN" val="\documentclass{article}&#10;\usepackage{amsmath}&#10;\usepackage{amssymb}&#10;\pagestyle{empty}&#10;\begin{document}&#10;&#10;&#10;$x^{(i)} \in {\rm I\!R}^p$&#10;&#10;\end{document}"/>
  <p:tag name="IGUANATEXSIZE" val="14"/>
  <p:tag name="IGUANATEXCURSOR" val="126"/>
  <p:tag name="TRANSPARENCY" val="True"/>
  <p:tag name="FILENAME" val=""/>
  <p:tag name="INPUTTYPE" val="0"/>
  <p:tag name="LATEXENGINEID" val="1"/>
  <p:tag name="TEMPFOLDER" val="C:\Users\User\Documents\PowerPointLAtex\"/>
</p:tagLst>
</file>

<file path=ppt/tags/tag3.xml><?xml version="1.0" encoding="utf-8"?>
<p:tagLst xmlns:a="http://schemas.openxmlformats.org/drawingml/2006/main" xmlns:r="http://schemas.openxmlformats.org/officeDocument/2006/relationships" xmlns:p="http://schemas.openxmlformats.org/presentationml/2006/main">
  <p:tag name="ORIGINALHEIGHT" val="141.7698"/>
  <p:tag name="ORIGINALWIDTH" val="822.8648"/>
  <p:tag name="OUTPUTDPI" val="1200"/>
  <p:tag name="LATEXADDIN" val="\documentclass{article}&#10;\usepackage{amsmath}&#10;\pagestyle{empty}&#10;\begin{document}&#10;&#10;&#10;$y^{(i)} \in \{+1, -1\}$ &#10;&#10;\end{document}"/>
  <p:tag name="IGUANATEXSIZE" val="14"/>
  <p:tag name="IGUANATEXCURSOR" val="107"/>
  <p:tag name="TRANSPARENCY" val="True"/>
  <p:tag name="FILENAME" val=""/>
  <p:tag name="INPUTTYPE" val="0"/>
  <p:tag name="LATEXENGINEID" val="1"/>
  <p:tag name="TEMPFOLDER" val="C:\Users\User\Documents\PowerPointLAtex\"/>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129.018"/>
  <p:tag name="ORIGINALWIDTH" val="1024.643"/>
  <p:tag name="LATEXADDIN" val="\documentclass{article}&#10;\usepackage{amsmath}&#10;\pagestyle{empty}&#10;\begin{document}&#10;&#10;$x =[x_1, x_2, \cdots, x_p]$&#10;&#10;&#10;\end{document}"/>
  <p:tag name="IGUANATEXSIZE" val="20"/>
  <p:tag name="IGUANATEXCURSOR" val="107"/>
  <p:tag name="TRANSPARENCY" val="True"/>
  <p:tag name="FILENAME" val=""/>
  <p:tag name="LATEXENGINEID" val="1"/>
  <p:tag name="TEMPFOLDER" val="C:\Users\anas\Documents\iguana\"/>
  <p:tag name="LATEXFORMHEIGHT" val="313.2"/>
  <p:tag name="LATEXFORMWIDTH" val="384"/>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RIGINALHEIGHT" val="347.2985"/>
  <p:tag name="ORIGINALWIDTH" val="888.874"/>
  <p:tag name="OUTPUTDPI" val="1200"/>
  <p:tag name="LATEXADDIN" val="\documentclass{article}&#10;\usepackage{amsmath}&#10;\pagestyle{empty}&#10;\begin{document}&#10;&#10;&#10;\begin{align*}&#10;(1)\;\; w^Tx+b &gt; 0 \\&#10;(2) \;\; w^Tx+b&lt;0&#10;\end{align*}&#10;&#10;\end{document}"/>
  <p:tag name="IGUANATEXSIZE" val="14"/>
  <p:tag name="IGUANATEXCURSOR" val="136"/>
  <p:tag name="TRANSPARENCY" val="True"/>
  <p:tag name="FILENAME" val=""/>
  <p:tag name="INPUTTYPE" val="0"/>
  <p:tag name="LATEXENGINEID" val="1"/>
  <p:tag name="TEMPFOLDER" val="C:\Users\User\Documents\PowerPointLAtex\"/>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354.0494"/>
  <p:tag name="ORIGINALWIDTH" val="1509.961"/>
  <p:tag name="LATEXADDIN" val="\documentclass{article}&#10;\usepackage{amsmath}&#10;\pagestyle{empty}&#10;\begin{document}&#10;&#10;&#10;\begin{align*}&#10;\;\; &amp;w^Tx^{(i)}+b &gt; 0 \;\;\; \text{if } y^{(i)}=+1\\&#10;\;\; &amp;w^Tx^{(i)}+b&lt;0  \; \;\; \text{if } y^{(i)}=-1&#10;\end{align*}&#10;&#10;\end{document}"/>
  <p:tag name="IGUANATEXSIZE" val="14"/>
  <p:tag name="IGUANATEXCURSOR" val="151"/>
  <p:tag name="TRANSPARENCY" val="True"/>
  <p:tag name="FILENAME" val=""/>
  <p:tag name="LATEXENGINEID" val="1"/>
  <p:tag name="TEMPFOLDER" val="C:\Users\anas\Documents\iguana\"/>
  <p:tag name="LATEXFORMHEIGHT" val="312"/>
  <p:tag name="LATEXFORMWIDTH" val="384"/>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RIGINALHEIGHT" val="114.0159"/>
  <p:tag name="ORIGINALWIDTH" val="668.3433"/>
  <p:tag name="OUTPUTDPI" val="1200"/>
  <p:tag name="LATEXADDIN" val="\documentclass{article}&#10;\usepackage{amsmath}&#10;\pagestyle{empty}&#10;\usepackage{xcolor}&#10;\begin{document}&#10;&#10;&#10;{\color{cyan}$w^{T}x+b&gt;0$}&#10;&#10;\end{document}"/>
  <p:tag name="IGUANATEXSIZE" val="12"/>
  <p:tag name="IGUANATEXCURSOR" val="114"/>
  <p:tag name="TRANSPARENCY" val="True"/>
  <p:tag name="FILENAME" val=""/>
  <p:tag name="INPUTTYPE" val="0"/>
  <p:tag name="LATEXENGINEID" val="1"/>
  <p:tag name="TEMPFOLDER" val="C:\Users\User\Documents\PowerPointLAtex\"/>
</p:tagLst>
</file>

<file path=ppt/tags/tag8.xml><?xml version="1.0" encoding="utf-8"?>
<p:tagLst xmlns:a="http://schemas.openxmlformats.org/drawingml/2006/main" xmlns:r="http://schemas.openxmlformats.org/officeDocument/2006/relationships" xmlns:p="http://schemas.openxmlformats.org/presentationml/2006/main">
  <p:tag name="ORIGINALHEIGHT" val="114.0159"/>
  <p:tag name="ORIGINALWIDTH" val="668.3433"/>
  <p:tag name="OUTPUTDPI" val="1200"/>
  <p:tag name="LATEXADDIN" val="\documentclass{article}&#10;\usepackage{amsmath}&#10;\pagestyle{empty}&#10;\usepackage{xcolor}&#10;\begin{document}&#10;&#10;&#10;{\color{red}$w^{T}x+b&lt;0$}&#10;&#10;\end{document}"/>
  <p:tag name="IGUANATEXSIZE" val="12"/>
  <p:tag name="IGUANATEXCURSOR" val="112"/>
  <p:tag name="TRANSPARENCY" val="True"/>
  <p:tag name="FILENAME" val=""/>
  <p:tag name="INPUTTYPE" val="0"/>
  <p:tag name="LATEXENGINEID" val="1"/>
  <p:tag name="TEMPFOLDER" val="C:\Users\User\Documents\PowerPointLAtex\"/>
</p:tagLst>
</file>

<file path=ppt/tags/tag9.xml><?xml version="1.0" encoding="utf-8"?>
<p:tagLst xmlns:a="http://schemas.openxmlformats.org/drawingml/2006/main" xmlns:r="http://schemas.openxmlformats.org/officeDocument/2006/relationships" xmlns:p="http://schemas.openxmlformats.org/presentationml/2006/main">
  <p:tag name="ORIGINALHEIGHT" val="56.25787"/>
  <p:tag name="ORIGINALWIDTH" val="82.5115"/>
  <p:tag name="OUTPUTDPI" val="1200"/>
  <p:tag name="LATEXADDIN" val="\documentclass{article}&#10;\usepackage{amsmath}&#10;\pagestyle{empty}&#10;\begin{document}&#10;&#10;$w$&#10;&#10;&#10;\end{document}"/>
  <p:tag name="IGUANATEXSIZE" val="14"/>
  <p:tag name="IGUANATEXCURSOR" val="83"/>
  <p:tag name="TRANSPARENCY" val="True"/>
  <p:tag name="FILENAME" val=""/>
  <p:tag name="INPUTTYPE" val="0"/>
  <p:tag name="LATEXENGINEID" val="1"/>
  <p:tag name="TEMPFOLDER" val="C:\Users\User\Documents\PowerPointLAtex\"/>
</p:tagLst>
</file>

<file path=ppt/tags/tag10.xml><?xml version="1.0" encoding="utf-8"?>
<p:tagLst xmlns:a="http://schemas.openxmlformats.org/drawingml/2006/main" xmlns:r="http://schemas.openxmlformats.org/officeDocument/2006/relationships" xmlns:p="http://schemas.openxmlformats.org/presentationml/2006/main">
  <p:tag name="ORIGINALHEIGHT" val="114.0159"/>
  <p:tag name="ORIGINALWIDTH" val="668.3433"/>
  <p:tag name="OUTPUTDPI" val="1200"/>
  <p:tag name="LATEXADDIN" val="\documentclass{article}&#10;\usepackage{amsmath}&#10;\pagestyle{empty}&#10;\begin{document}&#10;&#10;&#10;$w^Tx+b =0$&#10;&#10;\end{document}"/>
  <p:tag name="IGUANATEXSIZE" val="12"/>
  <p:tag name="IGUANATEXCURSOR" val="83"/>
  <p:tag name="TRANSPARENCY" val="True"/>
  <p:tag name="FILENAME" val=""/>
  <p:tag name="INPUTTYPE" val="0"/>
  <p:tag name="LATEXENGINEID" val="1"/>
  <p:tag name="TEMPFOLDER" val="C:\Users\User\Documents\PowerPointLAtex\"/>
</p:tagLst>
</file>

<file path=ppt/tags/tag11.xml><?xml version="1.0" encoding="utf-8"?>
<p:tagLst xmlns:a="http://schemas.openxmlformats.org/drawingml/2006/main" xmlns:r="http://schemas.openxmlformats.org/officeDocument/2006/relationships" xmlns:p="http://schemas.openxmlformats.org/presentationml/2006/main">
  <p:tag name="ORIGINALHEIGHT" val="114.0159"/>
  <p:tag name="ORIGINALWIDTH" val="668.3433"/>
  <p:tag name="OUTPUTDPI" val="1200"/>
  <p:tag name="LATEXADDIN" val="\documentclass{article}&#10;\usepackage{amsmath}&#10;\pagestyle{empty}&#10;\begin{document}&#10;&#10;&#10;$w^Tx+b=0$&#10;&#10;\end{document}"/>
  <p:tag name="IGUANATEXSIZE" val="14"/>
  <p:tag name="IGUANATEXCURSOR" val="91"/>
  <p:tag name="TRANSPARENCY" val="True"/>
  <p:tag name="FILENAME" val=""/>
  <p:tag name="INPUTTYPE" val="0"/>
  <p:tag name="LATEXENGINEID" val="1"/>
  <p:tag name="TEMPFOLDER" val="C:\Users\User\Documents\PowerPointLAtex\"/>
</p:tagLst>
</file>

<file path=ppt/tags/tag12.xml><?xml version="1.0" encoding="utf-8"?>
<p:tagLst xmlns:a="http://schemas.openxmlformats.org/drawingml/2006/main" xmlns:r="http://schemas.openxmlformats.org/officeDocument/2006/relationships" xmlns:p="http://schemas.openxmlformats.org/presentationml/2006/main">
  <p:tag name="ORIGINALHEIGHT" val="141.7698"/>
  <p:tag name="ORIGINALWIDTH" val="504.0703"/>
  <p:tag name="OUTPUTDPI" val="1200"/>
  <p:tag name="LATEXADDIN" val="\documentclass{article}&#10;\usepackage{amsmath}&#10;\pagestyle{empty}&#10;\begin{document}&#10;&#10;&#10;$(x^{(i)},y^{(i)})$&#10;&#10;&#10;\end{document}"/>
  <p:tag name="IGUANATEXSIZE" val="14"/>
  <p:tag name="IGUANATEXCURSOR" val="97"/>
  <p:tag name="TRANSPARENCY" val="True"/>
  <p:tag name="FILENAME" val=""/>
  <p:tag name="INPUTTYPE" val="0"/>
  <p:tag name="LATEXENGINEID" val="1"/>
  <p:tag name="TEMPFOLDER" val="C:\Users\User\Documents\PowerPointLAtex\"/>
</p:tagLst>
</file>

<file path=ppt/tags/tag13.xml><?xml version="1.0" encoding="utf-8"?>
<p:tagLst xmlns:a="http://schemas.openxmlformats.org/drawingml/2006/main" xmlns:r="http://schemas.openxmlformats.org/officeDocument/2006/relationships" xmlns:p="http://schemas.openxmlformats.org/presentationml/2006/main">
  <p:tag name="ORIGINALHEIGHT" val="311.2935"/>
  <p:tag name="ORIGINALWIDTH" val="849.1185"/>
  <p:tag name="OUTPUTDPI" val="1200"/>
  <p:tag name="LATEXADDIN" val="\documentclass{article}&#10;\usepackage{amsmath}&#10;\pagestyle{empty}&#10;\newcommand{\norm}[1]{\left\lVert#1\right\rVert}&#10;\begin{document}&#10;&#10;\begin{align*}&#10;\frac{y^{(i)}(w^Tx^{(i)}+b)}{\norm w}&#10;\end{align*}&#10;&#10;&#10;\end{document}"/>
  <p:tag name="IGUANATEXSIZE" val="14"/>
  <p:tag name="IGUANATEXCURSOR" val="180"/>
  <p:tag name="TRANSPARENCY" val="True"/>
  <p:tag name="FILENAME" val=""/>
  <p:tag name="INPUTTYPE" val="0"/>
  <p:tag name="LATEXENGINEID" val="1"/>
  <p:tag name="TEMPFOLDER" val="C:\Users\User\Documents\PowerPointLAtex\"/>
</p:tagLst>
</file>

<file path=ppt/tags/tag14.xml><?xml version="1.0" encoding="utf-8"?>
<p:tagLst xmlns:a="http://schemas.openxmlformats.org/drawingml/2006/main" xmlns:r="http://schemas.openxmlformats.org/officeDocument/2006/relationships" xmlns:p="http://schemas.openxmlformats.org/presentationml/2006/main">
  <p:tag name="ORIGINALHEIGHT" val="748.6045"/>
  <p:tag name="ORIGINALWIDTH" val="1582.721"/>
  <p:tag name="OUTPUTDPI" val="1200"/>
  <p:tag name="LATEXADDIN" val="\documentclass{article}&#10;\usepackage{amsmath}&#10;\pagestyle{empty}&#10;\begin{document}&#10;&#10;&#10;\begin{equation*}&#10;\begin{aligned}&#10;\max_{w,b} \quad &amp; M\\&#10;\textrm{s.t.} \quad &amp; \textrm{the distance from each} \\&#10;\quad &amp; \textrm{training point to the} \\&#10;\quad &amp; \textrm{hyperplane} \geq M&#10;\end{aligned}&#10;\end{equation*}&#10;&#10;\end{document}"/>
  <p:tag name="IGUANATEXSIZE" val="14"/>
  <p:tag name="IGUANATEXCURSOR" val="272"/>
  <p:tag name="TRANSPARENCY" val="True"/>
  <p:tag name="FILENAME" val=""/>
  <p:tag name="INPUTTYPE" val="0"/>
  <p:tag name="LATEXENGINEID" val="1"/>
  <p:tag name="TEMPFOLDER" val="C:\Users\User\Documents\PowerPointLAtex\"/>
</p:tagLst>
</file>

<file path=ppt/tags/tag15.xml><?xml version="1.0" encoding="utf-8"?>
<p:tagLst xmlns:a="http://schemas.openxmlformats.org/drawingml/2006/main" xmlns:r="http://schemas.openxmlformats.org/officeDocument/2006/relationships" xmlns:p="http://schemas.openxmlformats.org/presentationml/2006/main">
  <p:tag name="ORIGINALHEIGHT" val="556.5776"/>
  <p:tag name="ORIGINALWIDTH" val="2344.827"/>
  <p:tag name="OUTPUTDPI" val="1200"/>
  <p:tag name="LATEXADDIN" val="\documentclass{article}&#10;\usepackage{amsmath}&#10;\newcommand{\norm}[1]{\left\lVert#1\right\rVert}&#10;&#10;\pagestyle{empty}&#10;\begin{document}&#10;&#10;&#10;\begin{equation*}&#10;\begin{aligned}&#10;\max_{w,b} \quad &amp; M\\&#10;\textrm{s.t.} \quad &amp; \frac{y^{(i)}(w^Tx^{(i)}+b)}{\norm w}&#10;\geq M \;\; \forall \; i=1,\cdots,n&#10;\end{aligned}&#10;\end{equation*}&#10;&#10;\end{document}"/>
  <p:tag name="IGUANATEXSIZE" val="14"/>
  <p:tag name="IGUANATEXCURSOR" val="284"/>
  <p:tag name="TRANSPARENCY" val="True"/>
  <p:tag name="FILENAME" val=""/>
  <p:tag name="INPUTTYPE" val="0"/>
  <p:tag name="LATEXENGINEID" val="1"/>
  <p:tag name="TEMPFOLDER" val="C:\Users\User\Documents\PowerPointLAtex\"/>
</p:tagLst>
</file>

<file path=ppt/tags/tag16.xml><?xml version="1.0" encoding="utf-8"?>
<p:tagLst xmlns:a="http://schemas.openxmlformats.org/drawingml/2006/main" xmlns:r="http://schemas.openxmlformats.org/officeDocument/2006/relationships" xmlns:p="http://schemas.openxmlformats.org/presentationml/2006/main">
  <p:tag name="ORIGINALHEIGHT" val="68.25953"/>
  <p:tag name="ORIGINALWIDTH" val="187.5261"/>
  <p:tag name="OUTPUTDPI" val="1200"/>
  <p:tag name="LATEXADDIN" val="\documentclass{article}&#10;\usepackage{amsmath}&#10;\pagestyle{empty}&#10;\begin{document}&#10;&#10;&#10;$\implies$&#10;&#10;\end{document}"/>
  <p:tag name="IGUANATEXSIZE" val="20"/>
  <p:tag name="IGUANATEXCURSOR" val="83"/>
  <p:tag name="TRANSPARENCY" val="True"/>
  <p:tag name="FILENAME" val=""/>
  <p:tag name="INPUTTYPE" val="0"/>
  <p:tag name="LATEXENGINEID" val="1"/>
  <p:tag name="TEMPFOLDER" val="C:\Users\User\Documents\PowerPointLAtex\"/>
</p:tagLst>
</file>

<file path=ppt/tags/tag17.xml><?xml version="1.0" encoding="utf-8"?>
<p:tagLst xmlns:a="http://schemas.openxmlformats.org/drawingml/2006/main" xmlns:r="http://schemas.openxmlformats.org/officeDocument/2006/relationships" xmlns:p="http://schemas.openxmlformats.org/presentationml/2006/main">
  <p:tag name="ORIGINALHEIGHT" val="114.0159"/>
  <p:tag name="ORIGINALWIDTH" val="668.3433"/>
  <p:tag name="OUTPUTDPI" val="1200"/>
  <p:tag name="LATEXADDIN" val="\documentclass{article}&#10;\usepackage{amsmath}&#10;\pagestyle{empty}&#10;\begin{document}&#10;&#10;&#10;$w^Tx+b=0$&#10;&#10;\end{document}"/>
  <p:tag name="IGUANATEXSIZE" val="14"/>
  <p:tag name="IGUANATEXCURSOR" val="91"/>
  <p:tag name="TRANSPARENCY" val="True"/>
  <p:tag name="FILENAME" val=""/>
  <p:tag name="INPUTTYPE" val="0"/>
  <p:tag name="LATEXENGINEID" val="1"/>
  <p:tag name="TEMPFOLDER" val="C:\Users\User\Documents\PowerPointLAtex\"/>
</p:tagLst>
</file>

<file path=ppt/tags/tag18.xml><?xml version="1.0" encoding="utf-8"?>
<p:tagLst xmlns:a="http://schemas.openxmlformats.org/drawingml/2006/main" xmlns:r="http://schemas.openxmlformats.org/officeDocument/2006/relationships" xmlns:p="http://schemas.openxmlformats.org/presentationml/2006/main">
  <p:tag name="ORIGINALHEIGHT" val="141.7698"/>
  <p:tag name="ORIGINALWIDTH" val="504.0703"/>
  <p:tag name="OUTPUTDPI" val="1200"/>
  <p:tag name="LATEXADDIN" val="\documentclass{article}&#10;\usepackage{amsmath}&#10;\pagestyle{empty}&#10;\begin{document}&#10;&#10;&#10;$(x^{(i)},y^{(i)})$&#10;&#10;&#10;\end{document}"/>
  <p:tag name="IGUANATEXSIZE" val="14"/>
  <p:tag name="IGUANATEXCURSOR" val="97"/>
  <p:tag name="TRANSPARENCY" val="True"/>
  <p:tag name="FILENAME" val=""/>
  <p:tag name="INPUTTYPE" val="0"/>
  <p:tag name="LATEXENGINEID" val="1"/>
  <p:tag name="TEMPFOLDER" val="C:\Users\User\Documents\PowerPointLAtex\"/>
</p:tagLst>
</file>

<file path=ppt/tags/tag19.xml><?xml version="1.0" encoding="utf-8"?>
<p:tagLst xmlns:a="http://schemas.openxmlformats.org/drawingml/2006/main" xmlns:r="http://schemas.openxmlformats.org/officeDocument/2006/relationships" xmlns:p="http://schemas.openxmlformats.org/presentationml/2006/main">
  <p:tag name="ORIGINALHEIGHT" val="311.2935"/>
  <p:tag name="ORIGINALWIDTH" val="849.1185"/>
  <p:tag name="OUTPUTDPI" val="1200"/>
  <p:tag name="LATEXADDIN" val="\documentclass{article}&#10;\usepackage{amsmath}&#10;\pagestyle{empty}&#10;\newcommand{\norm}[1]{\left\lVert#1\right\rVert}&#10;\begin{document}&#10;&#10;\begin{align*}&#10;\frac{y^{(i)}(w^Tx^{(i)}+b)}{\norm w}&#10;\end{align*}&#10;&#10;&#10;\end{document}"/>
  <p:tag name="IGUANATEXSIZE" val="14"/>
  <p:tag name="IGUANATEXCURSOR" val="180"/>
  <p:tag name="TRANSPARENCY" val="True"/>
  <p:tag name="FILENAME" val=""/>
  <p:tag name="INPUTTYPE" val="0"/>
  <p:tag name="LATEXENGINEID" val="1"/>
  <p:tag name="TEMPFOLDER" val="C:\Users\User\Documents\PowerPointLAtex\"/>
</p:tagLst>
</file>

<file path=ppt/tags/tag20.xml><?xml version="1.0" encoding="utf-8"?>
<p:tagLst xmlns:a="http://schemas.openxmlformats.org/drawingml/2006/main" xmlns:r="http://schemas.openxmlformats.org/officeDocument/2006/relationships" xmlns:p="http://schemas.openxmlformats.org/presentationml/2006/main">
  <p:tag name="ORIGINALHEIGHT" val="748.6045"/>
  <p:tag name="ORIGINALWIDTH" val="1582.721"/>
  <p:tag name="OUTPUTDPI" val="1200"/>
  <p:tag name="LATEXADDIN" val="\documentclass{article}&#10;\usepackage{amsmath}&#10;\pagestyle{empty}&#10;\begin{document}&#10;&#10;&#10;\begin{equation*}&#10;\begin{aligned}&#10;\max_{w,b} \quad &amp; M\\&#10;\textrm{s.t.} \quad &amp; \textrm{the distance from each} \\&#10;\quad &amp; \textrm{training point to the} \\&#10;\quad &amp; \textrm{hyperplane} \geq M&#10;\end{aligned}&#10;\end{equation*}&#10;&#10;\end{document}"/>
  <p:tag name="IGUANATEXSIZE" val="14"/>
  <p:tag name="IGUANATEXCURSOR" val="272"/>
  <p:tag name="TRANSPARENCY" val="True"/>
  <p:tag name="FILENAME" val=""/>
  <p:tag name="INPUTTYPE" val="0"/>
  <p:tag name="LATEXENGINEID" val="1"/>
  <p:tag name="TEMPFOLDER" val="C:\Users\User\Documents\PowerPointLAtex\"/>
</p:tagLst>
</file>

<file path=ppt/tags/tag21.xml><?xml version="1.0" encoding="utf-8"?>
<p:tagLst xmlns:a="http://schemas.openxmlformats.org/drawingml/2006/main" xmlns:r="http://schemas.openxmlformats.org/officeDocument/2006/relationships" xmlns:p="http://schemas.openxmlformats.org/presentationml/2006/main">
  <p:tag name="ORIGINALHEIGHT" val="556.5776"/>
  <p:tag name="ORIGINALWIDTH" val="2344.827"/>
  <p:tag name="OUTPUTDPI" val="1200"/>
  <p:tag name="LATEXADDIN" val="\documentclass{article}&#10;\usepackage{amsmath}&#10;\newcommand{\norm}[1]{\left\lVert#1\right\rVert}&#10;&#10;\pagestyle{empty}&#10;\begin{document}&#10;&#10;&#10;\begin{equation*}&#10;\begin{aligned}&#10;\max_{w,b} \quad &amp; M\\&#10;\textrm{s.t.} \quad &amp; \frac{y^{(i)}(w^Tx^{(i)}+b)}{\norm w}&#10;\geq M \;\; \forall \; i=1,\cdots,n&#10;\end{aligned}&#10;\end{equation*}&#10;&#10;\end{document}"/>
  <p:tag name="IGUANATEXSIZE" val="14"/>
  <p:tag name="IGUANATEXCURSOR" val="284"/>
  <p:tag name="TRANSPARENCY" val="True"/>
  <p:tag name="FILENAME" val=""/>
  <p:tag name="INPUTTYPE" val="0"/>
  <p:tag name="LATEXENGINEID" val="1"/>
  <p:tag name="TEMPFOLDER" val="C:\Users\User\Documents\PowerPointLAtex\"/>
</p:tagLst>
</file>

<file path=ppt/tags/tag22.xml><?xml version="1.0" encoding="utf-8"?>
<p:tagLst xmlns:a="http://schemas.openxmlformats.org/drawingml/2006/main" xmlns:r="http://schemas.openxmlformats.org/officeDocument/2006/relationships" xmlns:p="http://schemas.openxmlformats.org/presentationml/2006/main">
  <p:tag name="ORIGINALHEIGHT" val="68.25953"/>
  <p:tag name="ORIGINALWIDTH" val="187.5261"/>
  <p:tag name="OUTPUTDPI" val="1200"/>
  <p:tag name="LATEXADDIN" val="\documentclass{article}&#10;\usepackage{amsmath}&#10;\pagestyle{empty}&#10;\begin{document}&#10;&#10;&#10;$\implies$&#10;&#10;\end{document}"/>
  <p:tag name="IGUANATEXSIZE" val="20"/>
  <p:tag name="IGUANATEXCURSOR" val="83"/>
  <p:tag name="TRANSPARENCY" val="True"/>
  <p:tag name="FILENAME" val=""/>
  <p:tag name="INPUTTYPE" val="0"/>
  <p:tag name="LATEXENGINEID" val="1"/>
  <p:tag name="TEMPFOLDER" val="C:\Users\User\Documents\PowerPointLAtex\"/>
</p:tagLst>
</file>

<file path=ppt/tags/tag23.xml><?xml version="1.0" encoding="utf-8"?>
<p:tagLst xmlns:a="http://schemas.openxmlformats.org/drawingml/2006/main" xmlns:r="http://schemas.openxmlformats.org/officeDocument/2006/relationships" xmlns:p="http://schemas.openxmlformats.org/presentationml/2006/main">
  <p:tag name="ORIGINALHEIGHT" val="114.0159"/>
  <p:tag name="ORIGINALWIDTH" val="668.3433"/>
  <p:tag name="OUTPUTDPI" val="1200"/>
  <p:tag name="LATEXADDIN" val="\documentclass{article}&#10;\usepackage{amsmath}&#10;\pagestyle{empty}&#10;\begin{document}&#10;&#10;&#10;$w^Tx+b=0$&#10;&#10;\end{document}"/>
  <p:tag name="IGUANATEXSIZE" val="14"/>
  <p:tag name="IGUANATEXCURSOR" val="91"/>
  <p:tag name="TRANSPARENCY" val="True"/>
  <p:tag name="FILENAME" val=""/>
  <p:tag name="INPUTTYPE" val="0"/>
  <p:tag name="LATEXENGINEID" val="1"/>
  <p:tag name="TEMPFOLDER" val="C:\Users\User\Documents\PowerPointLAtex\"/>
</p:tagLst>
</file>

<file path=ppt/tags/tag24.xml><?xml version="1.0" encoding="utf-8"?>
<p:tagLst xmlns:a="http://schemas.openxmlformats.org/drawingml/2006/main" xmlns:r="http://schemas.openxmlformats.org/officeDocument/2006/relationships" xmlns:p="http://schemas.openxmlformats.org/presentationml/2006/main">
  <p:tag name="ORIGINALHEIGHT" val="735.1026"/>
  <p:tag name="ORIGINALWIDTH" val="1527.213"/>
  <p:tag name="OUTPUTDPI" val="1200"/>
  <p:tag name="LATEXADDIN" val="\documentclass{article}&#10;\usepackage{amsmath}&#10;\newcommand{\norm}[1]{\left\lVert#1\right\rVert}&#10;&#10;\pagestyle{empty}&#10;\begin{document}&#10;&#10;&#10;\begin{equation*}&#10;\begin{aligned}&#10;\max_{w,b} \quad &amp; M\\&#10;\textrm{s.t.} \quad &amp; \frac{y^{(i)}(w^Tx^{(i)}+b)}{\norm w}&#10;\geq M \;\;\\&#10;\quad &amp; \forall \; i=1,\cdots,n&#10;\end{aligned}&#10;\end{equation*}&#10;&#10;\end{document}"/>
  <p:tag name="IGUANATEXSIZE" val="14"/>
  <p:tag name="IGUANATEXCURSOR" val="265"/>
  <p:tag name="TRANSPARENCY" val="True"/>
  <p:tag name="FILENAME" val=""/>
  <p:tag name="INPUTTYPE" val="0"/>
  <p:tag name="LATEXENGINEID" val="1"/>
  <p:tag name="TEMPFOLDER" val="C:\Users\User\Documents\PowerPointLAtex\"/>
</p:tagLst>
</file>

<file path=ppt/tags/tag25.xml><?xml version="1.0" encoding="utf-8"?>
<p:tagLst xmlns:a="http://schemas.openxmlformats.org/drawingml/2006/main" xmlns:r="http://schemas.openxmlformats.org/officeDocument/2006/relationships" xmlns:p="http://schemas.openxmlformats.org/presentationml/2006/main">
  <p:tag name="ORIGINALHEIGHT" val="114.0159"/>
  <p:tag name="ORIGINALWIDTH" val="442.5617"/>
  <p:tag name="OUTPUTDPI" val="1200"/>
  <p:tag name="LATEXADDIN" val="\documentclass{article}&#10;\usepackage{amsmath}&#10;\pagestyle{empty}&#10;\begin{document}&#10;&#10;$w^Tx+b$&#10;&#10;&#10;\end{document}"/>
  <p:tag name="IGUANATEXSIZE" val="14"/>
  <p:tag name="IGUANATEXCURSOR" val="82"/>
  <p:tag name="TRANSPARENCY" val="True"/>
  <p:tag name="FILENAME" val=""/>
  <p:tag name="INPUTTYPE" val="0"/>
  <p:tag name="LATEXENGINEID" val="1"/>
  <p:tag name="TEMPFOLDER" val="C:\Users\User\Documents\PowerPointLAtex\"/>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672.0938"/>
  <p:tag name="ORIGINALWIDTH" val="1697.487"/>
  <p:tag name="LATEXADDIN" val="\documentclass{article}&#10;\usepackage{amsmath}&#10;\newcommand{\norm}[1]{\left\lVert#1\right\rVert}&#10;&#10;\pagestyle{empty}&#10;\begin{document}&#10;&#10;&#10;\begin{align*}&#10;\;\; &amp;\frac{w^Tx^{(i)}+b}{\norm w} \geq  M  \;\;\; \text{if } y^{(i)}=+1\\&#10;\;\; &amp;\frac{w^Tx^{(i)}+b}{\norm w} \leq -  M  \; \;\; \text{if } y^{(i)}=-1&#10;\end{align*}&#10;&#10;\end{document}"/>
  <p:tag name="IGUANATEXSIZE" val="14"/>
  <p:tag name="IGUANATEXCURSOR" val="221"/>
  <p:tag name="TRANSPARENCY" val="True"/>
  <p:tag name="FILENAME" val=""/>
  <p:tag name="LATEXENGINEID" val="1"/>
  <p:tag name="TEMPFOLDER" val="C:\Users\anas\Documents\iguana\"/>
  <p:tag name="LATEXFORMHEIGHT" val="312"/>
  <p:tag name="LATEXFORMWIDTH" val="384"/>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RIGINALHEIGHT" val="279.039"/>
  <p:tag name="ORIGINALWIDTH" val="1240.673"/>
  <p:tag name="OUTPUTDPI" val="1200"/>
  <p:tag name="LATEXADDIN" val="\documentclass{article}&#10;\usepackage{amsmath}&#10;\pagestyle{empty}&#10;\begin{document}&#10;&#10;&#10;$w^Tx+b =0$\\&#10;Separating Hyperplane&#10;&#10;\end{document}"/>
  <p:tag name="IGUANATEXSIZE" val="12"/>
  <p:tag name="IGUANATEXCURSOR" val="117"/>
  <p:tag name="TRANSPARENCY" val="True"/>
  <p:tag name="FILENAME" val=""/>
  <p:tag name="INPUTTYPE" val="0"/>
  <p:tag name="LATEXENGINEID" val="1"/>
  <p:tag name="TEMPFOLDER" val="C:\Users\User\Documents\PowerPointLAtex\"/>
</p:tagLst>
</file>

<file path=ppt/tags/tag28.xml><?xml version="1.0" encoding="utf-8"?>
<p:tagLst xmlns:a="http://schemas.openxmlformats.org/drawingml/2006/main" xmlns:r="http://schemas.openxmlformats.org/officeDocument/2006/relationships" xmlns:p="http://schemas.openxmlformats.org/presentationml/2006/main">
  <p:tag name="ORIGINALHEIGHT" val="316.5442"/>
  <p:tag name="ORIGINALWIDTH" val="961.6342"/>
  <p:tag name="OUTPUTDPI" val="1200"/>
  <p:tag name="LATEXADDIN" val="\documentclass{article}&#10;\usepackage{amsmath}&#10;\newcommand{\norm}[1]{\left\lVert#1\right\rVert}&#10;&#10;\pagestyle{empty}&#10;\begin{document}&#10;&#10;\noindent Margin Boundary\\&#10;$\frac{w^Tx+b}{\norm w} =  M$&#10;&#10;&#10;\end{document}"/>
  <p:tag name="IGUANATEXSIZE" val="12"/>
  <p:tag name="IGUANATEXCURSOR" val="158"/>
  <p:tag name="TRANSPARENCY" val="True"/>
  <p:tag name="FILENAME" val=""/>
  <p:tag name="INPUTTYPE" val="0"/>
  <p:tag name="LATEXENGINEID" val="1"/>
  <p:tag name="TEMPFOLDER" val="C:\Users\User\Documents\PowerPointLAtex\"/>
</p:tagLst>
</file>

<file path=ppt/tags/tag29.xml><?xml version="1.0" encoding="utf-8"?>
<p:tagLst xmlns:a="http://schemas.openxmlformats.org/drawingml/2006/main" xmlns:r="http://schemas.openxmlformats.org/officeDocument/2006/relationships" xmlns:p="http://schemas.openxmlformats.org/presentationml/2006/main">
  <p:tag name="ORIGINALHEIGHT" val="316.5442"/>
  <p:tag name="ORIGINALWIDTH" val="961.6342"/>
  <p:tag name="OUTPUTDPI" val="1200"/>
  <p:tag name="LATEXADDIN" val="\documentclass{article}&#10;\usepackage{amsmath}&#10;\newcommand{\norm}[1]{\left\lVert#1\right\rVert}&#10;&#10;\pagestyle{empty}&#10;\begin{document}&#10;&#10;&#10;\noindent Margin Boundary\\&#10;$\frac{w^Tx+b}{\norm w} = - M$&#10;&#10;\end{document}"/>
  <p:tag name="IGUANATEXSIZE" val="12"/>
  <p:tag name="IGUANATEXCURSOR" val="142"/>
  <p:tag name="TRANSPARENCY" val="True"/>
  <p:tag name="FILENAME" val=""/>
  <p:tag name="INPUTTYPE" val="0"/>
  <p:tag name="LATEXENGINEID" val="1"/>
  <p:tag name="TEMPFOLDER" val="C:\Users\User\Documents\PowerPointLAtex\"/>
</p:tagLst>
</file>

<file path=ppt/tags/tag30.xml><?xml version="1.0" encoding="utf-8"?>
<p:tagLst xmlns:a="http://schemas.openxmlformats.org/drawingml/2006/main" xmlns:r="http://schemas.openxmlformats.org/officeDocument/2006/relationships" xmlns:p="http://schemas.openxmlformats.org/presentationml/2006/main">
  <p:tag name="ORIGINALHEIGHT" val="735.1026"/>
  <p:tag name="ORIGINALWIDTH" val="1527.213"/>
  <p:tag name="OUTPUTDPI" val="1200"/>
  <p:tag name="LATEXADDIN" val="\documentclass{article}&#10;\usepackage{amsmath}&#10;\newcommand{\norm}[1]{\left\lVert#1\right\rVert}&#10;&#10;\pagestyle{empty}&#10;\begin{document}&#10;&#10;&#10;\begin{equation*}&#10;\begin{aligned}&#10;\max_{w,b} \quad &amp; M\\&#10;\textrm{s.t.} \quad &amp; \frac{y^{(i)}(w^Tx^{(i)}+b)}{\norm w}&#10;\geq M \;\;\\&#10;\quad &amp; \forall \; i=1,\cdots,n&#10;\end{aligned}&#10;\end{equation*}&#10;&#10;\end{document}"/>
  <p:tag name="IGUANATEXSIZE" val="14"/>
  <p:tag name="IGUANATEXCURSOR" val="265"/>
  <p:tag name="TRANSPARENCY" val="True"/>
  <p:tag name="FILENAME" val=""/>
  <p:tag name="INPUTTYPE" val="0"/>
  <p:tag name="LATEXENGINEID" val="1"/>
  <p:tag name="TEMPFOLDER" val="C:\Users\User\Documents\PowerPointLAtex\"/>
</p:tagLst>
</file>

<file path=ppt/tags/tag31.xml><?xml version="1.0" encoding="utf-8"?>
<p:tagLst xmlns:a="http://schemas.openxmlformats.org/drawingml/2006/main" xmlns:r="http://schemas.openxmlformats.org/officeDocument/2006/relationships" xmlns:p="http://schemas.openxmlformats.org/presentationml/2006/main">
  <p:tag name="ORIGINALHEIGHT" val="64.50898"/>
  <p:tag name="ORIGINALWIDTH" val="110.2654"/>
  <p:tag name="OUTPUTDPI" val="1200"/>
  <p:tag name="LATEXADDIN" val="\documentclass{article}&#10;\usepackage{amsmath}&#10;\pagestyle{empty}&#10;\begin{document}&#10;&#10;&#10;$\leftrightarrow$&#10;&#10;\end{document}"/>
  <p:tag name="IGUANATEXSIZE" val="20"/>
  <p:tag name="IGUANATEXCURSOR" val="98"/>
  <p:tag name="TRANSPARENCY" val="True"/>
  <p:tag name="FILENAME" val=""/>
  <p:tag name="INPUTTYPE" val="0"/>
  <p:tag name="LATEXENGINEID" val="1"/>
  <p:tag name="TEMPFOLDER" val="C:\Users\User\Documents\PowerPointLAtex\"/>
</p:tagLst>
</file>

<file path=ppt/tags/tag32.xml><?xml version="1.0" encoding="utf-8"?>
<p:tagLst xmlns:a="http://schemas.openxmlformats.org/drawingml/2006/main" xmlns:r="http://schemas.openxmlformats.org/officeDocument/2006/relationships" xmlns:p="http://schemas.openxmlformats.org/presentationml/2006/main">
  <p:tag name="ORIGINALHEIGHT" val="654.8414"/>
  <p:tag name="ORIGINALWIDTH" val="1395.195"/>
  <p:tag name="OUTPUTDPI" val="1200"/>
  <p:tag name="LATEXADDIN" val="\documentclass{article}&#10;\usepackage{amsmath}&#10;\newcommand{\norm}[1]{\left\lVert#1\right\rVert}&#10;&#10;\pagestyle{empty}&#10;\begin{document}&#10;&#10;&#10;\begin{equation*}&#10;\begin{aligned}&#10;\min_{w,b} \quad &amp; \frac{1}{2}{\norm w}^2\\&#10;\textrm{s.t.} \quad &amp; y^{(i)}(w^Tx^{(i)}+b)&#10;\geq 1 \;\;\\&#10;\quad &amp; \forall \; i=1,\cdots,n&#10;\end{aligned}&#10;\end{equation*}&#10;&#10;\end{document}"/>
  <p:tag name="IGUANATEXSIZE" val="15"/>
  <p:tag name="IGUANATEXCURSOR" val="207"/>
  <p:tag name="TRANSPARENCY" val="True"/>
  <p:tag name="FILENAME" val=""/>
  <p:tag name="INPUTTYPE" val="0"/>
  <p:tag name="LATEXENGINEID" val="1"/>
  <p:tag name="TEMPFOLDER" val="C:\Users\User\Documents\PowerPointLAtex\"/>
</p:tagLst>
</file>

<file path=ppt/tags/tag33.xml><?xml version="1.0" encoding="utf-8"?>
<p:tagLst xmlns:a="http://schemas.openxmlformats.org/drawingml/2006/main" xmlns:r="http://schemas.openxmlformats.org/officeDocument/2006/relationships" xmlns:p="http://schemas.openxmlformats.org/presentationml/2006/main">
  <p:tag name="ORIGINALHEIGHT" val="171.0239"/>
  <p:tag name="ORIGINALWIDTH" val="176.2746"/>
  <p:tag name="OUTPUTDPI" val="1200"/>
  <p:tag name="LATEXADDIN" val="\documentclass{article}&#10;\usepackage{amsmath}&#10;\newcommand{\norm}[1]{\left\lVert#1\right\rVert}&#10;\pagestyle{empty}&#10;\begin{document}&#10;&#10;$\frac{1}{\norm w}$&#10;&#10;&#10;\end{document}"/>
  <p:tag name="IGUANATEXSIZE" val="12"/>
  <p:tag name="IGUANATEXCURSOR" val="147"/>
  <p:tag name="TRANSPARENCY" val="True"/>
  <p:tag name="FILENAME" val=""/>
  <p:tag name="INPUTTYPE" val="0"/>
  <p:tag name="LATEXENGINEID" val="1"/>
  <p:tag name="TEMPFOLDER" val="C:\Users\User\Documents\PowerPointLAtex\"/>
</p:tagLst>
</file>

<file path=ppt/tags/tag34.xml><?xml version="1.0" encoding="utf-8"?>
<p:tagLst xmlns:a="http://schemas.openxmlformats.org/drawingml/2006/main" xmlns:r="http://schemas.openxmlformats.org/officeDocument/2006/relationships" xmlns:p="http://schemas.openxmlformats.org/presentationml/2006/main">
  <p:tag name="ORIGINALHEIGHT" val="114.0159"/>
  <p:tag name="ORIGINALWIDTH" val="668.3433"/>
  <p:tag name="OUTPUTDPI" val="1200"/>
  <p:tag name="LATEXADDIN" val="\documentclass{article}&#10;\usepackage{amsmath}&#10;\pagestyle{empty}&#10;\begin{document}&#10;&#10;&#10;$w^Tx+b =0$&#10;&#10;\end{document}"/>
  <p:tag name="IGUANATEXSIZE" val="12"/>
  <p:tag name="IGUANATEXCURSOR" val="83"/>
  <p:tag name="TRANSPARENCY" val="True"/>
  <p:tag name="FILENAME" val=""/>
  <p:tag name="INPUTTYPE" val="0"/>
  <p:tag name="LATEXENGINEID" val="1"/>
  <p:tag name="TEMPFOLDER" val="C:\Users\User\Documents\PowerPointLAtex\"/>
</p:tagLst>
</file>

<file path=ppt/tags/tag35.xml><?xml version="1.0" encoding="utf-8"?>
<p:tagLst xmlns:a="http://schemas.openxmlformats.org/drawingml/2006/main" xmlns:r="http://schemas.openxmlformats.org/officeDocument/2006/relationships" xmlns:p="http://schemas.openxmlformats.org/presentationml/2006/main">
  <p:tag name="ORIGINALHEIGHT" val="120.0168"/>
  <p:tag name="ORIGINALWIDTH" val="663.0925"/>
  <p:tag name="OUTPUTDPI" val="1200"/>
  <p:tag name="LATEXADDIN" val="\documentclass{article}&#10;\usepackage{amsmath}&#10;\newcommand{\norm}[1]{\left\lVert#1\right\rVert}&#10;&#10;\pagestyle{empty}&#10;\begin{document}&#10;&#10;&#10;\begin{equation*}&#10;w^Tx+b =1&#10;\end{equation*}&#10;&#10;\end{document}"/>
  <p:tag name="IGUANATEXSIZE" val="12"/>
  <p:tag name="IGUANATEXCURSOR" val="159"/>
  <p:tag name="TRANSPARENCY" val="True"/>
  <p:tag name="FILENAME" val=""/>
  <p:tag name="INPUTTYPE" val="0"/>
  <p:tag name="LATEXENGINEID" val="1"/>
  <p:tag name="TEMPFOLDER" val="C:\Users\User\Documents\PowerPointLAtex\"/>
</p:tagLst>
</file>

<file path=ppt/tags/tag36.xml><?xml version="1.0" encoding="utf-8"?>
<p:tagLst xmlns:a="http://schemas.openxmlformats.org/drawingml/2006/main" xmlns:r="http://schemas.openxmlformats.org/officeDocument/2006/relationships" xmlns:p="http://schemas.openxmlformats.org/presentationml/2006/main">
  <p:tag name="ORIGINALHEIGHT" val="120.0168"/>
  <p:tag name="ORIGINALWIDTH" val="759.8561"/>
  <p:tag name="OUTPUTDPI" val="1200"/>
  <p:tag name="LATEXADDIN" val="\documentclass{article}&#10;\usepackage{amsmath}&#10;\newcommand{\norm}[1]{\left\lVert#1\right\rVert}&#10;&#10;\pagestyle{empty}&#10;\begin{document}&#10;&#10;&#10;\begin{equation*}&#10;w^Tx+b = -1&#10;\end{equation*}&#10;&#10;\end{document}"/>
  <p:tag name="IGUANATEXSIZE" val="12"/>
  <p:tag name="IGUANATEXCURSOR" val="162"/>
  <p:tag name="TRANSPARENCY" val="True"/>
  <p:tag name="FILENAME" val=""/>
  <p:tag name="INPUTTYPE" val="0"/>
  <p:tag name="LATEXENGINEID" val="1"/>
  <p:tag name="TEMPFOLDER" val="C:\Users\User\Documents\PowerPointLAtex\"/>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114.0159"/>
  <p:tag name="ORIGINALWIDTH" val="668.3433"/>
  <p:tag name="LATEXADDIN" val="\documentclass{article}&#10;\usepackage{amsmath}&#10;\pagestyle{empty}&#10;\begin{document}&#10;&#10;&#10;$w^Tx+b =0$\\&#10;&#10;&#10;\end{document}"/>
  <p:tag name="IGUANATEXSIZE" val="12"/>
  <p:tag name="IGUANATEXCURSOR" val="96"/>
  <p:tag name="TRANSPARENCY" val="True"/>
  <p:tag name="FILENAME" val=""/>
  <p:tag name="LATEXENGINEID" val="1"/>
  <p:tag name="TEMPFOLDER" val="C:\Users\anas\Documents\iguana\"/>
  <p:tag name="LATEXFORMHEIGHT" val="312"/>
  <p:tag name="LATEXFORMWIDTH" val="384"/>
  <p:tag name="LATEXFORMWRAP" val="True"/>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192.7769"/>
  <p:tag name="ORIGINALWIDTH" val="630.838"/>
  <p:tag name="LATEXADDIN" val="\documentclass{article}&#10;\usepackage{amsmath}&#10;\newcommand{\norm}[1]{\left\lVert#1\right\rVert}&#10;&#10;\pagestyle{empty}&#10;\begin{document}&#10;&#10;&#10;$\frac{w^Tx+b}{\norm w} =  M$&#10;&#10;&#10;\end{document}"/>
  <p:tag name="IGUANATEXSIZE" val="12"/>
  <p:tag name="IGUANATEXCURSOR" val="131"/>
  <p:tag name="TRANSPARENCY" val="True"/>
  <p:tag name="FILENAME" val=""/>
  <p:tag name="LATEXENGINEID" val="1"/>
  <p:tag name="TEMPFOLDER" val="C:\Users\anas\Documents\iguana\"/>
  <p:tag name="LATEXFORMHEIGHT" val="312"/>
  <p:tag name="LATEXFORMWIDTH" val="384"/>
  <p:tag name="LATEXFORMWRAP" val="True"/>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192.7769"/>
  <p:tag name="ORIGINALWIDTH" val="727.6016"/>
  <p:tag name="LATEXADDIN" val="\documentclass{article}&#10;\usepackage{amsmath}&#10;\newcommand{\norm}[1]{\left\lVert#1\right\rVert}&#10;&#10;\pagestyle{empty}&#10;\begin{document}&#10;&#10;&#10;&#10;$\frac{w^Tx+b}{\norm w} = - M$&#10;&#10;\end{document}"/>
  <p:tag name="IGUANATEXSIZE" val="12"/>
  <p:tag name="IGUANATEXCURSOR" val="132"/>
  <p:tag name="TRANSPARENCY" val="True"/>
  <p:tag name="FILENAME" val=""/>
  <p:tag name="LATEXENGINEID" val="1"/>
  <p:tag name="TEMPFOLDER" val="C:\Users\anas\Documents\iguana\"/>
  <p:tag name="LATEXFORMHEIGHT" val="312"/>
  <p:tag name="LATEXFORMWIDTH" val="384"/>
  <p:tag name="LATEXFORMWRAP" val="True"/>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RIGINALHEIGHT" val="111.7656"/>
  <p:tag name="ORIGINALWIDTH" val="80.26118"/>
  <p:tag name="OUTPUTDPI" val="1200"/>
  <p:tag name="LATEXADDIN" val="\documentclass{article}&#10;\usepackage{amsmath}&#10;\pagestyle{empty}&#10;\begin{document}&#10;&#10;&#10;$\zeta_i$&#10;&#10;\end{document}"/>
  <p:tag name="IGUANATEXSIZE" val="20"/>
  <p:tag name="IGUANATEXCURSOR" val="88"/>
  <p:tag name="TRANSPARENCY" val="True"/>
  <p:tag name="FILENAME" val=""/>
  <p:tag name="INPUTTYPE" val="0"/>
  <p:tag name="LATEXENGINEID" val="1"/>
  <p:tag name="TEMPFOLDER" val="C:\Users\User\Documents\PowerPointLAtex\"/>
</p:tagLst>
</file>

<file path=ppt/tags/tag41.xml><?xml version="1.0" encoding="utf-8"?>
<p:tagLst xmlns:a="http://schemas.openxmlformats.org/drawingml/2006/main" xmlns:r="http://schemas.openxmlformats.org/officeDocument/2006/relationships" xmlns:p="http://schemas.openxmlformats.org/presentationml/2006/main">
  <p:tag name="ORIGINALHEIGHT" val="327.0457"/>
  <p:tag name="ORIGINALWIDTH" val="1063.648"/>
  <p:tag name="OUTPUTDPI" val="1200"/>
  <p:tag name="LATEXADDIN" val="\documentclass{article}&#10;\usepackage{amsmath}&#10;\pagestyle{empty}&#10;\begin{document}&#10;&#10;\begin{align*}&#10;y^{(i)}(w^Tx^{(i)}+b)&amp;\geq 1\\&#10;\forall\; i = 1,\cdots, n &amp;&#10;\end{align*}&#10;&#10;\end{document}"/>
  <p:tag name="IGUANATEXSIZE" val="16"/>
  <p:tag name="IGUANATEXCURSOR" val="149"/>
  <p:tag name="TRANSPARENCY" val="True"/>
  <p:tag name="FILENAME" val=""/>
  <p:tag name="INPUTTYPE" val="0"/>
  <p:tag name="LATEXENGINEID" val="1"/>
  <p:tag name="TEMPFOLDER" val="C:\Users\User\Documents\PowerPointLAtex\"/>
</p:tagLst>
</file>

<file path=ppt/tags/tag42.xml><?xml version="1.0" encoding="utf-8"?>
<p:tagLst xmlns:a="http://schemas.openxmlformats.org/drawingml/2006/main" xmlns:r="http://schemas.openxmlformats.org/officeDocument/2006/relationships" xmlns:p="http://schemas.openxmlformats.org/presentationml/2006/main">
  <p:tag name="ORIGINALHEIGHT" val="513.8217"/>
  <p:tag name="ORIGINALWIDTH" val="1314.934"/>
  <p:tag name="OUTPUTDPI" val="1200"/>
  <p:tag name="LATEXADDIN" val="\documentclass{article}&#10;\usepackage{amsmath}&#10;\pagestyle{empty}&#10;\begin{document}&#10;&#10;\begin{align*}&#10;&amp;y^{(i)}(w^Tx^{(i)}+b)\geq 1 - \zeta_i\\&#10;&amp;\zeta_i \geq 0 \\ &#10;&amp;\forall\; i = 1,\cdots, n &#10;\end{align*}&#10;&#10;\end{document}"/>
  <p:tag name="IGUANATEXSIZE" val="16"/>
  <p:tag name="IGUANATEXCURSOR" val="134"/>
  <p:tag name="TRANSPARENCY" val="True"/>
  <p:tag name="FILENAME" val=""/>
  <p:tag name="INPUTTYPE" val="0"/>
  <p:tag name="LATEXENGINEID" val="1"/>
  <p:tag name="TEMPFOLDER" val="C:\Users\User\Documents\PowerPointLAtex\"/>
</p:tagLst>
</file>

<file path=ppt/tags/tag43.xml><?xml version="1.0" encoding="utf-8"?>
<p:tagLst xmlns:a="http://schemas.openxmlformats.org/drawingml/2006/main" xmlns:r="http://schemas.openxmlformats.org/officeDocument/2006/relationships" xmlns:p="http://schemas.openxmlformats.org/presentationml/2006/main">
  <p:tag name="ORIGINALHEIGHT" val="111.7656"/>
  <p:tag name="ORIGINALWIDTH" val="314.2939"/>
  <p:tag name="OUTPUTDPI" val="1200"/>
  <p:tag name="LATEXADDIN" val="\documentclass{article}&#10;\usepackage{amsmath}&#10;\pagestyle{empty}&#10;\begin{document}&#10;&#10;&#10;$\zeta_i = 0$&#10;&#10;\end{document}"/>
  <p:tag name="IGUANATEXSIZE" val="14"/>
  <p:tag name="IGUANATEXCURSOR" val="95"/>
  <p:tag name="TRANSPARENCY" val="False"/>
  <p:tag name="FILENAME" val=""/>
  <p:tag name="INPUTTYPE" val="0"/>
  <p:tag name="LATEXENGINEID" val="1"/>
  <p:tag name="TEMPFOLDER" val="C:\Users\User\Documents\PowerPointLAtex\"/>
</p:tagLst>
</file>

<file path=ppt/tags/tag44.xml><?xml version="1.0" encoding="utf-8"?>
<p:tagLst xmlns:a="http://schemas.openxmlformats.org/drawingml/2006/main" xmlns:r="http://schemas.openxmlformats.org/officeDocument/2006/relationships" xmlns:p="http://schemas.openxmlformats.org/presentationml/2006/main">
  <p:tag name="ORIGINALHEIGHT" val="111.7656"/>
  <p:tag name="ORIGINALWIDTH" val="309.0432"/>
  <p:tag name="OUTPUTDPI" val="1200"/>
  <p:tag name="LATEXADDIN" val="\documentclass{article}&#10;\usepackage{amsmath}&#10;\pagestyle{empty}&#10;\begin{document}&#10;&#10;&#10;$\zeta_i &lt;1$&#10;&#10;\end{document}"/>
  <p:tag name="IGUANATEXSIZE" val="14"/>
  <p:tag name="IGUANATEXCURSOR" val="94"/>
  <p:tag name="TRANSPARENCY" val="False"/>
  <p:tag name="FILENAME" val=""/>
  <p:tag name="INPUTTYPE" val="0"/>
  <p:tag name="LATEXENGINEID" val="1"/>
  <p:tag name="TEMPFOLDER" val="C:\Users\User\Documents\PowerPointLAtex\"/>
</p:tagLst>
</file>

<file path=ppt/tags/tag45.xml><?xml version="1.0" encoding="utf-8"?>
<p:tagLst xmlns:a="http://schemas.openxmlformats.org/drawingml/2006/main" xmlns:r="http://schemas.openxmlformats.org/officeDocument/2006/relationships" xmlns:p="http://schemas.openxmlformats.org/presentationml/2006/main">
  <p:tag name="ORIGINALHEIGHT" val="111.7656"/>
  <p:tag name="ORIGINALWIDTH" val="309.0432"/>
  <p:tag name="OUTPUTDPI" val="1200"/>
  <p:tag name="LATEXADDIN" val="\documentclass{article}&#10;\usepackage{amsmath}&#10;\pagestyle{empty}&#10;\begin{document}&#10;&#10;&#10;$\zeta_i &gt; 1$&#10;&#10;\end{document}"/>
  <p:tag name="IGUANATEXSIZE" val="14"/>
  <p:tag name="IGUANATEXCURSOR" val="94"/>
  <p:tag name="TRANSPARENCY" val="False"/>
  <p:tag name="FILENAME" val=""/>
  <p:tag name="INPUTTYPE" val="0"/>
  <p:tag name="LATEXENGINEID" val="1"/>
  <p:tag name="TEMPFOLDER" val="C:\Users\User\Documents\PowerPointLAtex\"/>
</p:tagLst>
</file>

<file path=ppt/tags/tag46.xml><?xml version="1.0" encoding="utf-8"?>
<p:tagLst xmlns:a="http://schemas.openxmlformats.org/drawingml/2006/main" xmlns:r="http://schemas.openxmlformats.org/officeDocument/2006/relationships" xmlns:p="http://schemas.openxmlformats.org/presentationml/2006/main">
  <p:tag name="ORIGINALHEIGHT" val="123.0172"/>
  <p:tag name="ORIGINALWIDTH" val="320.2947"/>
  <p:tag name="OUTPUTDPI" val="1200"/>
  <p:tag name="LATEXADDIN" val="\documentclass{article}&#10;\usepackage{amsmath}&#10;\pagestyle{empty}&#10;\begin{document}&#10;&#10;&#10;$\zeta_j &gt;1$&#10;&#10;\end{document}"/>
  <p:tag name="IGUANATEXSIZE" val="10"/>
  <p:tag name="IGUANATEXCURSOR" val="92"/>
  <p:tag name="TRANSPARENCY" val="False"/>
  <p:tag name="FILENAME" val=""/>
  <p:tag name="INPUTTYPE" val="0"/>
  <p:tag name="LATEXENGINEID" val="1"/>
  <p:tag name="TEMPFOLDER" val="C:\Users\User\Documents\PowerPointLAtex\"/>
</p:tagLst>
</file>

<file path=ppt/tags/tag47.xml><?xml version="1.0" encoding="utf-8"?>
<p:tagLst xmlns:a="http://schemas.openxmlformats.org/drawingml/2006/main" xmlns:r="http://schemas.openxmlformats.org/officeDocument/2006/relationships" xmlns:p="http://schemas.openxmlformats.org/presentationml/2006/main">
  <p:tag name="ORIGINALHEIGHT" val="111.7656"/>
  <p:tag name="ORIGINALWIDTH" val="329.296"/>
  <p:tag name="OUTPUTDPI" val="1200"/>
  <p:tag name="LATEXADDIN" val="\documentclass{article}&#10;\usepackage{amsmath}&#10;\pagestyle{empty}&#10;\begin{document}&#10;&#10;&#10;$\zeta_k &lt;1$&#10;&#10;\end{document}"/>
  <p:tag name="IGUANATEXSIZE" val="10"/>
  <p:tag name="IGUANATEXCURSOR" val="89"/>
  <p:tag name="TRANSPARENCY" val="False"/>
  <p:tag name="FILENAME" val=""/>
  <p:tag name="INPUTTYPE" val="0"/>
  <p:tag name="LATEXENGINEID" val="1"/>
  <p:tag name="TEMPFOLDER" val="C:\Users\User\Documents\PowerPointLAtex\"/>
</p:tagLst>
</file>

<file path=ppt/tags/tag48.xml><?xml version="1.0" encoding="utf-8"?>
<p:tagLst xmlns:a="http://schemas.openxmlformats.org/drawingml/2006/main" xmlns:r="http://schemas.openxmlformats.org/officeDocument/2006/relationships" xmlns:p="http://schemas.openxmlformats.org/presentationml/2006/main">
  <p:tag name="ORIGINALHEIGHT" val="114.0159"/>
  <p:tag name="ORIGINALWIDTH" val="663.0925"/>
  <p:tag name="OUTPUTDPI" val="1200"/>
  <p:tag name="LATEXADDIN" val="\documentclass{article}&#10;\usepackage{amsmath}&#10;\pagestyle{empty}&#10;\begin{document}&#10;&#10;&#10;$w^Tx+b=1$&#10;&#10;\end{document}"/>
  <p:tag name="IGUANATEXSIZE" val="12"/>
  <p:tag name="IGUANATEXCURSOR" val="91"/>
  <p:tag name="TRANSPARENCY" val="True"/>
  <p:tag name="FILENAME" val=""/>
  <p:tag name="INPUTTYPE" val="0"/>
  <p:tag name="LATEXENGINEID" val="1"/>
  <p:tag name="TEMPFOLDER" val="C:\Users\User\Documents\PowerPointLAtex\"/>
</p:tagLst>
</file>

<file path=ppt/tags/tag49.xml><?xml version="1.0" encoding="utf-8"?>
<p:tagLst xmlns:a="http://schemas.openxmlformats.org/drawingml/2006/main" xmlns:r="http://schemas.openxmlformats.org/officeDocument/2006/relationships" xmlns:p="http://schemas.openxmlformats.org/presentationml/2006/main">
  <p:tag name="ORIGINALHEIGHT" val="114.0159"/>
  <p:tag name="ORIGINALWIDTH" val="759.8561"/>
  <p:tag name="OUTPUTDPI" val="1200"/>
  <p:tag name="LATEXADDIN" val="\documentclass{article}&#10;\usepackage{amsmath}&#10;\pagestyle{empty}&#10;\begin{document}&#10;&#10;&#10;$w^Tx+b= -1$&#10;&#10;\end{document}"/>
  <p:tag name="IGUANATEXSIZE" val="12"/>
  <p:tag name="IGUANATEXCURSOR" val="92"/>
  <p:tag name="TRANSPARENCY" val="True"/>
  <p:tag name="FILENAME" val=""/>
  <p:tag name="INPUTTYPE" val="0"/>
  <p:tag name="LATEXENGINEID" val="1"/>
  <p:tag name="TEMPFOLDER" val="C:\Users\User\Documents\PowerPointLAtex\"/>
</p:tagLst>
</file>

<file path=ppt/tags/tag50.xml><?xml version="1.0" encoding="utf-8"?>
<p:tagLst xmlns:a="http://schemas.openxmlformats.org/drawingml/2006/main" xmlns:r="http://schemas.openxmlformats.org/officeDocument/2006/relationships" xmlns:p="http://schemas.openxmlformats.org/presentationml/2006/main">
  <p:tag name="ORIGINALHEIGHT" val="111.7656"/>
  <p:tag name="ORIGINALWIDTH" val="306.0427"/>
  <p:tag name="OUTPUTDPI" val="1200"/>
  <p:tag name="LATEXADDIN" val="\documentclass{article}&#10;\usepackage{amsmath}&#10;\pagestyle{empty}&#10;\begin{document}&#10;&#10;&#10;$\zeta_l &gt;1$&#10;&#10;\end{document}"/>
  <p:tag name="IGUANATEXSIZE" val="10"/>
  <p:tag name="IGUANATEXCURSOR" val="90"/>
  <p:tag name="TRANSPARENCY" val="False"/>
  <p:tag name="FILENAME" val=""/>
  <p:tag name="INPUTTYPE" val="0"/>
  <p:tag name="LATEXENGINEID" val="1"/>
  <p:tag name="TEMPFOLDER" val="C:\Users\User\Documents\PowerPointLAtex\"/>
</p:tagLst>
</file>

<file path=ppt/tags/tag51.xml><?xml version="1.0" encoding="utf-8"?>
<p:tagLst xmlns:a="http://schemas.openxmlformats.org/drawingml/2006/main" xmlns:r="http://schemas.openxmlformats.org/officeDocument/2006/relationships" xmlns:p="http://schemas.openxmlformats.org/presentationml/2006/main">
  <p:tag name="ORIGINALHEIGHT" val="114.0159"/>
  <p:tag name="ORIGINALWIDTH" val="668.3433"/>
  <p:tag name="OUTPUTDPI" val="1200"/>
  <p:tag name="LATEXADDIN" val="\documentclass{article}&#10;\usepackage{amsmath}&#10;\pagestyle{empty}&#10;\begin{document}&#10;&#10;&#10;$w^Tx+b =0$&#10;&#10;\end{document}"/>
  <p:tag name="IGUANATEXSIZE" val="12"/>
  <p:tag name="IGUANATEXCURSOR" val="83"/>
  <p:tag name="TRANSPARENCY" val="True"/>
  <p:tag name="FILENAME" val=""/>
  <p:tag name="INPUTTYPE" val="0"/>
  <p:tag name="LATEXENGINEID" val="1"/>
  <p:tag name="TEMPFOLDER" val="C:\Users\User\Documents\PowerPointLAtex\"/>
</p:tagLst>
</file>

<file path=ppt/tags/tag52.xml><?xml version="1.0" encoding="utf-8"?>
<p:tagLst xmlns:a="http://schemas.openxmlformats.org/drawingml/2006/main" xmlns:r="http://schemas.openxmlformats.org/officeDocument/2006/relationships" xmlns:p="http://schemas.openxmlformats.org/presentationml/2006/main">
  <p:tag name="ORIGINALHEIGHT" val="917.3781"/>
  <p:tag name="ORIGINALWIDTH" val="1697.487"/>
  <p:tag name="OUTPUTDPI" val="1200"/>
  <p:tag name="LATEXADDIN" val="\documentclass{article}&#10;\usepackage{amsmath}&#10;\newcommand{\norm}[1]{\left\lVert#1\right\rVert}&#10;&#10;\pagestyle{empty}&#10;\begin{document}&#10;&#10;&#10;\begin{equation*}&#10;\begin{aligned}&#10;\min_{w,b,\zeta_i} \quad &amp; \frac{1}{2}{\norm w}^2 + C \sum_{i=1}^{n}\zeta_i\\&#10;\textrm{s.t.} \quad &amp; y^{(i)}(w^Tx^{(i)}+b)&#10;\geq 1-\zeta_i \;\;\\&#10;\quad &amp; \zeta_i \geq 0 \;\;\; \\&#10;\quad &amp; \forall \; i=1,\cdots,n&#10;\end{aligned}&#10;\end{equation*}&#10;&#10;\end{document}"/>
  <p:tag name="IGUANATEXSIZE" val="15"/>
  <p:tag name="IGUANATEXCURSOR" val="177"/>
  <p:tag name="TRANSPARENCY" val="True"/>
  <p:tag name="FILENAME" val=""/>
  <p:tag name="INPUTTYPE" val="0"/>
  <p:tag name="LATEXENGINEID" val="1"/>
  <p:tag name="TEMPFOLDER" val="C:\Users\User\Documents\PowerPointLAtex\"/>
</p:tagLst>
</file>

<file path=ppt/tags/tag53.xml><?xml version="1.0" encoding="utf-8"?>
<p:tagLst xmlns:a="http://schemas.openxmlformats.org/drawingml/2006/main" xmlns:r="http://schemas.openxmlformats.org/officeDocument/2006/relationships" xmlns:p="http://schemas.openxmlformats.org/presentationml/2006/main">
  <p:tag name="ORIGINALHEIGHT" val="654.8414"/>
  <p:tag name="ORIGINALWIDTH" val="1395.195"/>
  <p:tag name="OUTPUTDPI" val="1200"/>
  <p:tag name="LATEXADDIN" val="\documentclass{article}&#10;\usepackage{amsmath}&#10;\newcommand{\norm}[1]{\left\lVert#1\right\rVert}&#10;&#10;\pagestyle{empty}&#10;\begin{document}&#10;&#10;&#10;\begin{equation*}&#10;\begin{aligned}&#10;\min_{w,b} \quad &amp; \frac{1}{2}{\norm w}^2\\&#10;\textrm{s.t.} \quad &amp; y^{(i)}(w^Tx^{(i)}+b)&#10;\geq 1 \;\;\\&#10;\quad &amp; \forall \; i=1,\cdots,n&#10;\end{aligned}&#10;\end{equation*}&#10;&#10;\end{document}"/>
  <p:tag name="IGUANATEXSIZE" val="15"/>
  <p:tag name="IGUANATEXCURSOR" val="207"/>
  <p:tag name="TRANSPARENCY" val="True"/>
  <p:tag name="FILENAME" val=""/>
  <p:tag name="INPUTTYPE" val="0"/>
  <p:tag name="LATEXENGINEID" val="1"/>
  <p:tag name="TEMPFOLDER" val="C:\Users\User\Documents\PowerPointLAtex\"/>
</p:tagLst>
</file>

<file path=ppt/tags/tag54.xml><?xml version="1.0" encoding="utf-8"?>
<p:tagLst xmlns:a="http://schemas.openxmlformats.org/drawingml/2006/main" xmlns:r="http://schemas.openxmlformats.org/officeDocument/2006/relationships" xmlns:p="http://schemas.openxmlformats.org/presentationml/2006/main">
  <p:tag name="ORIGINALHEIGHT" val="917.3781"/>
  <p:tag name="ORIGINALWIDTH" val="1697.487"/>
  <p:tag name="OUTPUTDPI" val="1200"/>
  <p:tag name="LATEXADDIN" val="\documentclass{article}&#10;\usepackage{amsmath}&#10;\newcommand{\norm}[1]{\left\lVert#1\right\rVert}&#10;&#10;\pagestyle{empty}&#10;\begin{document}&#10;&#10;&#10;\begin{equation*}&#10;\begin{aligned}&#10;\min_{w,b,\zeta_i} \quad &amp; \frac{1}{2}{\norm w}^2 + C \sum_{i=1}^{n}\zeta_i\\&#10;\textrm{s.t.} \quad &amp; y^{(i)}(w^Tx^{(i)}+b)&#10;\geq 1-\zeta_i \;\;\\&#10;\quad &amp; \zeta_i \geq 0 \;\;\; \\&#10;\quad &amp; \forall \; i=1,\cdots,n&#10;\end{aligned}&#10;\end{equation*}&#10;&#10;\end{document}"/>
  <p:tag name="IGUANATEXSIZE" val="15"/>
  <p:tag name="IGUANATEXCURSOR" val="177"/>
  <p:tag name="TRANSPARENCY" val="True"/>
  <p:tag name="FILENAME" val=""/>
  <p:tag name="INPUTTYPE" val="0"/>
  <p:tag name="LATEXENGINEID" val="1"/>
  <p:tag name="TEMPFOLDER" val="C:\Users\User\Documents\PowerPointLAtex\"/>
</p:tagLst>
</file>

<file path=ppt/tags/tag55.xml><?xml version="1.0" encoding="utf-8"?>
<p:tagLst xmlns:a="http://schemas.openxmlformats.org/drawingml/2006/main" xmlns:r="http://schemas.openxmlformats.org/officeDocument/2006/relationships" xmlns:p="http://schemas.openxmlformats.org/presentationml/2006/main">
  <p:tag name="ORIGINALHEIGHT" val="917.3781"/>
  <p:tag name="ORIGINALWIDTH" val="1697.487"/>
  <p:tag name="OUTPUTDPI" val="1200"/>
  <p:tag name="LATEXADDIN" val="\documentclass{article}&#10;\usepackage{amsmath}&#10;\newcommand{\norm}[1]{\left\lVert#1\right\rVert}&#10;&#10;\pagestyle{empty}&#10;\begin{document}&#10;&#10;&#10;\begin{equation*}&#10;\begin{aligned}&#10;\min_{w,b,\zeta_i} \quad &amp; \frac{1}{2}{\norm w}^2 + C \sum_{i=1}^{n}\zeta_i\\&#10;\textrm{s.t.} \quad &amp; y^{(i)}(w^Tx^{(i)}+b)&#10;\geq 1-\zeta_i \;\;\\&#10;\quad &amp; \zeta_i \geq 0 \;\;\; \\&#10;\quad &amp; \forall \; i=1,\cdots,n&#10;\end{aligned}&#10;\end{equation*}&#10;&#10;\end{document}"/>
  <p:tag name="IGUANATEXSIZE" val="15"/>
  <p:tag name="IGUANATEXCURSOR" val="177"/>
  <p:tag name="TRANSPARENCY" val="True"/>
  <p:tag name="FILENAME" val=""/>
  <p:tag name="INPUTTYPE" val="0"/>
  <p:tag name="LATEXENGINEID" val="1"/>
  <p:tag name="TEMPFOLDER" val="C:\Users\User\Documents\PowerPointLAtex\"/>
</p:tagLst>
</file>

<file path=ppt/tags/tag56.xml><?xml version="1.0" encoding="utf-8"?>
<p:tagLst xmlns:a="http://schemas.openxmlformats.org/drawingml/2006/main" xmlns:r="http://schemas.openxmlformats.org/officeDocument/2006/relationships" xmlns:p="http://schemas.openxmlformats.org/presentationml/2006/main">
  <p:tag name="ORIGINALHEIGHT" val="114.0159"/>
  <p:tag name="ORIGINALWIDTH" val="663.0925"/>
  <p:tag name="OUTPUTDPI" val="1200"/>
  <p:tag name="LATEXADDIN" val="\documentclass{article}&#10;\usepackage{amsmath}&#10;\pagestyle{empty}&#10;\begin{document}&#10;&#10;&#10;$w^Tx+b=1$&#10;&#10;\end{document}"/>
  <p:tag name="IGUANATEXSIZE" val="12"/>
  <p:tag name="IGUANATEXCURSOR" val="91"/>
  <p:tag name="TRANSPARENCY" val="True"/>
  <p:tag name="FILENAME" val=""/>
  <p:tag name="INPUTTYPE" val="0"/>
  <p:tag name="LATEXENGINEID" val="1"/>
  <p:tag name="TEMPFOLDER" val="C:\Users\User\Documents\PowerPointLAtex\"/>
</p:tagLst>
</file>

<file path=ppt/tags/tag57.xml><?xml version="1.0" encoding="utf-8"?>
<p:tagLst xmlns:a="http://schemas.openxmlformats.org/drawingml/2006/main" xmlns:r="http://schemas.openxmlformats.org/officeDocument/2006/relationships" xmlns:p="http://schemas.openxmlformats.org/presentationml/2006/main">
  <p:tag name="ORIGINALHEIGHT" val="114.0159"/>
  <p:tag name="ORIGINALWIDTH" val="759.8561"/>
  <p:tag name="OUTPUTDPI" val="1200"/>
  <p:tag name="LATEXADDIN" val="\documentclass{article}&#10;\usepackage{amsmath}&#10;\pagestyle{empty}&#10;\begin{document}&#10;&#10;&#10;$w^Tx+b= -1$&#10;&#10;\end{document}"/>
  <p:tag name="IGUANATEXSIZE" val="12"/>
  <p:tag name="IGUANATEXCURSOR" val="92"/>
  <p:tag name="TRANSPARENCY" val="True"/>
  <p:tag name="FILENAME" val=""/>
  <p:tag name="INPUTTYPE" val="0"/>
  <p:tag name="LATEXENGINEID" val="1"/>
  <p:tag name="TEMPFOLDER" val="C:\Users\User\Documents\PowerPointLAtex\"/>
</p:tagLst>
</file>

<file path=ppt/tags/tag58.xml><?xml version="1.0" encoding="utf-8"?>
<p:tagLst xmlns:a="http://schemas.openxmlformats.org/drawingml/2006/main" xmlns:r="http://schemas.openxmlformats.org/officeDocument/2006/relationships" xmlns:p="http://schemas.openxmlformats.org/presentationml/2006/main">
  <p:tag name="ORIGINALHEIGHT" val="114.0159"/>
  <p:tag name="ORIGINALWIDTH" val="668.3433"/>
  <p:tag name="OUTPUTDPI" val="1200"/>
  <p:tag name="LATEXADDIN" val="\documentclass{article}&#10;\usepackage{amsmath}&#10;\pagestyle{empty}&#10;\begin{document}&#10;&#10;&#10;$w^Tx+b =0$&#10;&#10;\end{document}"/>
  <p:tag name="IGUANATEXSIZE" val="12"/>
  <p:tag name="IGUANATEXCURSOR" val="83"/>
  <p:tag name="TRANSPARENCY" val="True"/>
  <p:tag name="FILENAME" val=""/>
  <p:tag name="INPUTTYPE" val="0"/>
  <p:tag name="LATEXENGINEID" val="1"/>
  <p:tag name="TEMPFOLDER" val="C:\Users\User\Documents\PowerPointLAtex\"/>
</p:tagLst>
</file>

<file path=ppt/tags/tag59.xml><?xml version="1.0" encoding="utf-8"?>
<p:tagLst xmlns:a="http://schemas.openxmlformats.org/drawingml/2006/main" xmlns:r="http://schemas.openxmlformats.org/officeDocument/2006/relationships" xmlns:p="http://schemas.openxmlformats.org/presentationml/2006/main">
  <p:tag name="ORIGINALHEIGHT" val="732.1022"/>
  <p:tag name="ORIGINALWIDTH" val="2576.61"/>
  <p:tag name="OUTPUTDPI" val="1200"/>
  <p:tag name="LATEXADDIN" val="\documentclass{article}&#10;\usepackage{amsmath}&#10;\newcommand{\norm}[1]{\left\lVert#1\right\rVert}&#10;&#10;\pagestyle{empty}&#10;\begin{document}&#10;&#10;&#10;\begin{equation*}&#10;\begin{aligned}&#10;\min_{w,b,\zeta_i} \quad &amp; \frac{1}{2}{\norm w}^2 + C \sum_{i=1}^{n}\zeta_i\\&#10;\textrm{s.t.} \quad &amp; y^{(i)}(w^Tx^{(i)}+b)&#10;\geq 1-\zeta_i, \;\; \forall \; i=1,\cdots,n \\&#10;\quad &amp; \zeta_i \geq 0, \;\;\; \forall \; i=1,\cdots,n&#10;\end{aligned}&#10;\end{equation*}&#10;&#10;\end{document}"/>
  <p:tag name="IGUANATEXSIZE" val="15"/>
  <p:tag name="IGUANATEXCURSOR" val="303"/>
  <p:tag name="TRANSPARENCY" val="True"/>
  <p:tag name="FILENAME" val=""/>
  <p:tag name="INPUTTYPE" val="0"/>
  <p:tag name="LATEXENGINEID" val="1"/>
  <p:tag name="TEMPFOLDER" val="C:\Users\User\Documents\PowerPointLAtex\"/>
</p:tagLst>
</file>

<file path=ppt/tags/tag60.xml><?xml version="1.0" encoding="utf-8"?>
<p:tagLst xmlns:a="http://schemas.openxmlformats.org/drawingml/2006/main" xmlns:r="http://schemas.openxmlformats.org/officeDocument/2006/relationships" xmlns:p="http://schemas.openxmlformats.org/presentationml/2006/main">
  <p:tag name="ORIGINALHEIGHT" val="917.3781"/>
  <p:tag name="ORIGINALWIDTH" val="1697.487"/>
  <p:tag name="OUTPUTDPI" val="1200"/>
  <p:tag name="LATEXADDIN" val="\documentclass{article}&#10;\usepackage{amsmath}&#10;\newcommand{\norm}[1]{\left\lVert#1\right\rVert}&#10;&#10;\pagestyle{empty}&#10;\begin{document}&#10;&#10;&#10;\begin{equation*}&#10;\begin{aligned}&#10;\min_{w,b,\zeta_i} \quad &amp; \frac{1}{2}{\norm w}^2 + C \sum_{i=1}^{n}\zeta_i\\&#10;\textrm{s.t.} \quad &amp; y^{(i)}(w^Tx^{(i)}+b)&#10;\geq 1-\zeta_i \;\;\\&#10;\quad &amp; \zeta_i \geq 0 \;\;\; \\&#10;\quad &amp; \forall \; i=1,\cdots,n&#10;\end{aligned}&#10;\end{equation*}&#10;&#10;\end{document}"/>
  <p:tag name="IGUANATEXSIZE" val="12"/>
  <p:tag name="IGUANATEXCURSOR" val="177"/>
  <p:tag name="TRANSPARENCY" val="True"/>
  <p:tag name="FILENAME" val=""/>
  <p:tag name="INPUTTYPE" val="0"/>
  <p:tag name="LATEXENGINEID" val="1"/>
  <p:tag name="TEMPFOLDER" val="C:\Users\User\Documents\PowerPointLAtex\"/>
</p:tagLst>
</file>

<file path=ppt/tags/tag61.xml><?xml version="1.0" encoding="utf-8"?>
<p:tagLst xmlns:a="http://schemas.openxmlformats.org/drawingml/2006/main" xmlns:r="http://schemas.openxmlformats.org/officeDocument/2006/relationships" xmlns:p="http://schemas.openxmlformats.org/presentationml/2006/main">
  <p:tag name="ORIGINALHEIGHT" val="972.8857"/>
  <p:tag name="ORIGINALWIDTH" val="2484.347"/>
  <p:tag name="OUTPUTDPI" val="1200"/>
  <p:tag name="LATEXADDIN" val="\documentclass{article}&#10;\usepackage{amsmath}&#10;\newcommand{\norm}[1]{\left\lVert#1\right\rVert}&#10;&#10;\pagestyle{empty}&#10;\begin{document}&#10;&#10;&#10;\begin{equation*}&#10;\begin{aligned}&#10;\min_{\alpha} \quad &amp; \frac{1}{2}\sum_{i=1}^{n}\sum_{j=1}^{n}y^{(i)}y^{(j)}\alpha_i\alpha_j \langle x^{(i)},x^{(j)} \rangle - \sum_{i=1}^{n}\alpha_i\\&#10;\textrm{s.t.} \quad &amp; 0\leq\alpha_i\leq C,\;\; i=1,\cdots,n\\&#10;\quad &amp; \sum_{i=1}^{n}\alpha_iy^{(i)} = 0 \;\;\; \\&#10;\end{aligned}&#10;\end{equation*}&#10;&#10;\end{document}"/>
  <p:tag name="IGUANATEXSIZE" val="12"/>
  <p:tag name="IGUANATEXCURSOR" val="418"/>
  <p:tag name="TRANSPARENCY" val="True"/>
  <p:tag name="FILENAME" val=""/>
  <p:tag name="INPUTTYPE" val="0"/>
  <p:tag name="LATEXENGINEID" val="1"/>
  <p:tag name="TEMPFOLDER" val="C:\Users\User\Documents\PowerPointLAtex\"/>
</p:tagLst>
</file>

<file path=ppt/tags/tag62.xml><?xml version="1.0" encoding="utf-8"?>
<p:tagLst xmlns:a="http://schemas.openxmlformats.org/drawingml/2006/main" xmlns:r="http://schemas.openxmlformats.org/officeDocument/2006/relationships" xmlns:p="http://schemas.openxmlformats.org/presentationml/2006/main">
  <p:tag name="ORIGINALHEIGHT" val="74.26039"/>
  <p:tag name="ORIGINALWIDTH" val="105.0146"/>
  <p:tag name="OUTPUTDPI" val="1200"/>
  <p:tag name="LATEXADDIN" val="\documentclass{article}&#10;\usepackage{amsmath}&#10;\pagestyle{empty}&#10;\begin{document}&#10;&#10;&#10;$\alpha_i$&#10;&#10;\end{document}"/>
  <p:tag name="IGUANATEXSIZE" val="16"/>
  <p:tag name="IGUANATEXCURSOR" val="89"/>
  <p:tag name="TRANSPARENCY" val="True"/>
  <p:tag name="FILENAME" val=""/>
  <p:tag name="INPUTTYPE" val="0"/>
  <p:tag name="LATEXENGINEID" val="1"/>
  <p:tag name="TEMPFOLDER" val="C:\Users\User\Documents\PowerPointLAtex\"/>
</p:tagLst>
</file>

<file path=ppt/tags/tag63.xml><?xml version="1.0" encoding="utf-8"?>
<p:tagLst xmlns:a="http://schemas.openxmlformats.org/drawingml/2006/main" xmlns:r="http://schemas.openxmlformats.org/officeDocument/2006/relationships" xmlns:p="http://schemas.openxmlformats.org/presentationml/2006/main">
  <p:tag name="ORIGINALHEIGHT" val="74.26039"/>
  <p:tag name="ORIGINALWIDTH" val="105.0146"/>
  <p:tag name="OUTPUTDPI" val="1200"/>
  <p:tag name="LATEXADDIN" val="\documentclass{article}&#10;\usepackage{amsmath}&#10;\pagestyle{empty}&#10;\begin{document}&#10;&#10;&#10;$\alpha_i$&#10;&#10;\end{document}"/>
  <p:tag name="IGUANATEXSIZE" val="16"/>
  <p:tag name="IGUANATEXCURSOR" val="89"/>
  <p:tag name="TRANSPARENCY" val="True"/>
  <p:tag name="FILENAME" val=""/>
  <p:tag name="INPUTTYPE" val="0"/>
  <p:tag name="LATEXENGINEID" val="1"/>
  <p:tag name="TEMPFOLDER" val="C:\Users\User\Documents\PowerPointLAtex\"/>
</p:tagLst>
</file>

<file path=ppt/tags/tag64.xml><?xml version="1.0" encoding="utf-8"?>
<p:tagLst xmlns:a="http://schemas.openxmlformats.org/drawingml/2006/main" xmlns:r="http://schemas.openxmlformats.org/officeDocument/2006/relationships" xmlns:p="http://schemas.openxmlformats.org/presentationml/2006/main">
  <p:tag name="ORIGINALHEIGHT" val="56.25787"/>
  <p:tag name="ORIGINALWIDTH" val="62.25866"/>
  <p:tag name="OUTPUTDPI" val="1200"/>
  <p:tag name="LATEXADDIN" val="\documentclass{article}&#10;\usepackage{amsmath}&#10;\pagestyle{empty}&#10;\begin{document}&#10;&#10;&#10;$x$&#10;&#10;\end{document}"/>
  <p:tag name="IGUANATEXSIZE" val="16"/>
  <p:tag name="IGUANATEXCURSOR" val="84"/>
  <p:tag name="TRANSPARENCY" val="True"/>
  <p:tag name="FILENAME" val=""/>
  <p:tag name="INPUTTYPE" val="0"/>
  <p:tag name="LATEXENGINEID" val="1"/>
  <p:tag name="TEMPFOLDER" val="C:\Users\User\Documents\PowerPointLAtex\"/>
</p:tagLst>
</file>

<file path=ppt/tags/tag65.xml><?xml version="1.0" encoding="utf-8"?>
<p:tagLst xmlns:a="http://schemas.openxmlformats.org/drawingml/2006/main" xmlns:r="http://schemas.openxmlformats.org/officeDocument/2006/relationships" xmlns:p="http://schemas.openxmlformats.org/presentationml/2006/main">
  <p:tag name="ORIGINALHEIGHT" val="266.2872"/>
  <p:tag name="ORIGINALWIDTH" val="1116.906"/>
  <p:tag name="OUTPUTDPI" val="1200"/>
  <p:tag name="LATEXADDIN" val="\documentclass{article}&#10;\usepackage{amsmath}&#10;\pagestyle{empty}&#10;\begin{document}&#10;&#10;&#10;\begin{align*}&#10;\sum _i y^{(i)}\alpha_i \langle x^{(i)}, x\rangle +b &#10;\end{align*}&#10;\end{document}"/>
  <p:tag name="IGUANATEXSIZE" val="14"/>
  <p:tag name="IGUANATEXCURSOR" val="150"/>
  <p:tag name="TRANSPARENCY" val="True"/>
  <p:tag name="FILENAME" val=""/>
  <p:tag name="INPUTTYPE" val="0"/>
  <p:tag name="LATEXENGINEID" val="1"/>
  <p:tag name="TEMPFOLDER" val="C:\Users\User\Documents\PowerPointLAtex\"/>
</p:tagLst>
</file>

<file path=ppt/tags/tag66.xml><?xml version="1.0" encoding="utf-8"?>
<p:tagLst xmlns:a="http://schemas.openxmlformats.org/drawingml/2006/main" xmlns:r="http://schemas.openxmlformats.org/officeDocument/2006/relationships" xmlns:p="http://schemas.openxmlformats.org/presentationml/2006/main">
  <p:tag name="ORIGINALHEIGHT" val="917.3781"/>
  <p:tag name="ORIGINALWIDTH" val="1697.487"/>
  <p:tag name="OUTPUTDPI" val="1200"/>
  <p:tag name="LATEXADDIN" val="\documentclass{article}&#10;\usepackage{amsmath}&#10;\newcommand{\norm}[1]{\left\lVert#1\right\rVert}&#10;&#10;\pagestyle{empty}&#10;\begin{document}&#10;&#10;&#10;\begin{equation*}&#10;\begin{aligned}&#10;\min_{w,b,\zeta_i} \quad &amp; \frac{1}{2}{\norm w}^2 + C \sum_{i=1}^{n}\zeta_i\\&#10;\textrm{s.t.} \quad &amp; y^{(i)}(w^Tx^{(i)}+b)&#10;\geq 1-\zeta_i \;\;\\&#10;\quad &amp; \zeta_i \geq 0 \;\;\; \\&#10;\quad &amp; \forall \; i=1,\cdots,n&#10;\end{aligned}&#10;\end{equation*}&#10;&#10;\end{document}"/>
  <p:tag name="IGUANATEXSIZE" val="12"/>
  <p:tag name="IGUANATEXCURSOR" val="177"/>
  <p:tag name="TRANSPARENCY" val="True"/>
  <p:tag name="FILENAME" val=""/>
  <p:tag name="INPUTTYPE" val="0"/>
  <p:tag name="LATEXENGINEID" val="1"/>
  <p:tag name="TEMPFOLDER" val="C:\Users\User\Documents\PowerPointLAtex\"/>
</p:tagLst>
</file>

<file path=ppt/tags/tag67.xml><?xml version="1.0" encoding="utf-8"?>
<p:tagLst xmlns:a="http://schemas.openxmlformats.org/drawingml/2006/main" xmlns:r="http://schemas.openxmlformats.org/officeDocument/2006/relationships" xmlns:p="http://schemas.openxmlformats.org/presentationml/2006/main">
  <p:tag name="ORIGINALHEIGHT" val="342.0477"/>
  <p:tag name="ORIGINALWIDTH" val="2739.382"/>
  <p:tag name="OUTPUTDPI" val="1200"/>
  <p:tag name="LATEXADDIN" val="\documentclass{article}&#10;\usepackage{amsmath}&#10;\newcommand{\norm}[1]{\left\lVert#1\right\rVert}&#10;&#10;\pagestyle{empty}&#10;\begin{document}&#10;&#10;&#10;\begin{equation*}&#10;\begin{aligned}&#10;\min_{w,b} \quad &amp; \frac{1}{2}{\norm w}^2 + C \sum_{i=1}^{n}max\left(0,1-y^{(i)}(w^Tx^{(i)}+b)&#10;\right)\end{aligned}&#10;\end{equation*}&#10;&#10;\end{document}"/>
  <p:tag name="IGUANATEXSIZE" val="12"/>
  <p:tag name="IGUANATEXCURSOR" val="175"/>
  <p:tag name="TRANSPARENCY" val="True"/>
  <p:tag name="FILENAME" val=""/>
  <p:tag name="INPUTTYPE" val="0"/>
  <p:tag name="LATEXENGINEID" val="1"/>
  <p:tag name="TEMPFOLDER" val="C:\Users\User\Documents\PowerPointLAtex\"/>
</p:tagLst>
</file>

<file path=ppt/tags/tag68.xml><?xml version="1.0" encoding="utf-8"?>
<p:tagLst xmlns:a="http://schemas.openxmlformats.org/drawingml/2006/main" xmlns:r="http://schemas.openxmlformats.org/officeDocument/2006/relationships" xmlns:p="http://schemas.openxmlformats.org/presentationml/2006/main">
  <p:tag name="ORIGINALHEIGHT" val="124.5174"/>
  <p:tag name="ORIGINALWIDTH" val="705.0984"/>
  <p:tag name="OUTPUTDPI" val="1200"/>
  <p:tag name="LATEXADDIN" val="\documentclass{article}&#10;\usepackage{amsmath}&#10;\pagestyle{empty}&#10;\begin{document}&#10;&#10;$max(0,1-t)$&#10;&#10;&#10;\end{document}"/>
  <p:tag name="IGUANATEXSIZE" val="14"/>
  <p:tag name="IGUANATEXCURSOR" val="91"/>
  <p:tag name="TRANSPARENCY" val="True"/>
  <p:tag name="FILENAME" val=""/>
  <p:tag name="INPUTTYPE" val="0"/>
  <p:tag name="LATEXENGINEID" val="1"/>
  <p:tag name="TEMPFOLDER" val="C:\Users\User\Documents\PowerPointLAtex\"/>
</p:tagLst>
</file>

<file path=ppt/tags/tag69.xml><?xml version="1.0" encoding="utf-8"?>
<p:tagLst xmlns:a="http://schemas.openxmlformats.org/drawingml/2006/main" xmlns:r="http://schemas.openxmlformats.org/officeDocument/2006/relationships" xmlns:p="http://schemas.openxmlformats.org/presentationml/2006/main">
  <p:tag name="ORIGINALHEIGHT" val="342.0477"/>
  <p:tag name="ORIGINALWIDTH" val="2739.382"/>
  <p:tag name="OUTPUTDPI" val="1200"/>
  <p:tag name="LATEXADDIN" val="\documentclass{article}&#10;\usepackage{amsmath}&#10;\newcommand{\norm}[1]{\left\lVert#1\right\rVert}&#10;&#10;\pagestyle{empty}&#10;\begin{document}&#10;&#10;&#10;\begin{equation*}&#10;\begin{aligned}&#10;\min_{w,b} \quad &amp; \frac{1}{2}{\norm w}^2 + C \sum_{i=1}^{n}max\left(0,1-y^{(i)}(w^Tx^{(i)}+b)&#10;\right)\end{aligned}&#10;\end{equation*}&#10;&#10;\end{document}"/>
  <p:tag name="IGUANATEXSIZE" val="12"/>
  <p:tag name="IGUANATEXCURSOR" val="175"/>
  <p:tag name="TRANSPARENCY" val="True"/>
  <p:tag name="FILENAME" val=""/>
  <p:tag name="INPUTTYPE" val="0"/>
  <p:tag name="LATEXENGINEID" val="1"/>
  <p:tag name="TEMPFOLDER" val="C:\Users\User\Documents\PowerPointLAtex\"/>
</p:tagLst>
</file>

<file path=ppt/tags/tag70.xml><?xml version="1.0" encoding="utf-8"?>
<p:tagLst xmlns:a="http://schemas.openxmlformats.org/drawingml/2006/main" xmlns:r="http://schemas.openxmlformats.org/officeDocument/2006/relationships" xmlns:p="http://schemas.openxmlformats.org/presentationml/2006/main">
  <p:tag name="ORIGINALHEIGHT" val="124.5174"/>
  <p:tag name="ORIGINALWIDTH" val="705.0984"/>
  <p:tag name="OUTPUTDPI" val="1200"/>
  <p:tag name="LATEXADDIN" val="\documentclass{article}&#10;\usepackage{amsmath}&#10;\pagestyle{empty}&#10;\begin{document}&#10;&#10;$max(0,1-t)$&#10;&#10;&#10;\end{document}"/>
  <p:tag name="IGUANATEXSIZE" val="14"/>
  <p:tag name="IGUANATEXCURSOR" val="91"/>
  <p:tag name="TRANSPARENCY" val="True"/>
  <p:tag name="FILENAME" val=""/>
  <p:tag name="INPUTTYPE" val="0"/>
  <p:tag name="LATEXENGINEID" val="1"/>
  <p:tag name="TEMPFOLDER" val="C:\Users\User\Documents\PowerPointLAtex\"/>
</p:tagLst>
</file>

<file path=ppt/tags/tag71.xml><?xml version="1.0" encoding="utf-8"?>
<p:tagLst xmlns:a="http://schemas.openxmlformats.org/drawingml/2006/main" xmlns:r="http://schemas.openxmlformats.org/officeDocument/2006/relationships" xmlns:p="http://schemas.openxmlformats.org/presentationml/2006/main">
  <p:tag name="ORIGINALHEIGHT" val="150.771"/>
  <p:tag name="ORIGINALWIDTH" val="2586.361"/>
  <p:tag name="OUTPUTDPI" val="1200"/>
  <p:tag name="LATEXADDIN" val="\documentclass{article}&#10;\usepackage{amsmath}&#10;\pagestyle{empty}&#10;\begin{document}&#10;&#10;&#10;$(x_1, x_2, \cdots, x_p) \longrightarrow(x_1, x_1^2, x_2, x_2^2, x_1x_2,  \cdots, x_p^2)$&#10;&#10;\end{document}"/>
  <p:tag name="IGUANATEXSIZE" val="14"/>
  <p:tag name="IGUANATEXCURSOR" val="105"/>
  <p:tag name="TRANSPARENCY" val="True"/>
  <p:tag name="FILENAME" val=""/>
  <p:tag name="INPUTTYPE" val="0"/>
  <p:tag name="LATEXENGINEID" val="1"/>
  <p:tag name="TEMPFOLDER" val="C:\Users\User\Documents\PowerPointLAtex\"/>
</p:tagLst>
</file>

<file path=ppt/tags/tag72.xml><?xml version="1.0" encoding="utf-8"?>
<p:tagLst xmlns:a="http://schemas.openxmlformats.org/drawingml/2006/main" xmlns:r="http://schemas.openxmlformats.org/officeDocument/2006/relationships" xmlns:p="http://schemas.openxmlformats.org/presentationml/2006/main">
  <p:tag name="ORIGINALHEIGHT" val="150.771"/>
  <p:tag name="ORIGINALWIDTH" val="2586.361"/>
  <p:tag name="OUTPUTDPI" val="1200"/>
  <p:tag name="LATEXADDIN" val="\documentclass{article}&#10;\usepackage{amsmath}&#10;\pagestyle{empty}&#10;\begin{document}&#10;&#10;&#10;$(x_1, x_2, \cdots, x_p) \longrightarrow(x_1, x_1^2, x_2, x_2^2, x_1x_2,  \cdots, x_p^2)$&#10;&#10;\end{document}"/>
  <p:tag name="IGUANATEXSIZE" val="14"/>
  <p:tag name="IGUANATEXCURSOR" val="105"/>
  <p:tag name="TRANSPARENCY" val="True"/>
  <p:tag name="FILENAME" val=""/>
  <p:tag name="INPUTTYPE" val="0"/>
  <p:tag name="LATEXENGINEID" val="1"/>
  <p:tag name="TEMPFOLDER" val="C:\Users\User\Documents\PowerPointLAtex\"/>
</p:tagLst>
</file>

<file path=ppt/tags/tag73.xml><?xml version="1.0" encoding="utf-8"?>
<p:tagLst xmlns:a="http://schemas.openxmlformats.org/drawingml/2006/main" xmlns:r="http://schemas.openxmlformats.org/officeDocument/2006/relationships" xmlns:p="http://schemas.openxmlformats.org/presentationml/2006/main">
  <p:tag name="ORIGINALHEIGHT" val="111.7656"/>
  <p:tag name="ORIGINALWIDTH" val="66.75929"/>
  <p:tag name="OUTPUTDPI" val="1200"/>
  <p:tag name="LATEXADDIN" val="\documentclass{article}&#10;\usepackage{amsmath}&#10;\pagestyle{empty}&#10;\begin{document}&#10;&#10;$\phi$&#10;\end{document}"/>
  <p:tag name="IGUANATEXSIZE" val="14"/>
  <p:tag name="IGUANATEXCURSOR" val="81"/>
  <p:tag name="TRANSPARENCY" val="True"/>
  <p:tag name="FILENAME" val=""/>
  <p:tag name="INPUTTYPE" val="0"/>
  <p:tag name="LATEXENGINEID" val="1"/>
  <p:tag name="TEMPFOLDER" val="C:\Users\User\Documents\PowerPointLAtex\"/>
</p:tagLst>
</file>

<file path=ppt/tags/tag74.xml><?xml version="1.0" encoding="utf-8"?>
<p:tagLst xmlns:a="http://schemas.openxmlformats.org/drawingml/2006/main" xmlns:r="http://schemas.openxmlformats.org/officeDocument/2006/relationships" xmlns:p="http://schemas.openxmlformats.org/presentationml/2006/main">
  <p:tag name="ORIGINALHEIGHT" val="124.5174"/>
  <p:tag name="ORIGINALWIDTH" val="491.3186"/>
  <p:tag name="OUTPUTDPI" val="1200"/>
  <p:tag name="LATEXADDIN" val="\documentclass{article}&#10;\usepackage{amsmath}&#10;\pagestyle{empty}&#10;\begin{document}&#10;&#10;&#10;$x \rightarrow \phi(x)$&#10;&#10;\end{document}"/>
  <p:tag name="IGUANATEXSIZE" val="15"/>
  <p:tag name="IGUANATEXCURSOR" val="103"/>
  <p:tag name="TRANSPARENCY" val="True"/>
  <p:tag name="FILENAME" val=""/>
  <p:tag name="INPUTTYPE" val="0"/>
  <p:tag name="LATEXENGINEID" val="1"/>
  <p:tag name="TEMPFOLDER" val="C:\Users\User\Documents\PowerPointLAtex\"/>
</p:tagLst>
</file>

<file path=ppt/tags/tag75.xml><?xml version="1.0" encoding="utf-8"?>
<p:tagLst xmlns:a="http://schemas.openxmlformats.org/drawingml/2006/main" xmlns:r="http://schemas.openxmlformats.org/officeDocument/2006/relationships" xmlns:p="http://schemas.openxmlformats.org/presentationml/2006/main">
  <p:tag name="ORIGINALHEIGHT" val="358.55"/>
  <p:tag name="ORIGINALWIDTH" val="2483.596"/>
  <p:tag name="OUTPUTDPI" val="1200"/>
  <p:tag name="LATEXADDIN" val="\documentclass{article}&#10;\usepackage{amsmath}&#10;\newcommand{\norm}[1]{\left\lVert#1\right\rVert}&#10;&#10;\pagestyle{empty}&#10;\begin{document}&#10;&#10;&#10;\begin{equation*}&#10;\begin{aligned}&#10;\min_{\alpha} \quad &amp; \frac{1}{2}\sum_{i=1}^{n}\sum_{j=1}^{n}y^{(i)}y^{(j)}\alpha_i\alpha_j \langle x^{(i)},x^{(j)} \rangle - \sum_{i=1}^{n}\alpha_i&#10;\end{aligned}&#10;\end{equation*}&#10;&#10;\end{document}"/>
  <p:tag name="IGUANATEXSIZE" val="14"/>
  <p:tag name="IGUANATEXCURSOR" val="315"/>
  <p:tag name="TRANSPARENCY" val="True"/>
  <p:tag name="FILENAME" val=""/>
  <p:tag name="INPUTTYPE" val="0"/>
  <p:tag name="LATEXENGINEID" val="1"/>
  <p:tag name="TEMPFOLDER" val="C:\Users\User\Documents\PowerPointLAtex\"/>
</p:tagLst>
</file>

<file path=ppt/tags/tag76.xml><?xml version="1.0" encoding="utf-8"?>
<p:tagLst xmlns:a="http://schemas.openxmlformats.org/drawingml/2006/main" xmlns:r="http://schemas.openxmlformats.org/officeDocument/2006/relationships" xmlns:p="http://schemas.openxmlformats.org/presentationml/2006/main">
  <p:tag name="ORIGINALHEIGHT" val="147.7706"/>
  <p:tag name="ORIGINALWIDTH" val="518.3224"/>
  <p:tag name="OUTPUTDPI" val="1200"/>
  <p:tag name="LATEXADDIN" val="\documentclass{article}&#10;\usepackage{amsmath}&#10;\newcommand{\norm}[1]{\left\lVert#1\right\rVert}&#10;&#10;\pagestyle{empty}&#10;\begin{document}&#10;&#10;&#10;\begin{equation*}&#10;\begin{aligned}&#10;\langle x^{(i)},x^{(j)} \rangle &#10;\end{aligned}&#10;\end{equation*}&#10;&#10;\end{document}"/>
  <p:tag name="IGUANATEXSIZE" val="14"/>
  <p:tag name="IGUANATEXCURSOR" val="199"/>
  <p:tag name="TRANSPARENCY" val="True"/>
  <p:tag name="FILENAME" val=""/>
  <p:tag name="INPUTTYPE" val="0"/>
  <p:tag name="LATEXENGINEID" val="1"/>
  <p:tag name="TEMPFOLDER" val="C:\Users\User\Documents\PowerPointLAtex\"/>
</p:tagLst>
</file>

<file path=ppt/tags/tag77.xml><?xml version="1.0" encoding="utf-8"?>
<p:tagLst xmlns:a="http://schemas.openxmlformats.org/drawingml/2006/main" xmlns:r="http://schemas.openxmlformats.org/officeDocument/2006/relationships" xmlns:p="http://schemas.openxmlformats.org/presentationml/2006/main">
  <p:tag name="ORIGINALHEIGHT" val="147.7706"/>
  <p:tag name="ORIGINALWIDTH" val="2578.86"/>
  <p:tag name="OUTPUTDPI" val="1200"/>
  <p:tag name="LATEXADDIN" val="\documentclass{article}&#10;\usepackage{amsmath}&#10;\newcommand{\norm}[1]{\left\lVert#1\right\rVert}&#10;&#10;\pagestyle{empty}&#10;\begin{document}&#10;&#10;&#10;\begin{equation*}&#10;\begin{aligned}&#10;\langle x^{(i)},x^{(j)} \rangle \rightarrow \langle \phi(x^{(i)}),\phi(x^{(j)})\rangle = \phi(x^{(i)})^T\phi(x^{(j)}) &#10;\end{aligned}&#10;\end{equation*}&#10;&#10;\end{document}"/>
  <p:tag name="IGUANATEXSIZE" val="14"/>
  <p:tag name="IGUANATEXCURSOR" val="270"/>
  <p:tag name="TRANSPARENCY" val="True"/>
  <p:tag name="FILENAME" val=""/>
  <p:tag name="INPUTTYPE" val="0"/>
  <p:tag name="LATEXENGINEID" val="1"/>
  <p:tag name="TEMPFOLDER" val="C:\Users\User\Documents\PowerPointLAtex\"/>
</p:tagLst>
</file>

<file path=ppt/tags/tag78.xml><?xml version="1.0" encoding="utf-8"?>
<p:tagLst xmlns:a="http://schemas.openxmlformats.org/drawingml/2006/main" xmlns:r="http://schemas.openxmlformats.org/officeDocument/2006/relationships" xmlns:p="http://schemas.openxmlformats.org/presentationml/2006/main">
  <p:tag name="ORIGINALHEIGHT" val="147.7706"/>
  <p:tag name="ORIGINALWIDTH" val="1572.219"/>
  <p:tag name="OUTPUTDPI" val="1200"/>
  <p:tag name="LATEXADDIN" val="\documentclass{article}&#10;\usepackage{amsmath}&#10;\newcommand{\norm}[1]{\left\lVert#1\right\rVert}&#10;&#10;\pagestyle{empty}&#10;\begin{document}&#10;&#10;&#10;\begin{equation*}&#10;\begin{aligned}&#10;k(x^{(i)},x^{(j)})= \phi(x^{(i)})^T\phi(x^{(j)}) &#10;\end{aligned}&#10;\end{equation*}&#10;&#10;\end{document}"/>
  <p:tag name="IGUANATEXSIZE" val="14"/>
  <p:tag name="IGUANATEXCURSOR" val="181"/>
  <p:tag name="TRANSPARENCY" val="True"/>
  <p:tag name="FILENAME" val=""/>
  <p:tag name="INPUTTYPE" val="0"/>
  <p:tag name="LATEXENGINEID" val="1"/>
  <p:tag name="TEMPFOLDER" val="C:\Users\User\Documents\PowerPointLAtex\"/>
</p:tagLst>
</file>

<file path=ppt/tags/tag79.xml><?xml version="1.0" encoding="utf-8"?>
<p:tagLst xmlns:a="http://schemas.openxmlformats.org/drawingml/2006/main" xmlns:r="http://schemas.openxmlformats.org/officeDocument/2006/relationships" xmlns:p="http://schemas.openxmlformats.org/presentationml/2006/main">
  <p:tag name="ORIGINALHEIGHT" val="111.7656"/>
  <p:tag name="ORIGINALWIDTH" val="66.75929"/>
  <p:tag name="OUTPUTDPI" val="1200"/>
  <p:tag name="LATEXADDIN" val="\documentclass{article}&#10;\usepackage{amsmath}&#10;\pagestyle{empty}&#10;\begin{document}&#10;&#10;&#10;$\phi$&#10;&#10;\end{document}"/>
  <p:tag name="IGUANATEXSIZE" val="16"/>
  <p:tag name="IGUANATEXCURSOR" val="87"/>
  <p:tag name="TRANSPARENCY" val="True"/>
  <p:tag name="FILENAME" val=""/>
  <p:tag name="INPUTTYPE" val="0"/>
  <p:tag name="LATEXENGINEID" val="1"/>
  <p:tag name="TEMPFOLDER" val="C:\Users\User\Documents\PowerPointLAtex\"/>
</p:tagLst>
</file>

<file path=ppt/tags/tag80.xml><?xml version="1.0" encoding="utf-8"?>
<p:tagLst xmlns:a="http://schemas.openxmlformats.org/drawingml/2006/main" xmlns:r="http://schemas.openxmlformats.org/officeDocument/2006/relationships" xmlns:p="http://schemas.openxmlformats.org/presentationml/2006/main">
  <p:tag name="ORIGINALHEIGHT" val="111.7656"/>
  <p:tag name="ORIGINALWIDTH" val="66.75929"/>
  <p:tag name="OUTPUTDPI" val="1200"/>
  <p:tag name="LATEXADDIN" val="\documentclass{article}&#10;\usepackage{amsmath}&#10;\pagestyle{empty}&#10;\begin{document}&#10;&#10;&#10;$\phi$&#10;&#10;\end{document}"/>
  <p:tag name="IGUANATEXSIZE" val="16"/>
  <p:tag name="IGUANATEXCURSOR" val="87"/>
  <p:tag name="TRANSPARENCY" val="True"/>
  <p:tag name="FILENAME" val=""/>
  <p:tag name="INPUTTYPE" val="0"/>
  <p:tag name="LATEXENGINEID" val="1"/>
  <p:tag name="TEMPFOLDER" val="C:\Users\User\Documents\PowerPointLAtex\"/>
</p:tagLst>
</file>

<file path=ppt/tags/tag81.xml><?xml version="1.0" encoding="utf-8"?>
<p:tagLst xmlns:a="http://schemas.openxmlformats.org/drawingml/2006/main" xmlns:r="http://schemas.openxmlformats.org/officeDocument/2006/relationships" xmlns:p="http://schemas.openxmlformats.org/presentationml/2006/main">
  <p:tag name="OUTPUTDPI" val="1200"/>
  <p:tag name="ORIGINALHEIGHT" val="450.0628"/>
  <p:tag name="ORIGINALWIDTH" val="1900.765"/>
  <p:tag name="LATEXADDIN" val="\documentclass{article}&#10;\usepackage{amsmath}&#10;\pagestyle{empty}&#10;\begin{document}&#10;&#10;\[\phi(x) = \phi\left(\left[  \begin{array}{c}&#10;x_1 \\&#10;x_2  &#10; \end{array} \right]\right)= \left[  \begin{array}{c}&#10;x_1^2 \\&#10;x_2^2  \\&#10;\sqrt{2}x_1^2x_2^2  \end{array} \right]\] &#10;&#10;&#10;&#10;\end{document}"/>
  <p:tag name="IGUANATEXSIZE" val="28"/>
  <p:tag name="IGUANATEXCURSOR" val="93"/>
  <p:tag name="TRANSPARENCY" val="True"/>
  <p:tag name="FILENAME" val=""/>
  <p:tag name="LATEXENGINEID" val="1"/>
  <p:tag name="TEMPFOLDER" val="C:\Users\anas\Documents\iguana\"/>
  <p:tag name="LATEXFORMHEIGHT" val="312"/>
  <p:tag name="LATEXFORMWIDTH" val="384"/>
  <p:tag name="LATEXFORMWRAP" val="True"/>
  <p:tag name="BITMAPVECTOR" val="0"/>
</p:tagLst>
</file>

<file path=ppt/tags/tag82.xml><?xml version="1.0" encoding="utf-8"?>
<p:tagLst xmlns:a="http://schemas.openxmlformats.org/drawingml/2006/main" xmlns:r="http://schemas.openxmlformats.org/officeDocument/2006/relationships" xmlns:p="http://schemas.openxmlformats.org/presentationml/2006/main">
  <p:tag name="ORIGINALHEIGHT" val="147.7706"/>
  <p:tag name="ORIGINALWIDTH" val="2578.86"/>
  <p:tag name="OUTPUTDPI" val="1200"/>
  <p:tag name="LATEXADDIN" val="\documentclass{article}&#10;\usepackage{amsmath}&#10;\newcommand{\norm}[1]{\left\lVert#1\right\rVert}&#10;&#10;\pagestyle{empty}&#10;\begin{document}&#10;&#10;&#10;\begin{equation*}&#10;\begin{aligned}&#10;\langle x^{(i)},x^{(j)} \rangle \rightarrow \langle \phi(x^{(i)}),\phi(x^{(j)})\rangle = \phi(x^{(i)})^T\phi(x^{(j)}) &#10;\end{aligned}&#10;\end{equation*}&#10;&#10;\end{document}"/>
  <p:tag name="IGUANATEXSIZE" val="14"/>
  <p:tag name="IGUANATEXCURSOR" val="270"/>
  <p:tag name="TRANSPARENCY" val="True"/>
  <p:tag name="FILENAME" val=""/>
  <p:tag name="INPUTTYPE" val="0"/>
  <p:tag name="LATEXENGINEID" val="1"/>
  <p:tag name="TEMPFOLDER" val="C:\Users\User\Documents\PowerPointLAtex\"/>
</p:tagLst>
</file>

<file path=ppt/tags/tag83.xml><?xml version="1.0" encoding="utf-8"?>
<p:tagLst xmlns:a="http://schemas.openxmlformats.org/drawingml/2006/main" xmlns:r="http://schemas.openxmlformats.org/officeDocument/2006/relationships" xmlns:p="http://schemas.openxmlformats.org/presentationml/2006/main">
  <p:tag name="OUTPUTDPI" val="1200"/>
  <p:tag name="ORIGINALHEIGHT" val="147.7706"/>
  <p:tag name="ORIGINALWIDTH" val="795.111"/>
  <p:tag name="LATEXADDIN" val="\documentclass{article}&#10;\usepackage{amsmath}&#10;\newcommand{\norm}[1]{\left\lVert#1\right\rVert}&#10;&#10;\pagestyle{empty}&#10;\begin{document}&#10;&#10;&#10;\begin{equation*}&#10;\begin{aligned}&#10;\phi(x^{(i)})^T\phi(x^{(j)}) &#10;\end{aligned}&#10;\end{equation*}&#10;&#10;\end{document}"/>
  <p:tag name="IGUANATEXSIZE" val="14"/>
  <p:tag name="IGUANATEXCURSOR" val="166"/>
  <p:tag name="TRANSPARENCY" val="True"/>
  <p:tag name="FILENAME" val=""/>
  <p:tag name="LATEXENGINEID" val="1"/>
  <p:tag name="TEMPFOLDER" val="C:\Users\anas\Documents\iguana\"/>
  <p:tag name="LATEXFORMHEIGHT" val="312"/>
  <p:tag name="LATEXFORMWIDTH" val="384"/>
  <p:tag name="LATEXFORMWRAP" val="True"/>
  <p:tag name="BITMAPVECTOR" val="0"/>
</p:tagLst>
</file>

<file path=ppt/tags/tag84.xml><?xml version="1.0" encoding="utf-8"?>
<p:tagLst xmlns:a="http://schemas.openxmlformats.org/drawingml/2006/main" xmlns:r="http://schemas.openxmlformats.org/officeDocument/2006/relationships" xmlns:p="http://schemas.openxmlformats.org/presentationml/2006/main">
  <p:tag name="OUTPUTDPI" val="1200"/>
  <p:tag name="ORIGINALHEIGHT" val="147.7706"/>
  <p:tag name="ORIGINALWIDTH" val="1596.973"/>
  <p:tag name="LATEXADDIN" val="\documentclass{article}&#10;\usepackage{amsmath}&#10;\newcommand{\norm}[1]{\left\lVert#1\right\rVert}&#10;&#10;\pagestyle{empty}&#10;\begin{document}&#10;&#10;&#10;\begin{equation*}&#10;\begin{aligned}&#10;\phi(x^{(i)})^T\phi(x^{(j)}) = ({x^{(i)}} \cdot x^{(j)})^2 &#10;\end{aligned}&#10;\end{equation*}&#10;&#10;\end{document}"/>
  <p:tag name="IGUANATEXSIZE" val="14"/>
  <p:tag name="IGUANATEXCURSOR" val="214"/>
  <p:tag name="TRANSPARENCY" val="True"/>
  <p:tag name="FILENAME" val=""/>
  <p:tag name="LATEXENGINEID" val="1"/>
  <p:tag name="TEMPFOLDER" val="C:\Users\anas\Documents\iguana\"/>
  <p:tag name="LATEXFORMHEIGHT" val="312"/>
  <p:tag name="LATEXFORMWIDTH" val="384"/>
  <p:tag name="LATEXFORMWRAP" val="True"/>
  <p:tag name="BITMAPVECTOR" val="0"/>
</p:tagLst>
</file>

<file path=ppt/tags/tag85.xml><?xml version="1.0" encoding="utf-8"?>
<p:tagLst xmlns:a="http://schemas.openxmlformats.org/drawingml/2006/main" xmlns:r="http://schemas.openxmlformats.org/officeDocument/2006/relationships" xmlns:p="http://schemas.openxmlformats.org/presentationml/2006/main">
  <p:tag name="ORIGINALHEIGHT" val="111.7656"/>
  <p:tag name="ORIGINALWIDTH" val="66.75929"/>
  <p:tag name="OUTPUTDPI" val="1200"/>
  <p:tag name="LATEXADDIN" val="\documentclass{article}&#10;\usepackage{amsmath}&#10;\pagestyle{empty}&#10;\begin{document}&#10;&#10;&#10;$\phi$&#10;&#10;\end{document}"/>
  <p:tag name="IGUANATEXSIZE" val="16"/>
  <p:tag name="IGUANATEXCURSOR" val="87"/>
  <p:tag name="TRANSPARENCY" val="True"/>
  <p:tag name="FILENAME" val=""/>
  <p:tag name="INPUTTYPE" val="0"/>
  <p:tag name="LATEXENGINEID" val="1"/>
  <p:tag name="TEMPFOLDER" val="C:\Users\User\Documents\PowerPointLAtex\"/>
</p:tagLst>
</file>

<file path=ppt/tags/tag86.xml><?xml version="1.0" encoding="utf-8"?>
<p:tagLst xmlns:a="http://schemas.openxmlformats.org/drawingml/2006/main" xmlns:r="http://schemas.openxmlformats.org/officeDocument/2006/relationships" xmlns:p="http://schemas.openxmlformats.org/presentationml/2006/main">
  <p:tag name="ORIGINALHEIGHT" val="124.5174"/>
  <p:tag name="ORIGINALWIDTH" val="225.0314"/>
  <p:tag name="OUTPUTDPI" val="1200"/>
  <p:tag name="LATEXADDIN" val="\documentclass{article}&#10;\usepackage{amsmath}&#10;\pagestyle{empty}&#10;\begin{document}&#10;&#10;&#10;$\phi(x)$&#10;&#10;\end{document}"/>
  <p:tag name="IGUANATEXSIZE" val="14"/>
  <p:tag name="IGUANATEXCURSOR" val="89"/>
  <p:tag name="TRANSPARENCY" val="True"/>
  <p:tag name="FILENAME" val=""/>
  <p:tag name="INPUTTYPE" val="0"/>
  <p:tag name="LATEXENGINEID" val="1"/>
  <p:tag name="TEMPFOLDER" val="C:\Users\User\Documents\PowerPointLAtex\"/>
</p:tagLst>
</file>

<file path=ppt/tags/tag87.xml><?xml version="1.0" encoding="utf-8"?>
<p:tagLst xmlns:a="http://schemas.openxmlformats.org/drawingml/2006/main" xmlns:r="http://schemas.openxmlformats.org/officeDocument/2006/relationships" xmlns:p="http://schemas.openxmlformats.org/presentationml/2006/main">
  <p:tag name="ORIGINALHEIGHT" val="111.7656"/>
  <p:tag name="ORIGINALWIDTH" val="66.75929"/>
  <p:tag name="OUTPUTDPI" val="1200"/>
  <p:tag name="LATEXADDIN" val="\documentclass{article}&#10;\usepackage{amsmath}&#10;\pagestyle{empty}&#10;\begin{document}&#10;&#10;&#10;$\phi$&#10;&#10;\end{document}"/>
  <p:tag name="IGUANATEXSIZE" val="16"/>
  <p:tag name="IGUANATEXCURSOR" val="87"/>
  <p:tag name="TRANSPARENCY" val="True"/>
  <p:tag name="FILENAME" val=""/>
  <p:tag name="INPUTTYPE" val="0"/>
  <p:tag name="LATEXENGINEID" val="1"/>
  <p:tag name="TEMPFOLDER" val="C:\Users\User\Documents\PowerPointLAtex\"/>
</p:tagLst>
</file>

<file path=ppt/tags/tag88.xml><?xml version="1.0" encoding="utf-8"?>
<p:tagLst xmlns:a="http://schemas.openxmlformats.org/drawingml/2006/main" xmlns:r="http://schemas.openxmlformats.org/officeDocument/2006/relationships" xmlns:p="http://schemas.openxmlformats.org/presentationml/2006/main">
  <p:tag name="ORIGINALHEIGHT" val="147.7706"/>
  <p:tag name="ORIGINALWIDTH" val="1572.219"/>
  <p:tag name="OUTPUTDPI" val="1200"/>
  <p:tag name="LATEXADDIN" val="\documentclass{article}&#10;\usepackage{amsmath}&#10;\newcommand{\norm}[1]{\left\lVert#1\right\rVert}&#10;&#10;\pagestyle{empty}&#10;\begin{document}&#10;&#10;&#10;\begin{equation*}&#10;\begin{aligned}&#10;k(x^{(i)},x^{(j)})= \phi(x^{(i)})^T\phi(x^{(j)}) &#10;\end{aligned}&#10;\end{equation*}&#10;&#10;\end{document}"/>
  <p:tag name="IGUANATEXSIZE" val="14"/>
  <p:tag name="IGUANATEXCURSOR" val="181"/>
  <p:tag name="TRANSPARENCY" val="True"/>
  <p:tag name="FILENAME" val=""/>
  <p:tag name="INPUTTYPE" val="0"/>
  <p:tag name="LATEXENGINEID" val="1"/>
  <p:tag name="TEMPFOLDER" val="C:\Users\User\Documents\PowerPointLAtex\"/>
</p:tagLst>
</file>

<file path=ppt/tags/tag89.xml><?xml version="1.0" encoding="utf-8"?>
<p:tagLst xmlns:a="http://schemas.openxmlformats.org/drawingml/2006/main" xmlns:r="http://schemas.openxmlformats.org/officeDocument/2006/relationships" xmlns:p="http://schemas.openxmlformats.org/presentationml/2006/main">
  <p:tag name="ORIGINALHEIGHT" val="135.0188"/>
  <p:tag name="ORIGINALWIDTH" val="723.101"/>
  <p:tag name="OUTPUTDPI" val="1200"/>
  <p:tag name="LATEXADDIN" val="\documentclass{article}&#10;\usepackage{amsmath}&#10;\pagestyle{empty}&#10;\begin{document}&#10;&#10;&#10;$k(x,z) = x^Tz$&#10;&#10;\end{document}"/>
  <p:tag name="IGUANATEXSIZE" val="14"/>
  <p:tag name="IGUANATEXCURSOR" val="84"/>
  <p:tag name="TRANSPARENCY" val="True"/>
  <p:tag name="FILENAME" val=""/>
  <p:tag name="INPUTTYPE" val="0"/>
  <p:tag name="LATEXENGINEID" val="1"/>
  <p:tag name="TEMPFOLDER" val="C:\Users\User\Documents\PowerPointLAtex\"/>
</p:tagLst>
</file>

<file path=ppt/tags/tag90.xml><?xml version="1.0" encoding="utf-8"?>
<p:tagLst xmlns:a="http://schemas.openxmlformats.org/drawingml/2006/main" xmlns:r="http://schemas.openxmlformats.org/officeDocument/2006/relationships" xmlns:p="http://schemas.openxmlformats.org/presentationml/2006/main">
  <p:tag name="ORIGINALHEIGHT" val="136.5191"/>
  <p:tag name="ORIGINALWIDTH" val="1158.162"/>
  <p:tag name="OUTPUTDPI" val="1200"/>
  <p:tag name="LATEXADDIN" val="\documentclass{article}&#10;\usepackage{amsmath}&#10;\pagestyle{empty}&#10;\begin{document}&#10;&#10;$k(x,z)= (\gamma x^T z+ r)^d$&#10;&#10;&#10;&#10;\end{document}"/>
  <p:tag name="IGUANATEXSIZE" val="14"/>
  <p:tag name="IGUANATEXCURSOR" val="102"/>
  <p:tag name="TRANSPARENCY" val="True"/>
  <p:tag name="FILENAME" val=""/>
  <p:tag name="INPUTTYPE" val="0"/>
  <p:tag name="LATEXENGINEID" val="1"/>
  <p:tag name="TEMPFOLDER" val="C:\Users\User\Documents\PowerPointLAtex\"/>
</p:tagLst>
</file>

<file path=ppt/tags/tag91.xml><?xml version="1.0" encoding="utf-8"?>
<p:tagLst xmlns:a="http://schemas.openxmlformats.org/drawingml/2006/main" xmlns:r="http://schemas.openxmlformats.org/officeDocument/2006/relationships" xmlns:p="http://schemas.openxmlformats.org/presentationml/2006/main">
  <p:tag name="ORIGINALHEIGHT" val="151.5212"/>
  <p:tag name="ORIGINALWIDTH" val="1446.202"/>
  <p:tag name="OUTPUTDPI" val="1200"/>
  <p:tag name="LATEXADDIN" val="\documentclass{article}&#10;\usepackage{amsmath}&#10;\newcommand{\norm}[1]{\left\lVert#1\right\rVert}&#10;&#10;\pagestyle{empty}&#10;\begin{document}&#10;&#10;&#10;$k(x,z) = \text{exp}(-\gamma \norm{x-z}^2)$&#10;&#10;\end{document}"/>
  <p:tag name="IGUANATEXSIZE" val="14"/>
  <p:tag name="IGUANATEXCURSOR" val="171"/>
  <p:tag name="TRANSPARENCY" val="True"/>
  <p:tag name="FILENAME" val=""/>
  <p:tag name="INPUTTYPE" val="0"/>
  <p:tag name="LATEXENGINEID" val="1"/>
  <p:tag name="TEMPFOLDER" val="C:\Users\User\Documents\PowerPointLAtex\"/>
</p:tagLst>
</file>

<file path=ppt/tags/tag92.xml><?xml version="1.0" encoding="utf-8"?>
<p:tagLst xmlns:a="http://schemas.openxmlformats.org/drawingml/2006/main" xmlns:r="http://schemas.openxmlformats.org/officeDocument/2006/relationships" xmlns:p="http://schemas.openxmlformats.org/presentationml/2006/main">
  <p:tag name="ORIGINALHEIGHT" val="135.0188"/>
  <p:tag name="ORIGINALWIDTH" val="1074.9"/>
  <p:tag name="OUTPUTDPI" val="1200"/>
  <p:tag name="LATEXADDIN" val="\documentclass{article}&#10;\usepackage{amsmath}&#10;\pagestyle{empty}&#10;\begin{document}&#10;&#10;$k(x,z)= (x^Tz+c)^2$&#10;&#10;&#10;\end{document}"/>
  <p:tag name="IGUANATEXSIZE" val="17"/>
  <p:tag name="IGUANATEXCURSOR" val="100"/>
  <p:tag name="TRANSPARENCY" val="True"/>
  <p:tag name="FILENAME" val=""/>
  <p:tag name="INPUTTYPE" val="0"/>
  <p:tag name="LATEXENGINEID" val="1"/>
  <p:tag name="TEMPFOLDER" val="C:\Users\User\Documents\PowerPointLAtex\"/>
</p:tagLst>
</file>

<file path=ppt/tags/tag93.xml><?xml version="1.0" encoding="utf-8"?>
<p:tagLst xmlns:a="http://schemas.openxmlformats.org/drawingml/2006/main" xmlns:r="http://schemas.openxmlformats.org/officeDocument/2006/relationships" xmlns:p="http://schemas.openxmlformats.org/presentationml/2006/main">
  <p:tag name="ORIGINALHEIGHT" val="117.0163"/>
  <p:tag name="ORIGINALWIDTH" val="381.0532"/>
  <p:tag name="OUTPUTDPI" val="1200"/>
  <p:tag name="LATEXADDIN" val="\documentclass{article}&#10;\usepackage{amsmath}&#10;\usepackage{amssymb}&#10;\pagestyle{empty}&#10;\begin{document}&#10;&#10;&#10;$x \in {\rm I\!R}^3$&#10;&#10;\end{document}"/>
  <p:tag name="IGUANATEXSIZE" val="14"/>
  <p:tag name="IGUANATEXCURSOR" val="122"/>
  <p:tag name="TRANSPARENCY" val="True"/>
  <p:tag name="FILENAME" val=""/>
  <p:tag name="INPUTTYPE" val="0"/>
  <p:tag name="LATEXENGINEID" val="1"/>
  <p:tag name="TEMPFOLDER" val="C:\Users\User\Documents\PowerPointLAtex\"/>
</p:tagLst>
</file>

<file path=ppt/tags/tag94.xml><?xml version="1.0" encoding="utf-8"?>
<p:tagLst xmlns:a="http://schemas.openxmlformats.org/drawingml/2006/main" xmlns:r="http://schemas.openxmlformats.org/officeDocument/2006/relationships" xmlns:p="http://schemas.openxmlformats.org/presentationml/2006/main">
  <p:tag name="ORIGINALHEIGHT" val="136.5191"/>
  <p:tag name="ORIGINALWIDTH" val="1158.162"/>
  <p:tag name="OUTPUTDPI" val="1200"/>
  <p:tag name="LATEXADDIN" val="\documentclass{article}&#10;\usepackage{amsmath}&#10;\pagestyle{empty}&#10;\begin{document}&#10;&#10;$k(x,z)= (\gamma x^T z+ r)^d$&#10;&#10;&#10;&#10;\end{document}"/>
  <p:tag name="IGUANATEXSIZE" val="16"/>
  <p:tag name="IGUANATEXCURSOR" val="102"/>
  <p:tag name="TRANSPARENCY" val="True"/>
  <p:tag name="FILENAME" val=""/>
  <p:tag name="INPUTTYPE" val="0"/>
  <p:tag name="LATEXENGINEID" val="1"/>
  <p:tag name="TEMPFOLDER" val="C:\Users\User\Documents\PowerPointLAtex\"/>
</p:tagLst>
</file>

<file path=ppt/tags/tag95.xml><?xml version="1.0" encoding="utf-8"?>
<p:tagLst xmlns:a="http://schemas.openxmlformats.org/drawingml/2006/main" xmlns:r="http://schemas.openxmlformats.org/officeDocument/2006/relationships" xmlns:p="http://schemas.openxmlformats.org/presentationml/2006/main">
  <p:tag name="ORIGINALHEIGHT" val="151.5212"/>
  <p:tag name="ORIGINALWIDTH" val="1446.202"/>
  <p:tag name="OUTPUTDPI" val="1200"/>
  <p:tag name="LATEXADDIN" val="\documentclass{article}&#10;\usepackage{amsmath}&#10;\newcommand{\norm}[1]{\left\lVert#1\right\rVert}&#10;&#10;\pagestyle{empty}&#10;\begin{document}&#10;&#10;&#10;$k(x,z) = \text{exp}(-\gamma \norm{x-z}^2)$&#10;&#10;\end{document}"/>
  <p:tag name="IGUANATEXSIZE" val="16"/>
  <p:tag name="IGUANATEXCURSOR" val="171"/>
  <p:tag name="TRANSPARENCY" val="True"/>
  <p:tag name="FILENAME" val=""/>
  <p:tag name="INPUTTYPE" val="0"/>
  <p:tag name="LATEXENGINEID" val="1"/>
  <p:tag name="TEMPFOLDER" val="C:\Users\User\Documents\PowerPointLAtex\"/>
</p:tagLst>
</file>

<file path=ppt/tags/tag96.xml><?xml version="1.0" encoding="utf-8"?>
<p:tagLst xmlns:a="http://schemas.openxmlformats.org/drawingml/2006/main" xmlns:r="http://schemas.openxmlformats.org/officeDocument/2006/relationships" xmlns:p="http://schemas.openxmlformats.org/presentationml/2006/main">
  <p:tag name="ORIGINALHEIGHT" val="81.76141"/>
  <p:tag name="ORIGINALWIDTH" val="66.75929"/>
  <p:tag name="OUTPUTDPI" val="1200"/>
  <p:tag name="LATEXADDIN" val="\documentclass{article}&#10;\usepackage{amsmath}&#10;\pagestyle{empty}&#10;\begin{document}&#10;&#10;&#10;$\gamma$&#10;&#10;\end{document}"/>
  <p:tag name="IGUANATEXSIZE" val="16"/>
  <p:tag name="IGUANATEXCURSOR" val="89"/>
  <p:tag name="TRANSPARENCY" val="True"/>
  <p:tag name="FILENAME" val=""/>
  <p:tag name="INPUTTYPE" val="0"/>
  <p:tag name="LATEXENGINEID" val="1"/>
  <p:tag name="TEMPFOLDER" val="C:\Users\User\Documents\PowerPointLAtex\"/>
</p:tagLst>
</file>

<file path=ppt/tags/tag97.xml><?xml version="1.0" encoding="utf-8"?>
<p:tagLst xmlns:a="http://schemas.openxmlformats.org/drawingml/2006/main" xmlns:r="http://schemas.openxmlformats.org/officeDocument/2006/relationships" xmlns:p="http://schemas.openxmlformats.org/presentationml/2006/main">
  <p:tag name="ORIGINALHEIGHT" val="972.8857"/>
  <p:tag name="ORIGINALWIDTH" val="2484.347"/>
  <p:tag name="OUTPUTDPI" val="1200"/>
  <p:tag name="LATEXADDIN" val="\documentclass{article}&#10;\usepackage{amsmath}&#10;\newcommand{\norm}[1]{\left\lVert#1\right\rVert}&#10;&#10;\pagestyle{empty}&#10;\begin{document}&#10;&#10;&#10;\begin{equation*}&#10;\begin{aligned}&#10;\min_{\alpha} \quad &amp; \frac{1}{2}\sum_{i=1}^{n}\sum_{j=1}^{n}y^{(i)}y^{(j)}\alpha_i\alpha_j \langle x^{(i)},x^{(j)} \rangle - \sum_{i=1}^{n}\alpha_i\\&#10;\textrm{s.t.} \quad &amp; 0\leq\alpha_i\leq C,\;\; i=1,\cdots,n\\&#10;\quad &amp; \sum_{i=1}^{n}\alpha_iy^{(i)} = 0 \;\;\; \\&#10;\end{aligned}&#10;\end{equation*}&#10;&#10;\end{document}"/>
  <p:tag name="IGUANATEXSIZE" val="10"/>
  <p:tag name="IGUANATEXCURSOR" val="418"/>
  <p:tag name="TRANSPARENCY" val="True"/>
  <p:tag name="FILENAME" val=""/>
  <p:tag name="INPUTTYPE" val="0"/>
  <p:tag name="LATEXENGINEID" val="1"/>
  <p:tag name="TEMPFOLDER" val="C:\Users\User\Documents\PowerPointLAtex\"/>
</p:tagLst>
</file>

<file path=ppt/tags/tag98.xml><?xml version="1.0" encoding="utf-8"?>
<p:tagLst xmlns:a="http://schemas.openxmlformats.org/drawingml/2006/main" xmlns:r="http://schemas.openxmlformats.org/officeDocument/2006/relationships" xmlns:p="http://schemas.openxmlformats.org/presentationml/2006/main">
  <p:tag name="ORIGINALHEIGHT" val="681.095"/>
  <p:tag name="ORIGINALWIDTH" val="2221.81"/>
  <p:tag name="OUTPUTDPI" val="1200"/>
  <p:tag name="LATEXADDIN" val="\documentclass{article}&#10;\usepackage{amsmath}&#10;\newcommand{\norm}[1]{\left\lVert#1\right\rVert}&#10;&#10;\pagestyle{empty}&#10;\begin{document}&#10;&#10;&#10;\begin{equation*}&#10;\begin{aligned}&#10;\min_{w,b}\quad &amp; \frac{1}{2}{\norm w}^2 +\\ &amp;C \sum_{i=1}^{n}max\left(0,1-y^{(i)}(w^Tx^{(i)}+b)&#10;\right)\end{aligned}&#10;\end{equation*}&#10;&#10;\end{document}"/>
  <p:tag name="IGUANATEXSIZE" val="10"/>
  <p:tag name="IGUANATEXCURSOR" val="181"/>
  <p:tag name="TRANSPARENCY" val="True"/>
  <p:tag name="FILENAME" val=""/>
  <p:tag name="INPUTTYPE" val="0"/>
  <p:tag name="LATEXENGINEID" val="1"/>
  <p:tag name="TEMPFOLDER" val="C:\Users\User\Documents\PowerPointLAtex\"/>
</p:tagLst>
</file>

<file path=ppt/tags/tag99.xml><?xml version="1.0" encoding="utf-8"?>
<p:tagLst xmlns:a="http://schemas.openxmlformats.org/drawingml/2006/main" xmlns:r="http://schemas.openxmlformats.org/officeDocument/2006/relationships" xmlns:p="http://schemas.openxmlformats.org/presentationml/2006/main">
  <p:tag name="ORIGINALHEIGHT" val="681.095"/>
  <p:tag name="ORIGINALWIDTH" val="2308.822"/>
  <p:tag name="OUTPUTDPI" val="1200"/>
  <p:tag name="LATEXADDIN" val="\documentclass{article}&#10;\usepackage{amsmath}&#10;\newcommand{\norm}[1]{\left\lVert#1\right\rVert}&#10;&#10;\pagestyle{empty}&#10;\begin{document}&#10;&#10;&#10;\begin{equation*}&#10;\begin{aligned}&#10;\min_{w,b}\quad &amp; \frac{1}{2}{\norm w}^2 +\\ &amp; \frac{1}{\alpha n}\sum_{i=1}^{n}max\left(0,1-y^{(i)}(w^Tx^{(i)}+b)&#10;\right)\end{aligned}&#10;\end{equation*}&#10;&#10;\end{document}"/>
  <p:tag name="IGUANATEXSIZE" val="10"/>
  <p:tag name="IGUANATEXCURSOR" val="230"/>
  <p:tag name="TRANSPARENCY" val="True"/>
  <p:tag name="FILENAME" val=""/>
  <p:tag name="INPUTTYPE" val="0"/>
  <p:tag name="LATEXENGINEID" val="1"/>
  <p:tag name="TEMPFOLDER" val="C:\Users\User\Documents\PowerPointLAtex\"/>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1248</TotalTime>
  <Words>2840</Words>
  <Application>Microsoft Macintosh PowerPoint</Application>
  <PresentationFormat>Widescreen</PresentationFormat>
  <Paragraphs>476</Paragraphs>
  <Slides>56</Slides>
  <Notes>44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Arial</vt:lpstr>
      <vt:lpstr>Calibri</vt:lpstr>
      <vt:lpstr>Calibri Light</vt:lpstr>
      <vt:lpstr>Helvetica Neue</vt:lpstr>
      <vt:lpstr>Montserrat</vt:lpstr>
      <vt:lpstr>Montserrat SemiBold</vt:lpstr>
      <vt:lpstr>Source Sans Pro</vt:lpstr>
      <vt:lpstr>Office Theme</vt:lpstr>
      <vt:lpstr>Support Vector Machine - SVM</vt:lpstr>
      <vt:lpstr>Quick Overview of SVM</vt:lpstr>
      <vt:lpstr>Linear Classifier</vt:lpstr>
      <vt:lpstr>History of SVM</vt:lpstr>
      <vt:lpstr>Quick Overview of SVM</vt:lpstr>
      <vt:lpstr>Maximal Margin Classifier</vt:lpstr>
      <vt:lpstr>Notations</vt:lpstr>
      <vt:lpstr>Linear Classifier</vt:lpstr>
      <vt:lpstr>Linear Classifier</vt:lpstr>
      <vt:lpstr>Maximal Margin Classifier</vt:lpstr>
      <vt:lpstr>Maximal Margin Classifier</vt:lpstr>
      <vt:lpstr>Maximal Margin Classifier</vt:lpstr>
      <vt:lpstr>Support Vectors for Maximal Margin Classifier</vt:lpstr>
      <vt:lpstr>SVM Derivation</vt:lpstr>
      <vt:lpstr>Maximal Margin Classifier – Mathematical Formulation</vt:lpstr>
      <vt:lpstr>Maximal Margin Classifier – Mathematical Formulation</vt:lpstr>
      <vt:lpstr>Maximal Margin Classifier – Mathematical Formulation</vt:lpstr>
      <vt:lpstr>Maximal Margin Classifier – Mathematical Formulation</vt:lpstr>
      <vt:lpstr>Maximal Margin Classifier – Mathematical Formulation</vt:lpstr>
      <vt:lpstr>PowerPoint Presentation</vt:lpstr>
      <vt:lpstr>Soft Margin Classifier - SVM</vt:lpstr>
      <vt:lpstr>Issues with Maximal Margin Classifier </vt:lpstr>
      <vt:lpstr>Issues with Maximal Margin Classifier </vt:lpstr>
      <vt:lpstr>Issues with Maximal Margin Classifier </vt:lpstr>
      <vt:lpstr>Soft Margin Classifier</vt:lpstr>
      <vt:lpstr>Soft Margin Classifier</vt:lpstr>
      <vt:lpstr>Soft Margin Classifier – Mathematical Formulation</vt:lpstr>
      <vt:lpstr>Soft Margin Classifier – Mathematical Formulation</vt:lpstr>
      <vt:lpstr>Tuning Parameter  C </vt:lpstr>
      <vt:lpstr>Support Vectors for Soft Margin Classifier</vt:lpstr>
      <vt:lpstr>Implementation of SVM</vt:lpstr>
      <vt:lpstr>How is the soft margin classifier implemented?</vt:lpstr>
      <vt:lpstr>Implementation of soft margin classifier – Dual Problem</vt:lpstr>
      <vt:lpstr>Implementation of soft margin classifier – Dual Problem</vt:lpstr>
      <vt:lpstr>Implementation of soft margin classifier – Hinge Loss Function</vt:lpstr>
      <vt:lpstr>Hinge Loss Function</vt:lpstr>
      <vt:lpstr>Kernels</vt:lpstr>
      <vt:lpstr>Non-Linear Decision Boundary</vt:lpstr>
      <vt:lpstr>Non-Linear Decision Boundary</vt:lpstr>
      <vt:lpstr>Non-Linear Decision Boundary</vt:lpstr>
      <vt:lpstr>Kernel Trick</vt:lpstr>
      <vt:lpstr>Kernel Trick</vt:lpstr>
      <vt:lpstr>Example</vt:lpstr>
      <vt:lpstr>Example</vt:lpstr>
      <vt:lpstr>Kernelized SVM</vt:lpstr>
      <vt:lpstr>Kernel Functions</vt:lpstr>
      <vt:lpstr>Example of a Kernel Function</vt:lpstr>
      <vt:lpstr>Polynomial Kernel</vt:lpstr>
      <vt:lpstr>Radial Basis Function (RBF Kernel or Gaussian Kernel)</vt:lpstr>
      <vt:lpstr>Kernel Parameters: gamma and degree</vt:lpstr>
      <vt:lpstr>Kernels Example</vt:lpstr>
      <vt:lpstr>SVM in Scikit-Learn</vt:lpstr>
      <vt:lpstr>PowerPoint Presentation</vt:lpstr>
      <vt:lpstr>Data Preprocessing</vt:lpstr>
      <vt:lpstr>Tuning SVM</vt:lpstr>
      <vt:lpstr>Final Remarks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 Vector Machine</dc:title>
  <dc:creator>anas wael</dc:creator>
  <cp:lastModifiedBy>Bukowy, John</cp:lastModifiedBy>
  <cp:revision>65</cp:revision>
  <dcterms:created xsi:type="dcterms:W3CDTF">2021-10-03T01:11:21Z</dcterms:created>
  <dcterms:modified xsi:type="dcterms:W3CDTF">2024-02-26T12:59:20Z</dcterms:modified>
</cp:coreProperties>
</file>