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63" autoAdjust="0"/>
  </p:normalViewPr>
  <p:slideViewPr>
    <p:cSldViewPr snapToGrid="0">
      <p:cViewPr varScale="1">
        <p:scale>
          <a:sx n="137" d="100"/>
          <a:sy n="137" d="100"/>
        </p:scale>
        <p:origin x="11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51184-B961-4868-9228-D266DCCED77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34C2A-B6C0-4D07-A481-33BC4A548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i="1" dirty="0"/>
              <a:t>Design, analysis, and implementation of </a:t>
            </a:r>
            <a:r>
              <a:rPr lang="en-US" altLang="en-US" b="1" i="1" dirty="0"/>
              <a:t>mathematical techniques </a:t>
            </a:r>
            <a:r>
              <a:rPr lang="en-US" altLang="en-US" i="1" dirty="0"/>
              <a:t>for securing information, systems, and distributed computations against adversarial attack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34C2A-B6C0-4D07-A481-33BC4A5484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55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2FC2-D1FD-DB70-45D3-1D316B907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415A5-D1A8-0B96-4273-88EECCA38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EE601-BF60-A1AA-DFDB-69A88E842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0C528-E1E9-B0EF-B7B8-F5C93F0A6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34C2A-B6C0-4D07-A481-33BC4A5484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2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2788-F308-DC4A-BE90-84E4D400F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DFD11-3343-96DF-5789-DA9F955B5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7AD87-EBDF-7377-36A8-39232AF3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1DED5-2DB6-FD5D-F5CE-DCB4DEC2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5DB1F-F6FD-1CD2-3ECD-AF128D76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4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2FDB-0F3E-2843-FDC0-A24E9D55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F5F7-F975-0AFC-5D9A-62ED7D170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809"/>
            <a:ext cx="10515600" cy="4351338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79F10-B504-13B0-DA18-B54B79E2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36AF-270C-BF6E-8D26-BCB5C61B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AE57D-83CB-ADF8-BCEF-FDD6A441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0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4BA2-B318-5654-533F-F0AC6900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43767-74EE-38B3-6A35-44686AEFC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469EA-42D8-EAD9-A18F-D2E11CA5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71D8-1AAD-8FF8-387F-8879EF45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658DA-E6B2-2055-91AC-53AED787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36DA-1EC2-F0EC-E8A7-A982B637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B619-1542-A149-B00A-6101120C3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429EF-1E8C-AFE8-BD90-C5A6194E2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35FDD-F506-21EA-4A1C-FDC63F94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337E7-8ADF-2E02-D335-48EFA313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2D0C8-67BF-5E46-4D5C-8FB50AE0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0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6E78-E9E1-423D-42FD-8C91F28A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C0DFC-8407-1417-0180-C49E44E8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E307B-FBA9-3034-E6AB-434F3C451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44069-75D7-44B0-87FC-E9BA226A4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98724-0A7A-487A-BA9E-0BCE7D3E6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43771-8193-B697-B421-DC521A0F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38291-74A6-B297-2AFD-FFC68B15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9F179-3CC4-75C9-FA4C-3BCA53EF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66DC-CF4E-CE7D-EA59-7D8CA7F4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714B3-3216-ED95-1CFD-AA8324D7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0BA34-AE99-7277-6467-9B49289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4379E-BAFF-086E-CFD6-7964AC0E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2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6B2C6-C0C4-43B5-DD77-7E38C495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111FA-C88C-0198-AD13-DD9E8D17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BE14D-7FA0-B5FA-8E29-A8ED718F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2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10E3-C185-0D60-FD69-A1EB82EC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AF56-CF54-AAEA-72C3-248EBFB9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F1CA-F741-8E77-FF67-F15EDDF68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8D617-5C0F-6801-C23C-9B58C4C9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31656-2AF8-1688-9939-5F0F73D6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B28C2-8A1B-2296-FC50-7DA8CA0C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4E48-209D-5411-985C-C4DA5B94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B77D6-F91F-6C4B-D7D8-906398AA0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C1773-39A9-77D9-3B04-8D8188BE3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268C2-F00F-601D-0B35-40C1BD4A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3EC1F-BC99-3800-852C-CB4368D7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E6E96-798E-1BE1-57F5-11951D71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3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30F6-0CD1-AFDF-7E7E-2A3C5542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3C93D-F467-B8AD-96C0-32543FB92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35893-5D1F-9C59-6773-C34353AF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CBE84-F216-6D57-F5FF-A0FECF4B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751D3-6DAB-AFF7-F80C-0F2E3944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8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9B2C1-5416-9433-BE80-23CC6C14D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102B6-FB65-4DF6-E6C6-25B114B82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A336-530A-8B54-3E8A-08422968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2F357-BFDE-2D73-3C66-AE0A8AF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8044E-EAA2-885A-50A1-711C13B1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3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DA73D-DB98-499C-3F29-4BB3D70E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25DD2-82DE-DA6D-4945-1DC1AB35A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D29E8-2C52-9B24-6C51-5B9152B15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7961A-3B94-4CD7-8818-C0712B2C09C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DA636-AF22-E21B-8219-B014B264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915B-1393-7BDE-6712-46B7DC84B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BAC3A-57DC-48FE-A590-103E6F6D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1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liao@msoe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cr.uwaterloo.ca/hac/" TargetMode="External"/><Relationship Id="rId2" Type="http://schemas.openxmlformats.org/officeDocument/2006/relationships/hyperlink" Target="https://learning.oreilly.com/library/view/serious-cryptography-2nd/978109818247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c.cryptobook.us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B67B-3086-247E-0696-93F72CE51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CYB 2311 - Introduction to Applied Cryptography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593EA-03C0-847B-860E-86C71E1394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Zhonghao Liao</a:t>
            </a:r>
          </a:p>
        </p:txBody>
      </p:sp>
    </p:spTree>
    <p:extLst>
      <p:ext uri="{BB962C8B-B14F-4D97-AF65-F5344CB8AC3E}">
        <p14:creationId xmlns:p14="http://schemas.microsoft.com/office/powerpoint/2010/main" val="497769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65DF-A728-59D8-8D77-0FA45830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Personnel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9520-D0F8-E564-0E1B-16A69810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Instructor: Dr. Zhonghao Liao</a:t>
            </a:r>
          </a:p>
          <a:p>
            <a:pPr lvl="1"/>
            <a:r>
              <a:rPr lang="en-US" dirty="0"/>
              <a:t>Office: DH436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liao@msoe.edu</a:t>
            </a:r>
            <a:endParaRPr lang="en-US" dirty="0"/>
          </a:p>
          <a:p>
            <a:pPr lvl="1"/>
            <a:r>
              <a:rPr lang="en-US" dirty="0"/>
              <a:t>Office hours:</a:t>
            </a:r>
          </a:p>
          <a:p>
            <a:pPr lvl="2"/>
            <a:r>
              <a:rPr lang="en-US" dirty="0"/>
              <a:t>Monday &amp; Tuesday 10:00 am - 11:00 am </a:t>
            </a:r>
          </a:p>
          <a:p>
            <a:pPr lvl="2"/>
            <a:r>
              <a:rPr lang="en-US" dirty="0"/>
              <a:t>Wednesday 2:00 pm – 3:00 pm, 4:00 pm – 5:00 pm</a:t>
            </a:r>
          </a:p>
          <a:p>
            <a:pPr lvl="2"/>
            <a:r>
              <a:rPr lang="en-US" dirty="0"/>
              <a:t>Thursday 2:00 pm – 4:00 pm</a:t>
            </a:r>
          </a:p>
          <a:p>
            <a:pPr lvl="1"/>
            <a:r>
              <a:rPr lang="en-US" dirty="0"/>
              <a:t>Feel free to knock on the door when I'm in the office</a:t>
            </a:r>
          </a:p>
          <a:p>
            <a:pPr lvl="1"/>
            <a:r>
              <a:rPr lang="en-US" dirty="0"/>
              <a:t>Watch the Canvas</a:t>
            </a:r>
          </a:p>
          <a:p>
            <a:pPr lvl="2"/>
            <a:r>
              <a:rPr lang="en-US" dirty="0"/>
              <a:t>Assignments, reading materials, announcements, lecture notes, etc.</a:t>
            </a:r>
          </a:p>
        </p:txBody>
      </p:sp>
    </p:spTree>
    <p:extLst>
      <p:ext uri="{BB962C8B-B14F-4D97-AF65-F5344CB8AC3E}">
        <p14:creationId xmlns:p14="http://schemas.microsoft.com/office/powerpoint/2010/main" val="367782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BDD8-7E18-201A-5C9A-71F5F72A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FF88-3426-4594-AC77-5E71527A5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59" y="1576809"/>
            <a:ext cx="10977282" cy="4351338"/>
          </a:xfrm>
        </p:spPr>
        <p:txBody>
          <a:bodyPr>
            <a:normAutofit/>
          </a:bodyPr>
          <a:lstStyle/>
          <a:p>
            <a:r>
              <a:rPr lang="en-US" dirty="0"/>
              <a:t>Textbook:</a:t>
            </a:r>
          </a:p>
          <a:p>
            <a:pPr lvl="1"/>
            <a:r>
              <a:rPr lang="en-US" dirty="0"/>
              <a:t>1. Jean-Philippe </a:t>
            </a:r>
            <a:r>
              <a:rPr lang="en-US" dirty="0" err="1"/>
              <a:t>Aumasson</a:t>
            </a:r>
            <a:r>
              <a:rPr lang="en-US" dirty="0"/>
              <a:t> (JPA): </a:t>
            </a:r>
            <a:r>
              <a:rPr lang="en-US" dirty="0">
                <a:hlinkClick r:id="rId2"/>
              </a:rPr>
              <a:t>Serious Cryptography, 2nd Edition</a:t>
            </a:r>
            <a:endParaRPr lang="en-US" dirty="0"/>
          </a:p>
          <a:p>
            <a:pPr lvl="1"/>
            <a:r>
              <a:rPr lang="en-US" dirty="0"/>
              <a:t>2. Menezes, Oorschot, and Vanstone (MOV): </a:t>
            </a:r>
            <a:r>
              <a:rPr lang="en-US" sz="1800" b="1" u="sng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SimSun" panose="02010600030101010101" pitchFamily="2" charset="-122"/>
                <a:cs typeface="Arial Unicode MS"/>
                <a:hlinkClick r:id="rId3"/>
              </a:rPr>
              <a:t>Handbook of Applied Cryptography</a:t>
            </a:r>
            <a:endParaRPr lang="en-US" sz="1800" u="sng" dirty="0">
              <a:solidFill>
                <a:srgbClr val="000000"/>
              </a:solidFill>
              <a:latin typeface="Helvetica" panose="020B0604020202020204" pitchFamily="34" charset="0"/>
              <a:ea typeface="SimSun" panose="02010600030101010101" pitchFamily="2" charset="-122"/>
              <a:cs typeface="Arial Unicode MS"/>
            </a:endParaRPr>
          </a:p>
          <a:p>
            <a:pPr lvl="1"/>
            <a:r>
              <a:rPr lang="en-US" dirty="0"/>
              <a:t>3. </a:t>
            </a:r>
            <a:r>
              <a:rPr lang="en-US" dirty="0" err="1"/>
              <a:t>Boneh</a:t>
            </a:r>
            <a:r>
              <a:rPr lang="en-US" dirty="0"/>
              <a:t> and Shoup (BS): </a:t>
            </a:r>
            <a:r>
              <a:rPr lang="en-US" sz="1800" b="1" u="sng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SimSun" panose="02010600030101010101" pitchFamily="2" charset="-122"/>
                <a:cs typeface="Arial Unicode MS"/>
                <a:hlinkClick r:id="rId4"/>
              </a:rPr>
              <a:t>A Graduate Course in Applied Cryptography</a:t>
            </a:r>
            <a:r>
              <a:rPr lang="en-US" sz="1800" b="1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SimSun" panose="02010600030101010101" pitchFamily="2" charset="-122"/>
                <a:cs typeface="Arial Unicode MS"/>
              </a:rPr>
              <a:t> </a:t>
            </a:r>
            <a:endParaRPr lang="en-US" sz="1800" dirty="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 lvl="1"/>
            <a:endParaRPr lang="en-US" dirty="0"/>
          </a:p>
          <a:p>
            <a:r>
              <a:rPr lang="en-US" dirty="0"/>
              <a:t>Lecture slides, notes, etc.</a:t>
            </a:r>
          </a:p>
          <a:p>
            <a:r>
              <a:rPr lang="en-US" dirty="0"/>
              <a:t>Prerequisites: Discrete Mathematics (MTH 2310)</a:t>
            </a:r>
          </a:p>
        </p:txBody>
      </p:sp>
    </p:spTree>
    <p:extLst>
      <p:ext uri="{BB962C8B-B14F-4D97-AF65-F5344CB8AC3E}">
        <p14:creationId xmlns:p14="http://schemas.microsoft.com/office/powerpoint/2010/main" val="11751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117D-382D-05E8-1300-C8AADE4E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37985-970D-4035-BC43-09C33DA9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Lectures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In-class quizzes/exercises (10% of the grade)</a:t>
            </a:r>
          </a:p>
          <a:p>
            <a:r>
              <a:rPr lang="en-US" dirty="0"/>
              <a:t>Homework assignments (15% of the grade)</a:t>
            </a:r>
          </a:p>
          <a:p>
            <a:r>
              <a:rPr lang="en-US" dirty="0"/>
              <a:t>Programming labs (individual) (30% of the grade)</a:t>
            </a:r>
          </a:p>
          <a:p>
            <a:r>
              <a:rPr lang="en-US" dirty="0"/>
              <a:t>Midterm: Week 8 (20% of the grade)</a:t>
            </a:r>
          </a:p>
          <a:p>
            <a:r>
              <a:rPr lang="en-US" dirty="0"/>
              <a:t>Final: TBD (25% of the grade)</a:t>
            </a:r>
          </a:p>
          <a:p>
            <a:r>
              <a:rPr lang="en-US" dirty="0"/>
              <a:t>MSOE Code of Conduct will be strictly enforced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2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3A51-2927-C4CC-FE1F-3191CAFD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CCBC2-A4F2-3B60-5464-7AAC60DD7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5" y="1519519"/>
            <a:ext cx="545076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Crypto is amazing!</a:t>
            </a:r>
          </a:p>
          <a:p>
            <a:pPr lvl="1"/>
            <a:r>
              <a:rPr lang="en-US" dirty="0"/>
              <a:t>Can do things that seem impossible…</a:t>
            </a:r>
          </a:p>
          <a:p>
            <a:endParaRPr lang="en-US" dirty="0"/>
          </a:p>
          <a:p>
            <a:r>
              <a:rPr lang="en-US" dirty="0"/>
              <a:t>Crypto is important and pervasive</a:t>
            </a:r>
          </a:p>
          <a:p>
            <a:pPr lvl="1"/>
            <a:r>
              <a:rPr lang="en-US" dirty="0"/>
              <a:t>It impacts each of us every day</a:t>
            </a:r>
          </a:p>
          <a:p>
            <a:endParaRPr lang="en-US" dirty="0"/>
          </a:p>
          <a:p>
            <a:r>
              <a:rPr lang="en-US" dirty="0"/>
              <a:t>Crypto is fun!</a:t>
            </a:r>
          </a:p>
          <a:p>
            <a:pPr lvl="1"/>
            <a:r>
              <a:rPr lang="en-US" dirty="0"/>
              <a:t>Deep theory interacting with practice</a:t>
            </a:r>
          </a:p>
          <a:p>
            <a:pPr lvl="1"/>
            <a:r>
              <a:rPr lang="en-US" dirty="0"/>
              <a:t>Attackers’ mindset, fun assignments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95019F-52B9-36C9-4AC8-BEFA47E3C72B}"/>
              </a:ext>
            </a:extLst>
          </p:cNvPr>
          <p:cNvSpPr txBox="1">
            <a:spLocks/>
          </p:cNvSpPr>
          <p:nvPr/>
        </p:nvSpPr>
        <p:spPr>
          <a:xfrm>
            <a:off x="6096000" y="1519424"/>
            <a:ext cx="6034601" cy="47027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Mathematical prerequisites</a:t>
            </a:r>
          </a:p>
          <a:p>
            <a:pPr lvl="1"/>
            <a:r>
              <a:rPr lang="en-US" dirty="0"/>
              <a:t>Discrete math, probability, modular arithmetic</a:t>
            </a:r>
          </a:p>
          <a:p>
            <a:pPr lvl="1"/>
            <a:r>
              <a:rPr lang="en-US" dirty="0"/>
              <a:t>Mathematical maturity</a:t>
            </a:r>
          </a:p>
          <a:p>
            <a:pPr lvl="1"/>
            <a:r>
              <a:rPr lang="en-US" dirty="0"/>
              <a:t>Definitions, theorems, proofs, abstraction</a:t>
            </a:r>
          </a:p>
          <a:p>
            <a:r>
              <a:rPr lang="en-US" dirty="0"/>
              <a:t>CS prerequisites</a:t>
            </a:r>
          </a:p>
          <a:p>
            <a:pPr lvl="1"/>
            <a:r>
              <a:rPr lang="en-US" dirty="0"/>
              <a:t>Pseudocode/algorithms, big-O notation</a:t>
            </a:r>
          </a:p>
          <a:p>
            <a:pPr lvl="1"/>
            <a:r>
              <a:rPr lang="en-US" dirty="0"/>
              <a:t>Programming assignments</a:t>
            </a:r>
          </a:p>
          <a:p>
            <a:r>
              <a:rPr lang="en-US" dirty="0"/>
              <a:t>Hard part should not be the programming, but the thought behind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9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4A15-28A1-56CB-D9C1-F05EAB34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3225-7F32-B49E-8BFD-FFEC2611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23" y="1642593"/>
            <a:ext cx="11329954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the </a:t>
            </a:r>
            <a:r>
              <a:rPr lang="en-US" i="1" dirty="0"/>
              <a:t>theoretical</a:t>
            </a:r>
            <a:r>
              <a:rPr lang="en-US" dirty="0"/>
              <a:t> foundations for real-world cryptography </a:t>
            </a:r>
          </a:p>
          <a:p>
            <a:r>
              <a:rPr lang="en-US" b="1" dirty="0"/>
              <a:t>Use</a:t>
            </a:r>
            <a:r>
              <a:rPr lang="en-US" dirty="0"/>
              <a:t> cryptography in the real-word applications (web, apps, infra, etc.)</a:t>
            </a:r>
          </a:p>
          <a:p>
            <a:r>
              <a:rPr lang="en-US" dirty="0"/>
              <a:t>When you encounter crypto in your career:</a:t>
            </a:r>
          </a:p>
          <a:p>
            <a:pPr lvl="1"/>
            <a:r>
              <a:rPr lang="en-US" dirty="0"/>
              <a:t>Understand the key terms</a:t>
            </a:r>
          </a:p>
          <a:p>
            <a:pPr lvl="1"/>
            <a:r>
              <a:rPr lang="en-US" dirty="0"/>
              <a:t>Understand the security guarantees needed/provided</a:t>
            </a:r>
          </a:p>
          <a:p>
            <a:pPr lvl="1"/>
            <a:r>
              <a:rPr lang="en-US" dirty="0"/>
              <a:t>Know how to use crypto</a:t>
            </a:r>
          </a:p>
          <a:p>
            <a:pPr lvl="1"/>
            <a:r>
              <a:rPr lang="en-US" dirty="0"/>
              <a:t>Understand what goes on “under the hood”</a:t>
            </a:r>
          </a:p>
          <a:p>
            <a:r>
              <a:rPr lang="en-US" dirty="0"/>
              <a:t>“Crypto mindset”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9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8215-A02E-F514-9FC0-B8E452AC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doing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9902-AFD5-F00A-9543-E70F02E6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relevant sections of book</a:t>
            </a:r>
          </a:p>
          <a:p>
            <a:pPr lvl="1"/>
            <a:r>
              <a:rPr lang="en-US" dirty="0"/>
              <a:t>If you fall behind on the reading it will be hard to catch up!</a:t>
            </a:r>
          </a:p>
          <a:p>
            <a:r>
              <a:rPr lang="en-US" dirty="0"/>
              <a:t>Attend in-person lectures </a:t>
            </a:r>
          </a:p>
          <a:p>
            <a:pPr lvl="1"/>
            <a:r>
              <a:rPr lang="en-US" dirty="0"/>
              <a:t>Lectures will not be recorded</a:t>
            </a:r>
          </a:p>
          <a:p>
            <a:r>
              <a:rPr lang="en-US" dirty="0"/>
              <a:t>Come to office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60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30E8-E097-1005-3C34-2CA80DD7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assignments &amp;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6527-045C-D61E-1794-D23AD8A7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017"/>
            <a:ext cx="10515600" cy="4836130"/>
          </a:xfrm>
        </p:spPr>
        <p:txBody>
          <a:bodyPr>
            <a:normAutofit/>
          </a:bodyPr>
          <a:lstStyle/>
          <a:p>
            <a:r>
              <a:rPr lang="en-US" dirty="0"/>
              <a:t>Expected HWs/Labs every week</a:t>
            </a:r>
          </a:p>
          <a:p>
            <a:pPr lvl="1"/>
            <a:r>
              <a:rPr lang="en-US" dirty="0"/>
              <a:t>Multi-week programming labs</a:t>
            </a:r>
          </a:p>
          <a:p>
            <a:r>
              <a:rPr lang="en-US" dirty="0"/>
              <a:t>Submit HWs and Labs to Canvas</a:t>
            </a:r>
          </a:p>
          <a:p>
            <a:pPr lvl="1"/>
            <a:r>
              <a:rPr lang="en-US" dirty="0"/>
              <a:t>Type solutions using </a:t>
            </a:r>
            <a:r>
              <a:rPr lang="en-US" dirty="0" err="1"/>
              <a:t>LaTex</a:t>
            </a:r>
            <a:r>
              <a:rPr lang="en-US" dirty="0"/>
              <a:t> (preferred): </a:t>
            </a:r>
            <a:r>
              <a:rPr lang="en-US" dirty="0">
                <a:hlinkClick r:id="rId2"/>
              </a:rPr>
              <a:t>overleaf</a:t>
            </a:r>
            <a:endParaRPr lang="en-US" dirty="0"/>
          </a:p>
          <a:p>
            <a:pPr lvl="1"/>
            <a:r>
              <a:rPr lang="en-US" dirty="0"/>
              <a:t>Word doc converted to pdf</a:t>
            </a:r>
          </a:p>
          <a:p>
            <a:pPr lvl="1"/>
            <a:r>
              <a:rPr lang="en-US" dirty="0"/>
              <a:t>Clear scan of neat handwritten solutions</a:t>
            </a:r>
          </a:p>
          <a:p>
            <a:r>
              <a:rPr lang="en-US" dirty="0"/>
              <a:t>Cheating will not be tolerated</a:t>
            </a:r>
          </a:p>
          <a:p>
            <a:pPr lvl="1"/>
            <a:r>
              <a:rPr lang="en-US" dirty="0"/>
              <a:t>Must write your own code/solutions</a:t>
            </a:r>
          </a:p>
          <a:p>
            <a:pPr lvl="1"/>
            <a:r>
              <a:rPr lang="en-US" b="1" dirty="0" err="1"/>
              <a:t>GenAI</a:t>
            </a:r>
            <a:r>
              <a:rPr lang="en-US" dirty="0"/>
              <a:t> will make </a:t>
            </a:r>
            <a:r>
              <a:rPr lang="en-US" i="1" dirty="0"/>
              <a:t>mistakes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65652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1E93-A187-4F39-D207-94BB0D59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89567-1961-1055-8054-14DB53553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Please ask questions throughout!</a:t>
            </a:r>
          </a:p>
        </p:txBody>
      </p:sp>
    </p:spTree>
    <p:extLst>
      <p:ext uri="{BB962C8B-B14F-4D97-AF65-F5344CB8AC3E}">
        <p14:creationId xmlns:p14="http://schemas.microsoft.com/office/powerpoint/2010/main" val="398434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ECB3-61B7-0E60-EBBC-FB24399C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3A76B-87A3-8D88-B22A-83EB8B103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 Historically, cryptography was an art</a:t>
            </a:r>
          </a:p>
          <a:p>
            <a:pPr lvl="1"/>
            <a:r>
              <a:rPr lang="en-US" altLang="en-US" dirty="0"/>
              <a:t>Heuristic, ad hoc design and analysis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Historically, cryptography focused exclusively on ensuring </a:t>
            </a:r>
            <a:r>
              <a:rPr lang="en-US" altLang="en-US" i="1" dirty="0"/>
              <a:t>private communication</a:t>
            </a:r>
            <a:r>
              <a:rPr lang="en-US" altLang="en-US" dirty="0"/>
              <a:t> between two parties sharing secret information in advance using “codes” (aka </a:t>
            </a:r>
            <a:r>
              <a:rPr lang="en-US" altLang="en-US" i="1" dirty="0"/>
              <a:t>private-key encryption</a:t>
            </a:r>
            <a:r>
              <a:rPr lang="en-US" altLang="en-US" dirty="0"/>
              <a:t>)</a:t>
            </a:r>
          </a:p>
          <a:p>
            <a:endParaRPr lang="en-US" dirty="0"/>
          </a:p>
          <a:p>
            <a:r>
              <a:rPr lang="en-US" dirty="0"/>
              <a:t>In the late 1970s and early 1980s, cryptography began to develop into more of a science</a:t>
            </a:r>
          </a:p>
        </p:txBody>
      </p:sp>
    </p:spTree>
    <p:extLst>
      <p:ext uri="{BB962C8B-B14F-4D97-AF65-F5344CB8AC3E}">
        <p14:creationId xmlns:p14="http://schemas.microsoft.com/office/powerpoint/2010/main" val="1833789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1A3F-8AC5-BE85-634D-5E1CF85B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b="1" i="1" dirty="0">
                <a:solidFill>
                  <a:srgbClr val="C00000"/>
                </a:solidFill>
              </a:rPr>
              <a:t>Modern</a:t>
            </a:r>
            <a:r>
              <a:rPr lang="en-US" dirty="0"/>
              <a:t>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085A-7C0E-09CF-EBAF-904FF153A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communications in the presence of malicious adversaries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And much broader scope!</a:t>
            </a:r>
          </a:p>
          <a:p>
            <a:pPr lvl="1"/>
            <a:r>
              <a:rPr lang="en-US" dirty="0"/>
              <a:t>Data integrity, authentication, protocols, …</a:t>
            </a:r>
          </a:p>
          <a:p>
            <a:pPr lvl="1"/>
            <a:r>
              <a:rPr lang="en-US" dirty="0"/>
              <a:t>The public-key setting</a:t>
            </a:r>
          </a:p>
          <a:p>
            <a:pPr lvl="1"/>
            <a:r>
              <a:rPr lang="en-US" dirty="0"/>
              <a:t>Group communication</a:t>
            </a:r>
          </a:p>
          <a:p>
            <a:pPr lvl="1"/>
            <a:r>
              <a:rPr lang="en-US" dirty="0"/>
              <a:t>More-complicated trust models</a:t>
            </a:r>
          </a:p>
          <a:p>
            <a:pPr lvl="1"/>
            <a:r>
              <a:rPr lang="en-US" dirty="0"/>
              <a:t>Foundations (e.g., number theory, quantum-resistance) to systems (e.g., electronic voting, privacy-preserving ML, blockchain, DeFi)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74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D662-4145-FA44-0E09-F711A0F5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B140-A832-CDFD-A50A-1BE07383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b="1" i="1" dirty="0">
                <a:solidFill>
                  <a:srgbClr val="C00000"/>
                </a:solidFill>
              </a:rPr>
              <a:t>Modern</a:t>
            </a:r>
            <a:r>
              <a:rPr lang="en-US" dirty="0"/>
              <a:t>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2767-63C7-511A-AA7E-4450F67E5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809"/>
            <a:ext cx="10515600" cy="47871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i="1" dirty="0"/>
              <a:t>Design, analysis, and implementation of </a:t>
            </a:r>
            <a:r>
              <a:rPr lang="en-US" altLang="en-US" b="1" i="1" dirty="0"/>
              <a:t>mathematical techniques </a:t>
            </a:r>
            <a:r>
              <a:rPr lang="en-US" altLang="en-US" i="1" dirty="0"/>
              <a:t>for securing information, systems, and distributed computations against adversarial attack</a:t>
            </a:r>
          </a:p>
          <a:p>
            <a:r>
              <a:rPr lang="en-US" altLang="en-US" dirty="0"/>
              <a:t>Cryptography is now much more of a </a:t>
            </a:r>
            <a:r>
              <a:rPr lang="en-US" altLang="en-US" i="1" dirty="0"/>
              <a:t>science</a:t>
            </a:r>
          </a:p>
          <a:p>
            <a:pPr lvl="1"/>
            <a:r>
              <a:rPr lang="en-US" altLang="en-US" dirty="0"/>
              <a:t>Rigorous analysis, firm foundations, deeper understanding, rich theory</a:t>
            </a:r>
          </a:p>
          <a:p>
            <a:r>
              <a:rPr lang="en-US" altLang="en-US" dirty="0"/>
              <a:t>The “crypto mindset” has permeated other areas of computer security</a:t>
            </a:r>
          </a:p>
          <a:p>
            <a:pPr lvl="1"/>
            <a:r>
              <a:rPr lang="en-US" altLang="en-US" dirty="0"/>
              <a:t>Threat modeling</a:t>
            </a:r>
          </a:p>
          <a:p>
            <a:pPr lvl="1"/>
            <a:r>
              <a:rPr lang="en-US" altLang="en-US" dirty="0"/>
              <a:t>Proofs of security</a:t>
            </a:r>
          </a:p>
        </p:txBody>
      </p:sp>
    </p:spTree>
    <p:extLst>
      <p:ext uri="{BB962C8B-B14F-4D97-AF65-F5344CB8AC3E}">
        <p14:creationId xmlns:p14="http://schemas.microsoft.com/office/powerpoint/2010/main" val="410316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1E07-B5B9-29BC-F0B5-006D43FA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modern crypto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5D07-2949-B66B-73F8-ECFE58A6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definitions</a:t>
            </a:r>
          </a:p>
          <a:p>
            <a:pPr lvl="1"/>
            <a:r>
              <a:rPr lang="en-US" dirty="0"/>
              <a:t>Precise, mathematical model and definition of what security means</a:t>
            </a:r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Clearly stated and unambiguous</a:t>
            </a:r>
          </a:p>
          <a:p>
            <a:r>
              <a:rPr lang="en-US" dirty="0"/>
              <a:t>Proofs of security</a:t>
            </a:r>
          </a:p>
          <a:p>
            <a:pPr lvl="1"/>
            <a:r>
              <a:rPr lang="en-US" dirty="0"/>
              <a:t>Propose a scheme along with a proof of security that no one can break it</a:t>
            </a:r>
          </a:p>
          <a:p>
            <a:pPr lvl="1"/>
            <a:r>
              <a:rPr lang="en-US" dirty="0"/>
              <a:t>Move away from design-break-patch</a:t>
            </a:r>
          </a:p>
        </p:txBody>
      </p:sp>
    </p:spTree>
    <p:extLst>
      <p:ext uri="{BB962C8B-B14F-4D97-AF65-F5344CB8AC3E}">
        <p14:creationId xmlns:p14="http://schemas.microsoft.com/office/powerpoint/2010/main" val="2272223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0B96-BCFD-A7E5-55E2-1F10039A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is ubiquitous!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AFA29-8BF7-054B-F6CA-D3684698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Password-based authentication</a:t>
            </a:r>
          </a:p>
          <a:p>
            <a:r>
              <a:rPr lang="en-US" dirty="0"/>
              <a:t>Secure credit-card transactions over the internet</a:t>
            </a:r>
          </a:p>
          <a:p>
            <a:r>
              <a:rPr lang="en-US" dirty="0"/>
              <a:t>Encrypted </a:t>
            </a:r>
            <a:r>
              <a:rPr lang="en-US" dirty="0" err="1"/>
              <a:t>WiFi</a:t>
            </a:r>
            <a:endParaRPr lang="en-US" dirty="0"/>
          </a:p>
          <a:p>
            <a:r>
              <a:rPr lang="en-US" dirty="0"/>
              <a:t>Disk encryption (BitLocker)</a:t>
            </a:r>
          </a:p>
          <a:p>
            <a:r>
              <a:rPr lang="en-US" dirty="0"/>
              <a:t>Digitally signed software updates</a:t>
            </a:r>
          </a:p>
          <a:p>
            <a:r>
              <a:rPr lang="en-US" altLang="zh-CN" dirty="0"/>
              <a:t>Blockchain</a:t>
            </a:r>
          </a:p>
          <a:p>
            <a:r>
              <a:rPr lang="en-US" dirty="0"/>
              <a:t>Cryptocurrency (Bitcoin, Ethereum)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5976D7-1FB2-5820-9A87-60A7DFE2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910" y="1165123"/>
            <a:ext cx="3514090" cy="3969927"/>
          </a:xfrm>
          <a:prstGeom prst="rect">
            <a:avLst/>
          </a:prstGeom>
        </p:spPr>
      </p:pic>
      <p:pic>
        <p:nvPicPr>
          <p:cNvPr id="1026" name="Picture 2" descr="Bitcoin - Wikipedia">
            <a:extLst>
              <a:ext uri="{FF2B5EF4-FFF2-40B4-BE49-F238E27FC236}">
                <a16:creationId xmlns:a16="http://schemas.microsoft.com/office/drawing/2014/main" id="{6B76A33D-B92A-72C9-0F54-AE6446C23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493" y="5709104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H Crypto Logo Vinyl Decal for Cars ...">
            <a:extLst>
              <a:ext uri="{FF2B5EF4-FFF2-40B4-BE49-F238E27FC236}">
                <a16:creationId xmlns:a16="http://schemas.microsoft.com/office/drawing/2014/main" id="{7575AE62-23BD-CE38-33B3-BBD122D0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760" y="5709104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92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FA32-28B3-40E2-6266-EAC887B8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Rough course 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8C5F-2709-C3C7-8C65-7F184B664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4422"/>
            <a:ext cx="10515600" cy="2578720"/>
          </a:xfrm>
        </p:spPr>
        <p:txBody>
          <a:bodyPr>
            <a:normAutofit/>
          </a:bodyPr>
          <a:lstStyle/>
          <a:p>
            <a:r>
              <a:rPr lang="en-US" dirty="0"/>
              <a:t>Building blocks</a:t>
            </a:r>
          </a:p>
          <a:p>
            <a:pPr lvl="1"/>
            <a:r>
              <a:rPr lang="en-US" dirty="0"/>
              <a:t>Pseudorandom (number) generators</a:t>
            </a:r>
          </a:p>
          <a:p>
            <a:pPr lvl="1"/>
            <a:r>
              <a:rPr lang="en-US" dirty="0"/>
              <a:t>Pseudorandom functions/block ciphers</a:t>
            </a:r>
          </a:p>
          <a:p>
            <a:pPr lvl="1"/>
            <a:r>
              <a:rPr lang="en-US" dirty="0"/>
              <a:t>Hash functions</a:t>
            </a:r>
          </a:p>
          <a:p>
            <a:pPr lvl="1"/>
            <a:r>
              <a:rPr lang="en-US" dirty="0"/>
              <a:t>Number theory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AF8CB-7FCF-F186-CA3E-7BA98FADA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79428"/>
              </p:ext>
            </p:extLst>
          </p:nvPr>
        </p:nvGraphicFramePr>
        <p:xfrm>
          <a:off x="1664110" y="1345533"/>
          <a:ext cx="8863780" cy="234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879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Secrecy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Integrity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37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Private-key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Private-key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Message authentication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1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Public-key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Public-key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Digital</a:t>
                      </a:r>
                      <a:r>
                        <a:rPr lang="en-US" sz="2400" baseline="0" dirty="0"/>
                        <a:t> signatures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507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764</Words>
  <Application>Microsoft Office PowerPoint</Application>
  <PresentationFormat>Widescreen</PresentationFormat>
  <Paragraphs>134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Helvetica</vt:lpstr>
      <vt:lpstr>Office Theme</vt:lpstr>
      <vt:lpstr>CYB 2311 - Introduction to Applied Cryptography</vt:lpstr>
      <vt:lpstr>Course Personnel</vt:lpstr>
      <vt:lpstr>Course Materials</vt:lpstr>
      <vt:lpstr>Course Logistics</vt:lpstr>
      <vt:lpstr>Welcome!</vt:lpstr>
      <vt:lpstr>Course goals</vt:lpstr>
      <vt:lpstr>Tips for doing well</vt:lpstr>
      <vt:lpstr>Homework assignments &amp; Labs</vt:lpstr>
      <vt:lpstr>Questions? </vt:lpstr>
      <vt:lpstr>What is cryptography?</vt:lpstr>
      <vt:lpstr>What is Modern cryptography?</vt:lpstr>
      <vt:lpstr>What is Modern cryptography?</vt:lpstr>
      <vt:lpstr>Core principles of modern crypto</vt:lpstr>
      <vt:lpstr>Cryptography is ubiquitous!</vt:lpstr>
      <vt:lpstr>Rough course 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25</cp:revision>
  <dcterms:created xsi:type="dcterms:W3CDTF">2025-01-21T02:18:24Z</dcterms:created>
  <dcterms:modified xsi:type="dcterms:W3CDTF">2026-01-20T03:24:19Z</dcterms:modified>
</cp:coreProperties>
</file>